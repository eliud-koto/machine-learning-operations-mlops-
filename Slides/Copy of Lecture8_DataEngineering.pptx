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Lora"/>
      <p:regular r:id="rId24"/>
      <p:bold r:id="rId25"/>
      <p:italic r:id="rId26"/>
      <p:boldItalic r:id="rId27"/>
    </p:embeddedFont>
    <p:embeddedFont>
      <p:font typeface="Pacifico"/>
      <p:regular r:id="rId28"/>
    </p:embeddedFon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CE73AE-3F70-4BE8-AF81-75E54F59A85C}">
  <a:tblStyle styleId="{E9CE73AE-3F70-4BE8-AF81-75E54F59A85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Lora-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ora-italic.fntdata"/><Relationship Id="rId25" Type="http://schemas.openxmlformats.org/officeDocument/2006/relationships/font" Target="fonts/Lora-bold.fntdata"/><Relationship Id="rId28" Type="http://schemas.openxmlformats.org/officeDocument/2006/relationships/font" Target="fonts/Pacifico-regular.fntdata"/><Relationship Id="rId27" Type="http://schemas.openxmlformats.org/officeDocument/2006/relationships/font" Target="fonts/Lora-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7e5e1facf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g37e5e1facf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33db9d2c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3733db9d2c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690539792b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690539792b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67610437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34667610437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0e12d6424_0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70e12d6424_0_2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3b5e2af4f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63b5e2af4f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3b5e2af4f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363b5e2af4f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63b5e2af4f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g363b5e2af4f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63b5e2af4f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363b5e2af4f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3b5e2af4f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363b5e2af4f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3b5e2af4f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63b5e2af4f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3b5e2af4f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363b5e2af4f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7f21cdaf3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g37f21cdaf3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690539792b_3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690539792b_3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90539792b_3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690539792b_3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90539792b_3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690539792b_3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ora"/>
              <a:buNone/>
              <a:defRPr sz="2800">
                <a:solidFill>
                  <a:schemeClr val="dk1"/>
                </a:solidFill>
                <a:latin typeface="Lora"/>
                <a:ea typeface="Lora"/>
                <a:cs typeface="Lora"/>
                <a:sym typeface="Lora"/>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ora"/>
              <a:buChar char="●"/>
              <a:defRPr sz="1800">
                <a:solidFill>
                  <a:schemeClr val="dk2"/>
                </a:solidFill>
                <a:latin typeface="Lora"/>
                <a:ea typeface="Lora"/>
                <a:cs typeface="Lora"/>
                <a:sym typeface="Lora"/>
              </a:defRPr>
            </a:lvl1pPr>
            <a:lvl2pPr indent="-317500" lvl="1" marL="914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2pPr>
            <a:lvl3pPr indent="-317500" lvl="2" marL="1371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3pPr>
            <a:lvl4pPr indent="-317500" lvl="3" marL="1828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4pPr>
            <a:lvl5pPr indent="-317500" lvl="4" marL="22860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5pPr>
            <a:lvl6pPr indent="-317500" lvl="5" marL="27432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6pPr>
            <a:lvl7pPr indent="-317500" lvl="6" marL="3200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7pPr>
            <a:lvl8pPr indent="-317500" lvl="7" marL="3657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8pPr>
            <a:lvl9pPr indent="-317500" lvl="8" marL="4114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7692148" y="4782312"/>
            <a:ext cx="1188720" cy="297180"/>
          </a:xfrm>
          <a:prstGeom prst="rect">
            <a:avLst/>
          </a:prstGeom>
          <a:noFill/>
          <a:ln>
            <a:noFill/>
          </a:ln>
        </p:spPr>
      </p:pic>
      <p:pic>
        <p:nvPicPr>
          <p:cNvPr id="10" name="Google Shape;10;p1"/>
          <p:cNvPicPr preferRelativeResize="0"/>
          <p:nvPr/>
        </p:nvPicPr>
        <p:blipFill>
          <a:blip r:embed="rId2">
            <a:alphaModFix/>
          </a:blip>
          <a:stretch>
            <a:fillRect/>
          </a:stretch>
        </p:blipFill>
        <p:spPr>
          <a:xfrm>
            <a:off x="154577" y="4779825"/>
            <a:ext cx="1188721" cy="23774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hyperlink" Target="https://learning.oreilly.com/library/view/fundamentals-of-data/9781098108298/ch09.html#serving_data_for_analyticscomma_machin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https://github.com/dagster-io/dagster" TargetMode="External"/><Relationship Id="rId4" Type="http://schemas.openxmlformats.org/officeDocument/2006/relationships/hyperlink" Target="https://docs.dagster.i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hyperlink" Target="https://github.com/Ishangoai/AIMS_course/blob/development/src/students/example/dagster/de/assets.py" TargetMode="Externa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s://docs.dagster.io/guides/build/assets/defining-asset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s://docs.dagster.io/guides/test/asset-checks" TargetMode="Externa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s://docs.dagster.io/guides/build/io-managers" TargetMode="External"/><Relationship Id="rId4" Type="http://schemas.openxmlformats.org/officeDocument/2006/relationships/hyperlink" Target="https://github.com/Ishangoai/AIMS_course/blob/development/src/students/example/dagster/definitions.py" TargetMode="External"/><Relationship Id="rId5" Type="http://schemas.openxmlformats.org/officeDocument/2006/relationships/image" Target="../media/image4.png"/><Relationship Id="rId6" Type="http://schemas.openxmlformats.org/officeDocument/2006/relationships/hyperlink" Target="https://docs.dagster.io/guides/build/io-managers#built-i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hyperlink" Target="https://docs.dagster.io/guides/build/jobs" TargetMode="External"/><Relationship Id="rId4" Type="http://schemas.openxmlformats.org/officeDocument/2006/relationships/hyperlink" Target="https://github.com/Ishangoai/AIMS_course/blob/development/src/students/example/dagster/definitions.py" TargetMode="External"/><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https://docs.dagster.io/getting-started/concepts#definitions" TargetMode="External"/><Relationship Id="rId4" Type="http://schemas.openxmlformats.org/officeDocument/2006/relationships/hyperlink" Target="https://github.com/Ishangoai/AIMS_course/blob/development/src/students/example/dagster/definitions.py" TargetMode="External"/><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hyperlink" Target="https://raw.githubusercontent.com/aduuna/Kaggle-Data-Credit-Card-Fraud-Detection/master/samplecreditcard.csv" TargetMode="External"/><Relationship Id="rId4" Type="http://schemas.openxmlformats.org/officeDocument/2006/relationships/hyperlink" Target="https://raw.githubusercontent.com/aduuna/Kaggle-Data-Credit-Card-Fraud-Detection/master/samplecreditcard.csv"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7</a:t>
            </a:r>
            <a:endParaRPr i="0" sz="700" u="none" cap="none" strike="noStrike">
              <a:solidFill>
                <a:srgbClr val="000000"/>
              </a:solidFill>
              <a:latin typeface="Lora"/>
              <a:ea typeface="Lora"/>
              <a:cs typeface="Lora"/>
              <a:sym typeface="Lora"/>
            </a:endParaRPr>
          </a:p>
        </p:txBody>
      </p:sp>
      <p:sp>
        <p:nvSpPr>
          <p:cNvPr id="57" name="Google Shape;57;p13"/>
          <p:cNvSpPr txBox="1"/>
          <p:nvPr/>
        </p:nvSpPr>
        <p:spPr>
          <a:xfrm>
            <a:off x="486900" y="700975"/>
            <a:ext cx="78966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Please receive the quiz handout from Cyrille, Oliver, Vincent, Jan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Complete the quiz in silence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Hand the quiz back</a:t>
            </a:r>
            <a:endParaRPr sz="1200">
              <a:solidFill>
                <a:schemeClr val="dk1"/>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7</a:t>
            </a:r>
            <a:endParaRPr i="0" sz="700" u="none" cap="none" strike="noStrike">
              <a:solidFill>
                <a:srgbClr val="000000"/>
              </a:solidFill>
              <a:latin typeface="Lora"/>
              <a:ea typeface="Lora"/>
              <a:cs typeface="Lora"/>
              <a:sym typeface="Lora"/>
            </a:endParaRPr>
          </a:p>
        </p:txBody>
      </p:sp>
      <p:sp>
        <p:nvSpPr>
          <p:cNvPr id="63" name="Google Shape;63;p14"/>
          <p:cNvSpPr txBox="1"/>
          <p:nvPr/>
        </p:nvSpPr>
        <p:spPr>
          <a:xfrm>
            <a:off x="96325" y="700975"/>
            <a:ext cx="4890900" cy="3848100"/>
          </a:xfrm>
          <a:prstGeom prst="rect">
            <a:avLst/>
          </a:prstGeom>
          <a:noFill/>
          <a:ln>
            <a:noFill/>
          </a:ln>
        </p:spPr>
        <p:txBody>
          <a:bodyPr anchorCtr="0" anchor="t" bIns="91425" lIns="91425" spcFirstLastPara="1" rIns="91425" wrap="square" tIns="91425">
            <a:spAutoFit/>
          </a:bodyPr>
          <a:lstStyle/>
          <a:p>
            <a:pPr indent="-279400" lvl="0" marL="457200" rtl="0" algn="l">
              <a:lnSpc>
                <a:spcPct val="115000"/>
              </a:lnSpc>
              <a:spcBef>
                <a:spcPts val="0"/>
              </a:spcBef>
              <a:spcAft>
                <a:spcPts val="0"/>
              </a:spcAft>
              <a:buClr>
                <a:schemeClr val="dk1"/>
              </a:buClr>
              <a:buSzPts val="800"/>
              <a:buFont typeface="Lora"/>
              <a:buAutoNum type="arabicPeriod"/>
            </a:pPr>
            <a:r>
              <a:rPr lang="en" sz="800">
                <a:solidFill>
                  <a:schemeClr val="dk1"/>
                </a:solidFill>
                <a:latin typeface="Lora"/>
                <a:ea typeface="Lora"/>
                <a:cs typeface="Lora"/>
                <a:sym typeface="Lora"/>
              </a:rPr>
              <a:t>What is true of an OLAP database: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is supports quick CRUD transactions</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it uses columnar storage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data are often normalized (e.g. 3NF)</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PostgreSQL is an OLAP database</a:t>
            </a:r>
            <a:endParaRPr sz="800">
              <a:solidFill>
                <a:schemeClr val="dk1"/>
              </a:solidFill>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a:pPr>
            <a:r>
              <a:rPr lang="en" sz="800">
                <a:solidFill>
                  <a:schemeClr val="dk1"/>
                </a:solidFill>
                <a:latin typeface="Lora"/>
                <a:ea typeface="Lora"/>
                <a:cs typeface="Lora"/>
                <a:sym typeface="Lora"/>
              </a:rPr>
              <a:t>The following databases utilize columnar storage: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MySQL, Oracle, Google BigQuery</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Google BigQuery, Snowflake, DuckDB</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PostgreSQL, Google BigQuery</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PostgreSQL, DuckDB, Snowflake</a:t>
            </a:r>
            <a:endParaRPr sz="800">
              <a:solidFill>
                <a:schemeClr val="dk1"/>
              </a:solidFill>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a:pPr>
            <a:r>
              <a:rPr lang="en" sz="800">
                <a:solidFill>
                  <a:schemeClr val="dk1"/>
                </a:solidFill>
                <a:latin typeface="Lora"/>
                <a:ea typeface="Lora"/>
                <a:cs typeface="Lora"/>
                <a:sym typeface="Lora"/>
              </a:rPr>
              <a:t>Streaming is computationally efficient because</a:t>
            </a:r>
            <a:r>
              <a:rPr lang="en" sz="800">
                <a:solidFill>
                  <a:schemeClr val="dk1"/>
                </a:solidFill>
                <a:latin typeface="Lora"/>
                <a:ea typeface="Lora"/>
                <a:cs typeface="Lora"/>
                <a:sym typeface="Lora"/>
              </a:rPr>
              <a:t>:</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It eliminates the need for any data cleaning</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It requires less storage space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Streaming is real time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Only new data are processed &amp; appended </a:t>
            </a:r>
            <a:endParaRPr sz="800">
              <a:solidFill>
                <a:schemeClr val="dk1"/>
              </a:solidFill>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a:pPr>
            <a:r>
              <a:rPr lang="en" sz="800">
                <a:solidFill>
                  <a:schemeClr val="dk1"/>
                </a:solidFill>
                <a:latin typeface="Lora"/>
                <a:ea typeface="Lora"/>
                <a:cs typeface="Lora"/>
                <a:sym typeface="Lora"/>
              </a:rPr>
              <a:t>An employee's role in the Dim_Employee table changes from 'Developer' to 'Manager'. To analyze project hours based on the role held at the time the work was done, which SCD method should be used for the 'Role' attribute?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SCD Type 1: Overwrite the 'Role' from 'Developer' to 'Manager' in the employee's existing record.</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SCD Type 1: Add a new row for the 'Manager' role and delete the old 'Developer' row.</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SCD Type 2: Add a new 'Previous_Role' column to the existing record to store 'Developer'.</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SCD Type 2: Add a new row for the employee with the 'Role' of 'Manager', and mark the old 'Developer' row as inactive.</a:t>
            </a:r>
            <a:endParaRPr sz="800">
              <a:solidFill>
                <a:schemeClr val="dk1"/>
              </a:solidFill>
              <a:latin typeface="Lora"/>
              <a:ea typeface="Lora"/>
              <a:cs typeface="Lora"/>
              <a:sym typeface="Lora"/>
            </a:endParaRPr>
          </a:p>
        </p:txBody>
      </p:sp>
      <p:sp>
        <p:nvSpPr>
          <p:cNvPr id="64" name="Google Shape;64;p14"/>
          <p:cNvSpPr txBox="1"/>
          <p:nvPr/>
        </p:nvSpPr>
        <p:spPr>
          <a:xfrm>
            <a:off x="4830300" y="777175"/>
            <a:ext cx="4213200" cy="4272900"/>
          </a:xfrm>
          <a:prstGeom prst="rect">
            <a:avLst/>
          </a:prstGeom>
          <a:noFill/>
          <a:ln>
            <a:noFill/>
          </a:ln>
        </p:spPr>
        <p:txBody>
          <a:bodyPr anchorCtr="0" anchor="t" bIns="91425" lIns="91425" spcFirstLastPara="1" rIns="91425" wrap="square" tIns="91425">
            <a:spAutoFit/>
          </a:bodyPr>
          <a:lstStyle/>
          <a:p>
            <a:pPr indent="-279400" lvl="0" marL="457200" rtl="0" algn="l">
              <a:lnSpc>
                <a:spcPct val="115000"/>
              </a:lnSpc>
              <a:spcBef>
                <a:spcPts val="0"/>
              </a:spcBef>
              <a:spcAft>
                <a:spcPts val="0"/>
              </a:spcAft>
              <a:buClr>
                <a:schemeClr val="dk1"/>
              </a:buClr>
              <a:buSzPts val="800"/>
              <a:buFont typeface="Lora"/>
              <a:buAutoNum type="arabicPeriod" startAt="5"/>
            </a:pPr>
            <a:r>
              <a:rPr lang="en" sz="800">
                <a:solidFill>
                  <a:schemeClr val="dk1"/>
                </a:solidFill>
                <a:latin typeface="Lora"/>
                <a:ea typeface="Lora"/>
                <a:cs typeface="Lora"/>
                <a:sym typeface="Lora"/>
              </a:rPr>
              <a:t>Kimball is suited for analytics because</a:t>
            </a:r>
            <a:r>
              <a:rPr lang="en" sz="800">
                <a:solidFill>
                  <a:schemeClr val="dk1"/>
                </a:solidFill>
                <a:latin typeface="Lora"/>
                <a:ea typeface="Lora"/>
                <a:cs typeface="Lora"/>
                <a:sym typeface="Lora"/>
              </a:rPr>
              <a:t>:</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The data are highly normalized (3NF)</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More joins need to be made at first </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The data in the dimension tables are not in 3NF,  so there are more columns </a:t>
            </a:r>
            <a:r>
              <a:rPr lang="en" sz="800">
                <a:solidFill>
                  <a:schemeClr val="dk1"/>
                </a:solidFill>
                <a:latin typeface="Lora"/>
                <a:ea typeface="Lora"/>
                <a:cs typeface="Lora"/>
                <a:sym typeface="Lora"/>
              </a:rPr>
              <a:t>immediately</a:t>
            </a:r>
            <a:r>
              <a:rPr lang="en" sz="800">
                <a:solidFill>
                  <a:schemeClr val="dk1"/>
                </a:solidFill>
                <a:latin typeface="Lora"/>
                <a:ea typeface="Lora"/>
                <a:cs typeface="Lora"/>
                <a:sym typeface="Lora"/>
              </a:rPr>
              <a:t> available (fewer joins needed)</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There are no </a:t>
            </a:r>
            <a:r>
              <a:rPr lang="en" sz="800">
                <a:solidFill>
                  <a:schemeClr val="dk1"/>
                </a:solidFill>
                <a:latin typeface="Lora"/>
                <a:ea typeface="Lora"/>
                <a:cs typeface="Lora"/>
                <a:sym typeface="Lora"/>
              </a:rPr>
              <a:t>redundancies (i.e. repeated data)</a:t>
            </a:r>
            <a:r>
              <a:rPr lang="en" sz="800">
                <a:solidFill>
                  <a:schemeClr val="dk1"/>
                </a:solidFill>
                <a:latin typeface="Lora"/>
                <a:ea typeface="Lora"/>
                <a:cs typeface="Lora"/>
                <a:sym typeface="Lora"/>
              </a:rPr>
              <a:t> </a:t>
            </a:r>
            <a:endParaRPr sz="800">
              <a:solidFill>
                <a:schemeClr val="dk1"/>
              </a:solidFill>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startAt="5"/>
            </a:pPr>
            <a:r>
              <a:rPr lang="en" sz="800">
                <a:solidFill>
                  <a:schemeClr val="dk1"/>
                </a:solidFill>
                <a:latin typeface="Lora"/>
                <a:ea typeface="Lora"/>
                <a:cs typeface="Lora"/>
                <a:sym typeface="Lora"/>
              </a:rPr>
              <a:t>Which characteristic is </a:t>
            </a:r>
            <a:r>
              <a:rPr i="1" lang="en" sz="800">
                <a:solidFill>
                  <a:schemeClr val="dk1"/>
                </a:solidFill>
                <a:latin typeface="Lora"/>
                <a:ea typeface="Lora"/>
                <a:cs typeface="Lora"/>
                <a:sym typeface="Lora"/>
              </a:rPr>
              <a:t>not</a:t>
            </a:r>
            <a:r>
              <a:rPr lang="en" sz="800">
                <a:solidFill>
                  <a:schemeClr val="dk1"/>
                </a:solidFill>
                <a:latin typeface="Lora"/>
                <a:ea typeface="Lora"/>
                <a:cs typeface="Lora"/>
                <a:sym typeface="Lora"/>
              </a:rPr>
              <a:t> associated with a Data Lake?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Can store any type of data, structured and unstructured</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Possesses a flat structure with a GUID for each file</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Applies schema-on-write, requiring predefined schemas</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Objects are immutable once written, requiring rewriting for changes</a:t>
            </a:r>
            <a:endParaRPr sz="800">
              <a:solidFill>
                <a:schemeClr val="dk1"/>
              </a:solidFill>
              <a:highlight>
                <a:srgbClr val="FFFFFF"/>
              </a:highlight>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startAt="5"/>
            </a:pPr>
            <a:r>
              <a:rPr lang="en" sz="800">
                <a:solidFill>
                  <a:schemeClr val="dk1"/>
                </a:solidFill>
                <a:highlight>
                  <a:srgbClr val="FFFFFF"/>
                </a:highlight>
                <a:latin typeface="Lora"/>
                <a:ea typeface="Lora"/>
                <a:cs typeface="Lora"/>
                <a:sym typeface="Lora"/>
              </a:rPr>
              <a:t>A financial services company needs to retrieve the full transaction history for a single customer, which involves fetching </a:t>
            </a:r>
            <a:r>
              <a:rPr i="1" lang="en" sz="800">
                <a:solidFill>
                  <a:schemeClr val="dk1"/>
                </a:solidFill>
                <a:highlight>
                  <a:srgbClr val="FFFFFF"/>
                </a:highlight>
                <a:latin typeface="Lora"/>
                <a:ea typeface="Lora"/>
                <a:cs typeface="Lora"/>
                <a:sym typeface="Lora"/>
              </a:rPr>
              <a:t>all</a:t>
            </a:r>
            <a:r>
              <a:rPr lang="en" sz="800">
                <a:solidFill>
                  <a:schemeClr val="dk1"/>
                </a:solidFill>
                <a:highlight>
                  <a:srgbClr val="FFFFFF"/>
                </a:highlight>
                <a:latin typeface="Lora"/>
                <a:ea typeface="Lora"/>
                <a:cs typeface="Lora"/>
                <a:sym typeface="Lora"/>
              </a:rPr>
              <a:t> columns for about 50 records from a table containing billions of entries. Which database architecture would handle this specific request most efficiently and why?</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An OLAP system, because its column-oriented storage is optimized for scanning large volumes of data to quickly find the 50 specific records.</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An OLTP system, because its row-oriented storage keeps all data for a single record physically together, making the retrieval of a few full records extremely fast</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An OLAP system, because its use of denormalized tables like a star schema is designed to speed up queries that select many columns</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An OLTP system, because its normalized (3NF) design reduces data redundancy, making the storage footprint smaller and therefore faster to read from</a:t>
            </a:r>
            <a:endParaRPr sz="800">
              <a:solidFill>
                <a:schemeClr val="dk1"/>
              </a:solidFill>
              <a:highlight>
                <a:srgbClr val="FFFFFF"/>
              </a:highlight>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startAt="5"/>
            </a:pPr>
            <a:r>
              <a:t/>
            </a:r>
            <a:endParaRPr sz="800">
              <a:solidFill>
                <a:schemeClr val="dk1"/>
              </a:solidFill>
              <a:highlight>
                <a:srgbClr val="FFFFFF"/>
              </a:highlight>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7 (answers)</a:t>
            </a:r>
            <a:endParaRPr i="0" sz="700" u="none" cap="none" strike="noStrike">
              <a:solidFill>
                <a:srgbClr val="000000"/>
              </a:solidFill>
              <a:latin typeface="Lora"/>
              <a:ea typeface="Lora"/>
              <a:cs typeface="Lora"/>
              <a:sym typeface="Lora"/>
            </a:endParaRPr>
          </a:p>
        </p:txBody>
      </p:sp>
      <p:sp>
        <p:nvSpPr>
          <p:cNvPr id="70" name="Google Shape;70;p15"/>
          <p:cNvSpPr txBox="1"/>
          <p:nvPr/>
        </p:nvSpPr>
        <p:spPr>
          <a:xfrm>
            <a:off x="96325" y="700975"/>
            <a:ext cx="4890900" cy="3848100"/>
          </a:xfrm>
          <a:prstGeom prst="rect">
            <a:avLst/>
          </a:prstGeom>
          <a:noFill/>
          <a:ln>
            <a:noFill/>
          </a:ln>
        </p:spPr>
        <p:txBody>
          <a:bodyPr anchorCtr="0" anchor="t" bIns="91425" lIns="91425" spcFirstLastPara="1" rIns="91425" wrap="square" tIns="91425">
            <a:spAutoFit/>
          </a:bodyPr>
          <a:lstStyle/>
          <a:p>
            <a:pPr indent="-279400" lvl="0" marL="457200" rtl="0" algn="l">
              <a:lnSpc>
                <a:spcPct val="115000"/>
              </a:lnSpc>
              <a:spcBef>
                <a:spcPts val="0"/>
              </a:spcBef>
              <a:spcAft>
                <a:spcPts val="0"/>
              </a:spcAft>
              <a:buClr>
                <a:schemeClr val="dk1"/>
              </a:buClr>
              <a:buSzPts val="800"/>
              <a:buFont typeface="Lora"/>
              <a:buAutoNum type="arabicPeriod"/>
            </a:pPr>
            <a:r>
              <a:rPr lang="en" sz="800">
                <a:solidFill>
                  <a:schemeClr val="dk1"/>
                </a:solidFill>
                <a:latin typeface="Lora"/>
                <a:ea typeface="Lora"/>
                <a:cs typeface="Lora"/>
                <a:sym typeface="Lora"/>
              </a:rPr>
              <a:t>What is true of an OLAP database: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is supports quick CRUD transactions</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b="1" lang="en" sz="800">
                <a:solidFill>
                  <a:schemeClr val="dk1"/>
                </a:solidFill>
                <a:latin typeface="Lora"/>
                <a:ea typeface="Lora"/>
                <a:cs typeface="Lora"/>
                <a:sym typeface="Lora"/>
              </a:rPr>
              <a:t>it uses columnar storage</a:t>
            </a:r>
            <a:endParaRPr b="1"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data are often normalized (e.g. 3NF)</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PostgreSQL is an OLAP database</a:t>
            </a:r>
            <a:endParaRPr sz="800">
              <a:solidFill>
                <a:schemeClr val="dk1"/>
              </a:solidFill>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a:pPr>
            <a:r>
              <a:rPr lang="en" sz="800">
                <a:solidFill>
                  <a:schemeClr val="dk1"/>
                </a:solidFill>
                <a:latin typeface="Lora"/>
                <a:ea typeface="Lora"/>
                <a:cs typeface="Lora"/>
                <a:sym typeface="Lora"/>
              </a:rPr>
              <a:t>The following databases utilize columnar storage: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MySQL, Oracle, Google BigQuery</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b="1" lang="en" sz="800">
                <a:solidFill>
                  <a:schemeClr val="dk1"/>
                </a:solidFill>
                <a:latin typeface="Lora"/>
                <a:ea typeface="Lora"/>
                <a:cs typeface="Lora"/>
                <a:sym typeface="Lora"/>
              </a:rPr>
              <a:t>Google BigQuery, Snowflake, DuckDB</a:t>
            </a:r>
            <a:endParaRPr b="1"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PostgreSQL, Google BigQuery</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PostgreSQL, DuckDB, Snowflake</a:t>
            </a:r>
            <a:endParaRPr sz="800">
              <a:solidFill>
                <a:schemeClr val="dk1"/>
              </a:solidFill>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a:pPr>
            <a:r>
              <a:rPr lang="en" sz="800">
                <a:solidFill>
                  <a:schemeClr val="dk1"/>
                </a:solidFill>
                <a:latin typeface="Lora"/>
                <a:ea typeface="Lora"/>
                <a:cs typeface="Lora"/>
                <a:sym typeface="Lora"/>
              </a:rPr>
              <a:t>Streaming is computationally efficient because</a:t>
            </a:r>
            <a:r>
              <a:rPr lang="en" sz="800">
                <a:solidFill>
                  <a:schemeClr val="dk1"/>
                </a:solidFill>
                <a:latin typeface="Lora"/>
                <a:ea typeface="Lora"/>
                <a:cs typeface="Lora"/>
                <a:sym typeface="Lora"/>
              </a:rPr>
              <a:t>:</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It eliminates the need for any data cleaning</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It requires less storage space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Streaming is real time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b="1" lang="en" sz="800">
                <a:solidFill>
                  <a:schemeClr val="dk1"/>
                </a:solidFill>
                <a:latin typeface="Lora"/>
                <a:ea typeface="Lora"/>
                <a:cs typeface="Lora"/>
                <a:sym typeface="Lora"/>
              </a:rPr>
              <a:t>Only new data are processed &amp; appended </a:t>
            </a:r>
            <a:endParaRPr b="1" sz="800">
              <a:solidFill>
                <a:schemeClr val="dk1"/>
              </a:solidFill>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a:pPr>
            <a:r>
              <a:rPr lang="en" sz="800">
                <a:solidFill>
                  <a:schemeClr val="dk1"/>
                </a:solidFill>
                <a:latin typeface="Lora"/>
                <a:ea typeface="Lora"/>
                <a:cs typeface="Lora"/>
                <a:sym typeface="Lora"/>
              </a:rPr>
              <a:t>An employee's role in the Dim_Employee table changes from 'Developer' to 'Manager'. To analyze project hours based on the role held at the time the work was done, which SCD method should be used for the 'Role' attribute?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SCD Type 1: Overwrite the 'Role' from 'Developer' to 'Manager' in the employee's existing record.</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SCD Type 1: Add a new row for the 'Manager' role and delete the old 'Developer' row.</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SCD Type 2: Add a new 'Previous_Role' column to the existing record to store 'Developer'.</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b="1" lang="en" sz="800">
                <a:solidFill>
                  <a:schemeClr val="dk1"/>
                </a:solidFill>
                <a:latin typeface="Lora"/>
                <a:ea typeface="Lora"/>
                <a:cs typeface="Lora"/>
                <a:sym typeface="Lora"/>
              </a:rPr>
              <a:t>SCD Type 2: Add a new row for the employee with the 'Role' of 'Manager', and mark the old 'Developer' row as inactive.</a:t>
            </a:r>
            <a:endParaRPr b="1" sz="800">
              <a:solidFill>
                <a:schemeClr val="dk1"/>
              </a:solidFill>
              <a:latin typeface="Lora"/>
              <a:ea typeface="Lora"/>
              <a:cs typeface="Lora"/>
              <a:sym typeface="Lora"/>
            </a:endParaRPr>
          </a:p>
        </p:txBody>
      </p:sp>
      <p:sp>
        <p:nvSpPr>
          <p:cNvPr id="71" name="Google Shape;71;p15"/>
          <p:cNvSpPr txBox="1"/>
          <p:nvPr/>
        </p:nvSpPr>
        <p:spPr>
          <a:xfrm>
            <a:off x="4830300" y="777175"/>
            <a:ext cx="4213200" cy="4272900"/>
          </a:xfrm>
          <a:prstGeom prst="rect">
            <a:avLst/>
          </a:prstGeom>
          <a:noFill/>
          <a:ln>
            <a:noFill/>
          </a:ln>
        </p:spPr>
        <p:txBody>
          <a:bodyPr anchorCtr="0" anchor="t" bIns="91425" lIns="91425" spcFirstLastPara="1" rIns="91425" wrap="square" tIns="91425">
            <a:spAutoFit/>
          </a:bodyPr>
          <a:lstStyle/>
          <a:p>
            <a:pPr indent="-279400" lvl="0" marL="457200" rtl="0" algn="l">
              <a:lnSpc>
                <a:spcPct val="115000"/>
              </a:lnSpc>
              <a:spcBef>
                <a:spcPts val="0"/>
              </a:spcBef>
              <a:spcAft>
                <a:spcPts val="0"/>
              </a:spcAft>
              <a:buClr>
                <a:schemeClr val="dk1"/>
              </a:buClr>
              <a:buSzPts val="800"/>
              <a:buFont typeface="Lora"/>
              <a:buAutoNum type="arabicPeriod" startAt="5"/>
            </a:pPr>
            <a:r>
              <a:rPr lang="en" sz="800">
                <a:solidFill>
                  <a:schemeClr val="dk1"/>
                </a:solidFill>
                <a:latin typeface="Lora"/>
                <a:ea typeface="Lora"/>
                <a:cs typeface="Lora"/>
                <a:sym typeface="Lora"/>
              </a:rPr>
              <a:t>Kimball is suited for analytics because: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The data are highly normalized (3NF)</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More joins need to be made at first </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b="1" lang="en" sz="800">
                <a:solidFill>
                  <a:schemeClr val="dk1"/>
                </a:solidFill>
                <a:latin typeface="Lora"/>
                <a:ea typeface="Lora"/>
                <a:cs typeface="Lora"/>
                <a:sym typeface="Lora"/>
              </a:rPr>
              <a:t>The data in the dimension tables are not in 3NF,  so there are more columns immediately available (fewer joins needed)</a:t>
            </a:r>
            <a:endParaRPr b="1"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latin typeface="Lora"/>
                <a:ea typeface="Lora"/>
                <a:cs typeface="Lora"/>
                <a:sym typeface="Lora"/>
              </a:rPr>
              <a:t>There are no redundancies (i.e. repeated data) </a:t>
            </a:r>
            <a:endParaRPr sz="800">
              <a:solidFill>
                <a:schemeClr val="dk1"/>
              </a:solidFill>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startAt="5"/>
            </a:pPr>
            <a:r>
              <a:rPr lang="en" sz="800">
                <a:solidFill>
                  <a:schemeClr val="dk1"/>
                </a:solidFill>
                <a:latin typeface="Lora"/>
                <a:ea typeface="Lora"/>
                <a:cs typeface="Lora"/>
                <a:sym typeface="Lora"/>
              </a:rPr>
              <a:t>Which characteristic is </a:t>
            </a:r>
            <a:r>
              <a:rPr i="1" lang="en" sz="800">
                <a:solidFill>
                  <a:schemeClr val="dk1"/>
                </a:solidFill>
                <a:latin typeface="Lora"/>
                <a:ea typeface="Lora"/>
                <a:cs typeface="Lora"/>
                <a:sym typeface="Lora"/>
              </a:rPr>
              <a:t>not</a:t>
            </a:r>
            <a:r>
              <a:rPr lang="en" sz="800">
                <a:solidFill>
                  <a:schemeClr val="dk1"/>
                </a:solidFill>
                <a:latin typeface="Lora"/>
                <a:ea typeface="Lora"/>
                <a:cs typeface="Lora"/>
                <a:sym typeface="Lora"/>
              </a:rPr>
              <a:t> associated with a Data Lake?</a:t>
            </a:r>
            <a:endParaRPr sz="800">
              <a:solidFill>
                <a:schemeClr val="dk1"/>
              </a:solidFill>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Can store any type of data, structured and unstructured</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Possesses a flat structure with a GUID for each file</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b="1" lang="en" sz="800">
                <a:solidFill>
                  <a:schemeClr val="dk1"/>
                </a:solidFill>
                <a:highlight>
                  <a:srgbClr val="FFFFFF"/>
                </a:highlight>
                <a:latin typeface="Lora"/>
                <a:ea typeface="Lora"/>
                <a:cs typeface="Lora"/>
                <a:sym typeface="Lora"/>
              </a:rPr>
              <a:t>Applies schema-on-write, requiring predefined schemas</a:t>
            </a:r>
            <a:endParaRPr b="1"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Objects are immutable once written, requiring rewriting for changes</a:t>
            </a:r>
            <a:endParaRPr sz="800">
              <a:solidFill>
                <a:schemeClr val="dk1"/>
              </a:solidFill>
              <a:highlight>
                <a:srgbClr val="FFFFFF"/>
              </a:highlight>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startAt="5"/>
            </a:pPr>
            <a:r>
              <a:rPr lang="en" sz="800">
                <a:solidFill>
                  <a:schemeClr val="dk1"/>
                </a:solidFill>
                <a:highlight>
                  <a:srgbClr val="FFFFFF"/>
                </a:highlight>
                <a:latin typeface="Lora"/>
                <a:ea typeface="Lora"/>
                <a:cs typeface="Lora"/>
                <a:sym typeface="Lora"/>
              </a:rPr>
              <a:t>A financial services company needs to retrieve the full transaction history for a single customer, which involves fetching </a:t>
            </a:r>
            <a:r>
              <a:rPr i="1" lang="en" sz="800">
                <a:solidFill>
                  <a:schemeClr val="dk1"/>
                </a:solidFill>
                <a:highlight>
                  <a:srgbClr val="FFFFFF"/>
                </a:highlight>
                <a:latin typeface="Lora"/>
                <a:ea typeface="Lora"/>
                <a:cs typeface="Lora"/>
                <a:sym typeface="Lora"/>
              </a:rPr>
              <a:t>all</a:t>
            </a:r>
            <a:r>
              <a:rPr lang="en" sz="800">
                <a:solidFill>
                  <a:schemeClr val="dk1"/>
                </a:solidFill>
                <a:highlight>
                  <a:srgbClr val="FFFFFF"/>
                </a:highlight>
                <a:latin typeface="Lora"/>
                <a:ea typeface="Lora"/>
                <a:cs typeface="Lora"/>
                <a:sym typeface="Lora"/>
              </a:rPr>
              <a:t> columns for about 50 records from a table containing billions of entries. Which database architecture would handle this specific request most efficiently and why?</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An OLAP system, because its column-oriented storage is optimized for scanning large volumes of data to quickly find the 50 specific records.</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b="1" lang="en" sz="800">
                <a:solidFill>
                  <a:schemeClr val="dk1"/>
                </a:solidFill>
                <a:highlight>
                  <a:srgbClr val="FFFFFF"/>
                </a:highlight>
                <a:latin typeface="Lora"/>
                <a:ea typeface="Lora"/>
                <a:cs typeface="Lora"/>
                <a:sym typeface="Lora"/>
              </a:rPr>
              <a:t>An OLTP system, because its row-oriented storage keeps all data for a single record physically together, making the retrieval of a few full records extremely fast</a:t>
            </a:r>
            <a:endParaRPr b="1"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An OLAP system, because its use of denormalized tables like a star schema is designed to speed up queries that select many columns</a:t>
            </a:r>
            <a:endParaRPr sz="800">
              <a:solidFill>
                <a:schemeClr val="dk1"/>
              </a:solidFill>
              <a:highlight>
                <a:srgbClr val="FFFFFF"/>
              </a:highlight>
              <a:latin typeface="Lora"/>
              <a:ea typeface="Lora"/>
              <a:cs typeface="Lora"/>
              <a:sym typeface="Lora"/>
            </a:endParaRPr>
          </a:p>
          <a:p>
            <a:pPr indent="-279400" lvl="1" marL="914400" rtl="0" algn="l">
              <a:lnSpc>
                <a:spcPct val="115000"/>
              </a:lnSpc>
              <a:spcBef>
                <a:spcPts val="0"/>
              </a:spcBef>
              <a:spcAft>
                <a:spcPts val="0"/>
              </a:spcAft>
              <a:buClr>
                <a:schemeClr val="dk1"/>
              </a:buClr>
              <a:buSzPts val="800"/>
              <a:buFont typeface="Lora"/>
              <a:buAutoNum type="alphaLcPeriod"/>
            </a:pPr>
            <a:r>
              <a:rPr lang="en" sz="800">
                <a:solidFill>
                  <a:schemeClr val="dk1"/>
                </a:solidFill>
                <a:highlight>
                  <a:srgbClr val="FFFFFF"/>
                </a:highlight>
                <a:latin typeface="Lora"/>
                <a:ea typeface="Lora"/>
                <a:cs typeface="Lora"/>
                <a:sym typeface="Lora"/>
              </a:rPr>
              <a:t>An OLTP system, because its normalized (3NF) design reduces data redundancy, making the storage footprint smaller and therefore faster to read from</a:t>
            </a:r>
            <a:endParaRPr sz="800">
              <a:solidFill>
                <a:schemeClr val="dk1"/>
              </a:solidFill>
              <a:highlight>
                <a:srgbClr val="FFFFFF"/>
              </a:highlight>
              <a:latin typeface="Lora"/>
              <a:ea typeface="Lora"/>
              <a:cs typeface="Lora"/>
              <a:sym typeface="Lora"/>
            </a:endParaRPr>
          </a:p>
          <a:p>
            <a:pPr indent="-279400" lvl="0" marL="457200" rtl="0" algn="l">
              <a:lnSpc>
                <a:spcPct val="115000"/>
              </a:lnSpc>
              <a:spcBef>
                <a:spcPts val="0"/>
              </a:spcBef>
              <a:spcAft>
                <a:spcPts val="0"/>
              </a:spcAft>
              <a:buClr>
                <a:schemeClr val="dk1"/>
              </a:buClr>
              <a:buSzPts val="800"/>
              <a:buFont typeface="Lora"/>
              <a:buAutoNum type="arabicPeriod" startAt="5"/>
            </a:pPr>
            <a:r>
              <a:t/>
            </a:r>
            <a:endParaRPr sz="800">
              <a:solidFill>
                <a:schemeClr val="dk1"/>
              </a:solidFill>
              <a:highlight>
                <a:srgbClr val="FFFFFF"/>
              </a:highlight>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125" y="575250"/>
            <a:ext cx="9144000" cy="20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700">
                <a:solidFill>
                  <a:schemeClr val="dk2"/>
                </a:solidFill>
                <a:latin typeface="Lora"/>
                <a:ea typeface="Lora"/>
                <a:cs typeface="Lora"/>
                <a:sym typeface="Lora"/>
              </a:rPr>
              <a:t>Designing and Deploying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end-to-end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Production Grade ML Applications</a:t>
            </a:r>
            <a:endParaRPr sz="3700">
              <a:solidFill>
                <a:schemeClr val="dk2"/>
              </a:solidFill>
              <a:latin typeface="Lora"/>
              <a:ea typeface="Lora"/>
              <a:cs typeface="Lora"/>
              <a:sym typeface="Lora"/>
            </a:endParaRPr>
          </a:p>
          <a:p>
            <a:pPr indent="0" lvl="0" marL="0" rtl="0" algn="ctr">
              <a:spcBef>
                <a:spcPts val="0"/>
              </a:spcBef>
              <a:spcAft>
                <a:spcPts val="0"/>
              </a:spcAft>
              <a:buNone/>
            </a:pPr>
            <a:r>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2400">
                <a:solidFill>
                  <a:schemeClr val="dk2"/>
                </a:solidFill>
                <a:latin typeface="Lora"/>
                <a:ea typeface="Lora"/>
                <a:cs typeface="Lora"/>
                <a:sym typeface="Lora"/>
              </a:rPr>
              <a:t> </a:t>
            </a:r>
            <a:r>
              <a:rPr lang="en" sz="2400">
                <a:solidFill>
                  <a:schemeClr val="dk2"/>
                </a:solidFill>
                <a:latin typeface="Lora"/>
                <a:ea typeface="Lora"/>
                <a:cs typeface="Lora"/>
                <a:sym typeface="Lora"/>
              </a:rPr>
              <a:t>Lecture </a:t>
            </a:r>
            <a:r>
              <a:rPr lang="en" sz="2400">
                <a:solidFill>
                  <a:schemeClr val="dk2"/>
                </a:solidFill>
                <a:latin typeface="Lora"/>
                <a:ea typeface="Lora"/>
                <a:cs typeface="Lora"/>
                <a:sym typeface="Lora"/>
              </a:rPr>
              <a:t>8</a:t>
            </a:r>
            <a:r>
              <a:rPr lang="en" sz="2400">
                <a:solidFill>
                  <a:schemeClr val="dk2"/>
                </a:solidFill>
                <a:latin typeface="Lora"/>
                <a:ea typeface="Lora"/>
                <a:cs typeface="Lora"/>
                <a:sym typeface="Lora"/>
              </a:rPr>
              <a:t>: Data Engineering —</a:t>
            </a:r>
            <a:r>
              <a:rPr lang="en" sz="2400">
                <a:solidFill>
                  <a:schemeClr val="dk2"/>
                </a:solidFill>
                <a:latin typeface="Lora"/>
                <a:ea typeface="Lora"/>
                <a:cs typeface="Lora"/>
                <a:sym typeface="Lora"/>
              </a:rPr>
              <a:t> Dagster</a:t>
            </a:r>
            <a:endParaRPr sz="2400">
              <a:solidFill>
                <a:schemeClr val="dk2"/>
              </a:solidFill>
              <a:latin typeface="Lora"/>
              <a:ea typeface="Lora"/>
              <a:cs typeface="Lora"/>
              <a:sym typeface="Lora"/>
            </a:endParaRPr>
          </a:p>
        </p:txBody>
      </p:sp>
      <p:sp>
        <p:nvSpPr>
          <p:cNvPr id="77" name="Google Shape;77;p16"/>
          <p:cNvSpPr txBox="1"/>
          <p:nvPr/>
        </p:nvSpPr>
        <p:spPr>
          <a:xfrm>
            <a:off x="-117" y="3838750"/>
            <a:ext cx="91440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October 2025</a:t>
            </a:r>
            <a:endParaRPr sz="1600">
              <a:solidFill>
                <a:schemeClr val="dk2"/>
              </a:solidFill>
              <a:latin typeface="Lora"/>
              <a:ea typeface="Lora"/>
              <a:cs typeface="Lora"/>
              <a:sym typeface="Lora"/>
            </a:endParaRPr>
          </a:p>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Oliver Angélil  &amp; </a:t>
            </a:r>
            <a:r>
              <a:rPr lang="en" sz="1600">
                <a:solidFill>
                  <a:schemeClr val="dk2"/>
                </a:solidFill>
                <a:latin typeface="Lora"/>
                <a:ea typeface="Lora"/>
                <a:cs typeface="Lora"/>
                <a:sym typeface="Lora"/>
              </a:rPr>
              <a:t>Vincent Frimpong</a:t>
            </a:r>
            <a:endParaRPr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i="0" lang="en" sz="2400" u="none" cap="none" strike="noStrike">
                <a:solidFill>
                  <a:srgbClr val="000000"/>
                </a:solidFill>
                <a:latin typeface="Lora"/>
                <a:ea typeface="Lora"/>
                <a:cs typeface="Lora"/>
                <a:sym typeface="Lora"/>
              </a:rPr>
              <a:t>Contents of </a:t>
            </a:r>
            <a:r>
              <a:rPr lang="en" sz="2400">
                <a:latin typeface="Lora"/>
                <a:ea typeface="Lora"/>
                <a:cs typeface="Lora"/>
                <a:sym typeface="Lora"/>
              </a:rPr>
              <a:t>three</a:t>
            </a:r>
            <a:r>
              <a:rPr i="0" lang="en" sz="2400" u="none" cap="none" strike="noStrike">
                <a:solidFill>
                  <a:srgbClr val="000000"/>
                </a:solidFill>
                <a:latin typeface="Lora"/>
                <a:ea typeface="Lora"/>
                <a:cs typeface="Lora"/>
                <a:sym typeface="Lora"/>
              </a:rPr>
              <a:t> </a:t>
            </a:r>
            <a:r>
              <a:rPr lang="en" sz="2400">
                <a:latin typeface="Lora"/>
                <a:ea typeface="Lora"/>
                <a:cs typeface="Lora"/>
                <a:sym typeface="Lora"/>
              </a:rPr>
              <a:t>Data Engineering Lectures:</a:t>
            </a:r>
            <a:endParaRPr i="0" sz="700" u="none" cap="none" strike="noStrike">
              <a:solidFill>
                <a:srgbClr val="000000"/>
              </a:solidFill>
              <a:latin typeface="Lora"/>
              <a:ea typeface="Lora"/>
              <a:cs typeface="Lora"/>
              <a:sym typeface="Lora"/>
            </a:endParaRPr>
          </a:p>
        </p:txBody>
      </p:sp>
      <p:sp>
        <p:nvSpPr>
          <p:cNvPr id="83" name="Google Shape;83;p17"/>
          <p:cNvSpPr txBox="1"/>
          <p:nvPr/>
        </p:nvSpPr>
        <p:spPr>
          <a:xfrm>
            <a:off x="486900" y="624775"/>
            <a:ext cx="7896600" cy="34170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Lecture 6: Foundation and Building Blocks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What is Data Engineering (DE)?</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The DE lifecycle</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Types of Data Architectures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On-Prem vs Cloud (IaaS vs PaaS vs SaaS)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Infrastructure as Code (IaC)</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Lecture 7: The DE Lifecycle in Depth</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Source Systems &amp; Storage</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Ingestion</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Modeling, and Transformation</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uFill>
                  <a:noFill/>
                </a:uFill>
                <a:latin typeface="Lora"/>
                <a:ea typeface="Lora"/>
                <a:cs typeface="Lora"/>
                <a:sym typeface="Lora"/>
                <a:hlinkClick r:id="rId3">
                  <a:extLst>
                    <a:ext uri="{A12FA001-AC4F-418D-AE19-62706E023703}">
                      <ahyp:hlinkClr val="tx"/>
                    </a:ext>
                  </a:extLst>
                </a:hlinkClick>
              </a:rPr>
              <a:t>Serving Data for Analytics, Machine Learning, and Reverse ETL</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Lecture 8: Learning by Doing — Building your own DE Pipeline with Dagster</a:t>
            </a:r>
            <a:endParaRPr sz="1200">
              <a:solidFill>
                <a:schemeClr val="dk1"/>
              </a:solidFill>
              <a:latin typeface="Lora"/>
              <a:ea typeface="Lora"/>
              <a:cs typeface="Lora"/>
              <a:sym typeface="Lora"/>
            </a:endParaRPr>
          </a:p>
        </p:txBody>
      </p:sp>
      <p:sp>
        <p:nvSpPr>
          <p:cNvPr id="84" name="Google Shape;84;p17"/>
          <p:cNvSpPr/>
          <p:nvPr/>
        </p:nvSpPr>
        <p:spPr>
          <a:xfrm>
            <a:off x="605425" y="3696775"/>
            <a:ext cx="5814300" cy="273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85" name="Google Shape;85;p17"/>
          <p:cNvSpPr txBox="1"/>
          <p:nvPr/>
        </p:nvSpPr>
        <p:spPr>
          <a:xfrm>
            <a:off x="6495667" y="3620824"/>
            <a:ext cx="12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0000"/>
                </a:solidFill>
                <a:latin typeface="Pacifico"/>
                <a:ea typeface="Pacifico"/>
                <a:cs typeface="Pacifico"/>
                <a:sym typeface="Pacifico"/>
              </a:rPr>
              <a:t>this lecture</a:t>
            </a:r>
            <a:endParaRPr sz="1600">
              <a:solidFill>
                <a:srgbClr val="FF0000"/>
              </a:solidFill>
              <a:latin typeface="Pacifico"/>
              <a:ea typeface="Pacifico"/>
              <a:cs typeface="Pacifico"/>
              <a:sym typeface="Pacifico"/>
            </a:endParaRPr>
          </a:p>
        </p:txBody>
      </p:sp>
      <p:sp>
        <p:nvSpPr>
          <p:cNvPr id="86" name="Google Shape;86;p17"/>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Oliver</a:t>
            </a:r>
            <a:endParaRPr sz="1200">
              <a:solidFill>
                <a:srgbClr val="595959"/>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a:t>
            </a:r>
            <a:r>
              <a:rPr lang="en" sz="2200">
                <a:latin typeface="Lora"/>
                <a:ea typeface="Lora"/>
                <a:cs typeface="Lora"/>
                <a:sym typeface="Lora"/>
              </a:rPr>
              <a:t>.1 Dagster: What is Dagster?</a:t>
            </a:r>
            <a:endParaRPr sz="2200">
              <a:latin typeface="Lora"/>
              <a:ea typeface="Lora"/>
              <a:cs typeface="Lora"/>
              <a:sym typeface="Lora"/>
            </a:endParaRPr>
          </a:p>
        </p:txBody>
      </p:sp>
      <p:sp>
        <p:nvSpPr>
          <p:cNvPr id="92" name="Google Shape;92;p18"/>
          <p:cNvSpPr txBox="1"/>
          <p:nvPr/>
        </p:nvSpPr>
        <p:spPr>
          <a:xfrm>
            <a:off x="486900" y="624775"/>
            <a:ext cx="7805700" cy="16623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120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OSS — </a:t>
            </a:r>
            <a:r>
              <a:rPr lang="en" sz="1200" u="sng">
                <a:solidFill>
                  <a:schemeClr val="hlink"/>
                </a:solidFill>
                <a:highlight>
                  <a:srgbClr val="FFFFFF"/>
                </a:highlight>
                <a:latin typeface="Lora"/>
                <a:ea typeface="Lora"/>
                <a:cs typeface="Lora"/>
                <a:sym typeface="Lora"/>
                <a:hlinkClick r:id="rId3"/>
              </a:rPr>
              <a:t>13K github stars</a:t>
            </a:r>
            <a:r>
              <a:rPr lang="en" sz="1200">
                <a:solidFill>
                  <a:srgbClr val="202122"/>
                </a:solidFill>
                <a:highlight>
                  <a:srgbClr val="FFFFFF"/>
                </a:highlight>
                <a:latin typeface="Lora"/>
                <a:ea typeface="Lora"/>
                <a:cs typeface="Lora"/>
                <a:sym typeface="Lora"/>
              </a:rPr>
              <a:t> as of August 2025. </a:t>
            </a:r>
            <a:r>
              <a:rPr lang="en" sz="1200" u="sng">
                <a:solidFill>
                  <a:schemeClr val="hlink"/>
                </a:solidFill>
                <a:highlight>
                  <a:srgbClr val="FFFFFF"/>
                </a:highlight>
                <a:latin typeface="Lora"/>
                <a:ea typeface="Lora"/>
                <a:cs typeface="Lora"/>
                <a:sym typeface="Lora"/>
                <a:hlinkClick r:id="rId4"/>
              </a:rPr>
              <a:t>Official documentation</a:t>
            </a:r>
            <a:r>
              <a:rPr lang="en" sz="1200">
                <a:solidFill>
                  <a:srgbClr val="202122"/>
                </a:solidFill>
                <a:highlight>
                  <a:srgbClr val="FFFFFF"/>
                </a:highlight>
                <a:latin typeface="Lora"/>
                <a:ea typeface="Lora"/>
                <a:cs typeface="Lora"/>
                <a:sym typeface="Lora"/>
              </a:rPr>
              <a:t>. </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Software for building Data Engineering &amp; Data Science pipelines, that includes:</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data schedules</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UI (data lineage, jobs, previews of data, etc)</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data health checks</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IO manager (where to read/write from) </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Comparable alternatives: Palantir Foundry; GCP Dataplex, Apache Airflow</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Example of a DAG:</a:t>
            </a:r>
            <a:endParaRPr sz="1200">
              <a:solidFill>
                <a:srgbClr val="202122"/>
              </a:solidFill>
              <a:highlight>
                <a:srgbClr val="FFFFFF"/>
              </a:highlight>
              <a:latin typeface="Lora"/>
              <a:ea typeface="Lora"/>
              <a:cs typeface="Lora"/>
              <a:sym typeface="Lora"/>
            </a:endParaRPr>
          </a:p>
        </p:txBody>
      </p:sp>
      <p:graphicFrame>
        <p:nvGraphicFramePr>
          <p:cNvPr id="93" name="Google Shape;93;p18"/>
          <p:cNvGraphicFramePr/>
          <p:nvPr/>
        </p:nvGraphicFramePr>
        <p:xfrm>
          <a:off x="612900" y="2488950"/>
          <a:ext cx="3000000" cy="3000000"/>
        </p:xfrm>
        <a:graphic>
          <a:graphicData uri="http://schemas.openxmlformats.org/drawingml/2006/table">
            <a:tbl>
              <a:tblPr>
                <a:noFill/>
                <a:tableStyleId>{E9CE73AE-3F70-4BE8-AF81-75E54F59A85C}</a:tableStyleId>
              </a:tblPr>
              <a:tblGrid>
                <a:gridCol w="872650"/>
                <a:gridCol w="1034825"/>
                <a:gridCol w="745650"/>
              </a:tblGrid>
              <a:tr h="59575">
                <a:tc>
                  <a:txBody>
                    <a:bodyPr/>
                    <a:lstStyle/>
                    <a:p>
                      <a:pPr indent="0" lvl="0" marL="0" rtl="0" algn="ctr">
                        <a:spcBef>
                          <a:spcPts val="0"/>
                        </a:spcBef>
                        <a:spcAft>
                          <a:spcPts val="0"/>
                        </a:spcAft>
                        <a:buNone/>
                      </a:pPr>
                      <a:r>
                        <a:rPr b="1" lang="en" sz="900"/>
                        <a:t>Date (STR)</a:t>
                      </a:r>
                      <a:endParaRPr b="1" sz="900"/>
                    </a:p>
                  </a:txBody>
                  <a:tcPr marT="91425" marB="91425" marR="91425" marL="91425"/>
                </a:tc>
                <a:tc>
                  <a:txBody>
                    <a:bodyPr/>
                    <a:lstStyle/>
                    <a:p>
                      <a:pPr indent="0" lvl="0" marL="0" rtl="0" algn="ctr">
                        <a:spcBef>
                          <a:spcPts val="0"/>
                        </a:spcBef>
                        <a:spcAft>
                          <a:spcPts val="0"/>
                        </a:spcAft>
                        <a:buNone/>
                      </a:pPr>
                      <a:r>
                        <a:rPr b="1" lang="en" sz="900"/>
                        <a:t>Food Item (STR)</a:t>
                      </a:r>
                      <a:endParaRPr b="1" sz="900"/>
                    </a:p>
                  </a:txBody>
                  <a:tcPr marT="91425" marB="91425" marR="91425" marL="91425"/>
                </a:tc>
                <a:tc>
                  <a:txBody>
                    <a:bodyPr/>
                    <a:lstStyle/>
                    <a:p>
                      <a:pPr indent="0" lvl="0" marL="0" rtl="0" algn="ctr">
                        <a:spcBef>
                          <a:spcPts val="0"/>
                        </a:spcBef>
                        <a:spcAft>
                          <a:spcPts val="0"/>
                        </a:spcAft>
                        <a:buNone/>
                      </a:pPr>
                      <a:r>
                        <a:rPr b="1" lang="en" sz="900"/>
                        <a:t>nItems (STR)</a:t>
                      </a:r>
                      <a:endParaRPr b="1" sz="900"/>
                    </a:p>
                  </a:txBody>
                  <a:tcPr marT="91425" marB="91425" marR="91425" marL="91425"/>
                </a:tc>
              </a:tr>
              <a:tr h="59200">
                <a:tc>
                  <a:txBody>
                    <a:bodyPr/>
                    <a:lstStyle/>
                    <a:p>
                      <a:pPr indent="0" lvl="0" marL="0" rtl="0" algn="ctr">
                        <a:spcBef>
                          <a:spcPts val="0"/>
                        </a:spcBef>
                        <a:spcAft>
                          <a:spcPts val="0"/>
                        </a:spcAft>
                        <a:buNone/>
                      </a:pPr>
                      <a:r>
                        <a:rPr lang="en" sz="900"/>
                        <a:t>2023-01-15</a:t>
                      </a:r>
                      <a:endParaRPr sz="900"/>
                    </a:p>
                  </a:txBody>
                  <a:tcPr marT="91425" marB="91425" marR="91425" marL="91425"/>
                </a:tc>
                <a:tc>
                  <a:txBody>
                    <a:bodyPr/>
                    <a:lstStyle/>
                    <a:p>
                      <a:pPr indent="0" lvl="0" marL="0" rtl="0" algn="ctr">
                        <a:spcBef>
                          <a:spcPts val="0"/>
                        </a:spcBef>
                        <a:spcAft>
                          <a:spcPts val="0"/>
                        </a:spcAft>
                        <a:buNone/>
                      </a:pPr>
                      <a:r>
                        <a:rPr lang="en" sz="900"/>
                        <a:t>Applle</a:t>
                      </a:r>
                      <a:endParaRPr sz="900"/>
                    </a:p>
                  </a:txBody>
                  <a:tcPr marT="91425" marB="91425" marR="91425" marL="91425"/>
                </a:tc>
                <a:tc>
                  <a:txBody>
                    <a:bodyPr/>
                    <a:lstStyle/>
                    <a:p>
                      <a:pPr indent="0" lvl="0" marL="0" rtl="0" algn="ctr">
                        <a:spcBef>
                          <a:spcPts val="0"/>
                        </a:spcBef>
                        <a:spcAft>
                          <a:spcPts val="0"/>
                        </a:spcAft>
                        <a:buNone/>
                      </a:pPr>
                      <a:r>
                        <a:rPr lang="en" sz="900"/>
                        <a:t>200</a:t>
                      </a:r>
                      <a:endParaRPr sz="900"/>
                    </a:p>
                  </a:txBody>
                  <a:tcPr marT="91425" marB="91425" marR="91425" marL="91425"/>
                </a:tc>
              </a:tr>
              <a:tr h="59575">
                <a:tc>
                  <a:txBody>
                    <a:bodyPr/>
                    <a:lstStyle/>
                    <a:p>
                      <a:pPr indent="0" lvl="0" marL="0" rtl="0" algn="ctr">
                        <a:spcBef>
                          <a:spcPts val="0"/>
                        </a:spcBef>
                        <a:spcAft>
                          <a:spcPts val="0"/>
                        </a:spcAft>
                        <a:buNone/>
                      </a:pPr>
                      <a:r>
                        <a:rPr lang="en" sz="900"/>
                        <a:t>Feb 3, 2023</a:t>
                      </a:r>
                      <a:endParaRPr sz="900"/>
                    </a:p>
                  </a:txBody>
                  <a:tcPr marT="91425" marB="91425" marR="91425" marL="91425"/>
                </a:tc>
                <a:tc>
                  <a:txBody>
                    <a:bodyPr/>
                    <a:lstStyle/>
                    <a:p>
                      <a:pPr indent="0" lvl="0" marL="0" rtl="0" algn="ctr">
                        <a:spcBef>
                          <a:spcPts val="0"/>
                        </a:spcBef>
                        <a:spcAft>
                          <a:spcPts val="0"/>
                        </a:spcAft>
                        <a:buNone/>
                      </a:pPr>
                      <a:r>
                        <a:rPr lang="en" sz="900"/>
                        <a:t>Aubergine</a:t>
                      </a:r>
                      <a:endParaRPr sz="900"/>
                    </a:p>
                  </a:txBody>
                  <a:tcPr marT="91425" marB="91425" marR="91425" marL="91425"/>
                </a:tc>
                <a:tc>
                  <a:txBody>
                    <a:bodyPr/>
                    <a:lstStyle/>
                    <a:p>
                      <a:pPr indent="0" lvl="0" marL="0" rtl="0" algn="ctr">
                        <a:spcBef>
                          <a:spcPts val="0"/>
                        </a:spcBef>
                        <a:spcAft>
                          <a:spcPts val="0"/>
                        </a:spcAft>
                        <a:buNone/>
                      </a:pPr>
                      <a:r>
                        <a:rPr lang="en" sz="900"/>
                        <a:t>400.0</a:t>
                      </a:r>
                      <a:endParaRPr sz="900"/>
                    </a:p>
                  </a:txBody>
                  <a:tcPr marT="91425" marB="91425" marR="91425" marL="91425"/>
                </a:tc>
              </a:tr>
              <a:tr h="59200">
                <a:tc>
                  <a:txBody>
                    <a:bodyPr/>
                    <a:lstStyle/>
                    <a:p>
                      <a:pPr indent="0" lvl="0" marL="0" rtl="0" algn="ctr">
                        <a:spcBef>
                          <a:spcPts val="0"/>
                        </a:spcBef>
                        <a:spcAft>
                          <a:spcPts val="0"/>
                        </a:spcAft>
                        <a:buNone/>
                      </a:pPr>
                      <a:r>
                        <a:rPr lang="en" sz="900"/>
                        <a:t>30.02.2023</a:t>
                      </a:r>
                      <a:endParaRPr sz="900"/>
                    </a:p>
                  </a:txBody>
                  <a:tcPr marT="91425" marB="91425" marR="91425" marL="91425"/>
                </a:tc>
                <a:tc>
                  <a:txBody>
                    <a:bodyPr/>
                    <a:lstStyle/>
                    <a:p>
                      <a:pPr indent="0" lvl="0" marL="0" rtl="0" algn="ctr">
                        <a:spcBef>
                          <a:spcPts val="0"/>
                        </a:spcBef>
                        <a:spcAft>
                          <a:spcPts val="0"/>
                        </a:spcAft>
                        <a:buNone/>
                      </a:pPr>
                      <a:r>
                        <a:rPr lang="en" sz="900"/>
                        <a:t>Eggplant</a:t>
                      </a:r>
                      <a:endParaRPr sz="900"/>
                    </a:p>
                  </a:txBody>
                  <a:tcPr marT="91425" marB="91425" marR="91425" marL="91425"/>
                </a:tc>
                <a:tc>
                  <a:txBody>
                    <a:bodyPr/>
                    <a:lstStyle/>
                    <a:p>
                      <a:pPr indent="0" lvl="0" marL="0" rtl="0" algn="ctr">
                        <a:spcBef>
                          <a:spcPts val="0"/>
                        </a:spcBef>
                        <a:spcAft>
                          <a:spcPts val="0"/>
                        </a:spcAft>
                        <a:buNone/>
                      </a:pPr>
                      <a:r>
                        <a:rPr lang="en" sz="900"/>
                        <a:t>eighty</a:t>
                      </a:r>
                      <a:endParaRPr sz="900"/>
                    </a:p>
                  </a:txBody>
                  <a:tcPr marT="91425" marB="91425" marR="91425" marL="91425"/>
                </a:tc>
              </a:tr>
              <a:tr h="101150">
                <a:tc>
                  <a:txBody>
                    <a:bodyPr/>
                    <a:lstStyle/>
                    <a:p>
                      <a:pPr indent="0" lvl="0" marL="0" rtl="0" algn="ctr">
                        <a:spcBef>
                          <a:spcPts val="0"/>
                        </a:spcBef>
                        <a:spcAft>
                          <a:spcPts val="0"/>
                        </a:spcAft>
                        <a:buNone/>
                      </a:pPr>
                      <a:r>
                        <a:rPr lang="en" sz="900">
                          <a:solidFill>
                            <a:srgbClr val="000000"/>
                          </a:solidFill>
                        </a:rPr>
                        <a:t>Feb 4, 2023</a:t>
                      </a:r>
                      <a:endParaRPr sz="900"/>
                    </a:p>
                  </a:txBody>
                  <a:tcPr marT="91425" marB="91425" marR="91425" marL="91425"/>
                </a:tc>
                <a:tc>
                  <a:txBody>
                    <a:bodyPr/>
                    <a:lstStyle/>
                    <a:p>
                      <a:pPr indent="0" lvl="0" marL="0" rtl="0" algn="ctr">
                        <a:spcBef>
                          <a:spcPts val="0"/>
                        </a:spcBef>
                        <a:spcAft>
                          <a:spcPts val="0"/>
                        </a:spcAft>
                        <a:buNone/>
                      </a:pPr>
                      <a:r>
                        <a:rPr lang="en" sz="900"/>
                        <a:t>Apple</a:t>
                      </a:r>
                      <a:endParaRPr sz="900"/>
                    </a:p>
                  </a:txBody>
                  <a:tcPr marT="91425" marB="91425" marR="91425" marL="91425"/>
                </a:tc>
                <a:tc>
                  <a:txBody>
                    <a:bodyPr/>
                    <a:lstStyle/>
                    <a:p>
                      <a:pPr indent="0" lvl="0" marL="0" rtl="0" algn="ctr">
                        <a:spcBef>
                          <a:spcPts val="0"/>
                        </a:spcBef>
                        <a:spcAft>
                          <a:spcPts val="0"/>
                        </a:spcAft>
                        <a:buNone/>
                      </a:pPr>
                      <a:r>
                        <a:rPr lang="en" sz="900"/>
                        <a:t>five</a:t>
                      </a:r>
                      <a:endParaRPr sz="900"/>
                    </a:p>
                  </a:txBody>
                  <a:tcPr marT="91425" marB="91425" marR="91425" marL="91425"/>
                </a:tc>
              </a:tr>
            </a:tbl>
          </a:graphicData>
        </a:graphic>
      </p:graphicFrame>
      <p:graphicFrame>
        <p:nvGraphicFramePr>
          <p:cNvPr id="94" name="Google Shape;94;p18"/>
          <p:cNvGraphicFramePr/>
          <p:nvPr/>
        </p:nvGraphicFramePr>
        <p:xfrm>
          <a:off x="3606300" y="2488950"/>
          <a:ext cx="3000000" cy="3000000"/>
        </p:xfrm>
        <a:graphic>
          <a:graphicData uri="http://schemas.openxmlformats.org/drawingml/2006/table">
            <a:tbl>
              <a:tblPr>
                <a:noFill/>
                <a:tableStyleId>{E9CE73AE-3F70-4BE8-AF81-75E54F59A85C}</a:tableStyleId>
              </a:tblPr>
              <a:tblGrid>
                <a:gridCol w="898025"/>
                <a:gridCol w="965850"/>
                <a:gridCol w="789250"/>
              </a:tblGrid>
              <a:tr h="73950">
                <a:tc>
                  <a:txBody>
                    <a:bodyPr/>
                    <a:lstStyle/>
                    <a:p>
                      <a:pPr indent="0" lvl="0" marL="0" rtl="0" algn="ctr">
                        <a:spcBef>
                          <a:spcPts val="0"/>
                        </a:spcBef>
                        <a:spcAft>
                          <a:spcPts val="0"/>
                        </a:spcAft>
                        <a:buNone/>
                      </a:pPr>
                      <a:r>
                        <a:rPr b="1" lang="en" sz="900"/>
                        <a:t>Date (DATE)</a:t>
                      </a:r>
                      <a:endParaRPr b="1" sz="900"/>
                    </a:p>
                  </a:txBody>
                  <a:tcPr marT="91425" marB="91425" marR="91425" marL="91425"/>
                </a:tc>
                <a:tc>
                  <a:txBody>
                    <a:bodyPr/>
                    <a:lstStyle/>
                    <a:p>
                      <a:pPr indent="0" lvl="0" marL="0" rtl="0" algn="ctr">
                        <a:spcBef>
                          <a:spcPts val="0"/>
                        </a:spcBef>
                        <a:spcAft>
                          <a:spcPts val="0"/>
                        </a:spcAft>
                        <a:buNone/>
                      </a:pPr>
                      <a:r>
                        <a:rPr b="1" lang="en" sz="900"/>
                        <a:t>Food Item (STR)</a:t>
                      </a:r>
                      <a:endParaRPr b="1" sz="900"/>
                    </a:p>
                  </a:txBody>
                  <a:tcPr marT="91425" marB="91425" marR="91425" marL="91425"/>
                </a:tc>
                <a:tc>
                  <a:txBody>
                    <a:bodyPr/>
                    <a:lstStyle/>
                    <a:p>
                      <a:pPr indent="0" lvl="0" marL="0" rtl="0" algn="ctr">
                        <a:spcBef>
                          <a:spcPts val="0"/>
                        </a:spcBef>
                        <a:spcAft>
                          <a:spcPts val="0"/>
                        </a:spcAft>
                        <a:buNone/>
                      </a:pPr>
                      <a:r>
                        <a:rPr b="1" lang="en" sz="900"/>
                        <a:t>nItems (INT)</a:t>
                      </a:r>
                      <a:endParaRPr b="1" sz="900"/>
                    </a:p>
                  </a:txBody>
                  <a:tcPr marT="91425" marB="91425" marR="91425" marL="91425"/>
                </a:tc>
              </a:tr>
              <a:tr h="72050">
                <a:tc>
                  <a:txBody>
                    <a:bodyPr/>
                    <a:lstStyle/>
                    <a:p>
                      <a:pPr indent="0" lvl="0" marL="0" rtl="0" algn="ctr">
                        <a:spcBef>
                          <a:spcPts val="0"/>
                        </a:spcBef>
                        <a:spcAft>
                          <a:spcPts val="0"/>
                        </a:spcAft>
                        <a:buNone/>
                      </a:pPr>
                      <a:r>
                        <a:rPr lang="en" sz="900"/>
                        <a:t>2023-01-15</a:t>
                      </a:r>
                      <a:endParaRPr sz="900"/>
                    </a:p>
                  </a:txBody>
                  <a:tcPr marT="91425" marB="91425" marR="91425" marL="91425"/>
                </a:tc>
                <a:tc>
                  <a:txBody>
                    <a:bodyPr/>
                    <a:lstStyle/>
                    <a:p>
                      <a:pPr indent="0" lvl="0" marL="0" rtl="0" algn="ctr">
                        <a:spcBef>
                          <a:spcPts val="0"/>
                        </a:spcBef>
                        <a:spcAft>
                          <a:spcPts val="0"/>
                        </a:spcAft>
                        <a:buNone/>
                      </a:pPr>
                      <a:r>
                        <a:rPr lang="en" sz="900"/>
                        <a:t>Apple</a:t>
                      </a:r>
                      <a:endParaRPr sz="900"/>
                    </a:p>
                  </a:txBody>
                  <a:tcPr marT="91425" marB="91425" marR="91425" marL="91425"/>
                </a:tc>
                <a:tc>
                  <a:txBody>
                    <a:bodyPr/>
                    <a:lstStyle/>
                    <a:p>
                      <a:pPr indent="0" lvl="0" marL="0" rtl="0" algn="ctr">
                        <a:spcBef>
                          <a:spcPts val="0"/>
                        </a:spcBef>
                        <a:spcAft>
                          <a:spcPts val="0"/>
                        </a:spcAft>
                        <a:buNone/>
                      </a:pPr>
                      <a:r>
                        <a:rPr lang="en" sz="900"/>
                        <a:t>200</a:t>
                      </a:r>
                      <a:endParaRPr sz="900"/>
                    </a:p>
                  </a:txBody>
                  <a:tcPr marT="91425" marB="91425" marR="91425" marL="91425"/>
                </a:tc>
              </a:tr>
              <a:tr h="73950">
                <a:tc>
                  <a:txBody>
                    <a:bodyPr/>
                    <a:lstStyle/>
                    <a:p>
                      <a:pPr indent="0" lvl="0" marL="0" rtl="0" algn="ctr">
                        <a:spcBef>
                          <a:spcPts val="0"/>
                        </a:spcBef>
                        <a:spcAft>
                          <a:spcPts val="0"/>
                        </a:spcAft>
                        <a:buNone/>
                      </a:pPr>
                      <a:r>
                        <a:rPr lang="en" sz="900"/>
                        <a:t>2023-02-03</a:t>
                      </a:r>
                      <a:endParaRPr sz="900"/>
                    </a:p>
                  </a:txBody>
                  <a:tcPr marT="91425" marB="91425" marR="91425" marL="91425"/>
                </a:tc>
                <a:tc>
                  <a:txBody>
                    <a:bodyPr/>
                    <a:lstStyle/>
                    <a:p>
                      <a:pPr indent="0" lvl="0" marL="0" rtl="0" algn="ctr">
                        <a:spcBef>
                          <a:spcPts val="0"/>
                        </a:spcBef>
                        <a:spcAft>
                          <a:spcPts val="0"/>
                        </a:spcAft>
                        <a:buNone/>
                      </a:pPr>
                      <a:r>
                        <a:rPr lang="en" sz="900"/>
                        <a:t>Eggplant</a:t>
                      </a:r>
                      <a:endParaRPr sz="900"/>
                    </a:p>
                  </a:txBody>
                  <a:tcPr marT="91425" marB="91425" marR="91425" marL="91425"/>
                </a:tc>
                <a:tc>
                  <a:txBody>
                    <a:bodyPr/>
                    <a:lstStyle/>
                    <a:p>
                      <a:pPr indent="0" lvl="0" marL="0" rtl="0" algn="ctr">
                        <a:spcBef>
                          <a:spcPts val="0"/>
                        </a:spcBef>
                        <a:spcAft>
                          <a:spcPts val="0"/>
                        </a:spcAft>
                        <a:buNone/>
                      </a:pPr>
                      <a:r>
                        <a:rPr lang="en" sz="900"/>
                        <a:t>400</a:t>
                      </a:r>
                      <a:endParaRPr sz="900"/>
                    </a:p>
                  </a:txBody>
                  <a:tcPr marT="91425" marB="91425" marR="91425" marL="91425"/>
                </a:tc>
              </a:tr>
              <a:tr h="72050">
                <a:tc>
                  <a:txBody>
                    <a:bodyPr/>
                    <a:lstStyle/>
                    <a:p>
                      <a:pPr indent="0" lvl="0" marL="0" rtl="0" algn="ctr">
                        <a:spcBef>
                          <a:spcPts val="0"/>
                        </a:spcBef>
                        <a:spcAft>
                          <a:spcPts val="0"/>
                        </a:spcAft>
                        <a:buNone/>
                      </a:pPr>
                      <a:r>
                        <a:rPr lang="en" sz="900"/>
                        <a:t>NULL</a:t>
                      </a:r>
                      <a:endParaRPr sz="900"/>
                    </a:p>
                  </a:txBody>
                  <a:tcPr marT="91425" marB="91425" marR="91425" marL="91425"/>
                </a:tc>
                <a:tc>
                  <a:txBody>
                    <a:bodyPr/>
                    <a:lstStyle/>
                    <a:p>
                      <a:pPr indent="0" lvl="0" marL="0" rtl="0" algn="ctr">
                        <a:spcBef>
                          <a:spcPts val="0"/>
                        </a:spcBef>
                        <a:spcAft>
                          <a:spcPts val="0"/>
                        </a:spcAft>
                        <a:buNone/>
                      </a:pPr>
                      <a:r>
                        <a:rPr lang="en" sz="900"/>
                        <a:t>Eggplant</a:t>
                      </a:r>
                      <a:endParaRPr sz="900"/>
                    </a:p>
                  </a:txBody>
                  <a:tcPr marT="91425" marB="91425" marR="91425" marL="91425"/>
                </a:tc>
                <a:tc>
                  <a:txBody>
                    <a:bodyPr/>
                    <a:lstStyle/>
                    <a:p>
                      <a:pPr indent="0" lvl="0" marL="0" rtl="0" algn="ctr">
                        <a:spcBef>
                          <a:spcPts val="0"/>
                        </a:spcBef>
                        <a:spcAft>
                          <a:spcPts val="0"/>
                        </a:spcAft>
                        <a:buNone/>
                      </a:pPr>
                      <a:r>
                        <a:rPr lang="en" sz="900"/>
                        <a:t>80</a:t>
                      </a:r>
                      <a:endParaRPr sz="900"/>
                    </a:p>
                  </a:txBody>
                  <a:tcPr marT="91425" marB="91425" marR="91425" marL="91425"/>
                </a:tc>
              </a:tr>
              <a:tr h="72050">
                <a:tc>
                  <a:txBody>
                    <a:bodyPr/>
                    <a:lstStyle/>
                    <a:p>
                      <a:pPr indent="0" lvl="0" marL="0" rtl="0" algn="ctr">
                        <a:spcBef>
                          <a:spcPts val="0"/>
                        </a:spcBef>
                        <a:spcAft>
                          <a:spcPts val="0"/>
                        </a:spcAft>
                        <a:buNone/>
                      </a:pPr>
                      <a:r>
                        <a:rPr lang="en" sz="900"/>
                        <a:t>2023-02-04</a:t>
                      </a:r>
                      <a:endParaRPr sz="900"/>
                    </a:p>
                  </a:txBody>
                  <a:tcPr marT="91425" marB="91425" marR="91425" marL="91425"/>
                </a:tc>
                <a:tc>
                  <a:txBody>
                    <a:bodyPr/>
                    <a:lstStyle/>
                    <a:p>
                      <a:pPr indent="0" lvl="0" marL="0" rtl="0" algn="ctr">
                        <a:spcBef>
                          <a:spcPts val="0"/>
                        </a:spcBef>
                        <a:spcAft>
                          <a:spcPts val="0"/>
                        </a:spcAft>
                        <a:buClr>
                          <a:srgbClr val="000000"/>
                        </a:buClr>
                        <a:buSzPts val="1100"/>
                        <a:buFont typeface="Arial"/>
                        <a:buNone/>
                      </a:pPr>
                      <a:r>
                        <a:rPr lang="en" sz="900">
                          <a:solidFill>
                            <a:srgbClr val="000000"/>
                          </a:solidFill>
                        </a:rPr>
                        <a:t>Apple</a:t>
                      </a:r>
                      <a:endParaRPr sz="900"/>
                    </a:p>
                  </a:txBody>
                  <a:tcPr marT="91425" marB="91425" marR="91425" marL="91425"/>
                </a:tc>
                <a:tc>
                  <a:txBody>
                    <a:bodyPr/>
                    <a:lstStyle/>
                    <a:p>
                      <a:pPr indent="0" lvl="0" marL="0" rtl="0" algn="ctr">
                        <a:spcBef>
                          <a:spcPts val="0"/>
                        </a:spcBef>
                        <a:spcAft>
                          <a:spcPts val="0"/>
                        </a:spcAft>
                        <a:buNone/>
                      </a:pPr>
                      <a:r>
                        <a:rPr lang="en" sz="900"/>
                        <a:t>5</a:t>
                      </a:r>
                      <a:endParaRPr sz="900"/>
                    </a:p>
                  </a:txBody>
                  <a:tcPr marT="91425" marB="91425" marR="91425" marL="91425"/>
                </a:tc>
              </a:tr>
            </a:tbl>
          </a:graphicData>
        </a:graphic>
      </p:graphicFrame>
      <p:sp>
        <p:nvSpPr>
          <p:cNvPr id="95" name="Google Shape;95;p18"/>
          <p:cNvSpPr txBox="1"/>
          <p:nvPr/>
        </p:nvSpPr>
        <p:spPr>
          <a:xfrm>
            <a:off x="1605750" y="2166475"/>
            <a:ext cx="5592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200">
                <a:solidFill>
                  <a:srgbClr val="202122"/>
                </a:solidFill>
                <a:highlight>
                  <a:srgbClr val="FFFFFF"/>
                </a:highlight>
                <a:latin typeface="Lora"/>
                <a:ea typeface="Lora"/>
                <a:cs typeface="Lora"/>
                <a:sym typeface="Lora"/>
              </a:rPr>
              <a:t>Raw</a:t>
            </a:r>
            <a:endParaRPr b="1" sz="1200">
              <a:solidFill>
                <a:srgbClr val="202122"/>
              </a:solidFill>
              <a:highlight>
                <a:srgbClr val="FFFFFF"/>
              </a:highlight>
              <a:latin typeface="Lora"/>
              <a:ea typeface="Lora"/>
              <a:cs typeface="Lora"/>
              <a:sym typeface="Lora"/>
            </a:endParaRPr>
          </a:p>
        </p:txBody>
      </p:sp>
      <p:sp>
        <p:nvSpPr>
          <p:cNvPr id="96" name="Google Shape;96;p18"/>
          <p:cNvSpPr txBox="1"/>
          <p:nvPr/>
        </p:nvSpPr>
        <p:spPr>
          <a:xfrm>
            <a:off x="4653278" y="2179550"/>
            <a:ext cx="6732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200">
                <a:solidFill>
                  <a:srgbClr val="202122"/>
                </a:solidFill>
                <a:highlight>
                  <a:srgbClr val="FFFFFF"/>
                </a:highlight>
                <a:latin typeface="Lora"/>
                <a:ea typeface="Lora"/>
                <a:cs typeface="Lora"/>
                <a:sym typeface="Lora"/>
              </a:rPr>
              <a:t>Clean</a:t>
            </a:r>
            <a:endParaRPr b="1" sz="1200">
              <a:solidFill>
                <a:srgbClr val="202122"/>
              </a:solidFill>
              <a:highlight>
                <a:srgbClr val="FFFFFF"/>
              </a:highlight>
              <a:latin typeface="Lora"/>
              <a:ea typeface="Lora"/>
              <a:cs typeface="Lora"/>
              <a:sym typeface="Lora"/>
            </a:endParaRPr>
          </a:p>
        </p:txBody>
      </p:sp>
      <p:cxnSp>
        <p:nvCxnSpPr>
          <p:cNvPr id="97" name="Google Shape;97;p18"/>
          <p:cNvCxnSpPr/>
          <p:nvPr/>
        </p:nvCxnSpPr>
        <p:spPr>
          <a:xfrm flipH="1" rot="10800000">
            <a:off x="3303425" y="3413325"/>
            <a:ext cx="253800" cy="8100"/>
          </a:xfrm>
          <a:prstGeom prst="straightConnector1">
            <a:avLst/>
          </a:prstGeom>
          <a:noFill/>
          <a:ln cap="flat" cmpd="sng" w="19050">
            <a:solidFill>
              <a:srgbClr val="595959"/>
            </a:solidFill>
            <a:prstDash val="solid"/>
            <a:round/>
            <a:headEnd len="med" w="med" type="none"/>
            <a:tailEnd len="med" w="med" type="triangle"/>
          </a:ln>
        </p:spPr>
      </p:cxnSp>
      <p:graphicFrame>
        <p:nvGraphicFramePr>
          <p:cNvPr id="98" name="Google Shape;98;p18"/>
          <p:cNvGraphicFramePr/>
          <p:nvPr/>
        </p:nvGraphicFramePr>
        <p:xfrm>
          <a:off x="6535200" y="2724075"/>
          <a:ext cx="3000000" cy="3000000"/>
        </p:xfrm>
        <a:graphic>
          <a:graphicData uri="http://schemas.openxmlformats.org/drawingml/2006/table">
            <a:tbl>
              <a:tblPr>
                <a:noFill/>
                <a:tableStyleId>{E9CE73AE-3F70-4BE8-AF81-75E54F59A85C}</a:tableStyleId>
              </a:tblPr>
              <a:tblGrid>
                <a:gridCol w="1191225"/>
                <a:gridCol w="973400"/>
              </a:tblGrid>
              <a:tr h="73950">
                <a:tc>
                  <a:txBody>
                    <a:bodyPr/>
                    <a:lstStyle/>
                    <a:p>
                      <a:pPr indent="0" lvl="0" marL="0" rtl="0" algn="ctr">
                        <a:spcBef>
                          <a:spcPts val="0"/>
                        </a:spcBef>
                        <a:spcAft>
                          <a:spcPts val="0"/>
                        </a:spcAft>
                        <a:buNone/>
                      </a:pPr>
                      <a:r>
                        <a:rPr b="1" lang="en" sz="900"/>
                        <a:t>Food Item (STR)</a:t>
                      </a:r>
                      <a:endParaRPr b="1" sz="900"/>
                    </a:p>
                  </a:txBody>
                  <a:tcPr marT="91425" marB="91425" marR="91425" marL="91425"/>
                </a:tc>
                <a:tc>
                  <a:txBody>
                    <a:bodyPr/>
                    <a:lstStyle/>
                    <a:p>
                      <a:pPr indent="0" lvl="0" marL="0" rtl="0" algn="ctr">
                        <a:spcBef>
                          <a:spcPts val="0"/>
                        </a:spcBef>
                        <a:spcAft>
                          <a:spcPts val="0"/>
                        </a:spcAft>
                        <a:buNone/>
                      </a:pPr>
                      <a:r>
                        <a:rPr b="1" lang="en" sz="900"/>
                        <a:t>Sum nItems (INT)</a:t>
                      </a:r>
                      <a:endParaRPr b="1" sz="900"/>
                    </a:p>
                  </a:txBody>
                  <a:tcPr marT="91425" marB="91425" marR="91425" marL="91425"/>
                </a:tc>
              </a:tr>
              <a:tr h="72050">
                <a:tc>
                  <a:txBody>
                    <a:bodyPr/>
                    <a:lstStyle/>
                    <a:p>
                      <a:pPr indent="0" lvl="0" marL="0" rtl="0" algn="ctr">
                        <a:spcBef>
                          <a:spcPts val="0"/>
                        </a:spcBef>
                        <a:spcAft>
                          <a:spcPts val="0"/>
                        </a:spcAft>
                        <a:buNone/>
                      </a:pPr>
                      <a:r>
                        <a:rPr lang="en" sz="900"/>
                        <a:t>Apple</a:t>
                      </a:r>
                      <a:endParaRPr sz="900"/>
                    </a:p>
                  </a:txBody>
                  <a:tcPr marT="91425" marB="91425" marR="91425" marL="91425"/>
                </a:tc>
                <a:tc>
                  <a:txBody>
                    <a:bodyPr/>
                    <a:lstStyle/>
                    <a:p>
                      <a:pPr indent="0" lvl="0" marL="0" rtl="0" algn="ctr">
                        <a:spcBef>
                          <a:spcPts val="0"/>
                        </a:spcBef>
                        <a:spcAft>
                          <a:spcPts val="0"/>
                        </a:spcAft>
                        <a:buNone/>
                      </a:pPr>
                      <a:r>
                        <a:rPr lang="en" sz="900"/>
                        <a:t>205</a:t>
                      </a:r>
                      <a:endParaRPr sz="900"/>
                    </a:p>
                  </a:txBody>
                  <a:tcPr marT="91425" marB="91425" marR="91425" marL="91425"/>
                </a:tc>
              </a:tr>
              <a:tr h="73950">
                <a:tc>
                  <a:txBody>
                    <a:bodyPr/>
                    <a:lstStyle/>
                    <a:p>
                      <a:pPr indent="0" lvl="0" marL="0" rtl="0" algn="ctr">
                        <a:spcBef>
                          <a:spcPts val="0"/>
                        </a:spcBef>
                        <a:spcAft>
                          <a:spcPts val="0"/>
                        </a:spcAft>
                        <a:buNone/>
                      </a:pPr>
                      <a:r>
                        <a:rPr lang="en" sz="900"/>
                        <a:t>Eggplant</a:t>
                      </a:r>
                      <a:endParaRPr sz="900"/>
                    </a:p>
                  </a:txBody>
                  <a:tcPr marT="91425" marB="91425" marR="91425" marL="91425"/>
                </a:tc>
                <a:tc>
                  <a:txBody>
                    <a:bodyPr/>
                    <a:lstStyle/>
                    <a:p>
                      <a:pPr indent="0" lvl="0" marL="0" rtl="0" algn="ctr">
                        <a:spcBef>
                          <a:spcPts val="0"/>
                        </a:spcBef>
                        <a:spcAft>
                          <a:spcPts val="0"/>
                        </a:spcAft>
                        <a:buNone/>
                      </a:pPr>
                      <a:r>
                        <a:rPr lang="en" sz="900"/>
                        <a:t>400</a:t>
                      </a:r>
                      <a:endParaRPr sz="900"/>
                    </a:p>
                  </a:txBody>
                  <a:tcPr marT="91425" marB="91425" marR="91425" marL="91425"/>
                </a:tc>
              </a:tr>
            </a:tbl>
          </a:graphicData>
        </a:graphic>
      </p:graphicFrame>
      <p:sp>
        <p:nvSpPr>
          <p:cNvPr id="99" name="Google Shape;99;p18"/>
          <p:cNvSpPr txBox="1"/>
          <p:nvPr/>
        </p:nvSpPr>
        <p:spPr>
          <a:xfrm>
            <a:off x="7003148" y="2354775"/>
            <a:ext cx="13152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200">
                <a:solidFill>
                  <a:srgbClr val="202122"/>
                </a:solidFill>
                <a:highlight>
                  <a:srgbClr val="FFFFFF"/>
                </a:highlight>
                <a:latin typeface="Lora"/>
                <a:ea typeface="Lora"/>
                <a:cs typeface="Lora"/>
                <a:sym typeface="Lora"/>
              </a:rPr>
              <a:t>Aggregated</a:t>
            </a:r>
            <a:endParaRPr b="1" sz="1200">
              <a:solidFill>
                <a:srgbClr val="202122"/>
              </a:solidFill>
              <a:highlight>
                <a:srgbClr val="FFFFFF"/>
              </a:highlight>
              <a:latin typeface="Lora"/>
              <a:ea typeface="Lora"/>
              <a:cs typeface="Lora"/>
              <a:sym typeface="Lora"/>
            </a:endParaRPr>
          </a:p>
        </p:txBody>
      </p:sp>
      <p:cxnSp>
        <p:nvCxnSpPr>
          <p:cNvPr id="100" name="Google Shape;100;p18"/>
          <p:cNvCxnSpPr/>
          <p:nvPr/>
        </p:nvCxnSpPr>
        <p:spPr>
          <a:xfrm flipH="1" rot="10800000">
            <a:off x="6278293" y="3029325"/>
            <a:ext cx="253800" cy="8100"/>
          </a:xfrm>
          <a:prstGeom prst="straightConnector1">
            <a:avLst/>
          </a:prstGeom>
          <a:noFill/>
          <a:ln cap="flat" cmpd="sng" w="19050">
            <a:solidFill>
              <a:srgbClr val="595959"/>
            </a:solidFill>
            <a:prstDash val="solid"/>
            <a:round/>
            <a:headEnd len="med" w="med" type="none"/>
            <a:tailEnd len="med" w="med" type="triangle"/>
          </a:ln>
        </p:spPr>
      </p:cxnSp>
      <p:cxnSp>
        <p:nvCxnSpPr>
          <p:cNvPr id="101" name="Google Shape;101;p18"/>
          <p:cNvCxnSpPr/>
          <p:nvPr/>
        </p:nvCxnSpPr>
        <p:spPr>
          <a:xfrm flipH="1" rot="10800000">
            <a:off x="944625" y="4649725"/>
            <a:ext cx="7174800" cy="32700"/>
          </a:xfrm>
          <a:prstGeom prst="straightConnector1">
            <a:avLst/>
          </a:prstGeom>
          <a:noFill/>
          <a:ln cap="flat" cmpd="sng" w="19050">
            <a:solidFill>
              <a:srgbClr val="595959"/>
            </a:solidFill>
            <a:prstDash val="solid"/>
            <a:round/>
            <a:headEnd len="med" w="med" type="none"/>
            <a:tailEnd len="med" w="med" type="triangle"/>
          </a:ln>
        </p:spPr>
      </p:cxnSp>
      <p:sp>
        <p:nvSpPr>
          <p:cNvPr id="102" name="Google Shape;102;p18"/>
          <p:cNvSpPr txBox="1"/>
          <p:nvPr/>
        </p:nvSpPr>
        <p:spPr>
          <a:xfrm>
            <a:off x="3801475" y="4349375"/>
            <a:ext cx="13152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200">
                <a:solidFill>
                  <a:srgbClr val="202122"/>
                </a:solidFill>
                <a:highlight>
                  <a:srgbClr val="FFFFFF"/>
                </a:highlight>
                <a:latin typeface="Lora"/>
                <a:ea typeface="Lora"/>
                <a:cs typeface="Lora"/>
                <a:sym typeface="Lora"/>
              </a:rPr>
              <a:t>Flow of Data</a:t>
            </a:r>
            <a:endParaRPr b="1" sz="1200">
              <a:solidFill>
                <a:srgbClr val="202122"/>
              </a:solidFill>
              <a:highlight>
                <a:srgbClr val="FFFFFF"/>
              </a:highlight>
              <a:latin typeface="Lora"/>
              <a:ea typeface="Lora"/>
              <a:cs typeface="Lora"/>
              <a:sym typeface="Lora"/>
            </a:endParaRPr>
          </a:p>
        </p:txBody>
      </p:sp>
      <p:sp>
        <p:nvSpPr>
          <p:cNvPr id="103" name="Google Shape;103;p18"/>
          <p:cNvSpPr txBox="1"/>
          <p:nvPr/>
        </p:nvSpPr>
        <p:spPr>
          <a:xfrm>
            <a:off x="6733050" y="4774200"/>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Oliver</a:t>
            </a:r>
            <a:endParaRPr sz="1200">
              <a:solidFill>
                <a:srgbClr val="595959"/>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3.1 Dagster: What is Dagster?</a:t>
            </a:r>
            <a:endParaRPr sz="2200">
              <a:latin typeface="Lora"/>
              <a:ea typeface="Lora"/>
              <a:cs typeface="Lora"/>
              <a:sym typeface="Lora"/>
            </a:endParaRPr>
          </a:p>
        </p:txBody>
      </p:sp>
      <p:sp>
        <p:nvSpPr>
          <p:cNvPr id="109" name="Google Shape;109;p19"/>
          <p:cNvSpPr txBox="1"/>
          <p:nvPr/>
        </p:nvSpPr>
        <p:spPr>
          <a:xfrm>
            <a:off x="486900" y="700975"/>
            <a:ext cx="4591500" cy="43713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120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When it comes to data, almost everything is a DAG! Step 1 -&gt; Step 2 -&gt; Step 3 -&gt; Step N</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More examples of what DAGs can be used for:</a:t>
            </a:r>
            <a:endParaRPr sz="1200">
              <a:solidFill>
                <a:srgbClr val="202122"/>
              </a:solidFill>
              <a:highlight>
                <a:srgbClr val="FFFFFF"/>
              </a:highlight>
              <a:latin typeface="Lora"/>
              <a:ea typeface="Lora"/>
              <a:cs typeface="Lora"/>
              <a:sym typeface="Lora"/>
            </a:endParaRPr>
          </a:p>
          <a:p>
            <a:pPr indent="0" lvl="0" marL="0" rtl="0" algn="l">
              <a:lnSpc>
                <a:spcPct val="100000"/>
              </a:lnSpc>
              <a:spcBef>
                <a:spcPts val="1200"/>
              </a:spcBef>
              <a:spcAft>
                <a:spcPts val="0"/>
              </a:spcAft>
              <a:buNone/>
            </a:pPr>
            <a:r>
              <a:t/>
            </a:r>
            <a:endParaRPr sz="1200">
              <a:solidFill>
                <a:srgbClr val="202122"/>
              </a:solidFill>
              <a:highlight>
                <a:srgbClr val="FFFFFF"/>
              </a:highlight>
              <a:latin typeface="Lora"/>
              <a:ea typeface="Lora"/>
              <a:cs typeface="Lora"/>
              <a:sym typeface="Lora"/>
            </a:endParaRPr>
          </a:p>
          <a:p>
            <a:pPr indent="0" lvl="0" marL="0" rtl="0" algn="l">
              <a:lnSpc>
                <a:spcPct val="100000"/>
              </a:lnSpc>
              <a:spcBef>
                <a:spcPts val="1200"/>
              </a:spcBef>
              <a:spcAft>
                <a:spcPts val="0"/>
              </a:spcAft>
              <a:buNone/>
            </a:pPr>
            <a:r>
              <a:rPr lang="en">
                <a:solidFill>
                  <a:srgbClr val="202122"/>
                </a:solidFill>
                <a:highlight>
                  <a:srgbClr val="FFFFFF"/>
                </a:highlight>
                <a:latin typeface="Lora"/>
                <a:ea typeface="Lora"/>
                <a:cs typeface="Lora"/>
                <a:sym typeface="Lora"/>
              </a:rPr>
              <a:t>Manually</a:t>
            </a:r>
            <a:r>
              <a:rPr lang="en">
                <a:solidFill>
                  <a:srgbClr val="202122"/>
                </a:solidFill>
                <a:highlight>
                  <a:srgbClr val="FFFFFF"/>
                </a:highlight>
                <a:latin typeface="Lora"/>
                <a:ea typeface="Lora"/>
                <a:cs typeface="Lora"/>
                <a:sym typeface="Lora"/>
              </a:rPr>
              <a:t> Triggered Jobs:</a:t>
            </a:r>
            <a:endParaRPr>
              <a:solidFill>
                <a:srgbClr val="202122"/>
              </a:solidFill>
              <a:highlight>
                <a:srgbClr val="FFFFFF"/>
              </a:highlight>
              <a:latin typeface="Lora"/>
              <a:ea typeface="Lora"/>
              <a:cs typeface="Lora"/>
              <a:sym typeface="Lora"/>
            </a:endParaRPr>
          </a:p>
          <a:p>
            <a:pPr indent="-304800" lvl="1" marL="914400" rtl="0" algn="l">
              <a:lnSpc>
                <a:spcPct val="100000"/>
              </a:lnSpc>
              <a:spcBef>
                <a:spcPts val="1200"/>
              </a:spcBef>
              <a:spcAft>
                <a:spcPts val="0"/>
              </a:spcAft>
              <a:buClr>
                <a:srgbClr val="202122"/>
              </a:buClr>
              <a:buSzPts val="1200"/>
              <a:buFont typeface="Lora"/>
              <a:buChar char="○"/>
            </a:pPr>
            <a:r>
              <a:rPr b="1" lang="en" sz="1200">
                <a:solidFill>
                  <a:srgbClr val="202122"/>
                </a:solidFill>
                <a:highlight>
                  <a:srgbClr val="FFFFFF"/>
                </a:highlight>
                <a:latin typeface="Lora"/>
                <a:ea typeface="Lora"/>
                <a:cs typeface="Lora"/>
                <a:sym typeface="Lora"/>
              </a:rPr>
              <a:t>AIMS MSc theses</a:t>
            </a:r>
            <a:r>
              <a:rPr lang="en" sz="1200">
                <a:solidFill>
                  <a:srgbClr val="202122"/>
                </a:solidFill>
                <a:highlight>
                  <a:srgbClr val="FFFFFF"/>
                </a:highlight>
                <a:latin typeface="Lora"/>
                <a:ea typeface="Lora"/>
                <a:cs typeface="Lora"/>
                <a:sym typeface="Lora"/>
              </a:rPr>
              <a:t>: </a:t>
            </a:r>
            <a:endParaRPr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raw data from supervisor</a:t>
            </a:r>
            <a:endParaRPr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clean</a:t>
            </a:r>
            <a:endParaRPr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transformed / feature engineering</a:t>
            </a:r>
            <a:endParaRPr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ML models</a:t>
            </a:r>
            <a:endParaRPr sz="1200">
              <a:solidFill>
                <a:srgbClr val="202122"/>
              </a:solidFill>
              <a:highlight>
                <a:srgbClr val="FFFFFF"/>
              </a:highlight>
              <a:latin typeface="Lora"/>
              <a:ea typeface="Lora"/>
              <a:cs typeface="Lora"/>
              <a:sym typeface="Lora"/>
            </a:endParaRPr>
          </a:p>
          <a:p>
            <a:pPr indent="-304800" lvl="1" marL="914400" rtl="0" algn="l">
              <a:spcBef>
                <a:spcPts val="0"/>
              </a:spcBef>
              <a:spcAft>
                <a:spcPts val="0"/>
              </a:spcAft>
              <a:buClr>
                <a:srgbClr val="202122"/>
              </a:buClr>
              <a:buSzPts val="1200"/>
              <a:buFont typeface="Lora"/>
              <a:buChar char="○"/>
            </a:pPr>
            <a:r>
              <a:rPr b="1" lang="en" sz="1200">
                <a:solidFill>
                  <a:srgbClr val="202122"/>
                </a:solidFill>
                <a:highlight>
                  <a:schemeClr val="lt1"/>
                </a:highlight>
                <a:latin typeface="Lora"/>
                <a:ea typeface="Lora"/>
                <a:cs typeface="Lora"/>
                <a:sym typeface="Lora"/>
              </a:rPr>
              <a:t>Orders/Product Reporting: </a:t>
            </a:r>
            <a:endParaRPr b="1"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ingest orders &amp; product data </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join tables to enrich orders ("fact table") with product properties (from "dimension table") </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aggregating. e.g. groupby("orderID", "date") .agg(countdistinct("product_category"))</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serving for Tableau / PowerBi</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send email with link to fresh data for download</a:t>
            </a:r>
            <a:endParaRPr sz="1200">
              <a:solidFill>
                <a:srgbClr val="202122"/>
              </a:solidFill>
              <a:highlight>
                <a:srgbClr val="FFFFFF"/>
              </a:highlight>
              <a:latin typeface="Lora"/>
              <a:ea typeface="Lora"/>
              <a:cs typeface="Lora"/>
              <a:sym typeface="Lora"/>
            </a:endParaRPr>
          </a:p>
        </p:txBody>
      </p:sp>
      <p:sp>
        <p:nvSpPr>
          <p:cNvPr id="110" name="Google Shape;110;p19"/>
          <p:cNvSpPr txBox="1"/>
          <p:nvPr/>
        </p:nvSpPr>
        <p:spPr>
          <a:xfrm>
            <a:off x="4806387" y="812381"/>
            <a:ext cx="4304700" cy="36942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lang="en">
                <a:solidFill>
                  <a:srgbClr val="202122"/>
                </a:solidFill>
                <a:highlight>
                  <a:schemeClr val="lt1"/>
                </a:highlight>
                <a:latin typeface="Lora"/>
                <a:ea typeface="Lora"/>
                <a:cs typeface="Lora"/>
                <a:sym typeface="Lora"/>
              </a:rPr>
              <a:t>Scheduled Jobs (for real time data):</a:t>
            </a:r>
            <a:endParaRPr sz="1200">
              <a:solidFill>
                <a:srgbClr val="202122"/>
              </a:solidFill>
              <a:highlight>
                <a:schemeClr val="lt1"/>
              </a:highlight>
              <a:latin typeface="Lora"/>
              <a:ea typeface="Lora"/>
              <a:cs typeface="Lora"/>
              <a:sym typeface="Lora"/>
            </a:endParaRPr>
          </a:p>
          <a:p>
            <a:pPr indent="-304800" lvl="1" marL="914400" rtl="0" algn="l">
              <a:lnSpc>
                <a:spcPct val="100000"/>
              </a:lnSpc>
              <a:spcBef>
                <a:spcPts val="1200"/>
              </a:spcBef>
              <a:spcAft>
                <a:spcPts val="0"/>
              </a:spcAft>
              <a:buClr>
                <a:srgbClr val="202122"/>
              </a:buClr>
              <a:buSzPts val="1200"/>
              <a:buFont typeface="Lora"/>
              <a:buChar char="○"/>
            </a:pPr>
            <a:r>
              <a:rPr b="1" lang="en" sz="1200">
                <a:solidFill>
                  <a:srgbClr val="202122"/>
                </a:solidFill>
                <a:highlight>
                  <a:srgbClr val="FFFFFF"/>
                </a:highlight>
                <a:latin typeface="Lora"/>
                <a:ea typeface="Lora"/>
                <a:cs typeface="Lora"/>
                <a:sym typeface="Lora"/>
              </a:rPr>
              <a:t>Weather App:</a:t>
            </a:r>
            <a:endParaRPr b="1"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download weather data from API </a:t>
            </a:r>
            <a:endParaRPr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clean data</a:t>
            </a:r>
            <a:endParaRPr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transform data</a:t>
            </a:r>
            <a:endParaRPr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serve to UI (PowerBi / Plotly / Streamlit)</a:t>
            </a:r>
            <a:endParaRPr sz="1200">
              <a:solidFill>
                <a:srgbClr val="202122"/>
              </a:solidFill>
              <a:highlight>
                <a:srgbClr val="FFFFFF"/>
              </a:highlight>
              <a:latin typeface="Lora"/>
              <a:ea typeface="Lora"/>
              <a:cs typeface="Lora"/>
              <a:sym typeface="Lora"/>
            </a:endParaRPr>
          </a:p>
          <a:p>
            <a:pPr indent="-304800" lvl="2" marL="13716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send </a:t>
            </a:r>
            <a:r>
              <a:rPr lang="en" sz="1200">
                <a:solidFill>
                  <a:srgbClr val="202122"/>
                </a:solidFill>
                <a:highlight>
                  <a:srgbClr val="FFFFFF"/>
                </a:highlight>
                <a:latin typeface="Lora"/>
                <a:ea typeface="Lora"/>
                <a:cs typeface="Lora"/>
                <a:sym typeface="Lora"/>
              </a:rPr>
              <a:t>notification</a:t>
            </a:r>
            <a:r>
              <a:rPr lang="en" sz="1200">
                <a:solidFill>
                  <a:srgbClr val="202122"/>
                </a:solidFill>
                <a:highlight>
                  <a:srgbClr val="FFFFFF"/>
                </a:highlight>
                <a:latin typeface="Lora"/>
                <a:ea typeface="Lora"/>
                <a:cs typeface="Lora"/>
                <a:sym typeface="Lora"/>
              </a:rPr>
              <a:t> in slack when </a:t>
            </a:r>
            <a:r>
              <a:rPr lang="en" sz="1200">
                <a:solidFill>
                  <a:srgbClr val="202122"/>
                </a:solidFill>
                <a:highlight>
                  <a:srgbClr val="FFFFFF"/>
                </a:highlight>
                <a:latin typeface="Lora"/>
                <a:ea typeface="Lora"/>
                <a:cs typeface="Lora"/>
                <a:sym typeface="Lora"/>
              </a:rPr>
              <a:t>heat wave</a:t>
            </a:r>
            <a:r>
              <a:rPr lang="en" sz="1200">
                <a:solidFill>
                  <a:srgbClr val="202122"/>
                </a:solidFill>
                <a:highlight>
                  <a:srgbClr val="FFFFFF"/>
                </a:highlight>
                <a:latin typeface="Lora"/>
                <a:ea typeface="Lora"/>
                <a:cs typeface="Lora"/>
                <a:sym typeface="Lora"/>
              </a:rPr>
              <a:t> occurs somewhere in the world</a:t>
            </a:r>
            <a:endParaRPr sz="1200">
              <a:solidFill>
                <a:srgbClr val="202122"/>
              </a:solidFill>
              <a:highlight>
                <a:srgbClr val="FFFFFF"/>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run on schedule (hourly)</a:t>
            </a:r>
            <a:endParaRPr sz="1200">
              <a:solidFill>
                <a:srgbClr val="202122"/>
              </a:solidFill>
              <a:highlight>
                <a:schemeClr val="lt1"/>
              </a:highlight>
              <a:latin typeface="Lora"/>
              <a:ea typeface="Lora"/>
              <a:cs typeface="Lora"/>
              <a:sym typeface="Lora"/>
            </a:endParaRPr>
          </a:p>
          <a:p>
            <a:pPr indent="-304800" lvl="1" marL="914400" rtl="0" algn="l">
              <a:spcBef>
                <a:spcPts val="0"/>
              </a:spcBef>
              <a:spcAft>
                <a:spcPts val="0"/>
              </a:spcAft>
              <a:buClr>
                <a:srgbClr val="202122"/>
              </a:buClr>
              <a:buSzPts val="1200"/>
              <a:buFont typeface="Lora"/>
              <a:buChar char="○"/>
            </a:pPr>
            <a:r>
              <a:rPr b="1" lang="en" sz="1200">
                <a:solidFill>
                  <a:srgbClr val="202122"/>
                </a:solidFill>
                <a:highlight>
                  <a:schemeClr val="lt1"/>
                </a:highlight>
                <a:latin typeface="Lora"/>
                <a:ea typeface="Lora"/>
                <a:cs typeface="Lora"/>
                <a:sym typeface="Lora"/>
              </a:rPr>
              <a:t>Fraud Detection:</a:t>
            </a:r>
            <a:r>
              <a:rPr lang="en" sz="1200">
                <a:solidFill>
                  <a:srgbClr val="202122"/>
                </a:solidFill>
                <a:highlight>
                  <a:schemeClr val="lt1"/>
                </a:highlight>
                <a:latin typeface="Lora"/>
                <a:ea typeface="Lora"/>
                <a:cs typeface="Lora"/>
                <a:sym typeface="Lora"/>
              </a:rPr>
              <a:t> </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live transaction data</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preprocessing / cleaning</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train ML classifier</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deploy on cloud </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monitor live transactions (ML inference) in real time (streaming)</a:t>
            </a:r>
            <a:endParaRPr sz="1200">
              <a:solidFill>
                <a:srgbClr val="202122"/>
              </a:solidFill>
              <a:highlight>
                <a:schemeClr val="lt1"/>
              </a:highlight>
              <a:latin typeface="Lora"/>
              <a:ea typeface="Lora"/>
              <a:cs typeface="Lora"/>
              <a:sym typeface="Lora"/>
            </a:endParaRPr>
          </a:p>
          <a:p>
            <a:pPr indent="-304800" lvl="2" marL="13716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run on schedule (e.g. every minute)</a:t>
            </a:r>
            <a:endParaRPr sz="1200">
              <a:solidFill>
                <a:srgbClr val="202122"/>
              </a:solidFill>
              <a:highlight>
                <a:schemeClr val="lt1"/>
              </a:highlight>
              <a:latin typeface="Lora"/>
              <a:ea typeface="Lora"/>
              <a:cs typeface="Lora"/>
              <a:sym typeface="Lora"/>
            </a:endParaRPr>
          </a:p>
        </p:txBody>
      </p:sp>
      <p:sp>
        <p:nvSpPr>
          <p:cNvPr id="111" name="Google Shape;111;p19"/>
          <p:cNvSpPr txBox="1"/>
          <p:nvPr/>
        </p:nvSpPr>
        <p:spPr>
          <a:xfrm>
            <a:off x="6733050" y="4789196"/>
            <a:ext cx="92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Oliver</a:t>
            </a:r>
            <a:endParaRPr sz="1200">
              <a:solidFill>
                <a:srgbClr val="595959"/>
              </a:solidFill>
              <a:latin typeface="Lora"/>
              <a:ea typeface="Lora"/>
              <a:cs typeface="Lora"/>
              <a:sym typeface="Lo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3.2 Dagster: A simple example</a:t>
            </a:r>
            <a:endParaRPr sz="2200">
              <a:latin typeface="Lora"/>
              <a:ea typeface="Lora"/>
              <a:cs typeface="Lora"/>
              <a:sym typeface="Lora"/>
            </a:endParaRPr>
          </a:p>
        </p:txBody>
      </p:sp>
      <p:sp>
        <p:nvSpPr>
          <p:cNvPr id="117" name="Google Shape;117;p20"/>
          <p:cNvSpPr txBox="1"/>
          <p:nvPr/>
        </p:nvSpPr>
        <p:spPr>
          <a:xfrm>
            <a:off x="486900" y="700975"/>
            <a:ext cx="8097900" cy="7389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120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Please each run the Data Engineering job on your computers.</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See code </a:t>
            </a:r>
            <a:r>
              <a:rPr lang="en" sz="1200" u="sng">
                <a:solidFill>
                  <a:schemeClr val="hlink"/>
                </a:solidFill>
                <a:highlight>
                  <a:srgbClr val="FFFFFF"/>
                </a:highlight>
                <a:latin typeface="Lora"/>
                <a:ea typeface="Lora"/>
                <a:cs typeface="Lora"/>
                <a:sym typeface="Lora"/>
                <a:hlinkClick r:id="rId3"/>
              </a:rPr>
              <a:t>here</a:t>
            </a:r>
            <a:r>
              <a:rPr lang="en" sz="1200">
                <a:solidFill>
                  <a:srgbClr val="202122"/>
                </a:solidFill>
                <a:highlight>
                  <a:srgbClr val="FFFFFF"/>
                </a:highlight>
                <a:latin typeface="Lora"/>
                <a:ea typeface="Lora"/>
                <a:cs typeface="Lora"/>
                <a:sym typeface="Lora"/>
              </a:rPr>
              <a:t>. </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It produces this DAG:</a:t>
            </a:r>
            <a:endParaRPr sz="1200">
              <a:solidFill>
                <a:srgbClr val="202122"/>
              </a:solidFill>
              <a:highlight>
                <a:srgbClr val="FFFFFF"/>
              </a:highlight>
              <a:latin typeface="Lora"/>
              <a:ea typeface="Lora"/>
              <a:cs typeface="Lora"/>
              <a:sym typeface="Lora"/>
            </a:endParaRPr>
          </a:p>
        </p:txBody>
      </p:sp>
      <p:sp>
        <p:nvSpPr>
          <p:cNvPr id="118" name="Google Shape;118;p20"/>
          <p:cNvSpPr txBox="1"/>
          <p:nvPr/>
        </p:nvSpPr>
        <p:spPr>
          <a:xfrm>
            <a:off x="577825" y="3130750"/>
            <a:ext cx="8097900" cy="14775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120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To run it yourself:</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type </a:t>
            </a:r>
            <a:r>
              <a:rPr i="1" lang="en" sz="1200">
                <a:solidFill>
                  <a:srgbClr val="202122"/>
                </a:solidFill>
                <a:highlight>
                  <a:srgbClr val="FFFFFF"/>
                </a:highlight>
                <a:latin typeface="Lora"/>
                <a:ea typeface="Lora"/>
                <a:cs typeface="Lora"/>
                <a:sym typeface="Lora"/>
              </a:rPr>
              <a:t>./run_dagster.sh</a:t>
            </a:r>
            <a:r>
              <a:rPr lang="en" sz="1200">
                <a:solidFill>
                  <a:srgbClr val="202122"/>
                </a:solidFill>
                <a:highlight>
                  <a:srgbClr val="FFFFFF"/>
                </a:highlight>
                <a:latin typeface="Lora"/>
                <a:ea typeface="Lora"/>
                <a:cs typeface="Lora"/>
                <a:sym typeface="Lora"/>
              </a:rPr>
              <a:t> in the terminal</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open the UI running in port 3000</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click on "jobs" and select "simple_data_engineering_example"</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click "Materialize all"</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hover over "3 assets" and click "View lineage"</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watch each asset build in real time!</a:t>
            </a:r>
            <a:endParaRPr sz="1200">
              <a:solidFill>
                <a:srgbClr val="202122"/>
              </a:solidFill>
              <a:highlight>
                <a:srgbClr val="FFFFFF"/>
              </a:highlight>
              <a:latin typeface="Lora"/>
              <a:ea typeface="Lora"/>
              <a:cs typeface="Lora"/>
              <a:sym typeface="Lora"/>
            </a:endParaRPr>
          </a:p>
        </p:txBody>
      </p:sp>
      <p:sp>
        <p:nvSpPr>
          <p:cNvPr id="119" name="Google Shape;119;p20"/>
          <p:cNvSpPr txBox="1"/>
          <p:nvPr/>
        </p:nvSpPr>
        <p:spPr>
          <a:xfrm>
            <a:off x="6841925" y="4740964"/>
            <a:ext cx="1398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Vincent</a:t>
            </a:r>
            <a:endParaRPr sz="1200">
              <a:solidFill>
                <a:srgbClr val="595959"/>
              </a:solidFill>
              <a:latin typeface="Lora"/>
              <a:ea typeface="Lora"/>
              <a:cs typeface="Lora"/>
              <a:sym typeface="Lora"/>
            </a:endParaRPr>
          </a:p>
        </p:txBody>
      </p:sp>
      <p:pic>
        <p:nvPicPr>
          <p:cNvPr id="120" name="Google Shape;120;p20"/>
          <p:cNvPicPr preferRelativeResize="0"/>
          <p:nvPr/>
        </p:nvPicPr>
        <p:blipFill>
          <a:blip r:embed="rId4">
            <a:alphaModFix/>
          </a:blip>
          <a:stretch>
            <a:fillRect/>
          </a:stretch>
        </p:blipFill>
        <p:spPr>
          <a:xfrm>
            <a:off x="1084167" y="1439875"/>
            <a:ext cx="7340750" cy="1761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3.3 Dagster: Concepts — assets (see </a:t>
            </a:r>
            <a:r>
              <a:rPr lang="en" sz="2200" u="sng">
                <a:solidFill>
                  <a:schemeClr val="hlink"/>
                </a:solidFill>
                <a:latin typeface="Lora"/>
                <a:ea typeface="Lora"/>
                <a:cs typeface="Lora"/>
                <a:sym typeface="Lora"/>
                <a:hlinkClick r:id="rId3"/>
              </a:rPr>
              <a:t>documentation</a:t>
            </a:r>
            <a:r>
              <a:rPr lang="en" sz="2200">
                <a:latin typeface="Lora"/>
                <a:ea typeface="Lora"/>
                <a:cs typeface="Lora"/>
                <a:sym typeface="Lora"/>
              </a:rPr>
              <a:t>)</a:t>
            </a:r>
            <a:endParaRPr sz="2200">
              <a:latin typeface="Lora"/>
              <a:ea typeface="Lora"/>
              <a:cs typeface="Lora"/>
              <a:sym typeface="Lora"/>
            </a:endParaRPr>
          </a:p>
        </p:txBody>
      </p:sp>
      <p:sp>
        <p:nvSpPr>
          <p:cNvPr id="126" name="Google Shape;126;p21"/>
          <p:cNvSpPr txBox="1"/>
          <p:nvPr/>
        </p:nvSpPr>
        <p:spPr>
          <a:xfrm>
            <a:off x="486900" y="624775"/>
            <a:ext cx="8097900" cy="41250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120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Definition: </a:t>
            </a:r>
            <a:r>
              <a:rPr i="1" lang="en" sz="1200">
                <a:solidFill>
                  <a:srgbClr val="202122"/>
                </a:solidFill>
                <a:highlight>
                  <a:srgbClr val="FFFFFF"/>
                </a:highlight>
                <a:latin typeface="Lora"/>
                <a:ea typeface="Lora"/>
                <a:cs typeface="Lora"/>
                <a:sym typeface="Lora"/>
              </a:rPr>
              <a:t>"An asset represents a logical unit of data such as a table, dataset, or machine learning model. Assets can have dependencies on other assets, forming the data lineage for your pipelines"</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In our example, we have 3 assets:</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raw_data</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clean_data</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agg_data</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An asset is defined using the </a:t>
            </a:r>
            <a:r>
              <a:rPr i="1" lang="en" sz="1200">
                <a:solidFill>
                  <a:srgbClr val="202122"/>
                </a:solidFill>
                <a:highlight>
                  <a:srgbClr val="FFFFFF"/>
                </a:highlight>
                <a:latin typeface="Lora"/>
                <a:ea typeface="Lora"/>
                <a:cs typeface="Lora"/>
                <a:sym typeface="Lora"/>
              </a:rPr>
              <a:t>@dg.asset</a:t>
            </a:r>
            <a:r>
              <a:rPr lang="en" sz="1200">
                <a:solidFill>
                  <a:srgbClr val="202122"/>
                </a:solidFill>
                <a:highlight>
                  <a:srgbClr val="FFFFFF"/>
                </a:highlight>
                <a:latin typeface="Lora"/>
                <a:ea typeface="Lora"/>
                <a:cs typeface="Lora"/>
                <a:sym typeface="Lora"/>
              </a:rPr>
              <a:t> decorator. Here is the code for the </a:t>
            </a:r>
            <a:r>
              <a:rPr i="1" lang="en" sz="1200">
                <a:solidFill>
                  <a:srgbClr val="202122"/>
                </a:solidFill>
                <a:highlight>
                  <a:srgbClr val="FFFFFF"/>
                </a:highlight>
                <a:latin typeface="Lora"/>
                <a:ea typeface="Lora"/>
                <a:cs typeface="Lora"/>
                <a:sym typeface="Lora"/>
              </a:rPr>
              <a:t>clean_data</a:t>
            </a:r>
            <a:r>
              <a:rPr lang="en" sz="1200">
                <a:solidFill>
                  <a:srgbClr val="202122"/>
                </a:solidFill>
                <a:highlight>
                  <a:srgbClr val="FFFFFF"/>
                </a:highlight>
                <a:latin typeface="Lora"/>
                <a:ea typeface="Lora"/>
                <a:cs typeface="Lora"/>
                <a:sym typeface="Lora"/>
              </a:rPr>
              <a:t> asset:</a:t>
            </a:r>
            <a:br>
              <a:rPr lang="en" sz="1200">
                <a:solidFill>
                  <a:srgbClr val="202122"/>
                </a:solidFill>
                <a:highlight>
                  <a:srgbClr val="FFFFFF"/>
                </a:highlight>
                <a:latin typeface="Lora"/>
                <a:ea typeface="Lora"/>
                <a:cs typeface="Lora"/>
                <a:sym typeface="Lora"/>
              </a:rPr>
            </a:br>
            <a:r>
              <a:rPr lang="en" sz="1000">
                <a:solidFill>
                  <a:srgbClr val="202122"/>
                </a:solidFill>
                <a:highlight>
                  <a:srgbClr val="FFFFFF"/>
                </a:highlight>
                <a:latin typeface="Courier New"/>
                <a:ea typeface="Courier New"/>
                <a:cs typeface="Courier New"/>
                <a:sym typeface="Courier New"/>
              </a:rPr>
              <a:t>@dg.asset(</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description="my clean data",</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compute_kind="python",</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group_name="de_transform"</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a:t>
            </a:r>
            <a:endParaRPr sz="1000">
              <a:solidFill>
                <a:srgbClr val="202122"/>
              </a:solidFill>
              <a:highlight>
                <a:srgbClr val="FFFFFF"/>
              </a:highlight>
              <a:latin typeface="Courier New"/>
              <a:ea typeface="Courier New"/>
              <a:cs typeface="Courier New"/>
              <a:sym typeface="Courier New"/>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which is immediately followed by a function whose name will be used as the asset name:</a:t>
            </a:r>
            <a:br>
              <a:rPr lang="en" sz="1200">
                <a:solidFill>
                  <a:srgbClr val="202122"/>
                </a:solidFill>
                <a:highlight>
                  <a:srgbClr val="FFFFFF"/>
                </a:highlight>
                <a:latin typeface="Lora"/>
                <a:ea typeface="Lora"/>
                <a:cs typeface="Lora"/>
                <a:sym typeface="Lora"/>
              </a:rPr>
            </a:br>
            <a:r>
              <a:rPr lang="en" sz="1000">
                <a:solidFill>
                  <a:srgbClr val="202122"/>
                </a:solidFill>
                <a:highlight>
                  <a:srgbClr val="FFFFFF"/>
                </a:highlight>
                <a:latin typeface="Courier New"/>
                <a:ea typeface="Courier New"/>
                <a:cs typeface="Courier New"/>
                <a:sym typeface="Courier New"/>
              </a:rPr>
              <a:t>def clean_data(</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context: dg.AssetExecutionContext,</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raw_data: pd.DataFrame</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-&gt; dg.MaterializeResult:</a:t>
            </a:r>
            <a:br>
              <a:rPr lang="en" sz="1000">
                <a:solidFill>
                  <a:srgbClr val="202122"/>
                </a:solidFill>
                <a:highlight>
                  <a:srgbClr val="FFFFFF"/>
                </a:highlight>
                <a:latin typeface="Courier New"/>
                <a:ea typeface="Courier New"/>
                <a:cs typeface="Courier New"/>
                <a:sym typeface="Courier New"/>
              </a:rPr>
            </a:b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Lora"/>
                <a:ea typeface="Lora"/>
                <a:cs typeface="Lora"/>
                <a:sym typeface="Lora"/>
              </a:rPr>
              <a:t>{transformation logic}</a:t>
            </a:r>
            <a:endParaRPr sz="1200">
              <a:solidFill>
                <a:srgbClr val="202122"/>
              </a:solidFill>
              <a:highlight>
                <a:srgbClr val="FFFFFF"/>
              </a:highlight>
              <a:latin typeface="Courier New"/>
              <a:ea typeface="Courier New"/>
              <a:cs typeface="Courier New"/>
              <a:sym typeface="Courier New"/>
            </a:endParaRPr>
          </a:p>
          <a:p>
            <a:pPr indent="0" lvl="0" marL="457200" rtl="0" algn="l">
              <a:lnSpc>
                <a:spcPct val="100000"/>
              </a:lnSpc>
              <a:spcBef>
                <a:spcPts val="1200"/>
              </a:spcBef>
              <a:spcAft>
                <a:spcPts val="1200"/>
              </a:spcAft>
              <a:buNone/>
            </a:pPr>
            <a:r>
              <a:rPr lang="en" sz="1000">
                <a:solidFill>
                  <a:srgbClr val="202122"/>
                </a:solidFill>
                <a:highlight>
                  <a:srgbClr val="FFFFFF"/>
                </a:highlight>
                <a:latin typeface="Courier New"/>
                <a:ea typeface="Courier New"/>
                <a:cs typeface="Courier New"/>
                <a:sym typeface="Courier New"/>
              </a:rPr>
              <a:t>return dg.MaterializeResul</a:t>
            </a:r>
            <a:r>
              <a:rPr lang="en" sz="1000">
                <a:solidFill>
                  <a:srgbClr val="202122"/>
                </a:solidFill>
                <a:highlight>
                  <a:srgbClr val="FFFFFF"/>
                </a:highlight>
                <a:latin typeface="Courier New"/>
                <a:ea typeface="Courier New"/>
                <a:cs typeface="Courier New"/>
                <a:sym typeface="Courier New"/>
              </a:rPr>
              <a:t>t(</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a:t>
            </a:r>
            <a:r>
              <a:rPr lang="en" sz="1000">
                <a:solidFill>
                  <a:srgbClr val="202122"/>
                </a:solidFill>
                <a:highlight>
                  <a:srgbClr val="FFFFFF"/>
                </a:highlight>
                <a:latin typeface="Courier New"/>
                <a:ea typeface="Courier New"/>
                <a:cs typeface="Courier New"/>
                <a:sym typeface="Courier New"/>
              </a:rPr>
              <a:t>value=clean_data,</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metadata={...}</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a:t>
            </a:r>
            <a:endParaRPr sz="1200">
              <a:solidFill>
                <a:srgbClr val="202122"/>
              </a:solidFill>
              <a:highlight>
                <a:srgbClr val="FFFFFF"/>
              </a:highlight>
              <a:latin typeface="Lora"/>
              <a:ea typeface="Lora"/>
              <a:cs typeface="Lora"/>
              <a:sym typeface="Lora"/>
            </a:endParaRPr>
          </a:p>
        </p:txBody>
      </p:sp>
      <p:sp>
        <p:nvSpPr>
          <p:cNvPr id="127" name="Google Shape;127;p21"/>
          <p:cNvSpPr txBox="1"/>
          <p:nvPr/>
        </p:nvSpPr>
        <p:spPr>
          <a:xfrm>
            <a:off x="6815882" y="4740964"/>
            <a:ext cx="1398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Vincent</a:t>
            </a:r>
            <a:endParaRPr sz="1200">
              <a:solidFill>
                <a:srgbClr val="595959"/>
              </a:solidFill>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3.3 Dagster: Concepts — asset checks (see </a:t>
            </a:r>
            <a:r>
              <a:rPr lang="en" sz="2200" u="sng">
                <a:solidFill>
                  <a:schemeClr val="hlink"/>
                </a:solidFill>
                <a:latin typeface="Lora"/>
                <a:ea typeface="Lora"/>
                <a:cs typeface="Lora"/>
                <a:sym typeface="Lora"/>
                <a:hlinkClick r:id="rId3"/>
              </a:rPr>
              <a:t>documentation</a:t>
            </a:r>
            <a:r>
              <a:rPr lang="en" sz="2200">
                <a:latin typeface="Lora"/>
                <a:ea typeface="Lora"/>
                <a:cs typeface="Lora"/>
                <a:sym typeface="Lora"/>
              </a:rPr>
              <a:t>)</a:t>
            </a:r>
            <a:endParaRPr sz="2200">
              <a:latin typeface="Lora"/>
              <a:ea typeface="Lora"/>
              <a:cs typeface="Lora"/>
              <a:sym typeface="Lora"/>
            </a:endParaRPr>
          </a:p>
        </p:txBody>
      </p:sp>
      <p:sp>
        <p:nvSpPr>
          <p:cNvPr id="133" name="Google Shape;133;p22"/>
          <p:cNvSpPr txBox="1"/>
          <p:nvPr/>
        </p:nvSpPr>
        <p:spPr>
          <a:xfrm>
            <a:off x="486900" y="624775"/>
            <a:ext cx="8097900" cy="16623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120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Definition: </a:t>
            </a:r>
            <a:r>
              <a:rPr i="1" lang="en" sz="1200">
                <a:solidFill>
                  <a:srgbClr val="202122"/>
                </a:solidFill>
                <a:highlight>
                  <a:srgbClr val="FFFFFF"/>
                </a:highlight>
                <a:latin typeface="Lora"/>
                <a:ea typeface="Lora"/>
                <a:cs typeface="Lora"/>
                <a:sym typeface="Lora"/>
              </a:rPr>
              <a:t>"</a:t>
            </a:r>
            <a:r>
              <a:rPr i="1" lang="en" sz="1200">
                <a:solidFill>
                  <a:srgbClr val="202122"/>
                </a:solidFill>
                <a:highlight>
                  <a:srgbClr val="FFFFFF"/>
                </a:highlight>
                <a:latin typeface="Lora"/>
                <a:ea typeface="Lora"/>
                <a:cs typeface="Lora"/>
                <a:sym typeface="Lora"/>
              </a:rPr>
              <a:t>An asset_check is associated with an asset to ensure it meets certain expectations around data quality</a:t>
            </a:r>
            <a:r>
              <a:rPr i="1" lang="en" sz="1200">
                <a:solidFill>
                  <a:srgbClr val="202122"/>
                </a:solidFill>
                <a:highlight>
                  <a:srgbClr val="FFFFFF"/>
                </a:highlight>
                <a:latin typeface="Lora"/>
                <a:ea typeface="Lora"/>
                <a:cs typeface="Lora"/>
                <a:sym typeface="Lora"/>
              </a:rPr>
              <a:t>." </a:t>
            </a:r>
            <a:endParaRPr i="1"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In our example, we have 3 checks:</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all strings in the </a:t>
            </a:r>
            <a:r>
              <a:rPr i="1" lang="en" sz="1200">
                <a:solidFill>
                  <a:srgbClr val="202122"/>
                </a:solidFill>
                <a:highlight>
                  <a:srgbClr val="FFFFFF"/>
                </a:highlight>
                <a:latin typeface="Lora"/>
                <a:ea typeface="Lora"/>
                <a:cs typeface="Lora"/>
                <a:sym typeface="Lora"/>
              </a:rPr>
              <a:t>FoodItem</a:t>
            </a:r>
            <a:r>
              <a:rPr lang="en" sz="1200">
                <a:solidFill>
                  <a:srgbClr val="202122"/>
                </a:solidFill>
                <a:highlight>
                  <a:srgbClr val="FFFFFF"/>
                </a:highlight>
                <a:latin typeface="Lora"/>
                <a:ea typeface="Lora"/>
                <a:cs typeface="Lora"/>
                <a:sym typeface="Lora"/>
              </a:rPr>
              <a:t> column in </a:t>
            </a:r>
            <a:r>
              <a:rPr i="1" lang="en" sz="1200">
                <a:solidFill>
                  <a:srgbClr val="202122"/>
                </a:solidFill>
                <a:highlight>
                  <a:srgbClr val="FFFFFF"/>
                </a:highlight>
                <a:latin typeface="Lora"/>
                <a:ea typeface="Lora"/>
                <a:cs typeface="Lora"/>
                <a:sym typeface="Lora"/>
              </a:rPr>
              <a:t>raw_data </a:t>
            </a:r>
            <a:r>
              <a:rPr lang="en" sz="1200">
                <a:solidFill>
                  <a:srgbClr val="202122"/>
                </a:solidFill>
                <a:highlight>
                  <a:srgbClr val="FFFFFF"/>
                </a:highlight>
                <a:latin typeface="Lora"/>
                <a:ea typeface="Lora"/>
                <a:cs typeface="Lora"/>
                <a:sym typeface="Lora"/>
              </a:rPr>
              <a:t>should only contain </a:t>
            </a:r>
            <a:r>
              <a:rPr lang="en" sz="1200">
                <a:solidFill>
                  <a:srgbClr val="202122"/>
                </a:solidFill>
                <a:highlight>
                  <a:srgbClr val="FFFFFF"/>
                </a:highlight>
                <a:latin typeface="Lora"/>
                <a:ea typeface="Lora"/>
                <a:cs typeface="Lora"/>
                <a:sym typeface="Lora"/>
              </a:rPr>
              <a:t>alphabet</a:t>
            </a:r>
            <a:r>
              <a:rPr lang="en" sz="1200">
                <a:solidFill>
                  <a:srgbClr val="202122"/>
                </a:solidFill>
                <a:highlight>
                  <a:srgbClr val="FFFFFF"/>
                </a:highlight>
                <a:latin typeface="Lora"/>
                <a:ea typeface="Lora"/>
                <a:cs typeface="Lora"/>
                <a:sym typeface="Lora"/>
              </a:rPr>
              <a:t> letters</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all dates in the </a:t>
            </a:r>
            <a:r>
              <a:rPr i="1" lang="en" sz="1200">
                <a:solidFill>
                  <a:srgbClr val="202122"/>
                </a:solidFill>
                <a:highlight>
                  <a:srgbClr val="FFFFFF"/>
                </a:highlight>
                <a:latin typeface="Lora"/>
                <a:ea typeface="Lora"/>
                <a:cs typeface="Lora"/>
                <a:sym typeface="Lora"/>
              </a:rPr>
              <a:t>Date</a:t>
            </a:r>
            <a:r>
              <a:rPr lang="en" sz="1200">
                <a:solidFill>
                  <a:srgbClr val="202122"/>
                </a:solidFill>
                <a:highlight>
                  <a:srgbClr val="FFFFFF"/>
                </a:highlight>
                <a:latin typeface="Lora"/>
                <a:ea typeface="Lora"/>
                <a:cs typeface="Lora"/>
                <a:sym typeface="Lora"/>
              </a:rPr>
              <a:t> column in </a:t>
            </a:r>
            <a:r>
              <a:rPr i="1" lang="en" sz="1200">
                <a:solidFill>
                  <a:srgbClr val="202122"/>
                </a:solidFill>
                <a:highlight>
                  <a:srgbClr val="FFFFFF"/>
                </a:highlight>
                <a:latin typeface="Lora"/>
                <a:ea typeface="Lora"/>
                <a:cs typeface="Lora"/>
                <a:sym typeface="Lora"/>
              </a:rPr>
              <a:t>clean_data</a:t>
            </a:r>
            <a:r>
              <a:rPr lang="en" sz="1200">
                <a:solidFill>
                  <a:srgbClr val="202122"/>
                </a:solidFill>
                <a:highlight>
                  <a:srgbClr val="FFFFFF"/>
                </a:highlight>
                <a:latin typeface="Lora"/>
                <a:ea typeface="Lora"/>
                <a:cs typeface="Lora"/>
                <a:sym typeface="Lora"/>
              </a:rPr>
              <a:t> should not be null</a:t>
            </a:r>
            <a:endParaRPr sz="1200">
              <a:solidFill>
                <a:srgbClr val="202122"/>
              </a:solidFill>
              <a:highlight>
                <a:srgbClr val="FFFFFF"/>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all integers in the </a:t>
            </a:r>
            <a:r>
              <a:rPr i="1" lang="en" sz="1200">
                <a:solidFill>
                  <a:srgbClr val="202122"/>
                </a:solidFill>
                <a:highlight>
                  <a:srgbClr val="FFFFFF"/>
                </a:highlight>
                <a:latin typeface="Lora"/>
                <a:ea typeface="Lora"/>
                <a:cs typeface="Lora"/>
                <a:sym typeface="Lora"/>
              </a:rPr>
              <a:t>nItems</a:t>
            </a:r>
            <a:r>
              <a:rPr lang="en" sz="1200">
                <a:solidFill>
                  <a:srgbClr val="202122"/>
                </a:solidFill>
                <a:highlight>
                  <a:srgbClr val="FFFFFF"/>
                </a:highlight>
                <a:latin typeface="Lora"/>
                <a:ea typeface="Lora"/>
                <a:cs typeface="Lora"/>
                <a:sym typeface="Lora"/>
              </a:rPr>
              <a:t> column in </a:t>
            </a:r>
            <a:r>
              <a:rPr i="1" lang="en" sz="1200">
                <a:solidFill>
                  <a:srgbClr val="202122"/>
                </a:solidFill>
                <a:highlight>
                  <a:srgbClr val="FFFFFF"/>
                </a:highlight>
                <a:latin typeface="Lora"/>
                <a:ea typeface="Lora"/>
                <a:cs typeface="Lora"/>
                <a:sym typeface="Lora"/>
              </a:rPr>
              <a:t>clean_data</a:t>
            </a:r>
            <a:r>
              <a:rPr lang="en" sz="1200">
                <a:solidFill>
                  <a:srgbClr val="202122"/>
                </a:solidFill>
                <a:highlight>
                  <a:srgbClr val="FFFFFF"/>
                </a:highlight>
                <a:latin typeface="Lora"/>
                <a:ea typeface="Lora"/>
                <a:cs typeface="Lora"/>
                <a:sym typeface="Lora"/>
              </a:rPr>
              <a:t> should be greater or equal to 0.</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Checks are defined using the </a:t>
            </a:r>
            <a:r>
              <a:rPr i="1" lang="en" sz="1200">
                <a:solidFill>
                  <a:srgbClr val="202122"/>
                </a:solidFill>
                <a:highlight>
                  <a:srgbClr val="FFFFFF"/>
                </a:highlight>
                <a:latin typeface="Lora"/>
                <a:ea typeface="Lora"/>
                <a:cs typeface="Lora"/>
                <a:sym typeface="Lora"/>
              </a:rPr>
              <a:t>@dg.multi_asset_check </a:t>
            </a:r>
            <a:r>
              <a:rPr lang="en" sz="1200">
                <a:solidFill>
                  <a:srgbClr val="202122"/>
                </a:solidFill>
                <a:highlight>
                  <a:srgbClr val="FFFFFF"/>
                </a:highlight>
                <a:latin typeface="Lora"/>
                <a:ea typeface="Lora"/>
                <a:cs typeface="Lora"/>
                <a:sym typeface="Lora"/>
              </a:rPr>
              <a:t>decorator</a:t>
            </a:r>
            <a:endParaRPr sz="1200">
              <a:solidFill>
                <a:srgbClr val="202122"/>
              </a:solidFill>
              <a:highlight>
                <a:srgbClr val="FFFFFF"/>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As an example</a:t>
            </a:r>
            <a:r>
              <a:rPr lang="en" sz="1200">
                <a:solidFill>
                  <a:srgbClr val="202122"/>
                </a:solidFill>
                <a:highlight>
                  <a:srgbClr val="FFFFFF"/>
                </a:highlight>
                <a:latin typeface="Lora"/>
                <a:ea typeface="Lora"/>
                <a:cs typeface="Lora"/>
                <a:sym typeface="Lora"/>
              </a:rPr>
              <a:t>, we have purposefully made one of the checks </a:t>
            </a:r>
            <a:r>
              <a:rPr lang="en" sz="1200">
                <a:solidFill>
                  <a:srgbClr val="CC0000"/>
                </a:solidFill>
                <a:highlight>
                  <a:srgbClr val="FFFFFF"/>
                </a:highlight>
                <a:latin typeface="Lora"/>
                <a:ea typeface="Lora"/>
                <a:cs typeface="Lora"/>
                <a:sym typeface="Lora"/>
              </a:rPr>
              <a:t>fail</a:t>
            </a:r>
            <a:r>
              <a:rPr lang="en" sz="1200">
                <a:solidFill>
                  <a:srgbClr val="202122"/>
                </a:solidFill>
                <a:highlight>
                  <a:srgbClr val="FFFFFF"/>
                </a:highlight>
                <a:latin typeface="Lora"/>
                <a:ea typeface="Lora"/>
                <a:cs typeface="Lora"/>
                <a:sym typeface="Lora"/>
              </a:rPr>
              <a:t>:</a:t>
            </a:r>
            <a:endParaRPr sz="1200">
              <a:solidFill>
                <a:srgbClr val="202122"/>
              </a:solidFill>
              <a:highlight>
                <a:srgbClr val="FFFFFF"/>
              </a:highlight>
              <a:latin typeface="Lora"/>
              <a:ea typeface="Lora"/>
              <a:cs typeface="Lora"/>
              <a:sym typeface="Lora"/>
            </a:endParaRPr>
          </a:p>
        </p:txBody>
      </p:sp>
      <p:pic>
        <p:nvPicPr>
          <p:cNvPr id="134" name="Google Shape;134;p22"/>
          <p:cNvPicPr preferRelativeResize="0"/>
          <p:nvPr/>
        </p:nvPicPr>
        <p:blipFill>
          <a:blip r:embed="rId4">
            <a:alphaModFix/>
          </a:blip>
          <a:stretch>
            <a:fillRect/>
          </a:stretch>
        </p:blipFill>
        <p:spPr>
          <a:xfrm>
            <a:off x="990600" y="2210875"/>
            <a:ext cx="4317601" cy="2417601"/>
          </a:xfrm>
          <a:prstGeom prst="rect">
            <a:avLst/>
          </a:prstGeom>
          <a:noFill/>
          <a:ln>
            <a:noFill/>
          </a:ln>
        </p:spPr>
      </p:pic>
      <p:sp>
        <p:nvSpPr>
          <p:cNvPr id="135" name="Google Shape;135;p22"/>
          <p:cNvSpPr txBox="1"/>
          <p:nvPr/>
        </p:nvSpPr>
        <p:spPr>
          <a:xfrm>
            <a:off x="6789839" y="4767007"/>
            <a:ext cx="1398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Vincent</a:t>
            </a:r>
            <a:endParaRPr sz="1200">
              <a:solidFill>
                <a:srgbClr val="595959"/>
              </a:solidFill>
              <a:latin typeface="Lora"/>
              <a:ea typeface="Lora"/>
              <a:cs typeface="Lora"/>
              <a:sym typeface="L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3.3 Dagster: Concepts — IOManager (see </a:t>
            </a:r>
            <a:r>
              <a:rPr lang="en" sz="2200" u="sng">
                <a:solidFill>
                  <a:schemeClr val="hlink"/>
                </a:solidFill>
                <a:latin typeface="Lora"/>
                <a:ea typeface="Lora"/>
                <a:cs typeface="Lora"/>
                <a:sym typeface="Lora"/>
                <a:hlinkClick r:id="rId3"/>
              </a:rPr>
              <a:t>documentation</a:t>
            </a:r>
            <a:r>
              <a:rPr lang="en" sz="2200">
                <a:latin typeface="Lora"/>
                <a:ea typeface="Lora"/>
                <a:cs typeface="Lora"/>
                <a:sym typeface="Lora"/>
              </a:rPr>
              <a:t>)</a:t>
            </a:r>
            <a:endParaRPr sz="2200">
              <a:latin typeface="Lora"/>
              <a:ea typeface="Lora"/>
              <a:cs typeface="Lora"/>
              <a:sym typeface="Lora"/>
            </a:endParaRPr>
          </a:p>
        </p:txBody>
      </p:sp>
      <p:sp>
        <p:nvSpPr>
          <p:cNvPr id="141" name="Google Shape;141;p23"/>
          <p:cNvSpPr txBox="1"/>
          <p:nvPr/>
        </p:nvSpPr>
        <p:spPr>
          <a:xfrm>
            <a:off x="486900" y="624775"/>
            <a:ext cx="80979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120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Definition: </a:t>
            </a:r>
            <a:r>
              <a:rPr i="1" lang="en" sz="1200">
                <a:solidFill>
                  <a:srgbClr val="202122"/>
                </a:solidFill>
                <a:highlight>
                  <a:schemeClr val="lt1"/>
                </a:highlight>
                <a:latin typeface="Lora"/>
                <a:ea typeface="Lora"/>
                <a:cs typeface="Lora"/>
                <a:sym typeface="Lora"/>
              </a:rPr>
              <a:t>"An IOManager defines where data is stored and retrieved" </a:t>
            </a:r>
            <a:endParaRPr i="1" sz="1200">
              <a:solidFill>
                <a:srgbClr val="202122"/>
              </a:solidFill>
              <a:highlight>
                <a:schemeClr val="lt1"/>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In </a:t>
            </a:r>
            <a:r>
              <a:rPr i="1" lang="en" sz="1200" u="sng">
                <a:solidFill>
                  <a:schemeClr val="hlink"/>
                </a:solidFill>
                <a:highlight>
                  <a:srgbClr val="FFFFFF"/>
                </a:highlight>
                <a:latin typeface="Lora"/>
                <a:ea typeface="Lora"/>
                <a:cs typeface="Lora"/>
                <a:sym typeface="Lora"/>
                <a:hlinkClick r:id="rId4"/>
              </a:rPr>
              <a:t>definitions.py</a:t>
            </a:r>
            <a:r>
              <a:rPr lang="en" sz="1200">
                <a:solidFill>
                  <a:srgbClr val="202122"/>
                </a:solidFill>
                <a:highlight>
                  <a:srgbClr val="FFFFFF"/>
                </a:highlight>
                <a:latin typeface="Lora"/>
                <a:ea typeface="Lora"/>
                <a:cs typeface="Lora"/>
                <a:sym typeface="Lora"/>
              </a:rPr>
              <a:t> we define the IOManager:</a:t>
            </a:r>
            <a:br>
              <a:rPr lang="en" sz="1200">
                <a:solidFill>
                  <a:srgbClr val="202122"/>
                </a:solidFill>
                <a:highlight>
                  <a:srgbClr val="FFFFFF"/>
                </a:highlight>
                <a:latin typeface="Lora"/>
                <a:ea typeface="Lora"/>
                <a:cs typeface="Lora"/>
                <a:sym typeface="Lora"/>
              </a:rPr>
            </a:br>
            <a:r>
              <a:rPr lang="en" sz="1200">
                <a:solidFill>
                  <a:srgbClr val="202122"/>
                </a:solidFill>
                <a:highlight>
                  <a:srgbClr val="FFFFFF"/>
                </a:highlight>
                <a:latin typeface="Courier New"/>
                <a:ea typeface="Courier New"/>
                <a:cs typeface="Courier New"/>
                <a:sym typeface="Courier New"/>
              </a:rPr>
              <a:t>"io_manager": dg.FilesystemIOManager(base_dir="./tmp_dg_storage"). </a:t>
            </a:r>
            <a:r>
              <a:rPr lang="en" sz="1200">
                <a:solidFill>
                  <a:srgbClr val="202122"/>
                </a:solidFill>
                <a:highlight>
                  <a:srgbClr val="FFFFFF"/>
                </a:highlight>
                <a:latin typeface="Lora"/>
                <a:ea typeface="Lora"/>
                <a:cs typeface="Lora"/>
                <a:sym typeface="Lora"/>
              </a:rPr>
              <a:t>This means that all assets are saved locally in </a:t>
            </a:r>
            <a:r>
              <a:rPr lang="en" sz="1200">
                <a:solidFill>
                  <a:srgbClr val="202122"/>
                </a:solidFill>
                <a:highlight>
                  <a:schemeClr val="lt1"/>
                </a:highlight>
                <a:latin typeface="Courier New"/>
                <a:ea typeface="Courier New"/>
                <a:cs typeface="Courier New"/>
                <a:sym typeface="Courier New"/>
              </a:rPr>
              <a:t>tmp_dg_storage </a:t>
            </a:r>
            <a:r>
              <a:rPr lang="en" sz="1200">
                <a:solidFill>
                  <a:srgbClr val="202122"/>
                </a:solidFill>
                <a:highlight>
                  <a:schemeClr val="lt1"/>
                </a:highlight>
                <a:latin typeface="Lora"/>
                <a:ea typeface="Lora"/>
                <a:cs typeface="Lora"/>
                <a:sym typeface="Lora"/>
              </a:rPr>
              <a:t>as pickle files: </a:t>
            </a:r>
            <a:endParaRPr sz="1200">
              <a:solidFill>
                <a:srgbClr val="202122"/>
              </a:solidFill>
              <a:highlight>
                <a:srgbClr val="FFFFFF"/>
              </a:highlight>
              <a:latin typeface="Lora"/>
              <a:ea typeface="Lora"/>
              <a:cs typeface="Lora"/>
              <a:sym typeface="Lora"/>
            </a:endParaRPr>
          </a:p>
        </p:txBody>
      </p:sp>
      <p:pic>
        <p:nvPicPr>
          <p:cNvPr id="142" name="Google Shape;142;p23"/>
          <p:cNvPicPr preferRelativeResize="0"/>
          <p:nvPr/>
        </p:nvPicPr>
        <p:blipFill>
          <a:blip r:embed="rId5">
            <a:alphaModFix/>
          </a:blip>
          <a:stretch>
            <a:fillRect/>
          </a:stretch>
        </p:blipFill>
        <p:spPr>
          <a:xfrm>
            <a:off x="1020300" y="1481200"/>
            <a:ext cx="6944474" cy="1826925"/>
          </a:xfrm>
          <a:prstGeom prst="rect">
            <a:avLst/>
          </a:prstGeom>
          <a:noFill/>
          <a:ln>
            <a:noFill/>
          </a:ln>
        </p:spPr>
      </p:pic>
      <p:sp>
        <p:nvSpPr>
          <p:cNvPr id="143" name="Google Shape;143;p23"/>
          <p:cNvSpPr txBox="1"/>
          <p:nvPr/>
        </p:nvSpPr>
        <p:spPr>
          <a:xfrm>
            <a:off x="486900" y="3367975"/>
            <a:ext cx="8097900" cy="12930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120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We use the most basic IOManager </a:t>
            </a:r>
            <a:r>
              <a:rPr lang="en" sz="1200">
                <a:solidFill>
                  <a:srgbClr val="202122"/>
                </a:solidFill>
                <a:highlight>
                  <a:schemeClr val="lt1"/>
                </a:highlight>
                <a:latin typeface="Lora"/>
                <a:ea typeface="Lora"/>
                <a:cs typeface="Lora"/>
                <a:sym typeface="Lora"/>
              </a:rPr>
              <a:t>(</a:t>
            </a:r>
            <a:r>
              <a:rPr i="1" lang="en" sz="1200">
                <a:solidFill>
                  <a:srgbClr val="202122"/>
                </a:solidFill>
                <a:highlight>
                  <a:schemeClr val="lt1"/>
                </a:highlight>
                <a:latin typeface="Lora"/>
                <a:ea typeface="Lora"/>
                <a:cs typeface="Lora"/>
                <a:sym typeface="Lora"/>
              </a:rPr>
              <a:t>FilesystemIOManager</a:t>
            </a:r>
            <a:r>
              <a:rPr lang="en" sz="1200">
                <a:solidFill>
                  <a:srgbClr val="202122"/>
                </a:solidFill>
                <a:highlight>
                  <a:schemeClr val="lt1"/>
                </a:highlight>
                <a:latin typeface="Lora"/>
                <a:ea typeface="Lora"/>
                <a:cs typeface="Lora"/>
                <a:sym typeface="Lora"/>
              </a:rPr>
              <a:t>) </a:t>
            </a:r>
            <a:r>
              <a:rPr lang="en" sz="1200">
                <a:solidFill>
                  <a:srgbClr val="202122"/>
                </a:solidFill>
                <a:highlight>
                  <a:schemeClr val="lt1"/>
                </a:highlight>
                <a:latin typeface="Lora"/>
                <a:ea typeface="Lora"/>
                <a:cs typeface="Lora"/>
                <a:sym typeface="Lora"/>
              </a:rPr>
              <a:t>to save files locally. Dagster has </a:t>
            </a:r>
            <a:r>
              <a:rPr lang="en" sz="1200" u="sng">
                <a:solidFill>
                  <a:schemeClr val="hlink"/>
                </a:solidFill>
                <a:highlight>
                  <a:schemeClr val="lt1"/>
                </a:highlight>
                <a:latin typeface="Lora"/>
                <a:ea typeface="Lora"/>
                <a:cs typeface="Lora"/>
                <a:sym typeface="Lora"/>
                <a:hlinkClick r:id="rId6"/>
              </a:rPr>
              <a:t>many different IOmanager</a:t>
            </a:r>
            <a:r>
              <a:rPr lang="en" sz="1200">
                <a:solidFill>
                  <a:srgbClr val="202122"/>
                </a:solidFill>
                <a:highlight>
                  <a:schemeClr val="lt1"/>
                </a:highlight>
                <a:latin typeface="Lora"/>
                <a:ea typeface="Lora"/>
                <a:cs typeface="Lora"/>
                <a:sym typeface="Lora"/>
              </a:rPr>
              <a:t> options. Some are: </a:t>
            </a:r>
            <a:endParaRPr sz="1200">
              <a:solidFill>
                <a:srgbClr val="202122"/>
              </a:solidFill>
              <a:highlight>
                <a:schemeClr val="lt1"/>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i="1" lang="en" sz="1200">
                <a:solidFill>
                  <a:srgbClr val="202122"/>
                </a:solidFill>
                <a:highlight>
                  <a:schemeClr val="lt1"/>
                </a:highlight>
                <a:latin typeface="Lora"/>
                <a:ea typeface="Lora"/>
                <a:cs typeface="Lora"/>
                <a:sym typeface="Lora"/>
              </a:rPr>
              <a:t>s3.S3PickleIOManager</a:t>
            </a:r>
            <a:r>
              <a:rPr lang="en" sz="1200">
                <a:solidFill>
                  <a:srgbClr val="202122"/>
                </a:solidFill>
                <a:highlight>
                  <a:schemeClr val="lt1"/>
                </a:highlight>
                <a:latin typeface="Lora"/>
                <a:ea typeface="Lora"/>
                <a:cs typeface="Lora"/>
                <a:sym typeface="Lora"/>
              </a:rPr>
              <a:t> (Stores outputs as pickle files in Amazon Web Services S</a:t>
            </a:r>
            <a:r>
              <a:rPr lang="en" sz="1200">
                <a:solidFill>
                  <a:srgbClr val="202122"/>
                </a:solidFill>
                <a:highlight>
                  <a:schemeClr val="lt1"/>
                </a:highlight>
                <a:latin typeface="Lora"/>
                <a:ea typeface="Lora"/>
                <a:cs typeface="Lora"/>
                <a:sym typeface="Lora"/>
              </a:rPr>
              <a:t>3)</a:t>
            </a:r>
            <a:endParaRPr sz="1200">
              <a:solidFill>
                <a:srgbClr val="202122"/>
              </a:solidFill>
              <a:highlight>
                <a:schemeClr val="lt1"/>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i="1" lang="en" sz="1200">
                <a:solidFill>
                  <a:srgbClr val="202122"/>
                </a:solidFill>
                <a:highlight>
                  <a:schemeClr val="lt1"/>
                </a:highlight>
                <a:latin typeface="Lora"/>
                <a:ea typeface="Lora"/>
                <a:cs typeface="Lora"/>
                <a:sym typeface="Lora"/>
              </a:rPr>
              <a:t>GCSPickleIOManager</a:t>
            </a:r>
            <a:r>
              <a:rPr lang="en" sz="1200">
                <a:solidFill>
                  <a:srgbClr val="202122"/>
                </a:solidFill>
                <a:highlight>
                  <a:schemeClr val="lt1"/>
                </a:highlight>
                <a:latin typeface="Lora"/>
                <a:ea typeface="Lora"/>
                <a:cs typeface="Lora"/>
                <a:sym typeface="Lora"/>
              </a:rPr>
              <a:t> (Stores outputs as pickle files in Google Cloud Platform GCS)</a:t>
            </a:r>
            <a:endParaRPr sz="1200">
              <a:solidFill>
                <a:srgbClr val="202122"/>
              </a:solidFill>
              <a:highlight>
                <a:schemeClr val="lt1"/>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i="1" lang="en" sz="1200">
                <a:solidFill>
                  <a:srgbClr val="202122"/>
                </a:solidFill>
                <a:highlight>
                  <a:schemeClr val="lt1"/>
                </a:highlight>
                <a:latin typeface="Lora"/>
                <a:ea typeface="Lora"/>
                <a:cs typeface="Lora"/>
                <a:sym typeface="Lora"/>
              </a:rPr>
              <a:t>DuckDBPandasIOManager</a:t>
            </a:r>
            <a:r>
              <a:rPr lang="en" sz="1200">
                <a:solidFill>
                  <a:srgbClr val="202122"/>
                </a:solidFill>
                <a:highlight>
                  <a:schemeClr val="lt1"/>
                </a:highlight>
                <a:latin typeface="Lora"/>
                <a:ea typeface="Lora"/>
                <a:cs typeface="Lora"/>
                <a:sym typeface="Lora"/>
              </a:rPr>
              <a:t> (Stores Pandas DataFrame outputs in DuckDB.</a:t>
            </a:r>
            <a:endParaRPr sz="1200">
              <a:solidFill>
                <a:srgbClr val="202122"/>
              </a:solidFill>
              <a:highlight>
                <a:schemeClr val="lt1"/>
              </a:highlight>
              <a:latin typeface="Lora"/>
              <a:ea typeface="Lora"/>
              <a:cs typeface="Lora"/>
              <a:sym typeface="Lora"/>
            </a:endParaRPr>
          </a:p>
          <a:p>
            <a:pPr indent="-304800" lvl="1" marL="914400" rtl="0" algn="l">
              <a:lnSpc>
                <a:spcPct val="100000"/>
              </a:lnSpc>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etc</a:t>
            </a:r>
            <a:endParaRPr sz="1200">
              <a:solidFill>
                <a:srgbClr val="202122"/>
              </a:solidFill>
              <a:highlight>
                <a:schemeClr val="lt1"/>
              </a:highlight>
              <a:latin typeface="Lora"/>
              <a:ea typeface="Lora"/>
              <a:cs typeface="Lora"/>
              <a:sym typeface="Lora"/>
            </a:endParaRPr>
          </a:p>
        </p:txBody>
      </p:sp>
      <p:sp>
        <p:nvSpPr>
          <p:cNvPr id="144" name="Google Shape;144;p23"/>
          <p:cNvSpPr txBox="1"/>
          <p:nvPr/>
        </p:nvSpPr>
        <p:spPr>
          <a:xfrm>
            <a:off x="6828903" y="4767007"/>
            <a:ext cx="1398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Vincent</a:t>
            </a:r>
            <a:endParaRPr sz="1200">
              <a:solidFill>
                <a:srgbClr val="595959"/>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3.3 Dagster: Concepts — Jobs (see </a:t>
            </a:r>
            <a:r>
              <a:rPr lang="en" sz="2200" u="sng">
                <a:solidFill>
                  <a:schemeClr val="hlink"/>
                </a:solidFill>
                <a:latin typeface="Lora"/>
                <a:ea typeface="Lora"/>
                <a:cs typeface="Lora"/>
                <a:sym typeface="Lora"/>
                <a:hlinkClick r:id="rId3"/>
              </a:rPr>
              <a:t>documentation</a:t>
            </a:r>
            <a:r>
              <a:rPr lang="en" sz="2200">
                <a:latin typeface="Lora"/>
                <a:ea typeface="Lora"/>
                <a:cs typeface="Lora"/>
                <a:sym typeface="Lora"/>
              </a:rPr>
              <a:t>)</a:t>
            </a:r>
            <a:endParaRPr sz="2200">
              <a:latin typeface="Lora"/>
              <a:ea typeface="Lora"/>
              <a:cs typeface="Lora"/>
              <a:sym typeface="Lora"/>
            </a:endParaRPr>
          </a:p>
        </p:txBody>
      </p:sp>
      <p:sp>
        <p:nvSpPr>
          <p:cNvPr id="150" name="Google Shape;150;p24"/>
          <p:cNvSpPr txBox="1"/>
          <p:nvPr/>
        </p:nvSpPr>
        <p:spPr>
          <a:xfrm>
            <a:off x="486900" y="624775"/>
            <a:ext cx="8097900" cy="2986200"/>
          </a:xfrm>
          <a:prstGeom prst="rect">
            <a:avLst/>
          </a:prstGeom>
          <a:noFill/>
          <a:ln>
            <a:noFill/>
          </a:ln>
        </p:spPr>
        <p:txBody>
          <a:bodyPr anchorCtr="0" anchor="t" bIns="91425" lIns="91425" spcFirstLastPara="1" rIns="91425" wrap="square" tIns="91425">
            <a:spAutoFit/>
          </a:bodyPr>
          <a:lstStyle/>
          <a:p>
            <a:pPr indent="-304800" lvl="0" marL="457200" rtl="0" algn="l">
              <a:spcBef>
                <a:spcPts val="120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Definition: </a:t>
            </a:r>
            <a:r>
              <a:rPr i="1" lang="en" sz="1200">
                <a:solidFill>
                  <a:srgbClr val="202122"/>
                </a:solidFill>
                <a:highlight>
                  <a:schemeClr val="lt1"/>
                </a:highlight>
                <a:latin typeface="Lora"/>
                <a:ea typeface="Lora"/>
                <a:cs typeface="Lora"/>
                <a:sym typeface="Lora"/>
              </a:rPr>
              <a:t>"</a:t>
            </a:r>
            <a:r>
              <a:rPr i="1" lang="en" sz="1200">
                <a:solidFill>
                  <a:srgbClr val="202122"/>
                </a:solidFill>
                <a:highlight>
                  <a:schemeClr val="lt1"/>
                </a:highlight>
                <a:latin typeface="Lora"/>
                <a:ea typeface="Lora"/>
                <a:cs typeface="Lora"/>
                <a:sym typeface="Lora"/>
              </a:rPr>
              <a:t>A job is a collection of assets</a:t>
            </a:r>
            <a:r>
              <a:rPr i="1" lang="en" sz="1200">
                <a:solidFill>
                  <a:srgbClr val="202122"/>
                </a:solidFill>
                <a:highlight>
                  <a:schemeClr val="lt1"/>
                </a:highlight>
                <a:latin typeface="Lora"/>
                <a:ea typeface="Lora"/>
                <a:cs typeface="Lora"/>
                <a:sym typeface="Lora"/>
              </a:rPr>
              <a:t>. Jobs are the main form of execution in Dagster.</a:t>
            </a:r>
            <a:r>
              <a:rPr i="1" lang="en" sz="1200">
                <a:solidFill>
                  <a:srgbClr val="202122"/>
                </a:solidFill>
                <a:highlight>
                  <a:schemeClr val="lt1"/>
                </a:highlight>
                <a:latin typeface="Lora"/>
                <a:ea typeface="Lora"/>
                <a:cs typeface="Lora"/>
                <a:sym typeface="Lora"/>
              </a:rPr>
              <a:t>" </a:t>
            </a:r>
            <a:endParaRPr i="1" sz="1200">
              <a:solidFill>
                <a:srgbClr val="202122"/>
              </a:solidFill>
              <a:highlight>
                <a:schemeClr val="lt1"/>
              </a:highlight>
              <a:latin typeface="Lora"/>
              <a:ea typeface="Lora"/>
              <a:cs typeface="Lora"/>
              <a:sym typeface="Lora"/>
            </a:endParaRPr>
          </a:p>
          <a:p>
            <a:pPr indent="-304800" lvl="0" marL="457200" rtl="0" algn="l">
              <a:lnSpc>
                <a:spcPct val="100000"/>
              </a:lnSpc>
              <a:spcBef>
                <a:spcPts val="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I</a:t>
            </a:r>
            <a:r>
              <a:rPr lang="en" sz="1200">
                <a:solidFill>
                  <a:srgbClr val="202122"/>
                </a:solidFill>
                <a:highlight>
                  <a:srgbClr val="FFFFFF"/>
                </a:highlight>
                <a:latin typeface="Lora"/>
                <a:ea typeface="Lora"/>
                <a:cs typeface="Lora"/>
                <a:sym typeface="Lora"/>
              </a:rPr>
              <a:t>n </a:t>
            </a:r>
            <a:r>
              <a:rPr i="1" lang="en" sz="1200" u="sng">
                <a:solidFill>
                  <a:schemeClr val="hlink"/>
                </a:solidFill>
                <a:highlight>
                  <a:srgbClr val="FFFFFF"/>
                </a:highlight>
                <a:latin typeface="Lora"/>
                <a:ea typeface="Lora"/>
                <a:cs typeface="Lora"/>
                <a:sym typeface="Lora"/>
                <a:hlinkClick r:id="rId4"/>
              </a:rPr>
              <a:t>definitions.py</a:t>
            </a:r>
            <a:r>
              <a:rPr lang="en" sz="1200">
                <a:solidFill>
                  <a:srgbClr val="202122"/>
                </a:solidFill>
                <a:highlight>
                  <a:srgbClr val="FFFFFF"/>
                </a:highlight>
                <a:latin typeface="Lora"/>
                <a:ea typeface="Lora"/>
                <a:cs typeface="Lora"/>
                <a:sym typeface="Lora"/>
              </a:rPr>
              <a:t>:</a:t>
            </a:r>
            <a:endParaRPr sz="1200">
              <a:solidFill>
                <a:srgbClr val="20212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200">
                <a:solidFill>
                  <a:srgbClr val="202122"/>
                </a:solidFill>
                <a:highlight>
                  <a:srgbClr val="FFFFFF"/>
                </a:highlight>
                <a:latin typeface="Courier New"/>
                <a:ea typeface="Courier New"/>
                <a:cs typeface="Courier New"/>
                <a:sym typeface="Courier New"/>
              </a:rPr>
              <a:t>    de_job = dg.define_asset_job(</a:t>
            </a:r>
            <a:br>
              <a:rPr lang="en" sz="1200">
                <a:solidFill>
                  <a:srgbClr val="202122"/>
                </a:solidFill>
                <a:highlight>
                  <a:srgbClr val="FFFFFF"/>
                </a:highlight>
                <a:latin typeface="Courier New"/>
                <a:ea typeface="Courier New"/>
                <a:cs typeface="Courier New"/>
                <a:sym typeface="Courier New"/>
              </a:rPr>
            </a:br>
            <a:r>
              <a:rPr lang="en" sz="1200">
                <a:solidFill>
                  <a:srgbClr val="202122"/>
                </a:solidFill>
                <a:highlight>
                  <a:srgbClr val="FFFFFF"/>
                </a:highlight>
                <a:latin typeface="Courier New"/>
                <a:ea typeface="Courier New"/>
                <a:cs typeface="Courier New"/>
                <a:sym typeface="Courier New"/>
              </a:rPr>
              <a:t>        name="simple_data_engineering_example",</a:t>
            </a:r>
            <a:br>
              <a:rPr lang="en" sz="1200">
                <a:solidFill>
                  <a:srgbClr val="202122"/>
                </a:solidFill>
                <a:highlight>
                  <a:srgbClr val="FFFFFF"/>
                </a:highlight>
                <a:latin typeface="Courier New"/>
                <a:ea typeface="Courier New"/>
                <a:cs typeface="Courier New"/>
                <a:sym typeface="Courier New"/>
              </a:rPr>
            </a:br>
            <a:r>
              <a:rPr lang="en" sz="1200">
                <a:solidFill>
                  <a:srgbClr val="202122"/>
                </a:solidFill>
                <a:highlight>
                  <a:srgbClr val="FFFFFF"/>
                </a:highlight>
                <a:latin typeface="Courier New"/>
                <a:ea typeface="Courier New"/>
                <a:cs typeface="Courier New"/>
                <a:sym typeface="Courier New"/>
              </a:rPr>
              <a:t>        selection=dg.AssetSelection.groups("de_ingest", "</a:t>
            </a:r>
            <a:r>
              <a:rPr lang="en" sz="1200">
                <a:solidFill>
                  <a:srgbClr val="202122"/>
                </a:solidFill>
                <a:highlight>
                  <a:schemeClr val="lt1"/>
                </a:highlight>
                <a:latin typeface="Courier New"/>
                <a:ea typeface="Courier New"/>
                <a:cs typeface="Courier New"/>
                <a:sym typeface="Courier New"/>
              </a:rPr>
              <a:t>de_transform</a:t>
            </a:r>
            <a:r>
              <a:rPr lang="en" sz="1200">
                <a:solidFill>
                  <a:srgbClr val="202122"/>
                </a:solidFill>
                <a:highlight>
                  <a:srgbClr val="FFFFFF"/>
                </a:highlight>
                <a:latin typeface="Courier New"/>
                <a:ea typeface="Courier New"/>
                <a:cs typeface="Courier New"/>
                <a:sym typeface="Courier New"/>
              </a:rPr>
              <a:t>"),</a:t>
            </a:r>
            <a:br>
              <a:rPr lang="en" sz="1200">
                <a:solidFill>
                  <a:srgbClr val="202122"/>
                </a:solidFill>
                <a:highlight>
                  <a:srgbClr val="FFFFFF"/>
                </a:highlight>
                <a:latin typeface="Courier New"/>
                <a:ea typeface="Courier New"/>
                <a:cs typeface="Courier New"/>
                <a:sym typeface="Courier New"/>
              </a:rPr>
            </a:br>
            <a:r>
              <a:rPr lang="en" sz="1200">
                <a:solidFill>
                  <a:srgbClr val="202122"/>
                </a:solidFill>
                <a:highlight>
                  <a:srgbClr val="FFFFFF"/>
                </a:highlight>
                <a:latin typeface="Courier New"/>
                <a:ea typeface="Courier New"/>
                <a:cs typeface="Courier New"/>
                <a:sym typeface="Courier New"/>
              </a:rPr>
              <a:t>    </a:t>
            </a:r>
            <a:r>
              <a:rPr lang="en" sz="1200">
                <a:solidFill>
                  <a:srgbClr val="202122"/>
                </a:solidFill>
                <a:highlight>
                  <a:srgbClr val="FFFFFF"/>
                </a:highlight>
                <a:latin typeface="Courier New"/>
                <a:ea typeface="Courier New"/>
                <a:cs typeface="Courier New"/>
                <a:sym typeface="Courier New"/>
              </a:rPr>
              <a:t>)</a:t>
            </a:r>
            <a:endParaRPr sz="1200">
              <a:solidFill>
                <a:srgbClr val="202122"/>
              </a:solidFill>
              <a:highlight>
                <a:srgbClr val="FFFFFF"/>
              </a:highlight>
              <a:latin typeface="Courier New"/>
              <a:ea typeface="Courier New"/>
              <a:cs typeface="Courier New"/>
              <a:sym typeface="Courier New"/>
            </a:endParaRPr>
          </a:p>
          <a:p>
            <a:pPr indent="-304800" lvl="0" marL="457200" rtl="0" algn="l">
              <a:spcBef>
                <a:spcPts val="1200"/>
              </a:spcBef>
              <a:spcAft>
                <a:spcPts val="0"/>
              </a:spcAft>
              <a:buClr>
                <a:srgbClr val="202122"/>
              </a:buClr>
              <a:buSzPts val="1200"/>
              <a:buFont typeface="Lora"/>
              <a:buChar char="●"/>
            </a:pPr>
            <a:r>
              <a:rPr lang="en" sz="1200">
                <a:solidFill>
                  <a:srgbClr val="202122"/>
                </a:solidFill>
                <a:highlight>
                  <a:srgbClr val="FFFFFF"/>
                </a:highlight>
                <a:latin typeface="Lora"/>
                <a:ea typeface="Lora"/>
                <a:cs typeface="Lora"/>
                <a:sym typeface="Lora"/>
              </a:rPr>
              <a:t>Select all assets that are part of two asset groups: </a:t>
            </a:r>
            <a:r>
              <a:rPr b="1" i="1" lang="en" sz="1200">
                <a:solidFill>
                  <a:srgbClr val="202122"/>
                </a:solidFill>
                <a:highlight>
                  <a:schemeClr val="lt1"/>
                </a:highlight>
                <a:latin typeface="Courier New"/>
                <a:ea typeface="Courier New"/>
                <a:cs typeface="Courier New"/>
                <a:sym typeface="Courier New"/>
              </a:rPr>
              <a:t>de_ingest</a:t>
            </a:r>
            <a:r>
              <a:rPr lang="en" sz="1200">
                <a:solidFill>
                  <a:srgbClr val="202122"/>
                </a:solidFill>
                <a:highlight>
                  <a:schemeClr val="lt1"/>
                </a:highlight>
                <a:latin typeface="Courier New"/>
                <a:ea typeface="Courier New"/>
                <a:cs typeface="Courier New"/>
                <a:sym typeface="Courier New"/>
              </a:rPr>
              <a:t>, </a:t>
            </a:r>
            <a:r>
              <a:rPr b="1" i="1" lang="en" sz="1200">
                <a:solidFill>
                  <a:srgbClr val="202122"/>
                </a:solidFill>
                <a:highlight>
                  <a:schemeClr val="lt1"/>
                </a:highlight>
                <a:latin typeface="Courier New"/>
                <a:ea typeface="Courier New"/>
                <a:cs typeface="Courier New"/>
                <a:sym typeface="Courier New"/>
              </a:rPr>
              <a:t>de_transform</a:t>
            </a:r>
            <a:endParaRPr b="1" i="1" sz="1200">
              <a:solidFill>
                <a:srgbClr val="202122"/>
              </a:solidFill>
              <a:highlight>
                <a:schemeClr val="lt1"/>
              </a:highlight>
              <a:latin typeface="Courier New"/>
              <a:ea typeface="Courier New"/>
              <a:cs typeface="Courier New"/>
              <a:sym typeface="Courier New"/>
            </a:endParaRPr>
          </a:p>
          <a:p>
            <a:pPr indent="-304800" lvl="0" marL="457200" rtl="0" algn="l">
              <a:spcBef>
                <a:spcPts val="0"/>
              </a:spcBef>
              <a:spcAft>
                <a:spcPts val="0"/>
              </a:spcAft>
              <a:buClr>
                <a:srgbClr val="202122"/>
              </a:buClr>
              <a:buSzPts val="1200"/>
              <a:buFont typeface="Lora"/>
              <a:buChar char="●"/>
            </a:pPr>
            <a:r>
              <a:rPr lang="en" sz="1200">
                <a:solidFill>
                  <a:srgbClr val="202122"/>
                </a:solidFill>
                <a:highlight>
                  <a:schemeClr val="lt1"/>
                </a:highlight>
                <a:latin typeface="Lora"/>
                <a:ea typeface="Lora"/>
                <a:cs typeface="Lora"/>
                <a:sym typeface="Lora"/>
              </a:rPr>
              <a:t>Name of job ("</a:t>
            </a:r>
            <a:r>
              <a:rPr lang="en" sz="1200">
                <a:solidFill>
                  <a:srgbClr val="202122"/>
                </a:solidFill>
                <a:highlight>
                  <a:schemeClr val="lt1"/>
                </a:highlight>
                <a:latin typeface="Courier New"/>
                <a:ea typeface="Courier New"/>
                <a:cs typeface="Courier New"/>
                <a:sym typeface="Courier New"/>
              </a:rPr>
              <a:t>simple_data_engineering_example") is visible in the dagster UI:</a:t>
            </a:r>
            <a:endParaRPr sz="1200">
              <a:solidFill>
                <a:srgbClr val="202122"/>
              </a:solidFill>
              <a:highlight>
                <a:schemeClr val="lt1"/>
              </a:highlight>
              <a:latin typeface="Lora"/>
              <a:ea typeface="Lora"/>
              <a:cs typeface="Lora"/>
              <a:sym typeface="Lora"/>
            </a:endParaRPr>
          </a:p>
          <a:p>
            <a:pPr indent="0" lvl="0" marL="0" rtl="0" algn="l">
              <a:lnSpc>
                <a:spcPct val="100000"/>
              </a:lnSpc>
              <a:spcBef>
                <a:spcPts val="1200"/>
              </a:spcBef>
              <a:spcAft>
                <a:spcPts val="0"/>
              </a:spcAft>
              <a:buNone/>
            </a:pPr>
            <a:r>
              <a:t/>
            </a:r>
            <a:endParaRPr sz="1200">
              <a:solidFill>
                <a:srgbClr val="202122"/>
              </a:solidFill>
              <a:highlight>
                <a:srgbClr val="FFFFFF"/>
              </a:highlight>
              <a:latin typeface="Lora"/>
              <a:ea typeface="Lora"/>
              <a:cs typeface="Lora"/>
              <a:sym typeface="Lora"/>
            </a:endParaRPr>
          </a:p>
          <a:p>
            <a:pPr indent="0" lvl="0" marL="0" rtl="0" algn="l">
              <a:spcBef>
                <a:spcPts val="1200"/>
              </a:spcBef>
              <a:spcAft>
                <a:spcPts val="0"/>
              </a:spcAft>
              <a:buNone/>
            </a:pPr>
            <a:r>
              <a:t/>
            </a:r>
            <a:endParaRPr sz="1200">
              <a:solidFill>
                <a:srgbClr val="202122"/>
              </a:solidFill>
              <a:highlight>
                <a:srgbClr val="FFFFFF"/>
              </a:highlight>
              <a:latin typeface="Courier New"/>
              <a:ea typeface="Courier New"/>
              <a:cs typeface="Courier New"/>
              <a:sym typeface="Courier New"/>
            </a:endParaRPr>
          </a:p>
          <a:p>
            <a:pPr indent="0" lvl="0" marL="0" rtl="0" algn="l">
              <a:lnSpc>
                <a:spcPct val="100000"/>
              </a:lnSpc>
              <a:spcBef>
                <a:spcPts val="1200"/>
              </a:spcBef>
              <a:spcAft>
                <a:spcPts val="1200"/>
              </a:spcAft>
              <a:buNone/>
            </a:pPr>
            <a:r>
              <a:t/>
            </a:r>
            <a:endParaRPr sz="1200">
              <a:solidFill>
                <a:srgbClr val="202122"/>
              </a:solidFill>
              <a:highlight>
                <a:srgbClr val="FFFFFF"/>
              </a:highlight>
              <a:latin typeface="Lora"/>
              <a:ea typeface="Lora"/>
              <a:cs typeface="Lora"/>
              <a:sym typeface="Lora"/>
            </a:endParaRPr>
          </a:p>
        </p:txBody>
      </p:sp>
      <p:pic>
        <p:nvPicPr>
          <p:cNvPr id="151" name="Google Shape;151;p24"/>
          <p:cNvPicPr preferRelativeResize="0"/>
          <p:nvPr/>
        </p:nvPicPr>
        <p:blipFill>
          <a:blip r:embed="rId5">
            <a:alphaModFix/>
          </a:blip>
          <a:stretch>
            <a:fillRect/>
          </a:stretch>
        </p:blipFill>
        <p:spPr>
          <a:xfrm>
            <a:off x="962625" y="2514448"/>
            <a:ext cx="5542751" cy="2174650"/>
          </a:xfrm>
          <a:prstGeom prst="rect">
            <a:avLst/>
          </a:prstGeom>
          <a:noFill/>
          <a:ln>
            <a:noFill/>
          </a:ln>
        </p:spPr>
      </p:pic>
      <p:sp>
        <p:nvSpPr>
          <p:cNvPr id="152" name="Google Shape;152;p24"/>
          <p:cNvSpPr txBox="1"/>
          <p:nvPr/>
        </p:nvSpPr>
        <p:spPr>
          <a:xfrm>
            <a:off x="6763796" y="4780028"/>
            <a:ext cx="1398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Vincent</a:t>
            </a:r>
            <a:endParaRPr sz="1200">
              <a:solidFill>
                <a:srgbClr val="595959"/>
              </a:solidFill>
              <a:latin typeface="Lora"/>
              <a:ea typeface="Lora"/>
              <a:cs typeface="Lora"/>
              <a:sym typeface="L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3.3 Dagster: Concepts — Definitions (see </a:t>
            </a:r>
            <a:r>
              <a:rPr lang="en" sz="2200" u="sng">
                <a:solidFill>
                  <a:schemeClr val="hlink"/>
                </a:solidFill>
                <a:latin typeface="Lora"/>
                <a:ea typeface="Lora"/>
                <a:cs typeface="Lora"/>
                <a:sym typeface="Lora"/>
                <a:hlinkClick r:id="rId3"/>
              </a:rPr>
              <a:t>documentation</a:t>
            </a:r>
            <a:r>
              <a:rPr lang="en" sz="2200">
                <a:latin typeface="Lora"/>
                <a:ea typeface="Lora"/>
                <a:cs typeface="Lora"/>
                <a:sym typeface="Lora"/>
              </a:rPr>
              <a:t>)</a:t>
            </a:r>
            <a:endParaRPr sz="2200">
              <a:latin typeface="Lora"/>
              <a:ea typeface="Lora"/>
              <a:cs typeface="Lora"/>
              <a:sym typeface="Lora"/>
            </a:endParaRPr>
          </a:p>
        </p:txBody>
      </p:sp>
      <p:sp>
        <p:nvSpPr>
          <p:cNvPr id="158" name="Google Shape;158;p25"/>
          <p:cNvSpPr txBox="1"/>
          <p:nvPr/>
        </p:nvSpPr>
        <p:spPr>
          <a:xfrm>
            <a:off x="441525" y="624775"/>
            <a:ext cx="5052600" cy="4032900"/>
          </a:xfrm>
          <a:prstGeom prst="rect">
            <a:avLst/>
          </a:prstGeom>
          <a:noFill/>
          <a:ln>
            <a:noFill/>
          </a:ln>
        </p:spPr>
        <p:txBody>
          <a:bodyPr anchorCtr="0" anchor="t" bIns="91425" lIns="91425" spcFirstLastPara="1" rIns="91425" wrap="square" tIns="91425">
            <a:spAutoFit/>
          </a:bodyPr>
          <a:lstStyle/>
          <a:p>
            <a:pPr indent="-292100" lvl="0" marL="457200" rtl="0" algn="l">
              <a:spcBef>
                <a:spcPts val="1200"/>
              </a:spcBef>
              <a:spcAft>
                <a:spcPts val="0"/>
              </a:spcAft>
              <a:buClr>
                <a:srgbClr val="202122"/>
              </a:buClr>
              <a:buSzPts val="1000"/>
              <a:buFont typeface="Lora"/>
              <a:buChar char="●"/>
            </a:pPr>
            <a:r>
              <a:rPr lang="en" sz="1000">
                <a:solidFill>
                  <a:srgbClr val="202122"/>
                </a:solidFill>
                <a:highlight>
                  <a:schemeClr val="lt1"/>
                </a:highlight>
                <a:latin typeface="Lora"/>
                <a:ea typeface="Lora"/>
                <a:cs typeface="Lora"/>
                <a:sym typeface="Lora"/>
              </a:rPr>
              <a:t>Definition: </a:t>
            </a:r>
            <a:r>
              <a:rPr i="1" lang="en" sz="1000">
                <a:solidFill>
                  <a:srgbClr val="202122"/>
                </a:solidFill>
                <a:highlight>
                  <a:schemeClr val="lt1"/>
                </a:highlight>
                <a:latin typeface="Lora"/>
                <a:ea typeface="Lora"/>
                <a:cs typeface="Lora"/>
                <a:sym typeface="Lora"/>
              </a:rPr>
              <a:t>"contains references to all the definitions ("concepts") in a Dagster project." </a:t>
            </a:r>
            <a:endParaRPr i="1" sz="1000">
              <a:solidFill>
                <a:srgbClr val="202122"/>
              </a:solidFill>
              <a:highlight>
                <a:schemeClr val="lt1"/>
              </a:highlight>
              <a:latin typeface="Lora"/>
              <a:ea typeface="Lora"/>
              <a:cs typeface="Lora"/>
              <a:sym typeface="Lora"/>
            </a:endParaRPr>
          </a:p>
          <a:p>
            <a:pPr indent="-292100" lvl="0" marL="457200" rtl="0" algn="l">
              <a:lnSpc>
                <a:spcPct val="100000"/>
              </a:lnSpc>
              <a:spcBef>
                <a:spcPts val="0"/>
              </a:spcBef>
              <a:spcAft>
                <a:spcPts val="0"/>
              </a:spcAft>
              <a:buClr>
                <a:srgbClr val="202122"/>
              </a:buClr>
              <a:buSzPts val="1000"/>
              <a:buFont typeface="Lora"/>
              <a:buChar char="●"/>
            </a:pPr>
            <a:r>
              <a:rPr lang="en" sz="1000">
                <a:solidFill>
                  <a:srgbClr val="202122"/>
                </a:solidFill>
                <a:highlight>
                  <a:srgbClr val="FFFFFF"/>
                </a:highlight>
                <a:latin typeface="Lora"/>
                <a:ea typeface="Lora"/>
                <a:cs typeface="Lora"/>
                <a:sym typeface="Lora"/>
              </a:rPr>
              <a:t>Bringing it all together in </a:t>
            </a:r>
            <a:r>
              <a:rPr i="1" lang="en" sz="1000" u="sng">
                <a:solidFill>
                  <a:schemeClr val="hlink"/>
                </a:solidFill>
                <a:highlight>
                  <a:srgbClr val="FFFFFF"/>
                </a:highlight>
                <a:latin typeface="Lora"/>
                <a:ea typeface="Lora"/>
                <a:cs typeface="Lora"/>
                <a:sym typeface="Lora"/>
                <a:hlinkClick r:id="rId4"/>
              </a:rPr>
              <a:t>definitions.py</a:t>
            </a:r>
            <a:r>
              <a:rPr lang="en" sz="1000">
                <a:solidFill>
                  <a:srgbClr val="202122"/>
                </a:solidFill>
                <a:highlight>
                  <a:srgbClr val="FFFFFF"/>
                </a:highlight>
                <a:latin typeface="Lora"/>
                <a:ea typeface="Lora"/>
                <a:cs typeface="Lora"/>
                <a:sym typeface="Lora"/>
              </a:rPr>
              <a:t>:</a:t>
            </a:r>
            <a:br>
              <a:rPr lang="en" sz="1000">
                <a:solidFill>
                  <a:srgbClr val="202122"/>
                </a:solidFill>
                <a:highlight>
                  <a:srgbClr val="FFFFFF"/>
                </a:highlight>
                <a:latin typeface="Lora"/>
                <a:ea typeface="Lora"/>
                <a:cs typeface="Lora"/>
                <a:sym typeface="Lora"/>
              </a:rPr>
            </a:br>
            <a:r>
              <a:rPr lang="en" sz="1000">
                <a:solidFill>
                  <a:srgbClr val="202122"/>
                </a:solidFill>
                <a:highlight>
                  <a:srgbClr val="FFFFFF"/>
                </a:highlight>
                <a:latin typeface="Courier New"/>
                <a:ea typeface="Courier New"/>
                <a:cs typeface="Courier New"/>
                <a:sym typeface="Courier New"/>
              </a:rPr>
              <a:t>defs = dg.Definitions(</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assets=[*all_ml_assets, *all_de_assets],</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resources={</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"io_manager": dg.FilesystemIOManager(base_dir="./tmp_dg_storage"),</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"mlflow_tracking": mlflow_resource,</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"mlflow_client": mlflow_client,</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"cds_api": CDSAPI(),</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jobs=[de_job, ml_job],</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schedules=[era5_daily_schedule],</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    asset_checks=[*all_de_checks, *all_ml_checks]</a:t>
            </a:r>
            <a:br>
              <a:rPr lang="en" sz="1000">
                <a:solidFill>
                  <a:srgbClr val="202122"/>
                </a:solidFill>
                <a:highlight>
                  <a:srgbClr val="FFFFFF"/>
                </a:highlight>
                <a:latin typeface="Courier New"/>
                <a:ea typeface="Courier New"/>
                <a:cs typeface="Courier New"/>
                <a:sym typeface="Courier New"/>
              </a:rPr>
            </a:br>
            <a:r>
              <a:rPr lang="en" sz="1000">
                <a:solidFill>
                  <a:srgbClr val="202122"/>
                </a:solidFill>
                <a:highlight>
                  <a:srgbClr val="FFFFFF"/>
                </a:highlight>
                <a:latin typeface="Courier New"/>
                <a:ea typeface="Courier New"/>
                <a:cs typeface="Courier New"/>
                <a:sym typeface="Courier New"/>
              </a:rPr>
              <a:t>)</a:t>
            </a:r>
            <a:endParaRPr sz="1000">
              <a:solidFill>
                <a:srgbClr val="202122"/>
              </a:solidFill>
              <a:highlight>
                <a:srgbClr val="FFFFFF"/>
              </a:highlight>
              <a:latin typeface="Courier New"/>
              <a:ea typeface="Courier New"/>
              <a:cs typeface="Courier New"/>
              <a:sym typeface="Courier New"/>
            </a:endParaRPr>
          </a:p>
          <a:p>
            <a:pPr indent="-292100" lvl="0" marL="457200" rtl="0" algn="l">
              <a:spcBef>
                <a:spcPts val="0"/>
              </a:spcBef>
              <a:spcAft>
                <a:spcPts val="0"/>
              </a:spcAft>
              <a:buClr>
                <a:srgbClr val="202122"/>
              </a:buClr>
              <a:buSzPts val="1000"/>
              <a:buFont typeface="Lora"/>
              <a:buChar char="●"/>
            </a:pPr>
            <a:r>
              <a:rPr lang="en" sz="1000">
                <a:solidFill>
                  <a:srgbClr val="202122"/>
                </a:solidFill>
                <a:highlight>
                  <a:srgbClr val="FFFFFF"/>
                </a:highlight>
                <a:latin typeface="Lora"/>
                <a:ea typeface="Lora"/>
                <a:cs typeface="Lora"/>
                <a:sym typeface="Lora"/>
              </a:rPr>
              <a:t>Contains everything needed for a dagster project!</a:t>
            </a:r>
            <a:endParaRPr sz="1000">
              <a:solidFill>
                <a:srgbClr val="202122"/>
              </a:solidFill>
              <a:highlight>
                <a:srgbClr val="FFFFFF"/>
              </a:highlight>
              <a:latin typeface="Lora"/>
              <a:ea typeface="Lora"/>
              <a:cs typeface="Lora"/>
              <a:sym typeface="Lora"/>
            </a:endParaRPr>
          </a:p>
          <a:p>
            <a:pPr indent="-292100" lvl="0" marL="457200" rtl="0" algn="l">
              <a:spcBef>
                <a:spcPts val="0"/>
              </a:spcBef>
              <a:spcAft>
                <a:spcPts val="0"/>
              </a:spcAft>
              <a:buClr>
                <a:srgbClr val="202122"/>
              </a:buClr>
              <a:buSzPts val="1000"/>
              <a:buFont typeface="Lora"/>
              <a:buChar char="●"/>
            </a:pPr>
            <a:r>
              <a:rPr lang="en" sz="1000">
                <a:solidFill>
                  <a:srgbClr val="202122"/>
                </a:solidFill>
                <a:highlight>
                  <a:srgbClr val="FFFFFF"/>
                </a:highlight>
                <a:latin typeface="Lora"/>
                <a:ea typeface="Lora"/>
                <a:cs typeface="Lora"/>
                <a:sym typeface="Lora"/>
              </a:rPr>
              <a:t>More concepts not mentioned yet: </a:t>
            </a:r>
            <a:endParaRPr sz="1000">
              <a:solidFill>
                <a:srgbClr val="202122"/>
              </a:solidFill>
              <a:highlight>
                <a:srgbClr val="FFFFFF"/>
              </a:highlight>
              <a:latin typeface="Lora"/>
              <a:ea typeface="Lora"/>
              <a:cs typeface="Lora"/>
              <a:sym typeface="Lora"/>
            </a:endParaRPr>
          </a:p>
          <a:p>
            <a:pPr indent="-292100" lvl="0" marL="914400" rtl="0" algn="l">
              <a:spcBef>
                <a:spcPts val="0"/>
              </a:spcBef>
              <a:spcAft>
                <a:spcPts val="0"/>
              </a:spcAft>
              <a:buClr>
                <a:srgbClr val="202122"/>
              </a:buClr>
              <a:buSzPts val="1000"/>
              <a:buFont typeface="Lora"/>
              <a:buChar char="●"/>
            </a:pPr>
            <a:r>
              <a:rPr i="1" lang="en" sz="1000">
                <a:solidFill>
                  <a:srgbClr val="202122"/>
                </a:solidFill>
                <a:highlight>
                  <a:srgbClr val="FFFFFF"/>
                </a:highlight>
                <a:latin typeface="Lora"/>
                <a:ea typeface="Lora"/>
                <a:cs typeface="Lora"/>
                <a:sym typeface="Lora"/>
              </a:rPr>
              <a:t>Resource</a:t>
            </a:r>
            <a:r>
              <a:rPr lang="en" sz="1000">
                <a:solidFill>
                  <a:srgbClr val="202122"/>
                </a:solidFill>
                <a:highlight>
                  <a:srgbClr val="FFFFFF"/>
                </a:highlight>
                <a:latin typeface="Lora"/>
                <a:ea typeface="Lora"/>
                <a:cs typeface="Lora"/>
                <a:sym typeface="Lora"/>
              </a:rPr>
              <a:t>: A ResourceDefinition is a way to make external resources (like database or API connections) available to Dagster entities (like assets, schedules, or sensors) during job execution </a:t>
            </a:r>
            <a:endParaRPr sz="1000">
              <a:solidFill>
                <a:srgbClr val="202122"/>
              </a:solidFill>
              <a:highlight>
                <a:srgbClr val="FFFFFF"/>
              </a:highlight>
              <a:latin typeface="Lora"/>
              <a:ea typeface="Lora"/>
              <a:cs typeface="Lora"/>
              <a:sym typeface="Lora"/>
            </a:endParaRPr>
          </a:p>
          <a:p>
            <a:pPr indent="-292100" lvl="0" marL="914400" rtl="0" algn="l">
              <a:spcBef>
                <a:spcPts val="0"/>
              </a:spcBef>
              <a:spcAft>
                <a:spcPts val="0"/>
              </a:spcAft>
              <a:buClr>
                <a:srgbClr val="202122"/>
              </a:buClr>
              <a:buSzPts val="1000"/>
              <a:buFont typeface="Lora"/>
              <a:buChar char="●"/>
            </a:pPr>
            <a:r>
              <a:rPr i="1" lang="en" sz="1000">
                <a:solidFill>
                  <a:srgbClr val="202122"/>
                </a:solidFill>
                <a:highlight>
                  <a:srgbClr val="FFFFFF"/>
                </a:highlight>
                <a:latin typeface="Lora"/>
                <a:ea typeface="Lora"/>
                <a:cs typeface="Lora"/>
                <a:sym typeface="Lora"/>
              </a:rPr>
              <a:t>Schedule</a:t>
            </a:r>
            <a:r>
              <a:rPr lang="en" sz="1000">
                <a:solidFill>
                  <a:srgbClr val="202122"/>
                </a:solidFill>
                <a:highlight>
                  <a:srgbClr val="FFFFFF"/>
                </a:highlight>
                <a:latin typeface="Lora"/>
                <a:ea typeface="Lora"/>
                <a:cs typeface="Lora"/>
                <a:sym typeface="Lora"/>
              </a:rPr>
              <a:t>: A ScheduleDefinition is a way to automate jobs or assets to occur on a specified interval</a:t>
            </a:r>
            <a:endParaRPr sz="1000">
              <a:solidFill>
                <a:srgbClr val="202122"/>
              </a:solidFill>
              <a:highlight>
                <a:srgbClr val="FFFFFF"/>
              </a:highlight>
              <a:latin typeface="Lora"/>
              <a:ea typeface="Lora"/>
              <a:cs typeface="Lora"/>
              <a:sym typeface="Lora"/>
            </a:endParaRPr>
          </a:p>
          <a:p>
            <a:pPr indent="-292100" lvl="0" marL="914400" rtl="0" algn="l">
              <a:spcBef>
                <a:spcPts val="0"/>
              </a:spcBef>
              <a:spcAft>
                <a:spcPts val="0"/>
              </a:spcAft>
              <a:buClr>
                <a:srgbClr val="202122"/>
              </a:buClr>
              <a:buSzPts val="1000"/>
              <a:buFont typeface="Lora"/>
              <a:buChar char="●"/>
            </a:pPr>
            <a:r>
              <a:rPr i="1" lang="en" sz="1000">
                <a:solidFill>
                  <a:srgbClr val="202122"/>
                </a:solidFill>
                <a:highlight>
                  <a:srgbClr val="FFFFFF"/>
                </a:highlight>
                <a:latin typeface="Lora"/>
                <a:ea typeface="Lora"/>
                <a:cs typeface="Lora"/>
                <a:sym typeface="Lora"/>
              </a:rPr>
              <a:t>Sensor</a:t>
            </a:r>
            <a:r>
              <a:rPr lang="en" sz="1000">
                <a:solidFill>
                  <a:srgbClr val="202122"/>
                </a:solidFill>
                <a:highlight>
                  <a:srgbClr val="FFFFFF"/>
                </a:highlight>
                <a:latin typeface="Lora"/>
                <a:ea typeface="Lora"/>
                <a:cs typeface="Lora"/>
                <a:sym typeface="Lora"/>
              </a:rPr>
              <a:t>: A sensor is a way to trigger jobs or assets when an event occurs, such as a file being uploaded or a push notification.</a:t>
            </a:r>
            <a:endParaRPr sz="1000">
              <a:solidFill>
                <a:srgbClr val="202122"/>
              </a:solidFill>
              <a:highlight>
                <a:srgbClr val="FFFFFF"/>
              </a:highlight>
              <a:latin typeface="Lora"/>
              <a:ea typeface="Lora"/>
              <a:cs typeface="Lora"/>
              <a:sym typeface="Lora"/>
            </a:endParaRPr>
          </a:p>
        </p:txBody>
      </p:sp>
      <p:pic>
        <p:nvPicPr>
          <p:cNvPr id="159" name="Google Shape;159;p25"/>
          <p:cNvPicPr preferRelativeResize="0"/>
          <p:nvPr/>
        </p:nvPicPr>
        <p:blipFill>
          <a:blip r:embed="rId5">
            <a:alphaModFix/>
          </a:blip>
          <a:stretch>
            <a:fillRect/>
          </a:stretch>
        </p:blipFill>
        <p:spPr>
          <a:xfrm>
            <a:off x="5626200" y="734700"/>
            <a:ext cx="3023200" cy="3757324"/>
          </a:xfrm>
          <a:prstGeom prst="rect">
            <a:avLst/>
          </a:prstGeom>
          <a:noFill/>
          <a:ln>
            <a:noFill/>
          </a:ln>
        </p:spPr>
      </p:pic>
      <p:sp>
        <p:nvSpPr>
          <p:cNvPr id="160" name="Google Shape;160;p25"/>
          <p:cNvSpPr txBox="1"/>
          <p:nvPr/>
        </p:nvSpPr>
        <p:spPr>
          <a:xfrm>
            <a:off x="6802860" y="4767007"/>
            <a:ext cx="1398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Vincent</a:t>
            </a:r>
            <a:endParaRPr sz="1200">
              <a:solidFill>
                <a:srgbClr val="595959"/>
              </a:solidFill>
              <a:latin typeface="Lora"/>
              <a:ea typeface="Lora"/>
              <a:cs typeface="Lora"/>
              <a:sym typeface="Lo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nvSpPr>
        <p:spPr>
          <a:xfrm>
            <a:off x="612900" y="243600"/>
            <a:ext cx="8380500" cy="3387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200">
                <a:latin typeface="Lora"/>
                <a:ea typeface="Lora"/>
                <a:cs typeface="Lora"/>
                <a:sym typeface="Lora"/>
              </a:rPr>
              <a:t>3.4 Dagster: </a:t>
            </a:r>
            <a:r>
              <a:rPr lang="en" sz="2200">
                <a:latin typeface="Lora"/>
                <a:ea typeface="Lora"/>
                <a:cs typeface="Lora"/>
                <a:sym typeface="Lora"/>
              </a:rPr>
              <a:t>Project</a:t>
            </a:r>
            <a:r>
              <a:rPr lang="en" sz="2200">
                <a:latin typeface="Lora"/>
                <a:ea typeface="Lora"/>
                <a:cs typeface="Lora"/>
                <a:sym typeface="Lora"/>
              </a:rPr>
              <a:t> Structure</a:t>
            </a:r>
            <a:endParaRPr sz="2200">
              <a:latin typeface="Lora"/>
              <a:ea typeface="Lora"/>
              <a:cs typeface="Lora"/>
              <a:sym typeface="Lora"/>
            </a:endParaRPr>
          </a:p>
        </p:txBody>
      </p:sp>
      <p:sp>
        <p:nvSpPr>
          <p:cNvPr id="166" name="Google Shape;166;p26"/>
          <p:cNvSpPr txBox="1"/>
          <p:nvPr/>
        </p:nvSpPr>
        <p:spPr>
          <a:xfrm>
            <a:off x="441525" y="624775"/>
            <a:ext cx="5052600" cy="3678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rgbClr val="202122"/>
              </a:buClr>
              <a:buSzPts val="1200"/>
              <a:buFont typeface="Lora"/>
              <a:buChar char="●"/>
            </a:pPr>
            <a:r>
              <a:rPr b="1" lang="en" sz="1200">
                <a:solidFill>
                  <a:schemeClr val="dk1"/>
                </a:solidFill>
                <a:latin typeface="Lora"/>
                <a:ea typeface="Lora"/>
                <a:cs typeface="Lora"/>
                <a:sym typeface="Lora"/>
              </a:rPr>
              <a:t>definitions.py</a:t>
            </a:r>
            <a:r>
              <a:rPr lang="en" sz="1200">
                <a:solidFill>
                  <a:schemeClr val="dk1"/>
                </a:solidFill>
                <a:latin typeface="Lora"/>
                <a:ea typeface="Lora"/>
                <a:cs typeface="Lora"/>
                <a:sym typeface="Lora"/>
              </a:rPr>
              <a:t>: This is the main entry point for your Dagster project. It brings together all the different parts of your project assets, resources, jobs,  and schedules into a single “Definitions” object. </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rgbClr val="202122"/>
              </a:buClr>
              <a:buSzPts val="1200"/>
              <a:buFont typeface="Lora"/>
              <a:buChar char="●"/>
            </a:pPr>
            <a:r>
              <a:rPr b="1" lang="en" sz="1200">
                <a:solidFill>
                  <a:schemeClr val="dk1"/>
                </a:solidFill>
                <a:latin typeface="Lora"/>
                <a:ea typeface="Lora"/>
                <a:cs typeface="Lora"/>
                <a:sym typeface="Lora"/>
              </a:rPr>
              <a:t>assets</a:t>
            </a:r>
            <a:r>
              <a:rPr b="1" lang="en" sz="1200">
                <a:solidFill>
                  <a:schemeClr val="dk1"/>
                </a:solidFill>
                <a:latin typeface="Lora"/>
                <a:ea typeface="Lora"/>
                <a:cs typeface="Lora"/>
                <a:sym typeface="Lora"/>
              </a:rPr>
              <a:t>.py</a:t>
            </a:r>
            <a:r>
              <a:rPr lang="en" sz="1200">
                <a:solidFill>
                  <a:schemeClr val="dk1"/>
                </a:solidFill>
                <a:latin typeface="Lora"/>
                <a:ea typeface="Lora"/>
                <a:cs typeface="Lora"/>
                <a:sym typeface="Lora"/>
              </a:rPr>
              <a:t>: This file contains the definitions of your data assets. Organizing in a dedicated file helps to keep your data pipeline logic separate from other parts of your project.</a:t>
            </a:r>
            <a:endParaRPr sz="1200">
              <a:solidFill>
                <a:schemeClr val="dk1"/>
              </a:solidFill>
              <a:latin typeface="Lora"/>
              <a:ea typeface="Lora"/>
              <a:cs typeface="Lora"/>
              <a:sym typeface="Lora"/>
            </a:endParaRPr>
          </a:p>
          <a:p>
            <a:pPr indent="-304800" lvl="0" marL="457200" rtl="0" algn="l">
              <a:lnSpc>
                <a:spcPct val="115000"/>
              </a:lnSpc>
              <a:spcBef>
                <a:spcPts val="0"/>
              </a:spcBef>
              <a:spcAft>
                <a:spcPts val="0"/>
              </a:spcAft>
              <a:buClr>
                <a:srgbClr val="202122"/>
              </a:buClr>
              <a:buSzPts val="1200"/>
              <a:buFont typeface="Lora"/>
              <a:buChar char="●"/>
            </a:pPr>
            <a:r>
              <a:rPr b="1" lang="en" sz="1200">
                <a:solidFill>
                  <a:schemeClr val="dk1"/>
                </a:solidFill>
                <a:latin typeface="Lora"/>
                <a:ea typeface="Lora"/>
                <a:cs typeface="Lora"/>
                <a:sym typeface="Lora"/>
              </a:rPr>
              <a:t>resources.py</a:t>
            </a:r>
            <a:r>
              <a:rPr lang="en" sz="1200">
                <a:solidFill>
                  <a:schemeClr val="dk1"/>
                </a:solidFill>
                <a:latin typeface="Lora"/>
                <a:ea typeface="Lora"/>
                <a:cs typeface="Lora"/>
                <a:sym typeface="Lora"/>
              </a:rPr>
              <a:t>: This file is where you define resources, which are external services or connections that your assets need to do their work. For example, you might have a resource for connecting to a database, an API, or a cloud storage service. You can easily manage and configure these external dependencies eg. you can swap out a development database for a production one simply by changing the resource definition.</a:t>
            </a:r>
            <a:endParaRPr sz="1200">
              <a:solidFill>
                <a:schemeClr val="dk1"/>
              </a:solidFill>
              <a:latin typeface="Lora"/>
              <a:ea typeface="Lora"/>
              <a:cs typeface="Lora"/>
              <a:sym typeface="Lora"/>
            </a:endParaRPr>
          </a:p>
          <a:p>
            <a:pPr indent="0" lvl="0" marL="0" rtl="0" algn="l">
              <a:spcBef>
                <a:spcPts val="1200"/>
              </a:spcBef>
              <a:spcAft>
                <a:spcPts val="1200"/>
              </a:spcAft>
              <a:buNone/>
            </a:pPr>
            <a:r>
              <a:t/>
            </a:r>
            <a:endParaRPr sz="1000">
              <a:solidFill>
                <a:srgbClr val="202122"/>
              </a:solidFill>
              <a:highlight>
                <a:srgbClr val="FFFFFF"/>
              </a:highlight>
              <a:latin typeface="Lora"/>
              <a:ea typeface="Lora"/>
              <a:cs typeface="Lora"/>
              <a:sym typeface="Lora"/>
            </a:endParaRPr>
          </a:p>
        </p:txBody>
      </p:sp>
      <p:sp>
        <p:nvSpPr>
          <p:cNvPr id="167" name="Google Shape;167;p26"/>
          <p:cNvSpPr txBox="1"/>
          <p:nvPr/>
        </p:nvSpPr>
        <p:spPr>
          <a:xfrm>
            <a:off x="5444175" y="624775"/>
            <a:ext cx="3547500" cy="3875100"/>
          </a:xfrm>
          <a:prstGeom prst="rect">
            <a:avLst/>
          </a:prstGeom>
          <a:solidFill>
            <a:srgbClr val="EEEEEE"/>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pyproject.toml</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src</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my_project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__init__.py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dagster</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__init__.py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           ├── definitions.py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de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 assets.py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 resources.py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ml</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t>
            </a:r>
            <a:r>
              <a:rPr lang="en" sz="1100">
                <a:latin typeface="Roboto Mono"/>
                <a:ea typeface="Roboto Mono"/>
                <a:cs typeface="Roboto Mono"/>
                <a:sym typeface="Roboto Mono"/>
              </a:rPr>
              <a:t>├── assets.py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resources.py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               └── tests</a:t>
            </a:r>
            <a:endParaRPr sz="11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chemeClr val="dk1"/>
                </a:solidFill>
                <a:latin typeface="Roboto Mono"/>
                <a:ea typeface="Roboto Mono"/>
                <a:cs typeface="Roboto Mono"/>
                <a:sym typeface="Roboto Mono"/>
              </a:rPr>
              <a:t>│                    ├── tests.py</a:t>
            </a:r>
            <a:endParaRPr sz="11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tests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 __init__.py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uv.lock</a:t>
            </a:r>
            <a:endParaRPr sz="1100">
              <a:latin typeface="Roboto Mono"/>
              <a:ea typeface="Roboto Mono"/>
              <a:cs typeface="Roboto Mono"/>
              <a:sym typeface="Roboto Mono"/>
            </a:endParaRPr>
          </a:p>
          <a:p>
            <a:pPr indent="0" lvl="0" marL="0" rtl="0" algn="l">
              <a:spcBef>
                <a:spcPts val="0"/>
              </a:spcBef>
              <a:spcAft>
                <a:spcPts val="0"/>
              </a:spcAft>
              <a:buNone/>
            </a:pPr>
            <a:r>
              <a:t/>
            </a:r>
            <a:endParaRPr sz="800">
              <a:latin typeface="Roboto Mono"/>
              <a:ea typeface="Roboto Mono"/>
              <a:cs typeface="Roboto Mono"/>
              <a:sym typeface="Roboto Mono"/>
            </a:endParaRPr>
          </a:p>
        </p:txBody>
      </p:sp>
      <p:sp>
        <p:nvSpPr>
          <p:cNvPr id="168" name="Google Shape;168;p26"/>
          <p:cNvSpPr txBox="1"/>
          <p:nvPr/>
        </p:nvSpPr>
        <p:spPr>
          <a:xfrm>
            <a:off x="6815882" y="4793050"/>
            <a:ext cx="1398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95959"/>
                </a:solidFill>
                <a:latin typeface="Lora"/>
                <a:ea typeface="Lora"/>
                <a:cs typeface="Lora"/>
                <a:sym typeface="Lora"/>
              </a:rPr>
              <a:t>Vincent</a:t>
            </a:r>
            <a:endParaRPr sz="1200">
              <a:solidFill>
                <a:srgbClr val="595959"/>
              </a:solidFill>
              <a:latin typeface="Lora"/>
              <a:ea typeface="Lora"/>
              <a:cs typeface="Lora"/>
              <a:sym typeface="L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2</a:t>
            </a:r>
            <a:r>
              <a:rPr lang="en" sz="2400">
                <a:solidFill>
                  <a:schemeClr val="dk1"/>
                </a:solidFill>
                <a:latin typeface="Lora"/>
                <a:ea typeface="Lora"/>
                <a:cs typeface="Lora"/>
                <a:sym typeface="Lora"/>
              </a:rPr>
              <a:t> </a:t>
            </a:r>
            <a:endParaRPr sz="1200">
              <a:latin typeface="Lora"/>
              <a:ea typeface="Lora"/>
              <a:cs typeface="Lora"/>
              <a:sym typeface="Lora"/>
            </a:endParaRPr>
          </a:p>
        </p:txBody>
      </p:sp>
      <p:sp>
        <p:nvSpPr>
          <p:cNvPr id="174" name="Google Shape;174;p27"/>
          <p:cNvSpPr txBox="1"/>
          <p:nvPr/>
        </p:nvSpPr>
        <p:spPr>
          <a:xfrm>
            <a:off x="518050" y="614550"/>
            <a:ext cx="8223300" cy="3963900"/>
          </a:xfrm>
          <a:prstGeom prst="rect">
            <a:avLst/>
          </a:prstGeom>
          <a:noFill/>
          <a:ln>
            <a:noFill/>
          </a:ln>
        </p:spPr>
        <p:txBody>
          <a:bodyPr anchorCtr="0" anchor="t" bIns="91425" lIns="91425" spcFirstLastPara="1" rIns="91425" wrap="square" tIns="91425">
            <a:spAutoFit/>
          </a:bodyPr>
          <a:lstStyle/>
          <a:p>
            <a:pPr indent="0" lvl="0" marL="0" rtl="0" algn="ctr">
              <a:lnSpc>
                <a:spcPct val="139979"/>
              </a:lnSpc>
              <a:spcBef>
                <a:spcPts val="0"/>
              </a:spcBef>
              <a:spcAft>
                <a:spcPts val="0"/>
              </a:spcAft>
              <a:buNone/>
            </a:pPr>
            <a:r>
              <a:rPr b="1" lang="en" sz="1200">
                <a:solidFill>
                  <a:schemeClr val="dk1"/>
                </a:solidFill>
                <a:latin typeface="Lora"/>
                <a:ea typeface="Lora"/>
                <a:cs typeface="Lora"/>
                <a:sym typeface="Lora"/>
              </a:rPr>
              <a:t>Build an end-to-end Fraud Detection system with an Interactive UI</a:t>
            </a:r>
            <a:endParaRPr b="1" sz="1200">
              <a:solidFill>
                <a:schemeClr val="dk1"/>
              </a:solidFill>
              <a:latin typeface="Lora"/>
              <a:ea typeface="Lora"/>
              <a:cs typeface="Lora"/>
              <a:sym typeface="Lora"/>
            </a:endParaRPr>
          </a:p>
          <a:p>
            <a:pPr indent="0" lvl="0" marL="0" rtl="0" algn="ctr">
              <a:lnSpc>
                <a:spcPct val="139979"/>
              </a:lnSpc>
              <a:spcBef>
                <a:spcPts val="0"/>
              </a:spcBef>
              <a:spcAft>
                <a:spcPts val="0"/>
              </a:spcAft>
              <a:buNone/>
            </a:pPr>
            <a:r>
              <a:t/>
            </a:r>
            <a:endParaRPr b="1" sz="1200">
              <a:solidFill>
                <a:schemeClr val="dk1"/>
              </a:solidFill>
              <a:latin typeface="Lora"/>
              <a:ea typeface="Lora"/>
              <a:cs typeface="Lora"/>
              <a:sym typeface="Lora"/>
            </a:endParaRPr>
          </a:p>
          <a:p>
            <a:pPr indent="0" lvl="0" marL="0" rtl="0" algn="just">
              <a:lnSpc>
                <a:spcPct val="139979"/>
              </a:lnSpc>
              <a:spcBef>
                <a:spcPts val="0"/>
              </a:spcBef>
              <a:spcAft>
                <a:spcPts val="0"/>
              </a:spcAft>
              <a:buNone/>
            </a:pPr>
            <a:r>
              <a:rPr lang="en" sz="900">
                <a:solidFill>
                  <a:schemeClr val="dk1"/>
                </a:solidFill>
                <a:latin typeface="Lora"/>
                <a:ea typeface="Lora"/>
                <a:cs typeface="Lora"/>
                <a:sym typeface="Lora"/>
              </a:rPr>
              <a:t>The goal is to use the Dagster pipeline demonstrated in the course as inspiration to design and implement a completely new pipeline that trains, validates, and deploys a machine learning model for credit card fraud detection. </a:t>
            </a:r>
            <a:endParaRPr sz="900">
              <a:solidFill>
                <a:schemeClr val="dk1"/>
              </a:solidFill>
              <a:latin typeface="Lora"/>
              <a:ea typeface="Lora"/>
              <a:cs typeface="Lora"/>
              <a:sym typeface="Lora"/>
            </a:endParaRPr>
          </a:p>
          <a:p>
            <a:pPr indent="0" lvl="0" marL="0" rtl="0" algn="just">
              <a:lnSpc>
                <a:spcPct val="139979"/>
              </a:lnSpc>
              <a:spcBef>
                <a:spcPts val="0"/>
              </a:spcBef>
              <a:spcAft>
                <a:spcPts val="0"/>
              </a:spcAft>
              <a:buNone/>
            </a:pPr>
            <a:r>
              <a:rPr b="1" lang="en" sz="900">
                <a:solidFill>
                  <a:schemeClr val="dk1"/>
                </a:solidFill>
                <a:latin typeface="Lora"/>
                <a:ea typeface="Lora"/>
                <a:cs typeface="Lora"/>
                <a:sym typeface="Lora"/>
              </a:rPr>
              <a:t>Instructions</a:t>
            </a:r>
            <a:r>
              <a:rPr lang="en" sz="900">
                <a:solidFill>
                  <a:schemeClr val="dk1"/>
                </a:solidFill>
                <a:latin typeface="Lora"/>
                <a:ea typeface="Lora"/>
                <a:cs typeface="Lora"/>
                <a:sym typeface="Lora"/>
              </a:rPr>
              <a:t>:</a:t>
            </a:r>
            <a:endParaRPr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Use the dataset available at </a:t>
            </a:r>
            <a:r>
              <a:rPr lang="en" sz="900" u="sng">
                <a:solidFill>
                  <a:schemeClr val="hlink"/>
                </a:solidFill>
                <a:latin typeface="Lora"/>
                <a:ea typeface="Lora"/>
                <a:cs typeface="Lora"/>
                <a:sym typeface="Lora"/>
                <a:hlinkClick r:id="rId3"/>
              </a:rPr>
              <a:t>this </a:t>
            </a:r>
            <a:r>
              <a:rPr lang="en" sz="900" u="sng">
                <a:solidFill>
                  <a:schemeClr val="hlink"/>
                </a:solidFill>
                <a:latin typeface="Lora"/>
                <a:ea typeface="Lora"/>
                <a:cs typeface="Lora"/>
                <a:sym typeface="Lora"/>
                <a:hlinkClick r:id="rId4"/>
              </a:rPr>
              <a:t>link</a:t>
            </a:r>
            <a:r>
              <a:rPr lang="en" sz="900">
                <a:solidFill>
                  <a:schemeClr val="dk1"/>
                </a:solidFill>
                <a:latin typeface="Lora"/>
                <a:ea typeface="Lora"/>
                <a:cs typeface="Lora"/>
                <a:sym typeface="Lora"/>
              </a:rPr>
              <a:t>: use pd.read_csv(url) to read the data.</a:t>
            </a:r>
            <a:endParaRPr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Split the data into 80% training and 20% test. </a:t>
            </a:r>
            <a:endParaRPr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On the 80% training, use 3-fold cross-validation to tune the </a:t>
            </a:r>
            <a:r>
              <a:rPr lang="en" sz="900">
                <a:solidFill>
                  <a:schemeClr val="dk1"/>
                </a:solidFill>
                <a:latin typeface="Lora"/>
                <a:ea typeface="Lora"/>
                <a:cs typeface="Lora"/>
                <a:sym typeface="Lora"/>
              </a:rPr>
              <a:t>hyperparameters (gridsearch) using a RandomForest Classifier.</a:t>
            </a:r>
            <a:r>
              <a:rPr lang="en" sz="900">
                <a:solidFill>
                  <a:schemeClr val="dk1"/>
                </a:solidFill>
                <a:latin typeface="Lora"/>
                <a:ea typeface="Lora"/>
                <a:cs typeface="Lora"/>
                <a:sym typeface="Lora"/>
              </a:rPr>
              <a:t> Log all trials as MLflow nested runs ( Choose only one hyperparameter to tune). </a:t>
            </a:r>
            <a:r>
              <a:rPr b="1" lang="en" sz="900">
                <a:solidFill>
                  <a:schemeClr val="dk1"/>
                </a:solidFill>
                <a:latin typeface="Lora"/>
                <a:ea typeface="Lora"/>
                <a:cs typeface="Lora"/>
                <a:sym typeface="Lora"/>
              </a:rPr>
              <a:t>20 points (add relevant screenshots to your PR description on github)</a:t>
            </a:r>
            <a:endParaRPr b="1"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On the </a:t>
            </a:r>
            <a:r>
              <a:rPr lang="en" sz="900">
                <a:solidFill>
                  <a:schemeClr val="dk1"/>
                </a:solidFill>
                <a:latin typeface="Lora"/>
                <a:ea typeface="Lora"/>
                <a:cs typeface="Lora"/>
                <a:sym typeface="Lora"/>
              </a:rPr>
              <a:t>test</a:t>
            </a:r>
            <a:r>
              <a:rPr lang="en" sz="900">
                <a:solidFill>
                  <a:schemeClr val="dk1"/>
                </a:solidFill>
                <a:latin typeface="Lora"/>
                <a:ea typeface="Lora"/>
                <a:cs typeface="Lora"/>
                <a:sym typeface="Lora"/>
              </a:rPr>
              <a:t> asset (20% of data), generate a confusion matrix plot or any other useful plot for model evaluation and log it as an image artifact in MLflow. </a:t>
            </a:r>
            <a:r>
              <a:rPr b="1" lang="en" sz="900">
                <a:solidFill>
                  <a:schemeClr val="dk1"/>
                </a:solidFill>
                <a:latin typeface="Lora"/>
                <a:ea typeface="Lora"/>
                <a:cs typeface="Lora"/>
                <a:sym typeface="Lora"/>
              </a:rPr>
              <a:t>10 points (add relevant screenshots to your PR description on github)</a:t>
            </a:r>
            <a:endParaRPr b="1" sz="900">
              <a:solidFill>
                <a:schemeClr val="dk1"/>
              </a:solidFill>
              <a:latin typeface="Lora"/>
              <a:ea typeface="Lora"/>
              <a:cs typeface="Lora"/>
              <a:sym typeface="Lora"/>
            </a:endParaRPr>
          </a:p>
          <a:p>
            <a:pPr indent="-285750" lvl="0" marL="457200" rtl="0" algn="just">
              <a:lnSpc>
                <a:spcPct val="139979"/>
              </a:lnSpc>
              <a:spcBef>
                <a:spcPts val="0"/>
              </a:spcBef>
              <a:spcAft>
                <a:spcPts val="0"/>
              </a:spcAft>
              <a:buClr>
                <a:schemeClr val="dk1"/>
              </a:buClr>
              <a:buSzPts val="900"/>
              <a:buFont typeface="Lora"/>
              <a:buChar char="●"/>
            </a:pPr>
            <a:r>
              <a:rPr lang="en" sz="900">
                <a:solidFill>
                  <a:schemeClr val="dk1"/>
                </a:solidFill>
                <a:latin typeface="Lora"/>
                <a:ea typeface="Lora"/>
                <a:cs typeface="Lora"/>
                <a:sym typeface="Lora"/>
              </a:rPr>
              <a:t>In the last asset in your dagster pipeline, send a message into the slack channel with the ML prediction performance on the test set (any classification metric of your choice, but indicate the metric in your slack message!) &amp;  your favourite emoji</a:t>
            </a:r>
            <a:r>
              <a:rPr lang="en" sz="900">
                <a:solidFill>
                  <a:schemeClr val="dk1"/>
                </a:solidFill>
                <a:latin typeface="Lora"/>
                <a:ea typeface="Lora"/>
                <a:cs typeface="Lora"/>
                <a:sym typeface="Lora"/>
              </a:rPr>
              <a:t>. Note that we don't care about the performance of your ML model! </a:t>
            </a:r>
            <a:r>
              <a:rPr b="1" lang="en" sz="900">
                <a:solidFill>
                  <a:schemeClr val="dk1"/>
                </a:solidFill>
                <a:latin typeface="Lora"/>
                <a:ea typeface="Lora"/>
                <a:cs typeface="Lora"/>
                <a:sym typeface="Lora"/>
              </a:rPr>
              <a:t>20 points</a:t>
            </a:r>
            <a:endParaRPr b="1" sz="900">
              <a:solidFill>
                <a:schemeClr val="dk1"/>
              </a:solidFill>
              <a:latin typeface="Lora"/>
              <a:ea typeface="Lora"/>
              <a:cs typeface="Lora"/>
              <a:sym typeface="Lora"/>
            </a:endParaRPr>
          </a:p>
          <a:p>
            <a:pPr indent="-285750" lvl="0" marL="457200" rtl="0" algn="just">
              <a:lnSpc>
                <a:spcPct val="115000"/>
              </a:lnSpc>
              <a:spcBef>
                <a:spcPts val="0"/>
              </a:spcBef>
              <a:spcAft>
                <a:spcPts val="0"/>
              </a:spcAft>
              <a:buClr>
                <a:schemeClr val="dk1"/>
              </a:buClr>
              <a:buSzPts val="900"/>
              <a:buFont typeface="Lora"/>
              <a:buChar char="●"/>
            </a:pPr>
            <a:r>
              <a:rPr lang="en" sz="900">
                <a:solidFill>
                  <a:schemeClr val="dk1"/>
                </a:solidFill>
                <a:highlight>
                  <a:schemeClr val="lt1"/>
                </a:highlight>
                <a:latin typeface="Lora"/>
                <a:ea typeface="Lora"/>
                <a:cs typeface="Lora"/>
                <a:sym typeface="Lora"/>
              </a:rPr>
              <a:t>Start a local server that listens on a specified port to serve your model. Test your model from the terminal and record a screenshot of the response. </a:t>
            </a:r>
            <a:r>
              <a:rPr b="1" lang="en" sz="900">
                <a:solidFill>
                  <a:schemeClr val="dk1"/>
                </a:solidFill>
                <a:highlight>
                  <a:schemeClr val="lt1"/>
                </a:highlight>
                <a:latin typeface="Lora"/>
                <a:ea typeface="Lora"/>
                <a:cs typeface="Lora"/>
                <a:sym typeface="Lora"/>
              </a:rPr>
              <a:t>20 points (add relevant screenshots to your PR description on github)</a:t>
            </a:r>
            <a:endParaRPr b="1" sz="900">
              <a:solidFill>
                <a:schemeClr val="dk1"/>
              </a:solidFill>
              <a:highlight>
                <a:schemeClr val="lt1"/>
              </a:highlight>
              <a:latin typeface="Lora"/>
              <a:ea typeface="Lora"/>
              <a:cs typeface="Lora"/>
              <a:sym typeface="Lora"/>
            </a:endParaRPr>
          </a:p>
          <a:p>
            <a:pPr indent="-285750" lvl="0" marL="457200" rtl="0" algn="just">
              <a:lnSpc>
                <a:spcPct val="115000"/>
              </a:lnSpc>
              <a:spcBef>
                <a:spcPts val="0"/>
              </a:spcBef>
              <a:spcAft>
                <a:spcPts val="0"/>
              </a:spcAft>
              <a:buClr>
                <a:schemeClr val="dk1"/>
              </a:buClr>
              <a:buSzPts val="900"/>
              <a:buFont typeface="Lora"/>
              <a:buChar char="●"/>
            </a:pPr>
            <a:r>
              <a:rPr lang="en" sz="900">
                <a:solidFill>
                  <a:schemeClr val="dk1"/>
                </a:solidFill>
                <a:highlight>
                  <a:schemeClr val="lt1"/>
                </a:highlight>
                <a:latin typeface="Lora"/>
                <a:ea typeface="Lora"/>
                <a:cs typeface="Lora"/>
                <a:sym typeface="Lora"/>
              </a:rPr>
              <a:t>Deploy the last promoted model from MLflow, into a gradio application (see gradio heart disease app for inspiration). </a:t>
            </a:r>
            <a:r>
              <a:rPr b="1" lang="en" sz="900">
                <a:solidFill>
                  <a:schemeClr val="dk1"/>
                </a:solidFill>
                <a:highlight>
                  <a:schemeClr val="lt1"/>
                </a:highlight>
                <a:latin typeface="Lora"/>
                <a:ea typeface="Lora"/>
                <a:cs typeface="Lora"/>
                <a:sym typeface="Lora"/>
              </a:rPr>
              <a:t>20 points (include link to OpenAPI URL on GCP in your PR description on github)</a:t>
            </a:r>
            <a:endParaRPr b="1" sz="900">
              <a:solidFill>
                <a:schemeClr val="dk1"/>
              </a:solidFill>
              <a:highlight>
                <a:schemeClr val="lt1"/>
              </a:highlight>
              <a:latin typeface="Lora"/>
              <a:ea typeface="Lora"/>
              <a:cs typeface="Lora"/>
              <a:sym typeface="Lora"/>
            </a:endParaRPr>
          </a:p>
          <a:p>
            <a:pPr indent="-285750" lvl="0" marL="457200" rtl="0" algn="just">
              <a:lnSpc>
                <a:spcPct val="115000"/>
              </a:lnSpc>
              <a:spcBef>
                <a:spcPts val="0"/>
              </a:spcBef>
              <a:spcAft>
                <a:spcPts val="0"/>
              </a:spcAft>
              <a:buClr>
                <a:schemeClr val="dk1"/>
              </a:buClr>
              <a:buSzPts val="900"/>
              <a:buFont typeface="Lora"/>
              <a:buChar char="●"/>
            </a:pPr>
            <a:r>
              <a:rPr lang="en" sz="900">
                <a:solidFill>
                  <a:schemeClr val="dk1"/>
                </a:solidFill>
                <a:highlight>
                  <a:schemeClr val="lt1"/>
                </a:highlight>
                <a:latin typeface="Lora"/>
                <a:ea typeface="Lora"/>
                <a:cs typeface="Lora"/>
                <a:sym typeface="Lora"/>
              </a:rPr>
              <a:t>Add anything else you can think of — be creative. </a:t>
            </a:r>
            <a:r>
              <a:rPr b="1" lang="en" sz="900">
                <a:solidFill>
                  <a:schemeClr val="dk1"/>
                </a:solidFill>
                <a:highlight>
                  <a:schemeClr val="lt1"/>
                </a:highlight>
                <a:latin typeface="Lora"/>
                <a:ea typeface="Lora"/>
                <a:cs typeface="Lora"/>
                <a:sym typeface="Lora"/>
              </a:rPr>
              <a:t>1</a:t>
            </a:r>
            <a:r>
              <a:rPr b="1" lang="en" sz="900">
                <a:solidFill>
                  <a:schemeClr val="dk1"/>
                </a:solidFill>
                <a:highlight>
                  <a:schemeClr val="lt1"/>
                </a:highlight>
                <a:latin typeface="Lora"/>
                <a:ea typeface="Lora"/>
                <a:cs typeface="Lora"/>
                <a:sym typeface="Lora"/>
              </a:rPr>
              <a:t>0 points (mention your addition in your PR description on github)</a:t>
            </a:r>
            <a:endParaRPr b="1" sz="900">
              <a:solidFill>
                <a:schemeClr val="dk1"/>
              </a:solidFill>
              <a:highlight>
                <a:schemeClr val="lt1"/>
              </a:highlight>
              <a:latin typeface="Lora"/>
              <a:ea typeface="Lora"/>
              <a:cs typeface="Lora"/>
              <a:sym typeface="Lora"/>
            </a:endParaRPr>
          </a:p>
          <a:p>
            <a:pPr indent="-285750" lvl="0" marL="457200" rtl="0" algn="just">
              <a:lnSpc>
                <a:spcPct val="115000"/>
              </a:lnSpc>
              <a:spcBef>
                <a:spcPts val="0"/>
              </a:spcBef>
              <a:spcAft>
                <a:spcPts val="0"/>
              </a:spcAft>
              <a:buClr>
                <a:schemeClr val="dk1"/>
              </a:buClr>
              <a:buSzPts val="900"/>
              <a:buFont typeface="Lora"/>
              <a:buChar char="●"/>
            </a:pPr>
            <a:r>
              <a:rPr b="1" lang="en" sz="900">
                <a:solidFill>
                  <a:schemeClr val="dk1"/>
                </a:solidFill>
                <a:highlight>
                  <a:schemeClr val="lt1"/>
                </a:highlight>
                <a:latin typeface="Lora"/>
                <a:ea typeface="Lora"/>
                <a:cs typeface="Lora"/>
                <a:sym typeface="Lora"/>
              </a:rPr>
              <a:t>Final submission: in the slack channel, send us a link to your merged  PR in github with all relevant screenshots &amp; the GCP URL. </a:t>
            </a:r>
            <a:endParaRPr b="1" sz="900">
              <a:solidFill>
                <a:schemeClr val="dk1"/>
              </a:solidFill>
              <a:highlight>
                <a:schemeClr val="lt1"/>
              </a:highlight>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2 </a:t>
            </a:r>
            <a:endParaRPr sz="1200">
              <a:latin typeface="Lora"/>
              <a:ea typeface="Lora"/>
              <a:cs typeface="Lora"/>
              <a:sym typeface="Lora"/>
            </a:endParaRPr>
          </a:p>
        </p:txBody>
      </p:sp>
      <p:sp>
        <p:nvSpPr>
          <p:cNvPr id="180" name="Google Shape;180;p28"/>
          <p:cNvSpPr txBox="1"/>
          <p:nvPr/>
        </p:nvSpPr>
        <p:spPr>
          <a:xfrm>
            <a:off x="518050" y="690750"/>
            <a:ext cx="8223300" cy="3909000"/>
          </a:xfrm>
          <a:prstGeom prst="rect">
            <a:avLst/>
          </a:prstGeom>
          <a:noFill/>
          <a:ln>
            <a:noFill/>
          </a:ln>
        </p:spPr>
        <p:txBody>
          <a:bodyPr anchorCtr="0" anchor="t" bIns="91425" lIns="91425" spcFirstLastPara="1" rIns="91425" wrap="square" tIns="91425">
            <a:spAutoFit/>
          </a:bodyPr>
          <a:lstStyle/>
          <a:p>
            <a:pPr indent="0" lvl="0" marL="0" rtl="0" algn="just">
              <a:lnSpc>
                <a:spcPct val="139979"/>
              </a:lnSpc>
              <a:spcBef>
                <a:spcPts val="0"/>
              </a:spcBef>
              <a:spcAft>
                <a:spcPts val="0"/>
              </a:spcAft>
              <a:buNone/>
            </a:pPr>
            <a:r>
              <a:rPr b="1" lang="en" sz="1100">
                <a:solidFill>
                  <a:schemeClr val="dk1"/>
                </a:solidFill>
                <a:latin typeface="Lora"/>
                <a:ea typeface="Lora"/>
                <a:cs typeface="Lora"/>
                <a:sym typeface="Lora"/>
              </a:rPr>
              <a:t>Guidelines</a:t>
            </a:r>
            <a:r>
              <a:rPr lang="en" sz="1100">
                <a:solidFill>
                  <a:schemeClr val="dk1"/>
                </a:solidFill>
                <a:latin typeface="Lora"/>
                <a:ea typeface="Lora"/>
                <a:cs typeface="Lora"/>
                <a:sym typeface="Lora"/>
              </a:rPr>
              <a:t>:</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Make sure you are working from your feature branch</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Create a new folder in the dagster folder, and call it "ml_fraud"</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Create new dagster files in the "ml_fraud" folder. Be inspired by the code already in the "ml" folder</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Create a new Dagster job called "fraud_detection" and add it to the main "Definitions" concept, so that it appears in the jobs tab in the Dagster UI</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Make sure you edit definition.py file to include the new resources you added in your "ml_fraud" folder</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highlight>
                  <a:schemeClr val="lt1"/>
                </a:highlight>
                <a:latin typeface="Lora"/>
                <a:ea typeface="Lora"/>
                <a:cs typeface="Lora"/>
                <a:sym typeface="Lora"/>
              </a:rPr>
              <a:t>Don't recreate this mlflow_resource in the resources.py file in the ml_fraud folder. Instead import directly from the ml folder</a:t>
            </a:r>
            <a:endParaRPr sz="1100">
              <a:solidFill>
                <a:schemeClr val="dk1"/>
              </a:solidFill>
              <a:highlight>
                <a:schemeClr val="lt1"/>
              </a:highlight>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Tip: start small with one asset, then run the job in the Dagster UI. If it works, add another asset, and so on.</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Raise a PR to merge your feature branch into the development branch</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lang="en" sz="1100">
                <a:solidFill>
                  <a:schemeClr val="dk1"/>
                </a:solidFill>
                <a:latin typeface="Lora"/>
                <a:ea typeface="Lora"/>
                <a:cs typeface="Lora"/>
                <a:sym typeface="Lora"/>
              </a:rPr>
              <a:t>Merge the PR</a:t>
            </a:r>
            <a:endParaRPr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b="1" lang="en" sz="1100">
                <a:solidFill>
                  <a:schemeClr val="dk1"/>
                </a:solidFill>
                <a:latin typeface="Lora"/>
                <a:ea typeface="Lora"/>
                <a:cs typeface="Lora"/>
                <a:sym typeface="Lora"/>
              </a:rPr>
              <a:t>Delete your feature branch from github immediately after merging</a:t>
            </a:r>
            <a:endParaRPr b="1" sz="1100">
              <a:solidFill>
                <a:schemeClr val="dk1"/>
              </a:solidFill>
              <a:latin typeface="Lora"/>
              <a:ea typeface="Lora"/>
              <a:cs typeface="Lora"/>
              <a:sym typeface="Lora"/>
            </a:endParaRPr>
          </a:p>
          <a:p>
            <a:pPr indent="-298450" lvl="0" marL="457200" rtl="0" algn="l">
              <a:lnSpc>
                <a:spcPct val="139979"/>
              </a:lnSpc>
              <a:spcBef>
                <a:spcPts val="0"/>
              </a:spcBef>
              <a:spcAft>
                <a:spcPts val="0"/>
              </a:spcAft>
              <a:buClr>
                <a:schemeClr val="dk1"/>
              </a:buClr>
              <a:buSzPts val="1100"/>
              <a:buFont typeface="Lora"/>
              <a:buChar char="●"/>
            </a:pPr>
            <a:r>
              <a:rPr b="1" lang="en" sz="1100">
                <a:solidFill>
                  <a:schemeClr val="dk1"/>
                </a:solidFill>
                <a:latin typeface="Lora"/>
                <a:ea typeface="Lora"/>
                <a:cs typeface="Lora"/>
                <a:sym typeface="Lora"/>
              </a:rPr>
              <a:t>Final submission: in the slack channel, send us a link to your merged PR in github with all relevant screenshots &amp; the GCP URL. </a:t>
            </a:r>
            <a:endParaRPr b="1" sz="1100">
              <a:solidFill>
                <a:schemeClr val="dk1"/>
              </a:solidFill>
              <a:latin typeface="Lora"/>
              <a:ea typeface="Lora"/>
              <a:cs typeface="Lora"/>
              <a:sym typeface="Lora"/>
            </a:endParaRPr>
          </a:p>
          <a:p>
            <a:pPr indent="0" lvl="0" marL="0" rtl="0" algn="l">
              <a:lnSpc>
                <a:spcPct val="139979"/>
              </a:lnSpc>
              <a:spcBef>
                <a:spcPts val="0"/>
              </a:spcBef>
              <a:spcAft>
                <a:spcPts val="0"/>
              </a:spcAft>
              <a:buNone/>
            </a:pPr>
            <a:r>
              <a:rPr b="1" lang="en" sz="1100">
                <a:solidFill>
                  <a:schemeClr val="dk1"/>
                </a:solidFill>
                <a:latin typeface="Lora"/>
                <a:ea typeface="Lora"/>
                <a:cs typeface="Lora"/>
                <a:sym typeface="Lora"/>
              </a:rPr>
              <a:t>TIP</a:t>
            </a:r>
            <a:r>
              <a:rPr lang="en" sz="1100">
                <a:solidFill>
                  <a:schemeClr val="dk1"/>
                </a:solidFill>
                <a:latin typeface="Lora"/>
                <a:ea typeface="Lora"/>
                <a:cs typeface="Lora"/>
                <a:sym typeface="Lora"/>
              </a:rPr>
              <a:t>: use GenAI to help you. But beware — it often gives rubbish code, especially dagster code since it is a new framework!</a:t>
            </a:r>
            <a:endParaRPr sz="1100">
              <a:solidFill>
                <a:schemeClr val="dk1"/>
              </a:solidFill>
              <a:latin typeface="Lora"/>
              <a:ea typeface="Lora"/>
              <a:cs typeface="Lora"/>
              <a:sym typeface="Lo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9"/>
          <p:cNvSpPr txBox="1"/>
          <p:nvPr/>
        </p:nvSpPr>
        <p:spPr>
          <a:xfrm>
            <a:off x="612900" y="167395"/>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2</a:t>
            </a:r>
            <a:r>
              <a:rPr lang="en" sz="2400">
                <a:solidFill>
                  <a:schemeClr val="dk1"/>
                </a:solidFill>
                <a:latin typeface="Lora"/>
                <a:ea typeface="Lora"/>
                <a:cs typeface="Lora"/>
                <a:sym typeface="Lora"/>
              </a:rPr>
              <a:t> </a:t>
            </a:r>
            <a:endParaRPr sz="1200">
              <a:latin typeface="Lora"/>
              <a:ea typeface="Lora"/>
              <a:cs typeface="Lora"/>
              <a:sym typeface="Lora"/>
            </a:endParaRPr>
          </a:p>
        </p:txBody>
      </p:sp>
      <p:pic>
        <p:nvPicPr>
          <p:cNvPr id="186" name="Google Shape;186;p29"/>
          <p:cNvPicPr preferRelativeResize="0"/>
          <p:nvPr/>
        </p:nvPicPr>
        <p:blipFill>
          <a:blip r:embed="rId3">
            <a:alphaModFix/>
          </a:blip>
          <a:stretch>
            <a:fillRect/>
          </a:stretch>
        </p:blipFill>
        <p:spPr>
          <a:xfrm>
            <a:off x="152400" y="689095"/>
            <a:ext cx="8839204" cy="2999632"/>
          </a:xfrm>
          <a:prstGeom prst="rect">
            <a:avLst/>
          </a:prstGeom>
          <a:noFill/>
          <a:ln>
            <a:noFill/>
          </a:ln>
        </p:spPr>
      </p:pic>
      <p:sp>
        <p:nvSpPr>
          <p:cNvPr id="187" name="Google Shape;187;p29"/>
          <p:cNvSpPr txBox="1"/>
          <p:nvPr/>
        </p:nvSpPr>
        <p:spPr>
          <a:xfrm>
            <a:off x="5094300" y="689100"/>
            <a:ext cx="1442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ora"/>
                <a:ea typeface="Lora"/>
                <a:cs typeface="Lora"/>
                <a:sym typeface="Lora"/>
              </a:rPr>
              <a:t>Full starting </a:t>
            </a:r>
            <a:endParaRPr sz="1200">
              <a:solidFill>
                <a:schemeClr val="dk1"/>
              </a:solidFill>
              <a:latin typeface="Lora"/>
              <a:ea typeface="Lora"/>
              <a:cs typeface="Lora"/>
              <a:sym typeface="Lora"/>
            </a:endParaRPr>
          </a:p>
          <a:p>
            <a:pPr indent="0" lvl="0" marL="0" rtl="0" algn="l">
              <a:spcBef>
                <a:spcPts val="0"/>
              </a:spcBef>
              <a:spcAft>
                <a:spcPts val="0"/>
              </a:spcAft>
              <a:buNone/>
            </a:pPr>
            <a:r>
              <a:rPr lang="en" sz="1200">
                <a:solidFill>
                  <a:schemeClr val="dk1"/>
                </a:solidFill>
                <a:latin typeface="Lora"/>
                <a:ea typeface="Lora"/>
                <a:cs typeface="Lora"/>
                <a:sym typeface="Lora"/>
              </a:rPr>
              <a:t>dataset</a:t>
            </a:r>
            <a:endParaRPr sz="1200">
              <a:solidFill>
                <a:schemeClr val="dk1"/>
              </a:solidFill>
              <a:latin typeface="Lora"/>
              <a:ea typeface="Lora"/>
              <a:cs typeface="Lora"/>
              <a:sym typeface="Lor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