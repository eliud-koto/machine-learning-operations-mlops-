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Lora"/>
      <p:regular r:id="rId36"/>
      <p:bold r:id="rId37"/>
      <p:italic r:id="rId38"/>
      <p:boldItalic r:id="rId39"/>
    </p:embeddedFont>
    <p:embeddedFont>
      <p:font typeface="Pacifico"/>
      <p:regular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FE40DD-7E49-4AE0-93B9-8769D7A018B0}">
  <a:tblStyle styleId="{6AFE40DD-7E49-4AE0-93B9-8769D7A018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acific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6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Lora-bold.fntdata"/><Relationship Id="rId14" Type="http://schemas.openxmlformats.org/officeDocument/2006/relationships/slide" Target="slides/slide8.xml"/><Relationship Id="rId36" Type="http://schemas.openxmlformats.org/officeDocument/2006/relationships/font" Target="fonts/Lora-regular.fntdata"/><Relationship Id="rId17" Type="http://schemas.openxmlformats.org/officeDocument/2006/relationships/slide" Target="slides/slide11.xml"/><Relationship Id="rId39" Type="http://schemas.openxmlformats.org/officeDocument/2006/relationships/font" Target="fonts/Lora-boldItalic.fntdata"/><Relationship Id="rId16" Type="http://schemas.openxmlformats.org/officeDocument/2006/relationships/slide" Target="slides/slide10.xml"/><Relationship Id="rId38" Type="http://schemas.openxmlformats.org/officeDocument/2006/relationships/font" Target="fonts/Lora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7e5ce780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g37e5ce7802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ebba4c96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7ebba4c96a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5f34c344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85f34c3445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5f34c344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g385f34c3445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5f34c344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g385f34c3445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667610437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4667610437_0_3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a52b8b1e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4a52b8b1e4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4cbf5f82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44cbf5f82d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4cbf5f82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44cbf5f82d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a4c1a081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5a4c1a081b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a4c1a081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5a4c1a081b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a4c1a081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5a4c1a081b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a4c1a081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5a4c1a081b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a4c1a081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5a4c1a081b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a4c1a081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5a4c1a081b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a4c1a081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5a4c1a081b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a4c1a081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5a4c1a081b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a4c1a081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5a4c1a081b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a4c1a081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5a4c1a081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a4c1a081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5a4c1a081b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da214a3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5da214a375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da214a37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5da214a375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da214a37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5da214a375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da214a37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g35da214a375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2116518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5f21165187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f2116518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35f21165187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4cbf5f82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44cbf5f82d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4cbf5f82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44cbf5f82d_1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"/>
              <a:buNone/>
              <a:defRPr sz="2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●"/>
              <a:defRPr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2148" y="4782312"/>
            <a:ext cx="1188720" cy="297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577" y="4779825"/>
            <a:ext cx="1188721" cy="23774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ims-course-service-danielayomide-git-186773437176.europe-west2.run.app/" TargetMode="External"/><Relationship Id="rId4" Type="http://schemas.openxmlformats.org/officeDocument/2006/relationships/hyperlink" Target="https://aims-course-service-0xayman-186773437176.europe-west2.run.app" TargetMode="External"/><Relationship Id="rId5" Type="http://schemas.openxmlformats.org/officeDocument/2006/relationships/hyperlink" Target="https://aims-course-service-mohammed-nagi-186773437176.europe-west2.run.app" TargetMode="External"/><Relationship Id="rId6" Type="http://schemas.openxmlformats.org/officeDocument/2006/relationships/hyperlink" Target="https://aims-course-service-dagmaros27-186773437176.europe-west2.run.app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learning.oreilly.com/library/view/fundamentals-of-data/9781098108298/ch09.html#serving_data_for_analyticscomma_machin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n.wikipedia.org/wiki/Deep_learning" TargetMode="External"/><Relationship Id="rId4" Type="http://schemas.openxmlformats.org/officeDocument/2006/relationships/hyperlink" Target="https://ourworldindata.org/grapher/historical-cost-of-computer-memory-and-storage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amazon.com/Fundamentals-Data-Engineering-Robust-Systems/dp/1098108302" TargetMode="External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cidrdb.org/cidr2021/papers/cidr2021_paper17.pdf" TargetMode="External"/><Relationship Id="rId4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5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86900" y="700975"/>
            <a:ext cx="789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Please receive the quiz handout from Cyrille, Oliver, Vincent, Jan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Complete the quiz in silence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Hand the quiz back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5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91200" y="700975"/>
            <a:ext cx="4709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</a:t>
            </a:r>
            <a:r>
              <a:rPr i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not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true about building interfaces for ML models?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They are useful for allowing non-developers to interact with models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They are helpful for debugging and user feedback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They make the model more explainable to end users 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They can help showcase prototypes to stakeholders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of these is NOT a reason developers choose Streamlit or Gradio for ML interfaces?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Easy to use with Python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Built-in support for model training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Quick to prototype interactive demos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Minimal boilerplate code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of the following is true when comparing Streamlit and Gradio?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Streamlit offers more flexibility for customizing layouts and integrating charts compared to Gradio. 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Gradio supports more advanced layout configurations out-of-the-box than Streamlit.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Gradio requires a frontend framework like React to customize its layout.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Streamlit does not support file uploads 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830300" y="777175"/>
            <a:ext cx="41805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How do you provide multiple input components, such as a textbox and a slider, to a </a:t>
            </a:r>
            <a:r>
              <a:rPr i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gr.Interface</a:t>
            </a:r>
            <a:endParaRPr i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inputs=gr.Textbox() + gr.Slider()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inputs=("text", "slider")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inputs={"name": gr.Textbox(), "value": gr.Slider()}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inputs=[gr.Textbox(), gr.Slider()]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How can you create a temporary, shareable public link for your Gradio app when you launch it?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demo.launch(remote=True)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demo.launch(network_access=True)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demo.launch(public=True)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demo.launch(share=True)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5 (Answers)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91200" y="700975"/>
            <a:ext cx="4709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</a:t>
            </a:r>
            <a:r>
              <a:rPr i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not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true about building interfaces for ML models?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They are useful for allowing non-developers to interact with models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They are helpful for debugging and user feedback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They make the model more explainable to end users 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They can help showcase prototypes to stakeholders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of these is NOT a reason developers choose Streamlit or Gradio for ML interfaces?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Easy to use with Python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Built-in support for model training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Quick to prototype interactive demos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Minimal boilerplate code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of the following is true when comparing Streamlit and Gradio?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Streamlit offers more flexibility for customizing layouts and integrating charts compared to Gradio. 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Gradio supports more advanced layout configurations out-of-the-box than Streamlit.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Gradio requires a frontend framework like React to customize its layout.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Streamlit does not support file uploads 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830300" y="777175"/>
            <a:ext cx="41805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How do you provide multiple input components, such as a textbox and a slider, to a </a:t>
            </a:r>
            <a:r>
              <a:rPr i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gr.Interface</a:t>
            </a:r>
            <a:endParaRPr i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inputs=gr.Textbox() + gr.Slider()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inputs=("text", "slider")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inputs={"name": gr.Textbox(), "value": gr.Slider()}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inputs=[gr.Textbox(), gr.Slider()]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How can you create a temporary, shareable public link for your Gradio app when you launch it?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demo.launch(remote=True)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demo.launch(network_access=True)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demo.launch(public=True)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demo.launch(share=True)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Assignment 1 — (almost randomly) selected submissions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91200" y="700975"/>
            <a:ext cx="81855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Char char="●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Text: </a:t>
            </a:r>
            <a:r>
              <a:rPr lang="en" sz="1000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3"/>
              </a:rPr>
              <a:t>https://aims-course-service-danielayomide-git-186773437176.europe-west2.run.app/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Char char="●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Image: </a:t>
            </a:r>
            <a:r>
              <a:rPr lang="en" sz="1000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4"/>
              </a:rPr>
              <a:t>https://aims-course-service-0xayman-186773437176.europe-west2.run.app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Char char="●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Text: </a:t>
            </a:r>
            <a:r>
              <a:rPr lang="en" sz="1000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5"/>
              </a:rPr>
              <a:t>https://aims-course-service-mohammed-nagi-186773437176.europe-west2.run.app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Char char="●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Text: </a:t>
            </a:r>
            <a:r>
              <a:rPr lang="en" sz="1000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6"/>
              </a:rPr>
              <a:t>https://aims-course-service-dagmaros27-186773437176.europe-west2.run.app/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GCP costs for all students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1413"/>
            <a:ext cx="8839200" cy="285813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573756" y="3757802"/>
            <a:ext cx="686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Blue = Google Container Registry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Yellow = Gemini API key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Red = Google Cloud Run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-125" y="575250"/>
            <a:ext cx="9144000" cy="20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Designing and Deploying 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end-to-end 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Production Grade ML Applications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Lecture </a:t>
            </a: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6</a:t>
            </a: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: Data Engineering — Foundation &amp; Building Blocks</a:t>
            </a:r>
            <a:endParaRPr sz="24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-117" y="3838750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October 2025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Oliver Angélil &amp; </a:t>
            </a: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Vincent Frimpong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Contents of 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three</a:t>
            </a:r>
            <a:r>
              <a:rPr i="0" lang="en" sz="24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Data Engineering Lectures: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486900" y="624775"/>
            <a:ext cx="7896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Lecture 6: Foundation and Building Blocks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Data Engineering (DE)?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DE lifecycle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Types of Data Architectures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On-Prem vs Cloud (IaaS vs PaaS vs SaaS)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Infrastructure as Code (IaC)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Lecture 7: The DE Lifecycle in Depth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Source Systems &amp; Storage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Ingestion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Modeling, and Transformation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Serving Data for Analytics, Machine Learning, and Reverse ETL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Lecture 8: Learning by Doing —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Building your own DE Pipeline with Dagster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681625" y="697275"/>
            <a:ext cx="4152300" cy="1632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966450" y="1227325"/>
            <a:ext cx="129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Pacifico"/>
                <a:ea typeface="Pacifico"/>
                <a:cs typeface="Pacifico"/>
                <a:sym typeface="Pacifico"/>
              </a:rPr>
              <a:t>this lecture</a:t>
            </a:r>
            <a:endParaRPr sz="1600">
              <a:solidFill>
                <a:srgbClr val="FF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/>
        </p:nvSpPr>
        <p:spPr>
          <a:xfrm>
            <a:off x="612900" y="243600"/>
            <a:ext cx="720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1.1 What is Data Engineering? The Problem (Why?)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765300"/>
            <a:ext cx="5703475" cy="402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/>
        </p:nvSpPr>
        <p:spPr>
          <a:xfrm>
            <a:off x="612900" y="243600"/>
            <a:ext cx="720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1.1 What is Data Engineering? The Problem (Why?)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486900" y="853375"/>
            <a:ext cx="7896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Why do companies store more &amp; more data?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realisation that data is an asset that has the potential to drive a competitive edge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expansion of IoT devices that capture streams of data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nature of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Deep Learning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architectures that enable their predictive performance to increase as a function of the size of the datasets they are trained on [*1]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fact that the cost of data storage has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decreased exponentially from the 1950s to now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[*2]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850" y="2983725"/>
            <a:ext cx="2360199" cy="19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/>
        </p:nvSpPr>
        <p:spPr>
          <a:xfrm>
            <a:off x="2414375" y="2608075"/>
            <a:ext cx="6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[*1]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5754675" y="2608075"/>
            <a:ext cx="60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[*2]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3075" y="2948662"/>
            <a:ext cx="2770400" cy="1858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/>
        </p:nvSpPr>
        <p:spPr>
          <a:xfrm>
            <a:off x="612900" y="243600"/>
            <a:ext cx="68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1.1 What is Data Engineering? Definition (What?)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486900" y="853375"/>
            <a:ext cx="789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"Data engineering is the development, implementation, and maintenance of the systems and processes that take in raw data and produce high-quality, consistent information that supports downstream use cases, such as analysis and machine learning."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endParaRPr sz="20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1.1 What is Data Engineering? History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486900" y="853375"/>
            <a:ext cx="81285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1970s: IBM develops Structured Query Language (SQL) &amp; Relational DB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1980s: Bill Inmon coins the term </a:t>
            </a: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warehous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  — central monolithic repositories of data integrated from disparate sources to support Business Intelligence (BI)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1990s: Internet goes mainstream — web applications produce large volumes of data. Companies continue to rely on monolithic relational DBs in data warehouses.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2000s: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systems are updated to handle more data: CPUs, RAM,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Hard Disks become much cheaper -&gt; distributed computation and storage on compute clusters.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2004: Google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develops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Map Reduce; 2006: Yahoo develops Hadoop; 2008: Amazon releases EC2 &amp; S3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2010s: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Rise of the "big data" era and Infrastructure as a Service (IaaS) -&gt; Cloud Services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Shift towards simplification &amp; abstraction with off-the-shelf products and high quality open-source software, to make big data processing accessible to anyone. 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1.1 What is Data Engineering? History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486900" y="700975"/>
            <a:ext cx="838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2020s: 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Shift to decentralized and abstracted tools to help in the data management process.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Simpler to use, but much more choice!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450" y="1544575"/>
            <a:ext cx="6227873" cy="321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1.1 What is Data Engineering? DE vs DS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486900" y="700975"/>
            <a:ext cx="838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Engineers provide inputs for Data Scientists, who convert these inputs into something useful for a company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499875"/>
            <a:ext cx="7697875" cy="239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1.1 What is Data Engineering? The DS hype...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486900" y="700975"/>
            <a:ext cx="838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 the 2010s, companies hired too many DSs relative to DEs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DS spent ~70-80% of their time on DE tasks...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Many DS projects fail because companies don't invest enough in the base of the pyramid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1649200"/>
            <a:ext cx="5808776" cy="31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1.1 What is Data Engineering? 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S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kills required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486900" y="700975"/>
            <a:ext cx="838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Communication with technical and non-technical stakeholders is key.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Stakeholders define requirements to be delivered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125" y="1347475"/>
            <a:ext cx="6490550" cy="337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1.1 What is Data Engineering? Skills required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486900" y="700975"/>
            <a:ext cx="83805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Bad Data Engineers/Scientists: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Focus on outputs not outcomes: deliver work without understanding if they generate value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Want to apply the latest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and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greatest tools &amp; AI to everything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Over-engineer solutions: build complex solutions even when simpler ones would do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Are resistant to feedback: defend their work even when presented with evidence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Good Data Engineers/Scientists: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Are self-motivated and independent (e.g. do not wait for someone more senior to give them tasks)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Zoom out to understand the big picture and the broader goals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Understands problems and solves them with or without AI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Favour simple solutions over complex ones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Can tell the difference between disruptive and hyped technologies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1.1 What is Data Engineering? Skills required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486900" y="700975"/>
            <a:ext cx="8380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Can design solutions that are cost optimized, in all areas of the DE lifecycle: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Source Systems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Storage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Ingestion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Transformation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Serving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Should a DE know how to code?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Absolutely: SQL; Python; bash.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Bonus: Scala &amp; Rust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1.2 The DE Lifecycle: What is the DE Lifecycle?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1913700" y="4484825"/>
            <a:ext cx="514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refer to </a:t>
            </a:r>
            <a:r>
              <a:rPr i="1" lang="en" sz="1000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3"/>
              </a:rPr>
              <a:t>Fundamentals of Data Engineering (2022)</a:t>
            </a:r>
            <a:r>
              <a:rPr i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for more info on Undercurrents 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84" name="Google Shape;18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875" y="689100"/>
            <a:ext cx="8128499" cy="365385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0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1.2 The DE Lifecycle: 1 — Source Systems &amp; Storage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486900" y="700975"/>
            <a:ext cx="8416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Starting point of any data project, and any data conversation: </a:t>
            </a: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"what data do you have and </a:t>
            </a: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where can I find it</a:t>
            </a: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?"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ilos of data from different teams with their "own conventions", result in: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Inconsistent data formats; naming conventions; etc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Lack of cleanliness / data quality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Duplicate data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Governance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difficulty — challenging to have holistic oversight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○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Does not accommodate self-service of data (i.e. different mechanisms to access data)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92" name="Google Shape;1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746675"/>
            <a:ext cx="7800975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1.2 The DE Lifecycle: 2 — Source Systems &amp; Storage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9" name="Google Shape;199;p32"/>
          <p:cNvSpPr txBox="1"/>
          <p:nvPr/>
        </p:nvSpPr>
        <p:spPr>
          <a:xfrm>
            <a:off x="486900" y="700975"/>
            <a:ext cx="83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While storage is a stage of the DE lifecycle, it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is a requirement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for other stages: Ingest, Transform, Serve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613" y="1222675"/>
            <a:ext cx="7800774" cy="33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1.2 The DE Lifecycle: 3 — Ingestion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07" name="Google Shape;20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765299"/>
            <a:ext cx="7048274" cy="38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3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1.2 The DE Lifecycle: 4 — Transform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214" name="Google Shape;214;p34"/>
          <p:cNvGraphicFramePr/>
          <p:nvPr/>
        </p:nvGraphicFramePr>
        <p:xfrm>
          <a:off x="3032975" y="159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{6AFE40DD-7E49-4AE0-93B9-8769D7A018B0}</a:tableStyleId>
              </a:tblPr>
              <a:tblGrid>
                <a:gridCol w="1021250"/>
                <a:gridCol w="1211075"/>
                <a:gridCol w="1037200"/>
                <a:gridCol w="1490775"/>
              </a:tblGrid>
              <a:tr h="2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Date (STR)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Food Item (STR)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nItems (STR)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Export Country (STR)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9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2023-01-15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Applle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USA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Feb 3, 2023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Aubergine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400.0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United States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30.02.2023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Eggplant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eighty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Germnay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5" name="Google Shape;215;p34"/>
          <p:cNvSpPr txBox="1"/>
          <p:nvPr/>
        </p:nvSpPr>
        <p:spPr>
          <a:xfrm>
            <a:off x="1563650" y="2031925"/>
            <a:ext cx="87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Raw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6" name="Google Shape;216;p34"/>
          <p:cNvSpPr txBox="1"/>
          <p:nvPr/>
        </p:nvSpPr>
        <p:spPr>
          <a:xfrm>
            <a:off x="1545950" y="3760125"/>
            <a:ext cx="87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Clean</a:t>
            </a:r>
            <a:endParaRPr sz="1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217" name="Google Shape;217;p34"/>
          <p:cNvGraphicFramePr/>
          <p:nvPr/>
        </p:nvGraphicFramePr>
        <p:xfrm>
          <a:off x="3032975" y="326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{6AFE40DD-7E49-4AE0-93B9-8769D7A018B0}</a:tableStyleId>
              </a:tblPr>
              <a:tblGrid>
                <a:gridCol w="1021225"/>
                <a:gridCol w="1211100"/>
                <a:gridCol w="1037200"/>
                <a:gridCol w="1490750"/>
              </a:tblGrid>
              <a:tr h="33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Date (DATE)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Food Item (STR)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nItems (INT)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Export Country (STR)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2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2023-01-15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Apple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United States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2023-02-03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Eggplant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United States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8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NULL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Eggplant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Germany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8" name="Google Shape;218;p34"/>
          <p:cNvSpPr txBox="1"/>
          <p:nvPr/>
        </p:nvSpPr>
        <p:spPr>
          <a:xfrm>
            <a:off x="486900" y="4311225"/>
            <a:ext cx="200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(can also choose to remove entire row)</a:t>
            </a:r>
            <a:endParaRPr sz="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19" name="Google Shape;219;p34"/>
          <p:cNvCxnSpPr/>
          <p:nvPr/>
        </p:nvCxnSpPr>
        <p:spPr>
          <a:xfrm flipH="1" rot="10800000">
            <a:off x="2420100" y="4462125"/>
            <a:ext cx="5262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34"/>
          <p:cNvSpPr txBox="1"/>
          <p:nvPr/>
        </p:nvSpPr>
        <p:spPr>
          <a:xfrm>
            <a:off x="486900" y="700975"/>
            <a:ext cx="838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Transforming the data prepares it for reports, analysis, ML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First cleaning is done; and then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enrichment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(joins), aggregation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Example of cleaning: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1.2 The DE Lifecycle: 5 — Serve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7" name="Google Shape;227;p35"/>
          <p:cNvSpPr txBox="1"/>
          <p:nvPr/>
        </p:nvSpPr>
        <p:spPr>
          <a:xfrm>
            <a:off x="486900" y="700975"/>
            <a:ext cx="838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Storing data does not get value out of it — you have to do something </a:t>
            </a: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useful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with the data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has value when it's used for practical purposes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28" name="Google Shape;2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1347475"/>
            <a:ext cx="7495349" cy="33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Oliver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1.3 Types of Data Architecture: Data Warehouse (DW)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486900" y="700975"/>
            <a:ext cx="8380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Data warehouses (1980s) are central repositories of data integrated from disparate sources.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 system used for reporting and data analysis and is a core component of business intelligence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Coupled compute &amp; storage: DW compute can be used only on its relational storage (i.e. pay for peak usage)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Schema-on-write: the data schema is defined and enforced when data is written into the database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Must be structured (i.e. tabular: columns &amp; rows) data (generally relational DBs)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36" name="Google Shape;2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600" y="2178475"/>
            <a:ext cx="7176790" cy="266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6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1.3 Types of Data Architecture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86900" y="700975"/>
            <a:ext cx="8380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"</a:t>
            </a: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architecture is the design of systems to support the evolving data needs of an enterprise, achieved by flexible and reversible decisions reached through a careful evaluation of trade-offs"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brief history of the main types: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4" name="Google Shape;244;p37"/>
          <p:cNvSpPr/>
          <p:nvPr/>
        </p:nvSpPr>
        <p:spPr>
          <a:xfrm>
            <a:off x="2545963" y="2400513"/>
            <a:ext cx="594300" cy="3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245" name="Google Shape;245;p37"/>
          <p:cNvGrpSpPr/>
          <p:nvPr/>
        </p:nvGrpSpPr>
        <p:grpSpPr>
          <a:xfrm>
            <a:off x="6511979" y="1804667"/>
            <a:ext cx="1195316" cy="1190739"/>
            <a:chOff x="5604010" y="1957150"/>
            <a:chExt cx="594300" cy="594300"/>
          </a:xfrm>
        </p:grpSpPr>
        <p:sp>
          <p:nvSpPr>
            <p:cNvPr id="246" name="Google Shape;246;p37"/>
            <p:cNvSpPr/>
            <p:nvPr/>
          </p:nvSpPr>
          <p:spPr>
            <a:xfrm>
              <a:off x="5604010" y="1957150"/>
              <a:ext cx="594300" cy="594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47" name="Google Shape;247;p37"/>
            <p:cNvSpPr txBox="1"/>
            <p:nvPr/>
          </p:nvSpPr>
          <p:spPr>
            <a:xfrm>
              <a:off x="5659668" y="2109472"/>
              <a:ext cx="4899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i="0" lang="en" sz="2200" u="none" cap="none" strike="noStrike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20</a:t>
              </a:r>
              <a:r>
                <a:rPr lang="en" sz="22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rPr>
                <a:t>20s</a:t>
              </a:r>
              <a:endParaRPr i="0" sz="220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sp>
        <p:nvSpPr>
          <p:cNvPr id="248" name="Google Shape;248;p37"/>
          <p:cNvSpPr/>
          <p:nvPr/>
        </p:nvSpPr>
        <p:spPr>
          <a:xfrm>
            <a:off x="5327775" y="2400513"/>
            <a:ext cx="594300" cy="3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1037415" y="2118325"/>
            <a:ext cx="1002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1980s</a:t>
            </a:r>
            <a:endParaRPr i="0" sz="22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0" name="Google Shape;250;p37"/>
          <p:cNvSpPr txBox="1"/>
          <p:nvPr/>
        </p:nvSpPr>
        <p:spPr>
          <a:xfrm>
            <a:off x="3733025" y="2110050"/>
            <a:ext cx="10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2010s</a:t>
            </a:r>
            <a:endParaRPr i="0" sz="22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1" name="Google Shape;251;p37"/>
          <p:cNvSpPr/>
          <p:nvPr/>
        </p:nvSpPr>
        <p:spPr>
          <a:xfrm>
            <a:off x="3616379" y="1804667"/>
            <a:ext cx="1195200" cy="1190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2" name="Google Shape;252;p37"/>
          <p:cNvSpPr/>
          <p:nvPr/>
        </p:nvSpPr>
        <p:spPr>
          <a:xfrm>
            <a:off x="949375" y="1804675"/>
            <a:ext cx="1195200" cy="1190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514550" y="3443300"/>
            <a:ext cx="20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Warehouse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4" name="Google Shape;254;p37"/>
          <p:cNvSpPr txBox="1"/>
          <p:nvPr/>
        </p:nvSpPr>
        <p:spPr>
          <a:xfrm>
            <a:off x="6468088" y="3443300"/>
            <a:ext cx="20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Lakehouse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3230763" y="3310650"/>
            <a:ext cx="204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Lake + 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 Warehouse</a:t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6" name="Google Shape;256;p37"/>
          <p:cNvSpPr txBox="1"/>
          <p:nvPr/>
        </p:nvSpPr>
        <p:spPr>
          <a:xfrm>
            <a:off x="837050" y="4121500"/>
            <a:ext cx="134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problem=?</a:t>
            </a:r>
            <a:endParaRPr b="1" sz="18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3504050" y="4121500"/>
            <a:ext cx="134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problem=?</a:t>
            </a:r>
            <a:endParaRPr b="1" sz="18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58" name="Google Shape;258;p37"/>
          <p:cNvCxnSpPr>
            <a:stCxn id="256" idx="3"/>
            <a:endCxn id="255" idx="1"/>
          </p:cNvCxnSpPr>
          <p:nvPr/>
        </p:nvCxnSpPr>
        <p:spPr>
          <a:xfrm flipH="1" rot="10800000">
            <a:off x="2182550" y="3680050"/>
            <a:ext cx="1048200" cy="672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37"/>
          <p:cNvSpPr txBox="1"/>
          <p:nvPr/>
        </p:nvSpPr>
        <p:spPr>
          <a:xfrm rot="-2040674">
            <a:off x="2348086" y="4017103"/>
            <a:ext cx="964861" cy="4617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Lora"/>
                <a:ea typeface="Lora"/>
                <a:cs typeface="Lora"/>
                <a:sym typeface="Lora"/>
              </a:rPr>
              <a:t>solved</a:t>
            </a:r>
            <a:endParaRPr b="1" sz="1800">
              <a:solidFill>
                <a:srgbClr val="6AA84F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60" name="Google Shape;260;p37"/>
          <p:cNvCxnSpPr/>
          <p:nvPr/>
        </p:nvCxnSpPr>
        <p:spPr>
          <a:xfrm flipH="1" rot="10800000">
            <a:off x="5306750" y="3733750"/>
            <a:ext cx="876000" cy="6186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37"/>
          <p:cNvSpPr txBox="1"/>
          <p:nvPr/>
        </p:nvSpPr>
        <p:spPr>
          <a:xfrm rot="-2113004">
            <a:off x="5472171" y="4025950"/>
            <a:ext cx="965022" cy="4617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Lora"/>
                <a:ea typeface="Lora"/>
                <a:cs typeface="Lora"/>
                <a:sym typeface="Lora"/>
              </a:rPr>
              <a:t>solved</a:t>
            </a:r>
            <a:endParaRPr b="1" sz="1800">
              <a:solidFill>
                <a:srgbClr val="6AA84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2" name="Google Shape;262;p37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1.3 Types of Data Architecture: Data Lake + DW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68" name="Google Shape;268;p38"/>
          <p:cNvSpPr txBox="1"/>
          <p:nvPr/>
        </p:nvSpPr>
        <p:spPr>
          <a:xfrm>
            <a:off x="486900" y="700975"/>
            <a:ext cx="838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Two-tier "modern Data Warehouse" (2010s; used at virtually all Fortune 500 enterprises)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Data Lake for object storage (any type of format — not very different from the filesystem on your laptop)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Data in Data Lake is schema-on-read: schema is applied only when data files are read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69" name="Google Shape;26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50" y="1624375"/>
            <a:ext cx="8086351" cy="293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8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1.3 Types of Data Architecture: Lakehouse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486900" y="700975"/>
            <a:ext cx="838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Lakehouse (2020s), pioneered by Databricks in </a:t>
            </a: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  <a:hlinkClick r:id="rId3"/>
              </a:rPr>
              <a:t>2021 technical paper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Software layer (e.g. delta-lake; apache iceberg) on top of a data lake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Convergence: best of both a Data Warehouse &amp; Data Lake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77" name="Google Shape;277;p39"/>
          <p:cNvPicPr preferRelativeResize="0"/>
          <p:nvPr/>
        </p:nvPicPr>
        <p:blipFill rotWithShape="1">
          <a:blip r:embed="rId4">
            <a:alphaModFix/>
          </a:blip>
          <a:srcRect b="0" l="0" r="0" t="3873"/>
          <a:stretch/>
        </p:blipFill>
        <p:spPr>
          <a:xfrm>
            <a:off x="1210375" y="1560050"/>
            <a:ext cx="6875648" cy="308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9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1.4 On-Prem vs Cloud (IaaS vs PaaS vs SaaS)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4" name="Google Shape;284;p40"/>
          <p:cNvSpPr txBox="1"/>
          <p:nvPr/>
        </p:nvSpPr>
        <p:spPr>
          <a:xfrm>
            <a:off x="6161850" y="742700"/>
            <a:ext cx="26580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Examples</a:t>
            </a:r>
            <a:endParaRPr sz="13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IaaS:</a:t>
            </a: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GCP (e.g. GCE; Cloud Storage)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AWS (e.g. EC2; S3)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Azure (e.g. VMs, Blob Storage) 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Digital Ocean (e.g. Droplets)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Hetzner (e.g. Object Storage)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PaaS:</a:t>
            </a:r>
            <a:endParaRPr b="1"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Google Cloud Run; App Engine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AWS Elastic Kubernetes Service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Azure Container Apps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OpenShift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SaaS:</a:t>
            </a:r>
            <a:endParaRPr b="1"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Dropbox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Slack 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Google Workspace (e.g. gdoc, gmail)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- Zoom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85" name="Google Shape;285;p40"/>
          <p:cNvPicPr preferRelativeResize="0"/>
          <p:nvPr/>
        </p:nvPicPr>
        <p:blipFill rotWithShape="1">
          <a:blip r:embed="rId3">
            <a:alphaModFix/>
          </a:blip>
          <a:srcRect b="0" l="0" r="0" t="8020"/>
          <a:stretch/>
        </p:blipFill>
        <p:spPr>
          <a:xfrm>
            <a:off x="313125" y="818900"/>
            <a:ext cx="5691574" cy="340632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0"/>
          <p:cNvSpPr txBox="1"/>
          <p:nvPr/>
        </p:nvSpPr>
        <p:spPr>
          <a:xfrm>
            <a:off x="208725" y="4237400"/>
            <a:ext cx="579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ora"/>
              <a:buChar char="●"/>
            </a:pPr>
            <a:r>
              <a:rPr b="1" lang="en" sz="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Runtime: </a:t>
            </a:r>
            <a:r>
              <a:rPr lang="en" sz="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software environment in which applications execute (e.g. Java Runtime Environment)</a:t>
            </a:r>
            <a:endParaRPr sz="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ora"/>
              <a:buChar char="●"/>
            </a:pPr>
            <a:r>
              <a:rPr b="1" lang="en" sz="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Middleware</a:t>
            </a:r>
            <a:r>
              <a:rPr lang="en" sz="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: software acting as bridge between OS &amp; applications (e.g. Nginx, Apache Kafka)</a:t>
            </a:r>
            <a:endParaRPr sz="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ora"/>
              <a:buChar char="●"/>
            </a:pPr>
            <a:r>
              <a:rPr b="1" lang="en" sz="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Virtualization</a:t>
            </a:r>
            <a:r>
              <a:rPr lang="en" sz="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: the process of using a hypervisor to run multiple VMs on a single host computer</a:t>
            </a:r>
            <a:endParaRPr sz="8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7" name="Google Shape;287;p40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1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1.5 Infrastructure as Code (IaC)</a:t>
            </a:r>
            <a:endParaRPr sz="24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3" name="Google Shape;293;p41"/>
          <p:cNvSpPr txBox="1"/>
          <p:nvPr/>
        </p:nvSpPr>
        <p:spPr>
          <a:xfrm>
            <a:off x="486900" y="700975"/>
            <a:ext cx="83805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Definition: Using code to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describe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&amp; deploy</a:t>
            </a:r>
            <a:r>
              <a:rPr i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infrastructure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Benefits: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Disaster Recovery — everything is saved in code and can be re-deployed in a matter of minutes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Automated — faster deployments  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Consistency &amp; Scalability — </a:t>
            </a:r>
            <a:r>
              <a:rPr i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for loops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can deploy the same Infrastructure (e.g. VMs) many times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Lora"/>
              <a:buChar char="○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Traceability — can see </a:t>
            </a:r>
            <a:r>
              <a:rPr i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who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made </a:t>
            </a:r>
            <a:r>
              <a:rPr i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what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change and </a:t>
            </a:r>
            <a:r>
              <a:rPr i="1"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when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(everything is tracked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through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 github)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294" name="Google Shape;29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75" y="2544725"/>
            <a:ext cx="4158501" cy="22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1"/>
          <p:cNvSpPr txBox="1"/>
          <p:nvPr/>
        </p:nvSpPr>
        <p:spPr>
          <a:xfrm>
            <a:off x="1020750" y="2132575"/>
            <a:ext cx="339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create 1 VM without IaC ("ClickOps")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6" name="Google Shape;296;p41"/>
          <p:cNvSpPr txBox="1"/>
          <p:nvPr/>
        </p:nvSpPr>
        <p:spPr>
          <a:xfrm>
            <a:off x="4598575" y="2168875"/>
            <a:ext cx="484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create 100 VMs </a:t>
            </a: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with IaC (e.g </a:t>
            </a: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Terraform / </a:t>
            </a:r>
            <a:r>
              <a:rPr lang="en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OpenTofu)</a:t>
            </a:r>
            <a:endParaRPr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97" name="Google Shape;297;p41"/>
          <p:cNvSpPr txBox="1"/>
          <p:nvPr/>
        </p:nvSpPr>
        <p:spPr>
          <a:xfrm>
            <a:off x="4665000" y="2493500"/>
            <a:ext cx="4326600" cy="2235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resource </a:t>
            </a:r>
            <a:r>
              <a:rPr lang="en" sz="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"google_compute_instance"</a:t>
            </a: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"vm_instance"</a:t>
            </a: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count = 100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en" sz="8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Each VM will have a unique name like "vm-instance-0", "vm-instance-1", etc.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name         = </a:t>
            </a:r>
            <a:r>
              <a:rPr lang="en" sz="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"vm-instance-${count.index}"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machine_type = </a:t>
            </a:r>
            <a:r>
              <a:rPr lang="en" sz="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"e2-medium"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zone         = </a:t>
            </a:r>
            <a:r>
              <a:rPr lang="en" sz="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"us-central1-c"</a:t>
            </a: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en" sz="8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Define the boot disk for each VM.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en" sz="8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All VMs will be created from the same Debian 11 image.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boot_disk </a:t>
            </a:r>
            <a:r>
              <a:rPr lang="en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  initialize_params </a:t>
            </a:r>
            <a:r>
              <a:rPr lang="en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    image = </a:t>
            </a:r>
            <a:r>
              <a:rPr lang="en" sz="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"debian-cloud/debian-11"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    size  = 10 </a:t>
            </a:r>
            <a:r>
              <a:rPr i="1" lang="en" sz="8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disk size in GB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50505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8" name="Google Shape;298;p41"/>
          <p:cNvSpPr txBox="1"/>
          <p:nvPr/>
        </p:nvSpPr>
        <p:spPr>
          <a:xfrm>
            <a:off x="6733050" y="4774200"/>
            <a:ext cx="9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Lora"/>
                <a:ea typeface="Lora"/>
                <a:cs typeface="Lora"/>
                <a:sym typeface="Lora"/>
              </a:rPr>
              <a:t>Vincent</a:t>
            </a:r>
            <a:endParaRPr sz="1200">
              <a:solidFill>
                <a:srgbClr val="595959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