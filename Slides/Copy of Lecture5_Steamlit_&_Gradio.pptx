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Lora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238120-9488-452B-8AFC-01F5EA57A1D9}">
  <a:tblStyle styleId="{07238120-9488-452B-8AFC-01F5EA57A1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CF2C7A5-5AFA-4210-A445-F3994493716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ora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ora-italic.fntdata"/><Relationship Id="rId25" Type="http://schemas.openxmlformats.org/officeDocument/2006/relationships/font" Target="fonts/Lora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Lora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7e5adcde9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g37e5adcde9f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f169111e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7f169111e8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f169111e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7f169111e8_0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a7e1ebc5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4a7e1ebc53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a7e1ebc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4a7e1ebc53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a7e1ebc5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4a7e1ebc53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a7e1ebc5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4a7e1ebc53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ee1b2fd1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4ee1b2fd10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ee1b2fd1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4ee1b2fd10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ee1b2fd1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4ee1b2fd10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ee1b2fd1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4ee1b2fd10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0197e76e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50197e76ef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a7e1ebc5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4a7e1ebc53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a7e1ebc5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4a7e1ebc53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a7e1ebc5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4a7e1ebc53_0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a7e1ebc5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4a7e1ebc53_0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"/>
              <a:buNone/>
              <a:defRPr sz="2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●"/>
              <a:defRPr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2148" y="4782312"/>
            <a:ext cx="1188720" cy="297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577" y="4779825"/>
            <a:ext cx="1188721" cy="23774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Ishangoai/AIMS_course/blob/development/src/students/example/gradioapp/heart_disease_app.py" TargetMode="External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4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86900" y="700975"/>
            <a:ext cx="789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Please receive the quiz handout from Cyrille, Oliver, Vincent, Jan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Complete the quiz in silence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Hand the quiz back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4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91200" y="700975"/>
            <a:ext cx="4709400" cy="3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the primary goal of Continuous Integration (CI)?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automatically deploy every change directly to production.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frequently run automated tests and merge code to create a tight feedback loop.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provision and manage infrastructure through code.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package applications into Docker containers for deployment.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 GitHub Actions, what is a 'Job'?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collection of steps that execute on the same runner.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 individual task, such as running a single shell command.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reusable, community-built unit of code that performs a complex task.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trigger for the entire workflow, such as a push or pull request.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of the following is </a:t>
            </a: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NOT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a task typically automated in a CI pipeline for code quality checks?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Performing static analysis to find potential bugs.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Running unit and integration tests with pytest.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Linting the code for stylistic errors.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Pushing the Docker image to a container registry.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830300" y="777175"/>
            <a:ext cx="39237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the main purpose of a Container Registry like Google Artifact Registry (GAR)?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store and manage Docker images.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run automated tests on the code.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monitor the performance of live applications.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write and version infrastructure code.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best describes the function of code in the workflow yml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en" sz="9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push</a:t>
            </a:r>
            <a:r>
              <a:rPr lang="en" sz="9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branches</a:t>
            </a:r>
            <a:r>
              <a:rPr lang="en" sz="9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r>
              <a:rPr lang="en" sz="900">
                <a:latin typeface="Roboto Mono"/>
                <a:ea typeface="Roboto Mono"/>
                <a:cs typeface="Roboto Mono"/>
                <a:sym typeface="Roboto Mono"/>
              </a:rPr>
              <a:t> development </a:t>
            </a:r>
            <a:r>
              <a:rPr lang="en" sz="9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900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Branches pushed to development will be ignored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Run the job when a pull request is made to the development branch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Run the job when a PR is merged to the development branch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Development changes are ready when a push is made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4 (Answers)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542121" y="135888"/>
            <a:ext cx="812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191200" y="700975"/>
            <a:ext cx="4709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the primary goal of Continuous Integration (CI)?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automatically deploy every change directly to production.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frequently run automated tests and merge code to create a tight feedback loop.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provision and manage infrastructure through code.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package applications into Docker containers for deployment.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 GitHub Actions, what is a 'Job'?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collection of steps that execute on the same runner.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 individual task, such as running a single shell command.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reusable, community-built unit of code that performs a complex task.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trigger for the entire workflow, such as a push or pull request.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of the following is </a:t>
            </a: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NOT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a task typically automated in a CI pipeline for code quality checks?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Performing static analysis to find potential bugs.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Running unit and integration tests with pytest.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Linting the code for stylistic errors.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Pushing the Docker image to a container registry.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830300" y="777175"/>
            <a:ext cx="39237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the main purpose of a Container Registry like Google Artifact Registry (GAR)?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store and manage Docker images.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run automated tests on the code.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monitor the performance of live applications.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write and version infrastructure code.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best describes the function of this code in a workflow yaml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en" sz="9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push</a:t>
            </a:r>
            <a:r>
              <a:rPr lang="en" sz="9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branches</a:t>
            </a:r>
            <a:r>
              <a:rPr lang="en" sz="9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development </a:t>
            </a:r>
            <a:r>
              <a:rPr lang="en" sz="9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900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Branches pushed to development will be ignored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Run the job when a pull request is made to the development branch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Run the job when a PR is merged  to the development branch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Development changes are ready when a push is made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-125" y="575250"/>
            <a:ext cx="91440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Designing and Deploying 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end-to-end 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Production Grade ML Applications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 Lecture 5: </a:t>
            </a:r>
            <a:r>
              <a:rPr lang="en" sz="2800">
                <a:solidFill>
                  <a:srgbClr val="434343"/>
                </a:solidFill>
                <a:latin typeface="Lora"/>
                <a:ea typeface="Lora"/>
                <a:cs typeface="Lora"/>
                <a:sym typeface="Lora"/>
              </a:rPr>
              <a:t>Steamlit &amp; Gradio</a:t>
            </a:r>
            <a:endParaRPr sz="2800">
              <a:solidFill>
                <a:srgbClr val="434343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-117" y="3762550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October 2025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Cyrille Feudjio &amp; </a:t>
            </a: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Oliver Angélil 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Contents of this lecture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714025" y="794700"/>
            <a:ext cx="6586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Why Build Interfaces for ML Models?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Popular Tools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Deep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Dive: Streamlit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Deep Dive: Gradio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Streamlit vs. Gradio: Key Differences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to Use Which?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Conclusion &amp; Key Takeaways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1. Why Build User Interfaces (UIs) for ML Models</a:t>
            </a: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?</a:t>
            </a:r>
            <a:endParaRPr i="0" sz="24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543575" y="691300"/>
            <a:ext cx="4097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Making models accessible to non-technical users.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Facilitating demos and presentations.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Gathering feedback and data.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Rapid prototyping and iteration.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Bridging the gap between model development and user value</a:t>
            </a:r>
            <a:endParaRPr sz="13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975" y="691300"/>
            <a:ext cx="4040225" cy="40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612896" y="243588"/>
            <a:ext cx="81285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2. Popular Tools</a:t>
            </a:r>
            <a:endParaRPr sz="16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97" name="Google Shape;97;p19"/>
          <p:cNvGraphicFramePr/>
          <p:nvPr/>
        </p:nvGraphicFramePr>
        <p:xfrm>
          <a:off x="689100" y="76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{07238120-9488-452B-8AFC-01F5EA57A1D9}</a:tableStyleId>
              </a:tblPr>
              <a:tblGrid>
                <a:gridCol w="2413000"/>
                <a:gridCol w="2857050"/>
                <a:gridCol w="2610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ora"/>
                          <a:ea typeface="Lora"/>
                          <a:cs typeface="Lora"/>
                          <a:sym typeface="Lora"/>
                        </a:rPr>
                        <a:t>Tool</a:t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ora"/>
                          <a:ea typeface="Lora"/>
                          <a:cs typeface="Lora"/>
                          <a:sym typeface="Lora"/>
                        </a:rPr>
                        <a:t>Highlights</a:t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ora"/>
                          <a:ea typeface="Lora"/>
                          <a:cs typeface="Lora"/>
                          <a:sym typeface="Lora"/>
                        </a:rPr>
                        <a:t>Best For</a:t>
                      </a:r>
                      <a:endParaRPr b="1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Streamlit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Easiest to turn Python scripts into web apps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Prototypes, dashboards, internal tools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Gradio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Instant model demos with input/output UI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Sharing ML models, testing models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Dash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Plotly-based; great for analytics dashboards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Complex visualizations, production apps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FastAPI + Frontend (React/Vue)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API backend for ML models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Scalable web apps, full production deployments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Voila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Turns Jupyter Notebooks into apps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Notebook-based workflows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Panel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Supports rich layouts and streaming data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Scientific visualizations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Flask 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Classic Python web framework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Custom UI + ML serving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Pynecone</a:t>
                      </a: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 (reflex)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New framework for fullstack apps with Python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Modern interactive web apps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612900" y="243598"/>
            <a:ext cx="81285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3. Deep Dive: Streamlit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Turn Scripts into Shareable Web Apps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384300" y="1106050"/>
            <a:ext cx="45417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●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Streamlit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is an open-source Python framework designed to transform data scripts into interactive web applications effortlessly.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●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Key Features: 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Pure Python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Rapid Development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Build and iterate apps quickly with 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hot-reloading.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Interactive Widgets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Easily add sliders, buttons, and more to your app.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Seamless Integration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Compatible with popular libraries like Pandas, NumPy, Matplotlib, and Scikit-learn.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Deployment Options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Deploy apps on Streamlit Community Cloud or integrate with platforms like AWS and Heroku.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Feels like writing a Python script</a:t>
            </a:r>
            <a:endParaRPr sz="11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0" l="0" r="0" t="9747"/>
          <a:stretch/>
        </p:blipFill>
        <p:spPr>
          <a:xfrm>
            <a:off x="5078400" y="1724099"/>
            <a:ext cx="3913200" cy="19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612900" y="243595"/>
            <a:ext cx="81285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3. </a:t>
            </a: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Deep Dive: Streamlit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Pros &amp; Cons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 rotWithShape="1">
          <a:blip r:embed="rId3">
            <a:alphaModFix/>
          </a:blip>
          <a:srcRect b="0" l="51390" r="0" t="0"/>
          <a:stretch/>
        </p:blipFill>
        <p:spPr>
          <a:xfrm>
            <a:off x="5412675" y="1235575"/>
            <a:ext cx="666050" cy="6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703075" y="1923550"/>
            <a:ext cx="3000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Ease of Use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Simplifies the process of creating web apps for ML models</a:t>
            </a:r>
            <a:b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Rapid Prototyping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Quick turnaround from model to deployable app</a:t>
            </a:r>
            <a:b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Interactive Visualizations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Built-in support for charts and plots.</a:t>
            </a:r>
            <a:b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Community Support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Active community with numerous tutorials and examples.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4218400" y="1923550"/>
            <a:ext cx="30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Limited Customization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Less flexibility compared to full-stack frameworks.</a:t>
            </a:r>
            <a:b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Performance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May not be optimal for handling high-traffic applications.</a:t>
            </a:r>
            <a:b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Session Management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Limited control over user sessions and authentication.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 b="0" l="0" r="47379" t="0"/>
          <a:stretch/>
        </p:blipFill>
        <p:spPr>
          <a:xfrm>
            <a:off x="1871275" y="1190950"/>
            <a:ext cx="788164" cy="7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/>
        </p:nvSpPr>
        <p:spPr>
          <a:xfrm>
            <a:off x="612900" y="243595"/>
            <a:ext cx="81285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4. </a:t>
            </a: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Deep Dive: </a:t>
            </a: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Gradio</a:t>
            </a:r>
            <a:endParaRPr sz="24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Create Demos &amp; Interfaces for ML Models Quickly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384300" y="1076433"/>
            <a:ext cx="46839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●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Gradio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is an open-source Python library that lets you create </a:t>
            </a: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beautiful, interactive UIs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for ML models easily.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●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Designed to make model sharing, testing, and feedback collection </a:t>
            </a: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simple and fast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 b="1"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●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Key Features: 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Minimal Code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Wrap any function with a UI using just a few lines.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Flexible Inputs/Outputs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Text, image, audio, video, file upload, and more.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Instant Sharing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Generate a shareable public link automatically.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Integration Ready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Easily integrate with TensorFlow, PyTorch, etc.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Collaborative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Let users interact and test your models live.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4125" y="1585800"/>
            <a:ext cx="3997476" cy="213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/>
        </p:nvSpPr>
        <p:spPr>
          <a:xfrm>
            <a:off x="612900" y="243595"/>
            <a:ext cx="81285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4. </a:t>
            </a: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Deep Dive: Gradio</a:t>
            </a:r>
            <a:endParaRPr sz="24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Code Example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542725" y="1258125"/>
            <a:ext cx="3464700" cy="288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#example.py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import gradio as gr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def greet(name):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return "Hello " + name + "!"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demo = gr.Interface(fn=greet, inputs="textbox", 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outputs="textbox",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allow_flagging="never" # "manual"</a:t>
            </a:r>
            <a:endParaRPr sz="1050">
              <a:solidFill>
                <a:schemeClr val="dk1"/>
              </a:solidFill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if __name__ == "__main__":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    demo.launch(</a:t>
            </a:r>
            <a:r>
              <a:rPr lang="en" sz="105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share=True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825" y="1128595"/>
            <a:ext cx="4831775" cy="256131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/>
          <p:nvPr/>
        </p:nvSpPr>
        <p:spPr>
          <a:xfrm>
            <a:off x="4241700" y="2327000"/>
            <a:ext cx="2220300" cy="344700"/>
          </a:xfrm>
          <a:prstGeom prst="rect">
            <a:avLst/>
          </a:prstGeom>
          <a:solidFill>
            <a:srgbClr val="EA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Lora"/>
                <a:ea typeface="Lora"/>
                <a:cs typeface="Lora"/>
                <a:sym typeface="Lora"/>
              </a:rPr>
              <a:t>clear</a:t>
            </a:r>
            <a:endParaRPr b="1"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9" name="Google Shape;129;p23"/>
          <p:cNvSpPr/>
          <p:nvPr/>
        </p:nvSpPr>
        <p:spPr>
          <a:xfrm>
            <a:off x="6626650" y="2278725"/>
            <a:ext cx="2220300" cy="344700"/>
          </a:xfrm>
          <a:prstGeom prst="rect">
            <a:avLst/>
          </a:prstGeom>
          <a:solidFill>
            <a:srgbClr val="F16B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Send</a:t>
            </a:r>
            <a:endParaRPr b="1" sz="12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542725" y="4244954"/>
            <a:ext cx="83043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This is a regular python file that you can just run with the python interpreter </a:t>
            </a:r>
            <a:endParaRPr sz="12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$ python example.py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/>
        </p:nvSpPr>
        <p:spPr>
          <a:xfrm>
            <a:off x="612900" y="243595"/>
            <a:ext cx="81285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4. </a:t>
            </a: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Deep Dive: Gradio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Code Example: code </a:t>
            </a:r>
            <a:r>
              <a:rPr b="1" lang="en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3"/>
              </a:rPr>
              <a:t>here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188" y="1204800"/>
            <a:ext cx="7740324" cy="34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/>
        </p:nvSpPr>
        <p:spPr>
          <a:xfrm>
            <a:off x="612900" y="243595"/>
            <a:ext cx="81285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. </a:t>
            </a: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Deep Dive: Gradio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Pros &amp; Cons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 rotWithShape="1">
          <a:blip r:embed="rId3">
            <a:alphaModFix/>
          </a:blip>
          <a:srcRect b="0" l="51390" r="0" t="0"/>
          <a:stretch/>
        </p:blipFill>
        <p:spPr>
          <a:xfrm>
            <a:off x="5412675" y="1235575"/>
            <a:ext cx="666050" cy="6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/>
          <p:nvPr/>
        </p:nvSpPr>
        <p:spPr>
          <a:xfrm>
            <a:off x="703075" y="1923550"/>
            <a:ext cx="3000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Fast Setup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Get a live interface running in minutes.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Public Sharing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Auto-generate shareable links for easy collaboration.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Customizable Inputs/Outputs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Handle text, images, audio, video seamlessly.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Lightweight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No need to build or host complicated frontends.</a:t>
            </a:r>
            <a:endParaRPr b="1" sz="13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4218400" y="1923550"/>
            <a:ext cx="3000000" cy="29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Basic Layout Options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Less control over complex UIs or multi-step workflows.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Limited Scalability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For large, high-traffic apps, you might need to combine it with bigger frameworks.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ora"/>
              <a:buChar char="●"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Customization Limits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 Less flexibility for heavy frontend design.</a:t>
            </a:r>
            <a:endParaRPr b="1" sz="13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 rotWithShape="1">
          <a:blip r:embed="rId3">
            <a:alphaModFix/>
          </a:blip>
          <a:srcRect b="0" l="0" r="47379" t="0"/>
          <a:stretch/>
        </p:blipFill>
        <p:spPr>
          <a:xfrm>
            <a:off x="1871275" y="1190950"/>
            <a:ext cx="788164" cy="7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/>
        </p:nvSpPr>
        <p:spPr>
          <a:xfrm>
            <a:off x="612900" y="243595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5. Streamlit vs. Gradio: Key Differences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151" name="Google Shape;151;p26"/>
          <p:cNvGraphicFramePr/>
          <p:nvPr/>
        </p:nvGraphicFramePr>
        <p:xfrm>
          <a:off x="274425" y="78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{0CF2C7A5-5AFA-4210-A445-F3994493716D}</a:tableStyleId>
              </a:tblPr>
              <a:tblGrid>
                <a:gridCol w="2267125"/>
                <a:gridCol w="2952250"/>
                <a:gridCol w="3375775"/>
              </a:tblGrid>
              <a:tr h="35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Feature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Streamlit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Gradio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2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Main Purpose</a:t>
                      </a:r>
                      <a:endParaRPr b="1"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Build full interactive apps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Create model demos and interfaces        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Ease of Setup</a:t>
                      </a:r>
                      <a:endParaRPr b="1"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Very easy (Python script)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Extremely easy (1–2 lines for interface)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Customization</a:t>
                      </a:r>
                      <a:endParaRPr b="1"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High (layouts, charts, components)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Moderate (custom inputs/outputs)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Best For</a:t>
                      </a:r>
                      <a:endParaRPr b="1"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Dashboards, data apps, internal tools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Quick ML demos, user input testing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Deployment</a:t>
                      </a:r>
                      <a:endParaRPr b="1"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Streamlit Cloud, AWS, GCP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Instant public links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Session/User Management</a:t>
                      </a:r>
                      <a:endParaRPr b="1"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Limited (needs add-ons for auth)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ora"/>
                          <a:ea typeface="Lora"/>
                          <a:cs typeface="Lora"/>
                          <a:sym typeface="Lora"/>
                        </a:rPr>
                        <a:t>Basic (mostly for demos, not auth-heavy)</a:t>
                      </a:r>
                      <a:endParaRPr sz="10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/>
        </p:nvSpPr>
        <p:spPr>
          <a:xfrm>
            <a:off x="612900" y="243595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6. </a:t>
            </a: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to Use Which?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612900" y="797700"/>
            <a:ext cx="54174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Choose Streamlit if:</a:t>
            </a:r>
            <a:endParaRPr b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You want to build </a:t>
            </a: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full apps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with dynamic pages and </a:t>
            </a: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dashboards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b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You need </a:t>
            </a: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more control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over app layout and UI components.</a:t>
            </a:r>
            <a:b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Choose Gradio if:</a:t>
            </a:r>
            <a:endParaRPr b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You need a </a:t>
            </a: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fast ML demo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with </a:t>
            </a: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minimal code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b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You want to </a:t>
            </a:r>
            <a:r>
              <a:rPr b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share a model publicly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without setting up servers.</a:t>
            </a:r>
            <a:endParaRPr b="1" sz="13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4100" y="973950"/>
            <a:ext cx="2894433" cy="225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/>
        </p:nvSpPr>
        <p:spPr>
          <a:xfrm>
            <a:off x="612900" y="243595"/>
            <a:ext cx="81285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Conclusion &amp; Key Takeaways</a:t>
            </a:r>
            <a:endParaRPr sz="28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612900" y="1278750"/>
            <a:ext cx="7736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Both are powerful, Pythonic tools to bridge the gap between ML models and users.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Streamlit excels at data-centric applications and offers more layout control.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Gradio excels at rapid model demo creation,  and easy sharing.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Choice depends on the specific project requirements.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Both can be containerized and deployed as part of a production workflow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/>
        </p:nvSpPr>
        <p:spPr>
          <a:xfrm>
            <a:off x="612900" y="243595"/>
            <a:ext cx="81285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Q&amp;A</a:t>
            </a:r>
            <a:endParaRPr sz="2800"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612900" y="896375"/>
            <a:ext cx="576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Questions?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