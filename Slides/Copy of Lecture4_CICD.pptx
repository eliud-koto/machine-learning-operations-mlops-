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Lora"/>
      <p:regular r:id="rId30"/>
      <p:bold r:id="rId31"/>
      <p:italic r:id="rId32"/>
      <p:boldItalic r:id="rId33"/>
    </p:embeddedFont>
    <p:embeddedFont>
      <p:font typeface="Roboto Mon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ora-bold.fntdata"/><Relationship Id="rId30" Type="http://schemas.openxmlformats.org/officeDocument/2006/relationships/font" Target="fonts/Lora-regular.fntdata"/><Relationship Id="rId11" Type="http://schemas.openxmlformats.org/officeDocument/2006/relationships/slide" Target="slides/slide6.xml"/><Relationship Id="rId33" Type="http://schemas.openxmlformats.org/officeDocument/2006/relationships/font" Target="fonts/Lora-boldItalic.fntdata"/><Relationship Id="rId10" Type="http://schemas.openxmlformats.org/officeDocument/2006/relationships/slide" Target="slides/slide5.xml"/><Relationship Id="rId32" Type="http://schemas.openxmlformats.org/officeDocument/2006/relationships/font" Target="fonts/Lora-italic.fntdata"/><Relationship Id="rId13" Type="http://schemas.openxmlformats.org/officeDocument/2006/relationships/slide" Target="slides/slide8.xml"/><Relationship Id="rId35" Type="http://schemas.openxmlformats.org/officeDocument/2006/relationships/font" Target="fonts/RobotoMono-bold.fntdata"/><Relationship Id="rId12" Type="http://schemas.openxmlformats.org/officeDocument/2006/relationships/slide" Target="slides/slide7.xml"/><Relationship Id="rId34" Type="http://schemas.openxmlformats.org/officeDocument/2006/relationships/font" Target="fonts/RobotoMono-regular.fntdata"/><Relationship Id="rId15" Type="http://schemas.openxmlformats.org/officeDocument/2006/relationships/slide" Target="slides/slide10.xml"/><Relationship Id="rId37" Type="http://schemas.openxmlformats.org/officeDocument/2006/relationships/font" Target="fonts/RobotoMono-boldItalic.fntdata"/><Relationship Id="rId14" Type="http://schemas.openxmlformats.org/officeDocument/2006/relationships/slide" Target="slides/slide9.xml"/><Relationship Id="rId36" Type="http://schemas.openxmlformats.org/officeDocument/2006/relationships/font" Target="fonts/RobotoMono-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7e5cd1152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 name="Google Shape;54;g37e5cd1152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8a61e70c67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 name="Google Shape;60;g38a61e70c67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944135eac2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 name="Google Shape;67;g3944135eac2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4667610437_0_3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 name="Google Shape;80;g34667610437_0_3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4a52b8b1e4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 name="Google Shape;86;g34a52b8b1e4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4a52b8b1e4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g34a52b8b1e4_0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4a52b8b1e4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g34a52b8b1e4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4a52b8b1e4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4a52b8b1e4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7f00ba5b5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g37f00ba5b5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4a52b8b1e4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g34a52b8b1e4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4a52b8b1e4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g34a52b8b1e4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4a52b8b1e4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g34a52b8b1e4_0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4a52b8b1e4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g34a52b8b1e4_0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4a52b8b1e4_0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g34a52b8b1e4_0_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4a52b8b1e4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g34a52b8b1e4_0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7a46a609ff_0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g37a46a609ff_0_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7a46a609ff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g37a46a609ff_0_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7a46a609ff_0_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g37a46a609ff_0_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7f3f1b42f3_1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g37f3f1b42f3_1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85c3b040d4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 name="Google Shape;189;g385c3b040d4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7f3f1b42f3_1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6" name="Google Shape;196;g37f3f1b42f3_1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8ab2b26cc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g38ab2b26cc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85c696fd18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g385c696fd18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 name="Google Shape;13;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 name="Google Shape;40;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Lora"/>
              <a:buNone/>
              <a:defRPr sz="2800">
                <a:solidFill>
                  <a:schemeClr val="dk1"/>
                </a:solidFill>
                <a:latin typeface="Lora"/>
                <a:ea typeface="Lora"/>
                <a:cs typeface="Lora"/>
                <a:sym typeface="Lora"/>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ora"/>
              <a:buChar char="●"/>
              <a:defRPr sz="1800">
                <a:solidFill>
                  <a:schemeClr val="dk2"/>
                </a:solidFill>
                <a:latin typeface="Lora"/>
                <a:ea typeface="Lora"/>
                <a:cs typeface="Lora"/>
                <a:sym typeface="Lora"/>
              </a:defRPr>
            </a:lvl1pPr>
            <a:lvl2pPr indent="-317500" lvl="1" marL="9144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2pPr>
            <a:lvl3pPr indent="-317500" lvl="2" marL="13716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3pPr>
            <a:lvl4pPr indent="-317500" lvl="3" marL="18288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4pPr>
            <a:lvl5pPr indent="-317500" lvl="4" marL="22860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5pPr>
            <a:lvl6pPr indent="-317500" lvl="5" marL="27432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6pPr>
            <a:lvl7pPr indent="-317500" lvl="6" marL="32004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7pPr>
            <a:lvl8pPr indent="-317500" lvl="7" marL="36576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8pPr>
            <a:lvl9pPr indent="-317500" lvl="8" marL="41148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7692148" y="4782312"/>
            <a:ext cx="1188720" cy="297180"/>
          </a:xfrm>
          <a:prstGeom prst="rect">
            <a:avLst/>
          </a:prstGeom>
          <a:noFill/>
          <a:ln>
            <a:noFill/>
          </a:ln>
        </p:spPr>
      </p:pic>
      <p:pic>
        <p:nvPicPr>
          <p:cNvPr id="10" name="Google Shape;10;p1"/>
          <p:cNvPicPr preferRelativeResize="0"/>
          <p:nvPr/>
        </p:nvPicPr>
        <p:blipFill>
          <a:blip r:embed="rId2">
            <a:alphaModFix/>
          </a:blip>
          <a:stretch>
            <a:fillRect/>
          </a:stretch>
        </p:blipFill>
        <p:spPr>
          <a:xfrm>
            <a:off x="154577" y="4779825"/>
            <a:ext cx="1188721" cy="23774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hyperlink" Target="https://studyx.ai/homework/110800075-process-and-tools-to-measure-technical-debt-are-not-available-o-false-o-true" TargetMode="Externa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hyperlink" Target="https://github.com/Ishangoai/AIMS_course/blob/development/.github/workflows/code_checks.y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hyperlink" Target="https://github.com/Ishangoai/AIMS_course/blob/development/.github/workflows/%20build_and_deploy.y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hyperlink" Target="https://github.com/Ishangoai/AIMS_course/blob/a1df88ab07bdf495406151eba94a18b4ca160e4a/opentofu/main.tf" TargetMode="Externa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hyperlink" Target="https://github.com/Ishangoai/AIMS_course/blob/a1df88ab07bdf495406151eba94a18b4ca160e4a/.github/workflows/opentofu-provision.y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hyperlink" Target="https://docs.github.com/en/actions/get-started/quickstart#introduction"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Quiz on Lecture 3</a:t>
            </a:r>
            <a:endParaRPr i="0" sz="700" u="none" cap="none" strike="noStrike">
              <a:solidFill>
                <a:srgbClr val="000000"/>
              </a:solidFill>
              <a:latin typeface="Lora"/>
              <a:ea typeface="Lora"/>
              <a:cs typeface="Lora"/>
              <a:sym typeface="Lora"/>
            </a:endParaRPr>
          </a:p>
        </p:txBody>
      </p:sp>
      <p:sp>
        <p:nvSpPr>
          <p:cNvPr id="57" name="Google Shape;57;p13"/>
          <p:cNvSpPr txBox="1"/>
          <p:nvPr/>
        </p:nvSpPr>
        <p:spPr>
          <a:xfrm>
            <a:off x="486900" y="700975"/>
            <a:ext cx="7896600" cy="9234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Please receive the quiz handout from Cyrille, Oliver, Vincent, Jan</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Complete the quiz in silence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Hand the quiz back</a:t>
            </a:r>
            <a:endParaRPr sz="1200">
              <a:solidFill>
                <a:schemeClr val="dk1"/>
              </a:solidFill>
              <a:latin typeface="Lora"/>
              <a:ea typeface="Lora"/>
              <a:cs typeface="Lora"/>
              <a:sym typeface="L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rtl="0" algn="l">
              <a:lnSpc>
                <a:spcPct val="139979"/>
              </a:lnSpc>
              <a:spcBef>
                <a:spcPts val="0"/>
              </a:spcBef>
              <a:spcAft>
                <a:spcPts val="0"/>
              </a:spcAft>
              <a:buClr>
                <a:schemeClr val="dk1"/>
              </a:buClr>
              <a:buSzPts val="2400"/>
              <a:buFont typeface="Arial"/>
              <a:buNone/>
            </a:pPr>
            <a:r>
              <a:rPr lang="en" sz="2400">
                <a:solidFill>
                  <a:schemeClr val="dk1"/>
                </a:solidFill>
                <a:latin typeface="Lora"/>
                <a:ea typeface="Lora"/>
                <a:cs typeface="Lora"/>
                <a:sym typeface="Lora"/>
              </a:rPr>
              <a:t>Quiz on Lecture 3</a:t>
            </a:r>
            <a:endParaRPr sz="2400">
              <a:latin typeface="Lora"/>
              <a:ea typeface="Lora"/>
              <a:cs typeface="Lora"/>
              <a:sym typeface="Lora"/>
            </a:endParaRPr>
          </a:p>
        </p:txBody>
      </p:sp>
      <p:sp>
        <p:nvSpPr>
          <p:cNvPr id="63" name="Google Shape;63;p14"/>
          <p:cNvSpPr txBox="1"/>
          <p:nvPr/>
        </p:nvSpPr>
        <p:spPr>
          <a:xfrm>
            <a:off x="-43183" y="700975"/>
            <a:ext cx="4470600" cy="3350100"/>
          </a:xfrm>
          <a:prstGeom prst="rect">
            <a:avLst/>
          </a:prstGeom>
          <a:noFill/>
          <a:ln>
            <a:noFill/>
          </a:ln>
        </p:spPr>
        <p:txBody>
          <a:bodyPr anchorCtr="0" anchor="t" bIns="91425" lIns="91425" spcFirstLastPara="1" rIns="91425" wrap="square" tIns="91425">
            <a:spAutoFit/>
          </a:bodyPr>
          <a:lstStyle/>
          <a:p>
            <a:pPr indent="-285750" lvl="0" marL="457200" rtl="0" algn="l">
              <a:lnSpc>
                <a:spcPct val="115000"/>
              </a:lnSpc>
              <a:spcBef>
                <a:spcPts val="0"/>
              </a:spcBef>
              <a:spcAft>
                <a:spcPts val="0"/>
              </a:spcAft>
              <a:buClr>
                <a:schemeClr val="dk1"/>
              </a:buClr>
              <a:buSzPts val="900"/>
              <a:buFont typeface="Lora"/>
              <a:buAutoNum type="arabicPeriod"/>
            </a:pPr>
            <a:r>
              <a:rPr lang="en" sz="900">
                <a:solidFill>
                  <a:schemeClr val="dk1"/>
                </a:solidFill>
                <a:latin typeface="Lora"/>
                <a:ea typeface="Lora"/>
                <a:cs typeface="Lora"/>
                <a:sym typeface="Lora"/>
              </a:rPr>
              <a:t>What is the main advantage of writing clean and maintainable code?</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reduces technical debt and helps others understand the codebase easily</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allows you to skip documentation completely</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shortens the execution time of the program</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makes adding new features effortless without any need for testing</a:t>
            </a:r>
            <a:r>
              <a:rPr lang="en" sz="900">
                <a:solidFill>
                  <a:schemeClr val="dk1"/>
                </a:solidFill>
                <a:latin typeface="Lora"/>
                <a:ea typeface="Lora"/>
                <a:cs typeface="Lora"/>
                <a:sym typeface="Lora"/>
              </a:rPr>
              <a:t>. </a:t>
            </a:r>
            <a:endParaRPr sz="900">
              <a:solidFill>
                <a:schemeClr val="dk1"/>
              </a:solidFill>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AutoNum type="arabicPeriod"/>
            </a:pPr>
            <a:r>
              <a:rPr lang="en" sz="900">
                <a:solidFill>
                  <a:schemeClr val="dk1"/>
                </a:solidFill>
                <a:latin typeface="Lora"/>
                <a:ea typeface="Lora"/>
                <a:cs typeface="Lora"/>
                <a:sym typeface="Lora"/>
              </a:rPr>
              <a:t>A developer writes a test to verify that a single function calculates a value correctly in isolation, without involving any databases or network calls. Which type of test does this best describe</a:t>
            </a:r>
            <a:r>
              <a:rPr lang="en" sz="900">
                <a:solidFill>
                  <a:schemeClr val="dk1"/>
                </a:solidFill>
                <a:latin typeface="Lora"/>
                <a:ea typeface="Lora"/>
                <a:cs typeface="Lora"/>
                <a:sym typeface="Lora"/>
              </a:rPr>
              <a:t>?</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Unit Test</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Integration Test</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End-to-End Test</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Pytest</a:t>
            </a:r>
            <a:endParaRPr sz="900">
              <a:solidFill>
                <a:schemeClr val="dk1"/>
              </a:solidFill>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AutoNum type="arabicPeriod"/>
            </a:pPr>
            <a:r>
              <a:rPr lang="en" sz="900">
                <a:solidFill>
                  <a:schemeClr val="dk1"/>
                </a:solidFill>
                <a:latin typeface="Lora"/>
                <a:ea typeface="Lora"/>
                <a:cs typeface="Lora"/>
                <a:sym typeface="Lora"/>
              </a:rPr>
              <a:t>What is the goal of using pull requests in a team project?</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To automatically merge any branch</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To share code updates with the team and get feedback before merging</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To make sure tests run before code goes live</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To delete old branches after pushing code</a:t>
            </a:r>
            <a:endParaRPr sz="900">
              <a:solidFill>
                <a:schemeClr val="dk1"/>
              </a:solidFill>
              <a:latin typeface="Lora"/>
              <a:ea typeface="Lora"/>
              <a:cs typeface="Lora"/>
              <a:sym typeface="Lora"/>
            </a:endParaRPr>
          </a:p>
        </p:txBody>
      </p:sp>
      <p:sp>
        <p:nvSpPr>
          <p:cNvPr id="64" name="Google Shape;64;p14"/>
          <p:cNvSpPr txBox="1"/>
          <p:nvPr/>
        </p:nvSpPr>
        <p:spPr>
          <a:xfrm>
            <a:off x="4401275" y="699050"/>
            <a:ext cx="4593600" cy="4486200"/>
          </a:xfrm>
          <a:prstGeom prst="rect">
            <a:avLst/>
          </a:prstGeom>
          <a:noFill/>
          <a:ln>
            <a:noFill/>
          </a:ln>
        </p:spPr>
        <p:txBody>
          <a:bodyPr anchorCtr="0" anchor="t" bIns="91425" lIns="91425" spcFirstLastPara="1" rIns="91425" wrap="square" tIns="91425">
            <a:spAutoFit/>
          </a:bodyPr>
          <a:lstStyle/>
          <a:p>
            <a:pPr indent="-285750" lvl="0" marL="457200" rtl="0" algn="l">
              <a:lnSpc>
                <a:spcPct val="115000"/>
              </a:lnSpc>
              <a:spcBef>
                <a:spcPts val="0"/>
              </a:spcBef>
              <a:spcAft>
                <a:spcPts val="0"/>
              </a:spcAft>
              <a:buClr>
                <a:schemeClr val="dk1"/>
              </a:buClr>
              <a:buSzPts val="900"/>
              <a:buFont typeface="Lora"/>
              <a:buAutoNum type="arabicPeriod" startAt="4"/>
            </a:pPr>
            <a:r>
              <a:rPr lang="en" sz="900">
                <a:solidFill>
                  <a:schemeClr val="dk1"/>
                </a:solidFill>
                <a:latin typeface="Lora"/>
                <a:ea typeface="Lora"/>
                <a:cs typeface="Lora"/>
                <a:sym typeface="Lora"/>
              </a:rPr>
              <a:t>What does pyright do?</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adds type-hints to your code</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checks your code for PEP8 violations</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automatically formats your code to be PEP8 compliant</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checks your code for type violations</a:t>
            </a:r>
            <a:endParaRPr sz="900">
              <a:solidFill>
                <a:schemeClr val="dk1"/>
              </a:solidFill>
              <a:latin typeface="Lora"/>
              <a:ea typeface="Lora"/>
              <a:cs typeface="Lora"/>
              <a:sym typeface="Lora"/>
            </a:endParaRPr>
          </a:p>
          <a:p>
            <a:pPr indent="-285750" lvl="0" marL="457200" rtl="0" algn="l">
              <a:lnSpc>
                <a:spcPct val="150000"/>
              </a:lnSpc>
              <a:spcBef>
                <a:spcPts val="0"/>
              </a:spcBef>
              <a:spcAft>
                <a:spcPts val="0"/>
              </a:spcAft>
              <a:buClr>
                <a:schemeClr val="dk1"/>
              </a:buClr>
              <a:buSzPts val="900"/>
              <a:buFont typeface="Lora"/>
              <a:buAutoNum type="arabicPeriod" startAt="4"/>
            </a:pPr>
            <a:r>
              <a:rPr lang="en" sz="900">
                <a:solidFill>
                  <a:schemeClr val="dk1"/>
                </a:solidFill>
                <a:latin typeface="Lora"/>
                <a:ea typeface="Lora"/>
                <a:cs typeface="Lora"/>
                <a:sym typeface="Lora"/>
              </a:rPr>
              <a:t>According to pytest's test discovery rules, which of the following function names would be identified as a valid test and executed when you run the `pytest` command?</a:t>
            </a:r>
            <a:endParaRPr sz="900">
              <a:solidFill>
                <a:schemeClr val="dk1"/>
              </a:solidFill>
              <a:latin typeface="Lora"/>
              <a:ea typeface="Lora"/>
              <a:cs typeface="Lora"/>
              <a:sym typeface="Lora"/>
            </a:endParaRPr>
          </a:p>
          <a:p>
            <a:pPr indent="-285750" lvl="1" marL="914400" rtl="0" algn="l">
              <a:lnSpc>
                <a:spcPct val="150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def check_addition():</a:t>
            </a:r>
            <a:endParaRPr sz="900">
              <a:solidFill>
                <a:schemeClr val="dk1"/>
              </a:solidFill>
              <a:latin typeface="Lora"/>
              <a:ea typeface="Lora"/>
              <a:cs typeface="Lora"/>
              <a:sym typeface="Lora"/>
            </a:endParaRPr>
          </a:p>
          <a:p>
            <a:pPr indent="-285750" lvl="1" marL="914400" rtl="0" algn="l">
              <a:lnSpc>
                <a:spcPct val="150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def addition_test():</a:t>
            </a:r>
            <a:endParaRPr sz="900">
              <a:solidFill>
                <a:schemeClr val="dk1"/>
              </a:solidFill>
              <a:latin typeface="Lora"/>
              <a:ea typeface="Lora"/>
              <a:cs typeface="Lora"/>
              <a:sym typeface="Lora"/>
            </a:endParaRPr>
          </a:p>
          <a:p>
            <a:pPr indent="-285750" lvl="1" marL="914400" rtl="0" algn="l">
              <a:lnSpc>
                <a:spcPct val="150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def test_addition():</a:t>
            </a:r>
            <a:endParaRPr sz="900">
              <a:solidFill>
                <a:schemeClr val="dk1"/>
              </a:solidFill>
              <a:latin typeface="Lora"/>
              <a:ea typeface="Lora"/>
              <a:cs typeface="Lora"/>
              <a:sym typeface="Lora"/>
            </a:endParaRPr>
          </a:p>
          <a:p>
            <a:pPr indent="-285750" lvl="1" marL="914400" rtl="0" algn="l">
              <a:lnSpc>
                <a:spcPct val="150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def run_test_addition():</a:t>
            </a:r>
            <a:endParaRPr sz="900">
              <a:solidFill>
                <a:schemeClr val="dk1"/>
              </a:solidFill>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AutoNum type="arabicPeriod" startAt="4"/>
            </a:pPr>
            <a:r>
              <a:rPr lang="en" sz="900">
                <a:solidFill>
                  <a:schemeClr val="dk1"/>
                </a:solidFill>
                <a:latin typeface="Lora"/>
                <a:ea typeface="Lora"/>
                <a:cs typeface="Lora"/>
                <a:sym typeface="Lora"/>
              </a:rPr>
              <a:t>Which sequence best describes the standard GitHub Flow?</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Create release from development -&gt; Commit to release branch -&gt; Push release to remote -&gt; Open PR to main -&gt; Merge and tag main for deployment -&gt; delete your branch</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Branch hotfix from main -&gt; Commit fix to hotfix -&gt; Push hotfix to remote -&gt; Merge hotfix directly into main -&gt; Deploy main.</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Clone repository -&gt; Commit directly to local main -&gt; Push directly to remote main -&gt; Manually notify team -&gt; Ask for approval after pushing -&gt; delete your branch</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Create feature branch from development -&gt; Add local commits -&gt; Push feature branch to remote -&gt; Open Pull Request to development -&gt; Review, approve, and merge -&gt; delete your branch</a:t>
            </a:r>
            <a:endParaRPr sz="900">
              <a:solidFill>
                <a:schemeClr val="dk1"/>
              </a:solidFill>
              <a:latin typeface="Lora"/>
              <a:ea typeface="Lora"/>
              <a:cs typeface="Lora"/>
              <a:sym typeface="Lo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rtl="0" algn="l">
              <a:lnSpc>
                <a:spcPct val="139979"/>
              </a:lnSpc>
              <a:spcBef>
                <a:spcPts val="0"/>
              </a:spcBef>
              <a:spcAft>
                <a:spcPts val="0"/>
              </a:spcAft>
              <a:buClr>
                <a:schemeClr val="dk1"/>
              </a:buClr>
              <a:buSzPts val="2400"/>
              <a:buFont typeface="Arial"/>
              <a:buNone/>
            </a:pPr>
            <a:r>
              <a:rPr lang="en" sz="2400">
                <a:solidFill>
                  <a:schemeClr val="dk1"/>
                </a:solidFill>
                <a:latin typeface="Lora"/>
                <a:ea typeface="Lora"/>
                <a:cs typeface="Lora"/>
                <a:sym typeface="Lora"/>
              </a:rPr>
              <a:t>Quiz on Lecture 3</a:t>
            </a:r>
            <a:r>
              <a:rPr lang="en" sz="2400">
                <a:solidFill>
                  <a:schemeClr val="dk1"/>
                </a:solidFill>
                <a:latin typeface="Lora"/>
                <a:ea typeface="Lora"/>
                <a:cs typeface="Lora"/>
                <a:sym typeface="Lora"/>
              </a:rPr>
              <a:t> (Answers)</a:t>
            </a:r>
            <a:endParaRPr sz="2400">
              <a:latin typeface="Lora"/>
              <a:ea typeface="Lora"/>
              <a:cs typeface="Lora"/>
              <a:sym typeface="Lora"/>
            </a:endParaRPr>
          </a:p>
        </p:txBody>
      </p:sp>
      <p:sp>
        <p:nvSpPr>
          <p:cNvPr id="70" name="Google Shape;70;p15"/>
          <p:cNvSpPr txBox="1"/>
          <p:nvPr/>
        </p:nvSpPr>
        <p:spPr>
          <a:xfrm>
            <a:off x="-43183" y="700975"/>
            <a:ext cx="4470600" cy="3350100"/>
          </a:xfrm>
          <a:prstGeom prst="rect">
            <a:avLst/>
          </a:prstGeom>
          <a:noFill/>
          <a:ln>
            <a:noFill/>
          </a:ln>
        </p:spPr>
        <p:txBody>
          <a:bodyPr anchorCtr="0" anchor="t" bIns="91425" lIns="91425" spcFirstLastPara="1" rIns="91425" wrap="square" tIns="91425">
            <a:spAutoFit/>
          </a:bodyPr>
          <a:lstStyle/>
          <a:p>
            <a:pPr indent="-285750" lvl="0" marL="457200" rtl="0" algn="l">
              <a:lnSpc>
                <a:spcPct val="115000"/>
              </a:lnSpc>
              <a:spcBef>
                <a:spcPts val="0"/>
              </a:spcBef>
              <a:spcAft>
                <a:spcPts val="0"/>
              </a:spcAft>
              <a:buClr>
                <a:schemeClr val="dk1"/>
              </a:buClr>
              <a:buSzPts val="900"/>
              <a:buFont typeface="Lora"/>
              <a:buAutoNum type="arabicPeriod"/>
            </a:pPr>
            <a:r>
              <a:rPr lang="en" sz="900">
                <a:solidFill>
                  <a:schemeClr val="dk1"/>
                </a:solidFill>
                <a:latin typeface="Lora"/>
                <a:ea typeface="Lora"/>
                <a:cs typeface="Lora"/>
                <a:sym typeface="Lora"/>
              </a:rPr>
              <a:t>What is the main advantage of writing clean and maintainable code?</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b="1" lang="en" sz="900">
                <a:solidFill>
                  <a:schemeClr val="dk1"/>
                </a:solidFill>
                <a:latin typeface="Lora"/>
                <a:ea typeface="Lora"/>
                <a:cs typeface="Lora"/>
                <a:sym typeface="Lora"/>
              </a:rPr>
              <a:t>It reduces technical debt and helps others understand the codebase easily</a:t>
            </a:r>
            <a:endParaRPr b="1"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allows you to skip documentation completely</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shortens the execution time of the program</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makes adding new features effortless without any need for testing</a:t>
            </a:r>
            <a:r>
              <a:rPr lang="en" sz="900">
                <a:solidFill>
                  <a:schemeClr val="dk1"/>
                </a:solidFill>
                <a:latin typeface="Lora"/>
                <a:ea typeface="Lora"/>
                <a:cs typeface="Lora"/>
                <a:sym typeface="Lora"/>
              </a:rPr>
              <a:t>. </a:t>
            </a:r>
            <a:endParaRPr sz="900">
              <a:solidFill>
                <a:schemeClr val="dk1"/>
              </a:solidFill>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AutoNum type="arabicPeriod"/>
            </a:pPr>
            <a:r>
              <a:rPr lang="en" sz="900">
                <a:solidFill>
                  <a:schemeClr val="dk1"/>
                </a:solidFill>
                <a:latin typeface="Lora"/>
                <a:ea typeface="Lora"/>
                <a:cs typeface="Lora"/>
                <a:sym typeface="Lora"/>
              </a:rPr>
              <a:t>A developer writes a test to verify that a single function calculates a value correctly in isolation, without involving any databases or network calls. Which type of test does this best describe</a:t>
            </a:r>
            <a:r>
              <a:rPr lang="en" sz="900">
                <a:solidFill>
                  <a:schemeClr val="dk1"/>
                </a:solidFill>
                <a:latin typeface="Lora"/>
                <a:ea typeface="Lora"/>
                <a:cs typeface="Lora"/>
                <a:sym typeface="Lora"/>
              </a:rPr>
              <a:t>?</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b="1" lang="en" sz="900">
                <a:solidFill>
                  <a:schemeClr val="dk1"/>
                </a:solidFill>
                <a:latin typeface="Lora"/>
                <a:ea typeface="Lora"/>
                <a:cs typeface="Lora"/>
                <a:sym typeface="Lora"/>
              </a:rPr>
              <a:t>Unit Test</a:t>
            </a:r>
            <a:endParaRPr b="1"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Integration Test</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End-to-End Test</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Pytest</a:t>
            </a:r>
            <a:endParaRPr sz="900">
              <a:solidFill>
                <a:schemeClr val="dk1"/>
              </a:solidFill>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AutoNum type="arabicPeriod"/>
            </a:pPr>
            <a:r>
              <a:rPr lang="en" sz="900">
                <a:solidFill>
                  <a:schemeClr val="dk1"/>
                </a:solidFill>
                <a:latin typeface="Lora"/>
                <a:ea typeface="Lora"/>
                <a:cs typeface="Lora"/>
                <a:sym typeface="Lora"/>
              </a:rPr>
              <a:t>What is the goal of using pull requests in a team project?</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To automatically merge any branch</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b="1" lang="en" sz="900">
                <a:solidFill>
                  <a:schemeClr val="dk1"/>
                </a:solidFill>
                <a:latin typeface="Lora"/>
                <a:ea typeface="Lora"/>
                <a:cs typeface="Lora"/>
                <a:sym typeface="Lora"/>
              </a:rPr>
              <a:t>To share code updates with the team and get feedback before merging</a:t>
            </a:r>
            <a:endParaRPr b="1"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To make sure tests run before code goes live</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To delete old branches after pushing code</a:t>
            </a:r>
            <a:endParaRPr sz="900">
              <a:solidFill>
                <a:schemeClr val="dk1"/>
              </a:solidFill>
              <a:latin typeface="Lora"/>
              <a:ea typeface="Lora"/>
              <a:cs typeface="Lora"/>
              <a:sym typeface="Lora"/>
            </a:endParaRPr>
          </a:p>
        </p:txBody>
      </p:sp>
      <p:sp>
        <p:nvSpPr>
          <p:cNvPr id="71" name="Google Shape;71;p15"/>
          <p:cNvSpPr txBox="1"/>
          <p:nvPr/>
        </p:nvSpPr>
        <p:spPr>
          <a:xfrm>
            <a:off x="4401275" y="699050"/>
            <a:ext cx="4593600" cy="4486200"/>
          </a:xfrm>
          <a:prstGeom prst="rect">
            <a:avLst/>
          </a:prstGeom>
          <a:noFill/>
          <a:ln>
            <a:noFill/>
          </a:ln>
        </p:spPr>
        <p:txBody>
          <a:bodyPr anchorCtr="0" anchor="t" bIns="91425" lIns="91425" spcFirstLastPara="1" rIns="91425" wrap="square" tIns="91425">
            <a:spAutoFit/>
          </a:bodyPr>
          <a:lstStyle/>
          <a:p>
            <a:pPr indent="-285750" lvl="0" marL="457200" rtl="0" algn="l">
              <a:lnSpc>
                <a:spcPct val="115000"/>
              </a:lnSpc>
              <a:spcBef>
                <a:spcPts val="0"/>
              </a:spcBef>
              <a:spcAft>
                <a:spcPts val="0"/>
              </a:spcAft>
              <a:buClr>
                <a:schemeClr val="dk1"/>
              </a:buClr>
              <a:buSzPts val="900"/>
              <a:buFont typeface="Lora"/>
              <a:buAutoNum type="arabicPeriod" startAt="4"/>
            </a:pPr>
            <a:r>
              <a:rPr lang="en" sz="900">
                <a:solidFill>
                  <a:schemeClr val="dk1"/>
                </a:solidFill>
                <a:latin typeface="Lora"/>
                <a:ea typeface="Lora"/>
                <a:cs typeface="Lora"/>
                <a:sym typeface="Lora"/>
              </a:rPr>
              <a:t>What does pyright do?</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adds type-hints to your code</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checks your code for PEP8 violations</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automatically formats your code to be PEP8 compliant</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b="1" lang="en" sz="900">
                <a:solidFill>
                  <a:schemeClr val="dk1"/>
                </a:solidFill>
                <a:latin typeface="Lora"/>
                <a:ea typeface="Lora"/>
                <a:cs typeface="Lora"/>
                <a:sym typeface="Lora"/>
              </a:rPr>
              <a:t>It checks your code for type violations</a:t>
            </a:r>
            <a:endParaRPr b="1" sz="900">
              <a:solidFill>
                <a:schemeClr val="dk1"/>
              </a:solidFill>
              <a:latin typeface="Lora"/>
              <a:ea typeface="Lora"/>
              <a:cs typeface="Lora"/>
              <a:sym typeface="Lora"/>
            </a:endParaRPr>
          </a:p>
          <a:p>
            <a:pPr indent="-285750" lvl="0" marL="457200" rtl="0" algn="l">
              <a:lnSpc>
                <a:spcPct val="150000"/>
              </a:lnSpc>
              <a:spcBef>
                <a:spcPts val="0"/>
              </a:spcBef>
              <a:spcAft>
                <a:spcPts val="0"/>
              </a:spcAft>
              <a:buClr>
                <a:schemeClr val="dk1"/>
              </a:buClr>
              <a:buSzPts val="900"/>
              <a:buFont typeface="Lora"/>
              <a:buAutoNum type="arabicPeriod" startAt="4"/>
            </a:pPr>
            <a:r>
              <a:rPr lang="en" sz="900">
                <a:solidFill>
                  <a:schemeClr val="dk1"/>
                </a:solidFill>
                <a:latin typeface="Lora"/>
                <a:ea typeface="Lora"/>
                <a:cs typeface="Lora"/>
                <a:sym typeface="Lora"/>
              </a:rPr>
              <a:t>According to pytest's test discovery rules, which of the following function names would be identified as a valid test and executed when you run the `pytest` command?</a:t>
            </a:r>
            <a:endParaRPr sz="900">
              <a:solidFill>
                <a:schemeClr val="dk1"/>
              </a:solidFill>
              <a:latin typeface="Lora"/>
              <a:ea typeface="Lora"/>
              <a:cs typeface="Lora"/>
              <a:sym typeface="Lora"/>
            </a:endParaRPr>
          </a:p>
          <a:p>
            <a:pPr indent="-285750" lvl="1" marL="914400" rtl="0" algn="l">
              <a:lnSpc>
                <a:spcPct val="150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def check_addition():</a:t>
            </a:r>
            <a:endParaRPr sz="900">
              <a:solidFill>
                <a:schemeClr val="dk1"/>
              </a:solidFill>
              <a:latin typeface="Lora"/>
              <a:ea typeface="Lora"/>
              <a:cs typeface="Lora"/>
              <a:sym typeface="Lora"/>
            </a:endParaRPr>
          </a:p>
          <a:p>
            <a:pPr indent="-285750" lvl="1" marL="914400" rtl="0" algn="l">
              <a:lnSpc>
                <a:spcPct val="150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def addition_test():</a:t>
            </a:r>
            <a:endParaRPr sz="900">
              <a:solidFill>
                <a:schemeClr val="dk1"/>
              </a:solidFill>
              <a:latin typeface="Lora"/>
              <a:ea typeface="Lora"/>
              <a:cs typeface="Lora"/>
              <a:sym typeface="Lora"/>
            </a:endParaRPr>
          </a:p>
          <a:p>
            <a:pPr indent="-285750" lvl="1" marL="914400" rtl="0" algn="l">
              <a:lnSpc>
                <a:spcPct val="150000"/>
              </a:lnSpc>
              <a:spcBef>
                <a:spcPts val="0"/>
              </a:spcBef>
              <a:spcAft>
                <a:spcPts val="0"/>
              </a:spcAft>
              <a:buClr>
                <a:schemeClr val="dk1"/>
              </a:buClr>
              <a:buSzPts val="900"/>
              <a:buFont typeface="Lora"/>
              <a:buAutoNum type="alphaLcPeriod"/>
            </a:pPr>
            <a:r>
              <a:rPr b="1" lang="en" sz="900">
                <a:solidFill>
                  <a:schemeClr val="dk1"/>
                </a:solidFill>
                <a:latin typeface="Lora"/>
                <a:ea typeface="Lora"/>
                <a:cs typeface="Lora"/>
                <a:sym typeface="Lora"/>
              </a:rPr>
              <a:t>def test_addition():</a:t>
            </a:r>
            <a:endParaRPr b="1" sz="900">
              <a:solidFill>
                <a:schemeClr val="dk1"/>
              </a:solidFill>
              <a:latin typeface="Lora"/>
              <a:ea typeface="Lora"/>
              <a:cs typeface="Lora"/>
              <a:sym typeface="Lora"/>
            </a:endParaRPr>
          </a:p>
          <a:p>
            <a:pPr indent="-285750" lvl="1" marL="914400" rtl="0" algn="l">
              <a:lnSpc>
                <a:spcPct val="150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def run_test_addition():</a:t>
            </a:r>
            <a:endParaRPr sz="900">
              <a:solidFill>
                <a:schemeClr val="dk1"/>
              </a:solidFill>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AutoNum type="arabicPeriod" startAt="4"/>
            </a:pPr>
            <a:r>
              <a:rPr lang="en" sz="900">
                <a:solidFill>
                  <a:schemeClr val="dk1"/>
                </a:solidFill>
                <a:latin typeface="Lora"/>
                <a:ea typeface="Lora"/>
                <a:cs typeface="Lora"/>
                <a:sym typeface="Lora"/>
              </a:rPr>
              <a:t>Which sequence best describes the standard GitHub Flow?</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Create release from development -&gt; Commit to release branch -&gt; Push release to remote -&gt; Open PR to main -&gt; Merge and tag main for deployment -&gt; delete your branch</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Branch hotfix from main -&gt; Commit fix to hotfix -&gt; Push hotfix to remote -&gt; Merge hotfix directly into main -&gt; Deploy main.</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Clone repository -&gt; Commit directly to local main -&gt; Push directly to remote main -&gt; Manually notify team -&gt; Ask for approval after pushing -&gt; delete your branch</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b="1" lang="en" sz="900">
                <a:solidFill>
                  <a:schemeClr val="dk1"/>
                </a:solidFill>
                <a:latin typeface="Lora"/>
                <a:ea typeface="Lora"/>
                <a:cs typeface="Lora"/>
                <a:sym typeface="Lora"/>
              </a:rPr>
              <a:t>Create feature branch from development -&gt; Add local commits -&gt; Push feature branch to remote -&gt; Open Pull Request to development -&gt; Review, approve, and merge -&gt; delete your branch</a:t>
            </a:r>
            <a:endParaRPr b="1" sz="900">
              <a:solidFill>
                <a:schemeClr val="dk1"/>
              </a:solidFill>
              <a:latin typeface="Lora"/>
              <a:ea typeface="Lora"/>
              <a:cs typeface="Lora"/>
              <a:sym typeface="Lo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nvSpPr>
        <p:spPr>
          <a:xfrm>
            <a:off x="-125" y="575250"/>
            <a:ext cx="9144000" cy="205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700">
                <a:solidFill>
                  <a:schemeClr val="dk2"/>
                </a:solidFill>
                <a:latin typeface="Lora"/>
                <a:ea typeface="Lora"/>
                <a:cs typeface="Lora"/>
                <a:sym typeface="Lora"/>
              </a:rPr>
              <a:t>Designing and Deploying </a:t>
            </a:r>
            <a:endParaRPr sz="3700">
              <a:solidFill>
                <a:schemeClr val="dk2"/>
              </a:solidFill>
              <a:latin typeface="Lora"/>
              <a:ea typeface="Lora"/>
              <a:cs typeface="Lora"/>
              <a:sym typeface="Lora"/>
            </a:endParaRPr>
          </a:p>
          <a:p>
            <a:pPr indent="0" lvl="0" marL="0" rtl="0" algn="ctr">
              <a:spcBef>
                <a:spcPts val="0"/>
              </a:spcBef>
              <a:spcAft>
                <a:spcPts val="0"/>
              </a:spcAft>
              <a:buNone/>
            </a:pPr>
            <a:r>
              <a:rPr lang="en" sz="3700">
                <a:solidFill>
                  <a:schemeClr val="dk2"/>
                </a:solidFill>
                <a:latin typeface="Lora"/>
                <a:ea typeface="Lora"/>
                <a:cs typeface="Lora"/>
                <a:sym typeface="Lora"/>
              </a:rPr>
              <a:t>end-to-end </a:t>
            </a:r>
            <a:endParaRPr sz="3700">
              <a:solidFill>
                <a:schemeClr val="dk2"/>
              </a:solidFill>
              <a:latin typeface="Lora"/>
              <a:ea typeface="Lora"/>
              <a:cs typeface="Lora"/>
              <a:sym typeface="Lora"/>
            </a:endParaRPr>
          </a:p>
          <a:p>
            <a:pPr indent="0" lvl="0" marL="0" rtl="0" algn="ctr">
              <a:spcBef>
                <a:spcPts val="0"/>
              </a:spcBef>
              <a:spcAft>
                <a:spcPts val="0"/>
              </a:spcAft>
              <a:buNone/>
            </a:pPr>
            <a:r>
              <a:rPr lang="en" sz="3700">
                <a:solidFill>
                  <a:schemeClr val="dk2"/>
                </a:solidFill>
                <a:latin typeface="Lora"/>
                <a:ea typeface="Lora"/>
                <a:cs typeface="Lora"/>
                <a:sym typeface="Lora"/>
              </a:rPr>
              <a:t>Production Grade ML Applicatio</a:t>
            </a:r>
            <a:r>
              <a:rPr lang="en" sz="3700">
                <a:solidFill>
                  <a:schemeClr val="dk2"/>
                </a:solidFill>
                <a:latin typeface="Lora"/>
                <a:ea typeface="Lora"/>
                <a:cs typeface="Lora"/>
                <a:sym typeface="Lora"/>
              </a:rPr>
              <a:t>ns</a:t>
            </a:r>
            <a:endParaRPr sz="3700">
              <a:solidFill>
                <a:schemeClr val="dk2"/>
              </a:solidFill>
              <a:latin typeface="Lora"/>
              <a:ea typeface="Lora"/>
              <a:cs typeface="Lora"/>
              <a:sym typeface="Lora"/>
            </a:endParaRPr>
          </a:p>
          <a:p>
            <a:pPr indent="0" lvl="0" marL="0" rtl="0" algn="ctr">
              <a:spcBef>
                <a:spcPts val="0"/>
              </a:spcBef>
              <a:spcAft>
                <a:spcPts val="0"/>
              </a:spcAft>
              <a:buNone/>
            </a:pPr>
            <a:r>
              <a:t/>
            </a:r>
            <a:endParaRPr sz="3700">
              <a:solidFill>
                <a:schemeClr val="dk2"/>
              </a:solidFill>
              <a:latin typeface="Lora"/>
              <a:ea typeface="Lora"/>
              <a:cs typeface="Lora"/>
              <a:sym typeface="Lora"/>
            </a:endParaRPr>
          </a:p>
          <a:p>
            <a:pPr indent="0" lvl="0" marL="0" rtl="0" algn="ctr">
              <a:spcBef>
                <a:spcPts val="0"/>
              </a:spcBef>
              <a:spcAft>
                <a:spcPts val="0"/>
              </a:spcAft>
              <a:buNone/>
            </a:pPr>
            <a:r>
              <a:rPr lang="en" sz="2400">
                <a:solidFill>
                  <a:schemeClr val="dk2"/>
                </a:solidFill>
                <a:latin typeface="Lora"/>
                <a:ea typeface="Lora"/>
                <a:cs typeface="Lora"/>
                <a:sym typeface="Lora"/>
              </a:rPr>
              <a:t> Lecture 4: </a:t>
            </a:r>
            <a:r>
              <a:rPr lang="en" sz="2400">
                <a:solidFill>
                  <a:schemeClr val="dk2"/>
                </a:solidFill>
                <a:latin typeface="Lora"/>
                <a:ea typeface="Lora"/>
                <a:cs typeface="Lora"/>
                <a:sym typeface="Lora"/>
              </a:rPr>
              <a:t>CI/CD </a:t>
            </a:r>
            <a:r>
              <a:rPr lang="en" sz="2400">
                <a:solidFill>
                  <a:schemeClr val="dk2"/>
                </a:solidFill>
                <a:latin typeface="Lora"/>
                <a:ea typeface="Lora"/>
                <a:cs typeface="Lora"/>
                <a:sym typeface="Lora"/>
              </a:rPr>
              <a:t>with Github Actions</a:t>
            </a:r>
            <a:endParaRPr sz="2400">
              <a:solidFill>
                <a:schemeClr val="dk2"/>
              </a:solidFill>
              <a:latin typeface="Lora"/>
              <a:ea typeface="Lora"/>
              <a:cs typeface="Lora"/>
              <a:sym typeface="Lora"/>
            </a:endParaRPr>
          </a:p>
        </p:txBody>
      </p:sp>
      <p:sp>
        <p:nvSpPr>
          <p:cNvPr id="77" name="Google Shape;77;p16"/>
          <p:cNvSpPr txBox="1"/>
          <p:nvPr/>
        </p:nvSpPr>
        <p:spPr>
          <a:xfrm>
            <a:off x="-117" y="3838750"/>
            <a:ext cx="9144000" cy="8004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1600">
                <a:solidFill>
                  <a:schemeClr val="dk2"/>
                </a:solidFill>
                <a:latin typeface="Lora"/>
                <a:ea typeface="Lora"/>
                <a:cs typeface="Lora"/>
                <a:sym typeface="Lora"/>
              </a:rPr>
              <a:t>October 2025</a:t>
            </a:r>
            <a:endParaRPr sz="1600">
              <a:solidFill>
                <a:schemeClr val="dk2"/>
              </a:solidFill>
              <a:latin typeface="Lora"/>
              <a:ea typeface="Lora"/>
              <a:cs typeface="Lora"/>
              <a:sym typeface="Lora"/>
            </a:endParaRPr>
          </a:p>
          <a:p>
            <a:pPr indent="0" lvl="0" marL="0" rtl="0" algn="ctr">
              <a:lnSpc>
                <a:spcPct val="150000"/>
              </a:lnSpc>
              <a:spcBef>
                <a:spcPts val="0"/>
              </a:spcBef>
              <a:spcAft>
                <a:spcPts val="0"/>
              </a:spcAft>
              <a:buNone/>
            </a:pPr>
            <a:r>
              <a:rPr lang="en" sz="1600">
                <a:solidFill>
                  <a:schemeClr val="dk2"/>
                </a:solidFill>
                <a:latin typeface="Lora"/>
                <a:ea typeface="Lora"/>
                <a:cs typeface="Lora"/>
                <a:sym typeface="Lora"/>
              </a:rPr>
              <a:t>Vincent Frimpong </a:t>
            </a:r>
            <a:r>
              <a:rPr lang="en" sz="1600">
                <a:solidFill>
                  <a:schemeClr val="dk2"/>
                </a:solidFill>
                <a:latin typeface="Lora"/>
                <a:ea typeface="Lora"/>
                <a:cs typeface="Lora"/>
                <a:sym typeface="Lora"/>
              </a:rPr>
              <a:t>&amp; </a:t>
            </a:r>
            <a:r>
              <a:rPr lang="en" sz="1600">
                <a:solidFill>
                  <a:schemeClr val="dk2"/>
                </a:solidFill>
                <a:latin typeface="Lora"/>
                <a:ea typeface="Lora"/>
                <a:cs typeface="Lora"/>
                <a:sym typeface="Lora"/>
              </a:rPr>
              <a:t>Cyrille Feudjio</a:t>
            </a:r>
            <a:endParaRPr sz="1600">
              <a:solidFill>
                <a:schemeClr val="dk2"/>
              </a:solidFill>
              <a:latin typeface="Lora"/>
              <a:ea typeface="Lora"/>
              <a:cs typeface="Lora"/>
              <a:sym typeface="Lo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i="0" lang="en" sz="2400" u="none" cap="none" strike="noStrike">
                <a:solidFill>
                  <a:srgbClr val="000000"/>
                </a:solidFill>
                <a:latin typeface="Lora"/>
                <a:ea typeface="Lora"/>
                <a:cs typeface="Lora"/>
                <a:sym typeface="Lora"/>
              </a:rPr>
              <a:t>Contents of this lecture</a:t>
            </a:r>
            <a:endParaRPr i="0" sz="700" u="none" cap="none" strike="noStrike">
              <a:solidFill>
                <a:srgbClr val="000000"/>
              </a:solidFill>
              <a:latin typeface="Lora"/>
              <a:ea typeface="Lora"/>
              <a:cs typeface="Lora"/>
              <a:sym typeface="Lora"/>
            </a:endParaRPr>
          </a:p>
        </p:txBody>
      </p:sp>
      <p:sp>
        <p:nvSpPr>
          <p:cNvPr id="83" name="Google Shape;83;p17"/>
          <p:cNvSpPr txBox="1"/>
          <p:nvPr/>
        </p:nvSpPr>
        <p:spPr>
          <a:xfrm>
            <a:off x="486900" y="700975"/>
            <a:ext cx="7896600" cy="36942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The Goal: Automating our workflow</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What Exactly Is CI/CD?</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Introducing Github actions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Core Concepts of Github Actions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CI/CD in Action: Three Core Use Cases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Use Case #1: Automating Code Quality Checks (CI)</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Example Workflow: The CI Pipeline for Code Checks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Use Case #2: Automating Deployment (CD)</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Example Workflow: The CD Pipeline for Deployment</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Use Case #3: Automating Infrastructure (IaC)</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Example Workflow: Provisioning with Opentofu</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Tying It All Together: A Complete Workflow</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Conclusion &amp; Key Takeaways</a:t>
            </a:r>
            <a:endParaRPr sz="1200">
              <a:solidFill>
                <a:schemeClr val="dk1"/>
              </a:solidFill>
              <a:latin typeface="Lora"/>
              <a:ea typeface="Lora"/>
              <a:cs typeface="Lora"/>
              <a:sym typeface="Lo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nvSpPr>
        <p:spPr>
          <a:xfrm>
            <a:off x="393200" y="243600"/>
            <a:ext cx="8508300" cy="886500"/>
          </a:xfrm>
          <a:prstGeom prst="rect">
            <a:avLst/>
          </a:prstGeom>
          <a:noFill/>
          <a:ln>
            <a:noFill/>
          </a:ln>
        </p:spPr>
        <p:txBody>
          <a:bodyPr anchorCtr="0" anchor="t" bIns="0" lIns="0" spcFirstLastPara="1" rIns="0" wrap="square" tIns="0">
            <a:spAutoFit/>
          </a:bodyPr>
          <a:lstStyle/>
          <a:p>
            <a:pPr indent="-381000" lvl="0" marL="457200" marR="0" rtl="0" algn="l">
              <a:lnSpc>
                <a:spcPct val="139979"/>
              </a:lnSpc>
              <a:spcBef>
                <a:spcPts val="0"/>
              </a:spcBef>
              <a:spcAft>
                <a:spcPts val="0"/>
              </a:spcAft>
              <a:buSzPts val="2400"/>
              <a:buFont typeface="Lora"/>
              <a:buAutoNum type="arabicPeriod"/>
            </a:pPr>
            <a:r>
              <a:rPr lang="en" sz="2400">
                <a:latin typeface="Lora"/>
                <a:ea typeface="Lora"/>
                <a:cs typeface="Lora"/>
                <a:sym typeface="Lora"/>
              </a:rPr>
              <a:t>The Goal: Automating Our Workflow</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89" name="Google Shape;89;p18"/>
          <p:cNvSpPr txBox="1"/>
          <p:nvPr/>
        </p:nvSpPr>
        <p:spPr>
          <a:xfrm>
            <a:off x="486900" y="700975"/>
            <a:ext cx="7896600" cy="238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latin typeface="Lora"/>
                <a:ea typeface="Lora"/>
                <a:cs typeface="Lora"/>
                <a:sym typeface="Lora"/>
              </a:rPr>
              <a:t>We have learnt about Docker &amp; Containers, Testing and writing clean code, and building interactive applications with Gradio. How do we automate the entire process of testing, packaging, and deploying our app reliably every single time we make a change?</a:t>
            </a:r>
            <a:endParaRPr sz="1100">
              <a:solidFill>
                <a:schemeClr val="dk1"/>
              </a:solidFill>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latin typeface="Lora"/>
                <a:ea typeface="Lora"/>
                <a:cs typeface="Lora"/>
                <a:sym typeface="Lora"/>
              </a:rPr>
              <a:t>Our goal is to create a system that automatically:</a:t>
            </a:r>
            <a:endParaRPr b="1" sz="1100">
              <a:solidFill>
                <a:schemeClr val="dk1"/>
              </a:solidFill>
              <a:latin typeface="Lora"/>
              <a:ea typeface="Lora"/>
              <a:cs typeface="Lora"/>
              <a:sym typeface="Lora"/>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latin typeface="Lora"/>
                <a:ea typeface="Lora"/>
                <a:cs typeface="Lora"/>
                <a:sym typeface="Lora"/>
              </a:rPr>
              <a:t>Validates</a:t>
            </a:r>
            <a:r>
              <a:rPr lang="en" sz="1100">
                <a:solidFill>
                  <a:schemeClr val="dk1"/>
                </a:solidFill>
                <a:latin typeface="Lora"/>
                <a:ea typeface="Lora"/>
                <a:cs typeface="Lora"/>
                <a:sym typeface="Lora"/>
              </a:rPr>
              <a:t> our code quality and correctness.</a:t>
            </a:r>
            <a:endParaRPr sz="1100">
              <a:solidFill>
                <a:schemeClr val="dk1"/>
              </a:solidFill>
              <a:latin typeface="Lora"/>
              <a:ea typeface="Lora"/>
              <a:cs typeface="Lora"/>
              <a:sym typeface="Lora"/>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ora"/>
                <a:ea typeface="Lora"/>
                <a:cs typeface="Lora"/>
                <a:sym typeface="Lora"/>
              </a:rPr>
              <a:t>Packages</a:t>
            </a:r>
            <a:r>
              <a:rPr lang="en" sz="1100">
                <a:solidFill>
                  <a:schemeClr val="dk1"/>
                </a:solidFill>
                <a:latin typeface="Lora"/>
                <a:ea typeface="Lora"/>
                <a:cs typeface="Lora"/>
                <a:sym typeface="Lora"/>
              </a:rPr>
              <a:t> our Gradio app into a Docker container.</a:t>
            </a:r>
            <a:endParaRPr sz="1100">
              <a:solidFill>
                <a:schemeClr val="dk1"/>
              </a:solidFill>
              <a:latin typeface="Lora"/>
              <a:ea typeface="Lora"/>
              <a:cs typeface="Lora"/>
              <a:sym typeface="Lora"/>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ora"/>
                <a:ea typeface="Lora"/>
                <a:cs typeface="Lora"/>
                <a:sym typeface="Lora"/>
              </a:rPr>
              <a:t>Deploys</a:t>
            </a:r>
            <a:r>
              <a:rPr lang="en" sz="1100">
                <a:solidFill>
                  <a:schemeClr val="dk1"/>
                </a:solidFill>
                <a:latin typeface="Lora"/>
                <a:ea typeface="Lora"/>
                <a:cs typeface="Lora"/>
                <a:sym typeface="Lora"/>
              </a:rPr>
              <a:t> that container to a live environment on GCP(or any cloud provider).</a:t>
            </a:r>
            <a:endParaRPr sz="1100">
              <a:solidFill>
                <a:schemeClr val="dk1"/>
              </a:solidFill>
              <a:latin typeface="Lora"/>
              <a:ea typeface="Lora"/>
              <a:cs typeface="Lora"/>
              <a:sym typeface="Lora"/>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ora"/>
                <a:ea typeface="Lora"/>
                <a:cs typeface="Lora"/>
                <a:sym typeface="Lora"/>
              </a:rPr>
              <a:t>Provisions</a:t>
            </a:r>
            <a:r>
              <a:rPr lang="en" sz="1100">
                <a:solidFill>
                  <a:schemeClr val="dk1"/>
                </a:solidFill>
                <a:latin typeface="Lora"/>
                <a:ea typeface="Lora"/>
                <a:cs typeface="Lora"/>
                <a:sym typeface="Lora"/>
              </a:rPr>
              <a:t> the very infrastructure it runs on.</a:t>
            </a:r>
            <a:endParaRPr sz="1200">
              <a:solidFill>
                <a:schemeClr val="dk1"/>
              </a:solidFill>
              <a:latin typeface="Lora"/>
              <a:ea typeface="Lora"/>
              <a:cs typeface="Lora"/>
              <a:sym typeface="Lora"/>
            </a:endParaRPr>
          </a:p>
          <a:p>
            <a:pPr indent="0" lvl="0" marL="0" rtl="0" algn="l">
              <a:lnSpc>
                <a:spcPct val="150000"/>
              </a:lnSpc>
              <a:spcBef>
                <a:spcPts val="1200"/>
              </a:spcBef>
              <a:spcAft>
                <a:spcPts val="0"/>
              </a:spcAft>
              <a:buNone/>
            </a:pPr>
            <a:r>
              <a:t/>
            </a:r>
            <a:endParaRPr sz="1200">
              <a:solidFill>
                <a:schemeClr val="dk1"/>
              </a:solidFill>
              <a:latin typeface="Lora"/>
              <a:ea typeface="Lora"/>
              <a:cs typeface="Lora"/>
              <a:sym typeface="Lora"/>
            </a:endParaRPr>
          </a:p>
        </p:txBody>
      </p:sp>
      <p:pic>
        <p:nvPicPr>
          <p:cNvPr id="90" name="Google Shape;90;p18"/>
          <p:cNvPicPr preferRelativeResize="0"/>
          <p:nvPr/>
        </p:nvPicPr>
        <p:blipFill>
          <a:blip r:embed="rId3">
            <a:alphaModFix/>
          </a:blip>
          <a:stretch>
            <a:fillRect/>
          </a:stretch>
        </p:blipFill>
        <p:spPr>
          <a:xfrm>
            <a:off x="768750" y="2662725"/>
            <a:ext cx="4147322" cy="1748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nvSpPr>
        <p:spPr>
          <a:xfrm>
            <a:off x="612896" y="243588"/>
            <a:ext cx="8128500" cy="14037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What Exactly Is CI/CD?</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96" name="Google Shape;96;p19"/>
          <p:cNvSpPr txBox="1"/>
          <p:nvPr/>
        </p:nvSpPr>
        <p:spPr>
          <a:xfrm>
            <a:off x="486900" y="700975"/>
            <a:ext cx="7896600" cy="1662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b="1" lang="en" sz="1100">
                <a:solidFill>
                  <a:schemeClr val="dk1"/>
                </a:solidFill>
                <a:latin typeface="Lora"/>
                <a:ea typeface="Lora"/>
                <a:cs typeface="Lora"/>
                <a:sym typeface="Lora"/>
              </a:rPr>
              <a:t>Continuous Integration (CI): T</a:t>
            </a:r>
            <a:r>
              <a:rPr lang="en" sz="1100">
                <a:solidFill>
                  <a:schemeClr val="dk1"/>
                </a:solidFill>
                <a:latin typeface="Lora"/>
                <a:ea typeface="Lora"/>
                <a:cs typeface="Lora"/>
                <a:sym typeface="Lora"/>
              </a:rPr>
              <a:t>he practice of frequently merging code changes into a central repository. After each trigger (eg. raising or merging a PR), </a:t>
            </a:r>
            <a:r>
              <a:rPr lang="en" sz="1100">
                <a:solidFill>
                  <a:schemeClr val="dk1"/>
                </a:solidFill>
                <a:latin typeface="Lora"/>
                <a:ea typeface="Lora"/>
                <a:cs typeface="Lora"/>
                <a:sym typeface="Lora"/>
              </a:rPr>
              <a:t>automated builds and tests run.</a:t>
            </a:r>
            <a:endParaRPr sz="11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b="1" lang="en" sz="1100">
                <a:solidFill>
                  <a:schemeClr val="dk1"/>
                </a:solidFill>
                <a:latin typeface="Lora"/>
                <a:ea typeface="Lora"/>
                <a:cs typeface="Lora"/>
                <a:sym typeface="Lora"/>
              </a:rPr>
              <a:t>Continuous Deployment (CD):</a:t>
            </a:r>
            <a:r>
              <a:rPr lang="en" sz="1100">
                <a:solidFill>
                  <a:schemeClr val="dk1"/>
                </a:solidFill>
                <a:latin typeface="Lora"/>
                <a:ea typeface="Lora"/>
                <a:cs typeface="Lora"/>
                <a:sym typeface="Lora"/>
              </a:rPr>
              <a:t> The final step to automatically deploy every change that passes all tests directly to production.</a:t>
            </a:r>
            <a:endParaRPr sz="1100" u="sng">
              <a:solidFill>
                <a:schemeClr val="hlink"/>
              </a:solidFill>
              <a:latin typeface="Lora"/>
              <a:ea typeface="Lora"/>
              <a:cs typeface="Lora"/>
              <a:sym typeface="Lora"/>
              <a:hlinkClick r:id="rId3"/>
            </a:endParaRPr>
          </a:p>
          <a:p>
            <a:pPr indent="0" lvl="0" marL="0" rtl="0" algn="l">
              <a:lnSpc>
                <a:spcPct val="150000"/>
              </a:lnSpc>
              <a:spcBef>
                <a:spcPts val="0"/>
              </a:spcBef>
              <a:spcAft>
                <a:spcPts val="0"/>
              </a:spcAft>
              <a:buClr>
                <a:schemeClr val="dk1"/>
              </a:buClr>
              <a:buSzPts val="1100"/>
              <a:buFont typeface="Arial"/>
              <a:buNone/>
            </a:pPr>
            <a:r>
              <a:rPr i="1" lang="en" sz="1200">
                <a:solidFill>
                  <a:schemeClr val="dk1"/>
                </a:solidFill>
                <a:latin typeface="Lora"/>
                <a:ea typeface="Lora"/>
                <a:cs typeface="Lora"/>
                <a:sym typeface="Lora"/>
              </a:rPr>
              <a:t>CD is sometimes referred to as Continuous Delivery in projects that conclude  with a formal release rather than a cloud deployment, such as libraries and packages.</a:t>
            </a:r>
            <a:endParaRPr i="1" sz="1200">
              <a:solidFill>
                <a:schemeClr val="dk1"/>
              </a:solidFill>
              <a:latin typeface="Lora"/>
              <a:ea typeface="Lora"/>
              <a:cs typeface="Lora"/>
              <a:sym typeface="Lora"/>
            </a:endParaRPr>
          </a:p>
        </p:txBody>
      </p:sp>
      <p:pic>
        <p:nvPicPr>
          <p:cNvPr id="97" name="Google Shape;97;p19"/>
          <p:cNvPicPr preferRelativeResize="0"/>
          <p:nvPr/>
        </p:nvPicPr>
        <p:blipFill>
          <a:blip r:embed="rId4">
            <a:alphaModFix/>
          </a:blip>
          <a:stretch>
            <a:fillRect/>
          </a:stretch>
        </p:blipFill>
        <p:spPr>
          <a:xfrm>
            <a:off x="1845138" y="2324875"/>
            <a:ext cx="4920175" cy="25138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nvSpPr>
        <p:spPr>
          <a:xfrm>
            <a:off x="612896" y="243588"/>
            <a:ext cx="8128500" cy="24378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3. Introducing Github actions</a:t>
            </a:r>
            <a:endParaRPr sz="2400">
              <a:latin typeface="Lora"/>
              <a:ea typeface="Lora"/>
              <a:cs typeface="Lora"/>
              <a:sym typeface="Lora"/>
            </a:endParaRPr>
          </a:p>
          <a:p>
            <a:pPr indent="0" lvl="0" marL="0" rtl="0" algn="l">
              <a:lnSpc>
                <a:spcPct val="139979"/>
              </a:lnSpc>
              <a:spcBef>
                <a:spcPts val="0"/>
              </a:spcBef>
              <a:spcAft>
                <a:spcPts val="0"/>
              </a:spcAft>
              <a:buClr>
                <a:schemeClr val="dk1"/>
              </a:buClr>
              <a:buSzPts val="11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103" name="Google Shape;103;p20"/>
          <p:cNvSpPr txBox="1"/>
          <p:nvPr/>
        </p:nvSpPr>
        <p:spPr>
          <a:xfrm>
            <a:off x="486900" y="700975"/>
            <a:ext cx="7896600" cy="2673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 sz="1100">
                <a:solidFill>
                  <a:schemeClr val="dk1"/>
                </a:solidFill>
                <a:latin typeface="Lora"/>
                <a:ea typeface="Lora"/>
                <a:cs typeface="Lora"/>
                <a:sym typeface="Lora"/>
              </a:rPr>
              <a:t>A powerful CI/CD platform that lets you automate workflows directly from your GitHub repository. It's event-driven and deeply integrated with the GitHub ecosystem.</a:t>
            </a:r>
            <a:endParaRPr sz="11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t/>
            </a:r>
            <a:endParaRPr sz="11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b="1" lang="en" sz="1100">
                <a:solidFill>
                  <a:schemeClr val="dk1"/>
                </a:solidFill>
                <a:latin typeface="Lora"/>
                <a:ea typeface="Lora"/>
                <a:cs typeface="Lora"/>
                <a:sym typeface="Lora"/>
              </a:rPr>
              <a:t>How does it work?</a:t>
            </a:r>
            <a:r>
              <a:rPr lang="en" sz="1100">
                <a:solidFill>
                  <a:schemeClr val="dk1"/>
                </a:solidFill>
                <a:latin typeface="Lora"/>
                <a:ea typeface="Lora"/>
                <a:cs typeface="Lora"/>
                <a:sym typeface="Lora"/>
              </a:rPr>
              <a:t> You define workflows using YAML files in a special directory: </a:t>
            </a:r>
            <a:r>
              <a:rPr lang="en" sz="1100">
                <a:solidFill>
                  <a:srgbClr val="188038"/>
                </a:solidFill>
                <a:latin typeface="Lora"/>
                <a:ea typeface="Lora"/>
                <a:cs typeface="Lora"/>
                <a:sym typeface="Lora"/>
              </a:rPr>
              <a:t>.github/workflows/</a:t>
            </a:r>
            <a:r>
              <a:rPr lang="en" sz="1100">
                <a:solidFill>
                  <a:schemeClr val="dk1"/>
                </a:solidFill>
                <a:latin typeface="Lora"/>
                <a:ea typeface="Lora"/>
                <a:cs typeface="Lora"/>
                <a:sym typeface="Lora"/>
              </a:rPr>
              <a:t>. Your workflows run on servers called </a:t>
            </a:r>
            <a:r>
              <a:rPr b="1" lang="en" sz="1100">
                <a:solidFill>
                  <a:schemeClr val="dk1"/>
                </a:solidFill>
                <a:latin typeface="Lora"/>
                <a:ea typeface="Lora"/>
                <a:cs typeface="Lora"/>
                <a:sym typeface="Lora"/>
              </a:rPr>
              <a:t>runners</a:t>
            </a:r>
            <a:r>
              <a:rPr lang="en" sz="1100">
                <a:solidFill>
                  <a:schemeClr val="dk1"/>
                </a:solidFill>
                <a:latin typeface="Lora"/>
                <a:ea typeface="Lora"/>
                <a:cs typeface="Lora"/>
                <a:sym typeface="Lora"/>
              </a:rPr>
              <a:t>(temporary vm’s  that spin up to execute jobs)</a:t>
            </a:r>
            <a:r>
              <a:rPr lang="en" sz="1100">
                <a:solidFill>
                  <a:schemeClr val="dk1"/>
                </a:solidFill>
                <a:latin typeface="Lora"/>
                <a:ea typeface="Lora"/>
                <a:cs typeface="Lora"/>
                <a:sym typeface="Lora"/>
              </a:rPr>
              <a:t>. GitHub provides free runners for public repos.</a:t>
            </a:r>
            <a:endParaRPr sz="1100">
              <a:solidFill>
                <a:schemeClr val="dk1"/>
              </a:solidFill>
              <a:latin typeface="Lora"/>
              <a:ea typeface="Lora"/>
              <a:cs typeface="Lora"/>
              <a:sym typeface="Lora"/>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50000"/>
              </a:lnSpc>
              <a:spcBef>
                <a:spcPts val="1200"/>
              </a:spcBef>
              <a:spcAft>
                <a:spcPts val="0"/>
              </a:spcAft>
              <a:buClr>
                <a:schemeClr val="dk1"/>
              </a:buClr>
              <a:buSzPts val="1100"/>
              <a:buFont typeface="Arial"/>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p:txBody>
      </p:sp>
      <p:pic>
        <p:nvPicPr>
          <p:cNvPr id="104" name="Google Shape;104;p20"/>
          <p:cNvPicPr preferRelativeResize="0"/>
          <p:nvPr/>
        </p:nvPicPr>
        <p:blipFill>
          <a:blip r:embed="rId3">
            <a:alphaModFix/>
          </a:blip>
          <a:stretch>
            <a:fillRect/>
          </a:stretch>
        </p:blipFill>
        <p:spPr>
          <a:xfrm>
            <a:off x="1082400" y="2200200"/>
            <a:ext cx="7189500" cy="2590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nvSpPr>
        <p:spPr>
          <a:xfrm>
            <a:off x="364501" y="307975"/>
            <a:ext cx="8337900" cy="24378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 </a:t>
            </a:r>
            <a:r>
              <a:rPr lang="en" sz="2400">
                <a:latin typeface="Lora"/>
                <a:ea typeface="Lora"/>
                <a:cs typeface="Lora"/>
                <a:sym typeface="Lora"/>
              </a:rPr>
              <a:t>Core Concepts of Github Actions</a:t>
            </a:r>
            <a:endParaRPr sz="2400">
              <a:latin typeface="Lora"/>
              <a:ea typeface="Lora"/>
              <a:cs typeface="Lora"/>
              <a:sym typeface="Lora"/>
            </a:endParaRPr>
          </a:p>
          <a:p>
            <a:pPr indent="0" lvl="0" marL="0" rtl="0" algn="l">
              <a:lnSpc>
                <a:spcPct val="139979"/>
              </a:lnSpc>
              <a:spcBef>
                <a:spcPts val="0"/>
              </a:spcBef>
              <a:spcAft>
                <a:spcPts val="0"/>
              </a:spcAft>
              <a:buClr>
                <a:schemeClr val="dk1"/>
              </a:buClr>
              <a:buSzPts val="11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110" name="Google Shape;110;p21"/>
          <p:cNvSpPr txBox="1"/>
          <p:nvPr/>
        </p:nvSpPr>
        <p:spPr>
          <a:xfrm>
            <a:off x="486900" y="700975"/>
            <a:ext cx="3855000" cy="33744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b="1" lang="en" sz="1100">
                <a:solidFill>
                  <a:schemeClr val="dk1"/>
                </a:solidFill>
                <a:latin typeface="Lora"/>
                <a:ea typeface="Lora"/>
                <a:cs typeface="Lora"/>
                <a:sym typeface="Lora"/>
              </a:rPr>
              <a:t>Workflow:</a:t>
            </a:r>
            <a:r>
              <a:rPr lang="en" sz="1100">
                <a:solidFill>
                  <a:schemeClr val="dk1"/>
                </a:solidFill>
                <a:latin typeface="Lora"/>
                <a:ea typeface="Lora"/>
                <a:cs typeface="Lora"/>
                <a:sym typeface="Lora"/>
              </a:rPr>
              <a:t> The top-level automated process defined in a </a:t>
            </a:r>
            <a:r>
              <a:rPr lang="en" sz="1100">
                <a:solidFill>
                  <a:srgbClr val="188038"/>
                </a:solidFill>
                <a:latin typeface="Lora"/>
                <a:ea typeface="Lora"/>
                <a:cs typeface="Lora"/>
                <a:sym typeface="Lora"/>
              </a:rPr>
              <a:t>.yml</a:t>
            </a:r>
            <a:r>
              <a:rPr lang="en" sz="1100">
                <a:solidFill>
                  <a:schemeClr val="dk1"/>
                </a:solidFill>
                <a:latin typeface="Lora"/>
                <a:ea typeface="Lora"/>
                <a:cs typeface="Lora"/>
                <a:sym typeface="Lora"/>
              </a:rPr>
              <a:t> file. Triggered by an </a:t>
            </a:r>
            <a:r>
              <a:rPr b="1" lang="en" sz="1100">
                <a:solidFill>
                  <a:schemeClr val="dk1"/>
                </a:solidFill>
                <a:latin typeface="Lora"/>
                <a:ea typeface="Lora"/>
                <a:cs typeface="Lora"/>
                <a:sym typeface="Lora"/>
              </a:rPr>
              <a:t>event</a:t>
            </a:r>
            <a:r>
              <a:rPr lang="en" sz="1100">
                <a:solidFill>
                  <a:schemeClr val="dk1"/>
                </a:solidFill>
                <a:latin typeface="Lora"/>
                <a:ea typeface="Lora"/>
                <a:cs typeface="Lora"/>
                <a:sym typeface="Lora"/>
              </a:rPr>
              <a:t>.</a:t>
            </a:r>
            <a:endParaRPr sz="1100">
              <a:solidFill>
                <a:schemeClr val="dk1"/>
              </a:solidFill>
              <a:latin typeface="Lora"/>
              <a:ea typeface="Lora"/>
              <a:cs typeface="Lora"/>
              <a:sym typeface="Lora"/>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ora"/>
                <a:ea typeface="Lora"/>
                <a:cs typeface="Lora"/>
                <a:sym typeface="Lora"/>
              </a:rPr>
              <a:t>Event:</a:t>
            </a:r>
            <a:r>
              <a:rPr lang="en" sz="1100">
                <a:solidFill>
                  <a:schemeClr val="dk1"/>
                </a:solidFill>
                <a:latin typeface="Lora"/>
                <a:ea typeface="Lora"/>
                <a:cs typeface="Lora"/>
                <a:sym typeface="Lora"/>
              </a:rPr>
              <a:t> The trigger for the workflow (e.g., </a:t>
            </a:r>
            <a:r>
              <a:rPr lang="en" sz="1100">
                <a:solidFill>
                  <a:srgbClr val="188038"/>
                </a:solidFill>
                <a:latin typeface="Lora"/>
                <a:ea typeface="Lora"/>
                <a:cs typeface="Lora"/>
                <a:sym typeface="Lora"/>
              </a:rPr>
              <a:t>on: push</a:t>
            </a:r>
            <a:r>
              <a:rPr lang="en" sz="1100">
                <a:solidFill>
                  <a:schemeClr val="dk1"/>
                </a:solidFill>
                <a:latin typeface="Lora"/>
                <a:ea typeface="Lora"/>
                <a:cs typeface="Lora"/>
                <a:sym typeface="Lora"/>
              </a:rPr>
              <a:t> or </a:t>
            </a:r>
            <a:r>
              <a:rPr lang="en" sz="1100">
                <a:solidFill>
                  <a:srgbClr val="188038"/>
                </a:solidFill>
                <a:latin typeface="Lora"/>
                <a:ea typeface="Lora"/>
                <a:cs typeface="Lora"/>
                <a:sym typeface="Lora"/>
              </a:rPr>
              <a:t>on: schedule</a:t>
            </a:r>
            <a:r>
              <a:rPr lang="en" sz="1100">
                <a:solidFill>
                  <a:schemeClr val="dk1"/>
                </a:solidFill>
                <a:latin typeface="Lora"/>
                <a:ea typeface="Lora"/>
                <a:cs typeface="Lora"/>
                <a:sym typeface="Lora"/>
              </a:rPr>
              <a:t>).</a:t>
            </a:r>
            <a:endParaRPr sz="1100">
              <a:solidFill>
                <a:schemeClr val="dk1"/>
              </a:solidFill>
              <a:latin typeface="Lora"/>
              <a:ea typeface="Lora"/>
              <a:cs typeface="Lora"/>
              <a:sym typeface="Lora"/>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ora"/>
                <a:ea typeface="Lora"/>
                <a:cs typeface="Lora"/>
                <a:sym typeface="Lora"/>
              </a:rPr>
              <a:t>Job:</a:t>
            </a:r>
            <a:r>
              <a:rPr lang="en" sz="1100">
                <a:solidFill>
                  <a:schemeClr val="dk1"/>
                </a:solidFill>
                <a:latin typeface="Lora"/>
                <a:ea typeface="Lora"/>
                <a:cs typeface="Lora"/>
                <a:sym typeface="Lora"/>
              </a:rPr>
              <a:t> A collection of steps that execute on the same runner. Jobs run in parallel by default.</a:t>
            </a:r>
            <a:endParaRPr sz="1100">
              <a:solidFill>
                <a:schemeClr val="dk1"/>
              </a:solidFill>
              <a:latin typeface="Lora"/>
              <a:ea typeface="Lora"/>
              <a:cs typeface="Lora"/>
              <a:sym typeface="Lora"/>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ora"/>
                <a:ea typeface="Lora"/>
                <a:cs typeface="Lora"/>
                <a:sym typeface="Lora"/>
              </a:rPr>
              <a:t>Step:</a:t>
            </a:r>
            <a:r>
              <a:rPr lang="en" sz="1100">
                <a:solidFill>
                  <a:schemeClr val="dk1"/>
                </a:solidFill>
                <a:latin typeface="Lora"/>
                <a:ea typeface="Lora"/>
                <a:cs typeface="Lora"/>
                <a:sym typeface="Lora"/>
              </a:rPr>
              <a:t> An individual task. Can be a shell command (</a:t>
            </a:r>
            <a:r>
              <a:rPr lang="en" sz="1100">
                <a:solidFill>
                  <a:srgbClr val="188038"/>
                </a:solidFill>
                <a:latin typeface="Lora"/>
                <a:ea typeface="Lora"/>
                <a:cs typeface="Lora"/>
                <a:sym typeface="Lora"/>
              </a:rPr>
              <a:t>run:</a:t>
            </a:r>
            <a:r>
              <a:rPr lang="en" sz="1100">
                <a:solidFill>
                  <a:schemeClr val="dk1"/>
                </a:solidFill>
                <a:latin typeface="Lora"/>
                <a:ea typeface="Lora"/>
                <a:cs typeface="Lora"/>
                <a:sym typeface="Lora"/>
              </a:rPr>
              <a:t>) or a pre-packaged script called an </a:t>
            </a:r>
            <a:r>
              <a:rPr b="1" lang="en" sz="1100">
                <a:solidFill>
                  <a:schemeClr val="dk1"/>
                </a:solidFill>
                <a:latin typeface="Lora"/>
                <a:ea typeface="Lora"/>
                <a:cs typeface="Lora"/>
                <a:sym typeface="Lora"/>
              </a:rPr>
              <a:t>action</a:t>
            </a:r>
            <a:r>
              <a:rPr lang="en" sz="1100">
                <a:solidFill>
                  <a:schemeClr val="dk1"/>
                </a:solidFill>
                <a:latin typeface="Lora"/>
                <a:ea typeface="Lora"/>
                <a:cs typeface="Lora"/>
                <a:sym typeface="Lora"/>
              </a:rPr>
              <a:t> (</a:t>
            </a:r>
            <a:r>
              <a:rPr lang="en" sz="1100">
                <a:solidFill>
                  <a:srgbClr val="188038"/>
                </a:solidFill>
                <a:latin typeface="Lora"/>
                <a:ea typeface="Lora"/>
                <a:cs typeface="Lora"/>
                <a:sym typeface="Lora"/>
              </a:rPr>
              <a:t>uses:</a:t>
            </a:r>
            <a:r>
              <a:rPr lang="en" sz="1100">
                <a:solidFill>
                  <a:schemeClr val="dk1"/>
                </a:solidFill>
                <a:latin typeface="Lora"/>
                <a:ea typeface="Lora"/>
                <a:cs typeface="Lora"/>
                <a:sym typeface="Lora"/>
              </a:rPr>
              <a:t>).</a:t>
            </a:r>
            <a:endParaRPr sz="1100">
              <a:solidFill>
                <a:schemeClr val="dk1"/>
              </a:solidFill>
              <a:latin typeface="Lora"/>
              <a:ea typeface="Lora"/>
              <a:cs typeface="Lora"/>
              <a:sym typeface="Lora"/>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ora"/>
                <a:ea typeface="Lora"/>
                <a:cs typeface="Lora"/>
                <a:sym typeface="Lora"/>
              </a:rPr>
              <a:t>Action:</a:t>
            </a:r>
            <a:r>
              <a:rPr lang="en" sz="1100">
                <a:solidFill>
                  <a:schemeClr val="dk1"/>
                </a:solidFill>
                <a:latin typeface="Lora"/>
                <a:ea typeface="Lora"/>
                <a:cs typeface="Lora"/>
                <a:sym typeface="Lora"/>
              </a:rPr>
              <a:t> A reusable, community-built unit of code that performs a complex task (e.g., </a:t>
            </a:r>
            <a:r>
              <a:rPr lang="en" sz="1100">
                <a:solidFill>
                  <a:srgbClr val="188038"/>
                </a:solidFill>
                <a:latin typeface="Lora"/>
                <a:ea typeface="Lora"/>
                <a:cs typeface="Lora"/>
                <a:sym typeface="Lora"/>
              </a:rPr>
              <a:t>actions/checkout@v4</a:t>
            </a:r>
            <a:r>
              <a:rPr lang="en" sz="1100">
                <a:solidFill>
                  <a:schemeClr val="dk1"/>
                </a:solidFill>
                <a:latin typeface="Lora"/>
                <a:ea typeface="Lora"/>
                <a:cs typeface="Lora"/>
                <a:sym typeface="Lora"/>
              </a:rPr>
              <a:t> to get your code, or </a:t>
            </a:r>
            <a:r>
              <a:rPr lang="en" sz="1100">
                <a:solidFill>
                  <a:srgbClr val="188038"/>
                </a:solidFill>
                <a:latin typeface="Lora"/>
                <a:ea typeface="Lora"/>
                <a:cs typeface="Lora"/>
                <a:sym typeface="Lora"/>
              </a:rPr>
              <a:t>docker/build-push-action@v5</a:t>
            </a:r>
            <a:r>
              <a:rPr lang="en" sz="1100">
                <a:solidFill>
                  <a:schemeClr val="dk1"/>
                </a:solidFill>
                <a:latin typeface="Lora"/>
                <a:ea typeface="Lora"/>
                <a:cs typeface="Lora"/>
                <a:sym typeface="Lora"/>
              </a:rPr>
              <a:t> to build a Docker image).</a:t>
            </a:r>
            <a:endParaRPr>
              <a:latin typeface="Lora"/>
              <a:ea typeface="Lora"/>
              <a:cs typeface="Lora"/>
              <a:sym typeface="Lora"/>
            </a:endParaRPr>
          </a:p>
        </p:txBody>
      </p:sp>
      <p:pic>
        <p:nvPicPr>
          <p:cNvPr id="111" name="Google Shape;111;p21"/>
          <p:cNvPicPr preferRelativeResize="0"/>
          <p:nvPr/>
        </p:nvPicPr>
        <p:blipFill>
          <a:blip r:embed="rId3">
            <a:alphaModFix/>
          </a:blip>
          <a:stretch>
            <a:fillRect/>
          </a:stretch>
        </p:blipFill>
        <p:spPr>
          <a:xfrm>
            <a:off x="4268400" y="658950"/>
            <a:ext cx="4755999" cy="34584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nvSpPr>
        <p:spPr>
          <a:xfrm>
            <a:off x="364501" y="307975"/>
            <a:ext cx="8337900" cy="24378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 </a:t>
            </a:r>
            <a:r>
              <a:rPr lang="en" sz="2400">
                <a:latin typeface="Lora"/>
                <a:ea typeface="Lora"/>
                <a:cs typeface="Lora"/>
                <a:sym typeface="Lora"/>
              </a:rPr>
              <a:t>Core Concepts of Github Actions</a:t>
            </a:r>
            <a:endParaRPr sz="2400">
              <a:latin typeface="Lora"/>
              <a:ea typeface="Lora"/>
              <a:cs typeface="Lora"/>
              <a:sym typeface="Lora"/>
            </a:endParaRPr>
          </a:p>
          <a:p>
            <a:pPr indent="0" lvl="0" marL="0" rtl="0" algn="l">
              <a:lnSpc>
                <a:spcPct val="139979"/>
              </a:lnSpc>
              <a:spcBef>
                <a:spcPts val="0"/>
              </a:spcBef>
              <a:spcAft>
                <a:spcPts val="0"/>
              </a:spcAft>
              <a:buClr>
                <a:schemeClr val="dk1"/>
              </a:buClr>
              <a:buSzPts val="11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117" name="Google Shape;117;p22"/>
          <p:cNvSpPr txBox="1"/>
          <p:nvPr/>
        </p:nvSpPr>
        <p:spPr>
          <a:xfrm>
            <a:off x="610225" y="1009325"/>
            <a:ext cx="7405800" cy="2612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lang="en" sz="1200">
                <a:solidFill>
                  <a:schemeClr val="dk1"/>
                </a:solidFill>
                <a:latin typeface="Lora"/>
                <a:ea typeface="Lora"/>
                <a:cs typeface="Lora"/>
                <a:sym typeface="Lora"/>
              </a:rPr>
              <a:t>You can think of the entire process like following a recipe to bake a cake:</a:t>
            </a:r>
            <a:endParaRPr sz="1200">
              <a:solidFill>
                <a:schemeClr val="dk1"/>
              </a:solidFill>
              <a:latin typeface="Lora"/>
              <a:ea typeface="Lora"/>
              <a:cs typeface="Lora"/>
              <a:sym typeface="Lora"/>
            </a:endParaRPr>
          </a:p>
          <a:p>
            <a:pPr indent="-304800" lvl="0" marL="457200" rtl="0" algn="l">
              <a:lnSpc>
                <a:spcPct val="150000"/>
              </a:lnSpc>
              <a:spcBef>
                <a:spcPts val="1200"/>
              </a:spcBef>
              <a:spcAft>
                <a:spcPts val="0"/>
              </a:spcAft>
              <a:buClr>
                <a:schemeClr val="dk1"/>
              </a:buClr>
              <a:buSzPts val="1200"/>
              <a:buChar char="●"/>
            </a:pPr>
            <a:r>
              <a:rPr b="1" lang="en" sz="1200">
                <a:solidFill>
                  <a:schemeClr val="dk1"/>
                </a:solidFill>
                <a:latin typeface="Lora"/>
                <a:ea typeface="Lora"/>
                <a:cs typeface="Lora"/>
                <a:sym typeface="Lora"/>
              </a:rPr>
              <a:t>Event</a:t>
            </a:r>
            <a:r>
              <a:rPr lang="en" sz="1200">
                <a:solidFill>
                  <a:schemeClr val="dk1"/>
                </a:solidFill>
                <a:latin typeface="Lora"/>
                <a:ea typeface="Lora"/>
                <a:cs typeface="Lora"/>
                <a:sym typeface="Lora"/>
              </a:rPr>
              <a:t>: Deciding to bake the cake for a birthday </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Workflow</a:t>
            </a:r>
            <a:r>
              <a:rPr lang="en" sz="1200">
                <a:solidFill>
                  <a:schemeClr val="dk1"/>
                </a:solidFill>
                <a:latin typeface="Lora"/>
                <a:ea typeface="Lora"/>
                <a:cs typeface="Lora"/>
                <a:sym typeface="Lora"/>
              </a:rPr>
              <a:t>: The entire recipe from start to finish </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Job</a:t>
            </a:r>
            <a:r>
              <a:rPr lang="en" sz="1200">
                <a:solidFill>
                  <a:schemeClr val="dk1"/>
                </a:solidFill>
                <a:latin typeface="Lora"/>
                <a:ea typeface="Lora"/>
                <a:cs typeface="Lora"/>
                <a:sym typeface="Lora"/>
              </a:rPr>
              <a:t>: A major stage in the recipe, like </a:t>
            </a:r>
            <a:r>
              <a:rPr b="1" lang="en" sz="1200">
                <a:solidFill>
                  <a:schemeClr val="dk1"/>
                </a:solidFill>
                <a:latin typeface="Lora"/>
                <a:ea typeface="Lora"/>
                <a:cs typeface="Lora"/>
                <a:sym typeface="Lora"/>
              </a:rPr>
              <a:t>Bake the Sponge</a:t>
            </a:r>
            <a:r>
              <a:rPr lang="en" sz="1200">
                <a:solidFill>
                  <a:schemeClr val="dk1"/>
                </a:solidFill>
                <a:latin typeface="Lora"/>
                <a:ea typeface="Lora"/>
                <a:cs typeface="Lora"/>
                <a:sym typeface="Lora"/>
              </a:rPr>
              <a:t> or </a:t>
            </a:r>
            <a:r>
              <a:rPr b="1" lang="en" sz="1200">
                <a:solidFill>
                  <a:schemeClr val="dk1"/>
                </a:solidFill>
                <a:latin typeface="Lora"/>
                <a:ea typeface="Lora"/>
                <a:cs typeface="Lora"/>
                <a:sym typeface="Lora"/>
              </a:rPr>
              <a:t>Make the Icing</a:t>
            </a:r>
            <a:r>
              <a:rPr lang="en" sz="1200">
                <a:solidFill>
                  <a:schemeClr val="dk1"/>
                </a:solidFill>
                <a:latin typeface="Lora"/>
                <a:ea typeface="Lora"/>
                <a:cs typeface="Lora"/>
                <a:sym typeface="Lora"/>
              </a:rPr>
              <a:t>. Each can be done in a different part of the kitchen (on a different </a:t>
            </a:r>
            <a:r>
              <a:rPr b="1" lang="en" sz="1200">
                <a:solidFill>
                  <a:schemeClr val="dk1"/>
                </a:solidFill>
                <a:latin typeface="Lora"/>
                <a:ea typeface="Lora"/>
                <a:cs typeface="Lora"/>
                <a:sym typeface="Lora"/>
              </a:rPr>
              <a:t>Runner</a:t>
            </a:r>
            <a:r>
              <a:rPr lang="en" sz="1200">
                <a:solidFill>
                  <a:schemeClr val="dk1"/>
                </a:solidFill>
                <a:latin typeface="Lora"/>
                <a:ea typeface="Lora"/>
                <a:cs typeface="Lora"/>
                <a:sym typeface="Lora"/>
              </a:rPr>
              <a:t>)</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Step</a:t>
            </a:r>
            <a:r>
              <a:rPr lang="en" sz="1200">
                <a:solidFill>
                  <a:schemeClr val="dk1"/>
                </a:solidFill>
                <a:latin typeface="Lora"/>
                <a:ea typeface="Lora"/>
                <a:cs typeface="Lora"/>
                <a:sym typeface="Lora"/>
              </a:rPr>
              <a:t>: A single instruction in a stage, like Preheat the oven or Mix flour and sugar</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Action</a:t>
            </a:r>
            <a:r>
              <a:rPr lang="en" sz="1200">
                <a:solidFill>
                  <a:schemeClr val="dk1"/>
                </a:solidFill>
                <a:latin typeface="Lora"/>
                <a:ea typeface="Lora"/>
                <a:cs typeface="Lora"/>
                <a:sym typeface="Lora"/>
              </a:rPr>
              <a:t>: Using a pre-made tool or ingredient mix to simplify a step, like using a Boxed Cake Mix instead of measuring the flour, sugar, and baking soda yourself</a:t>
            </a:r>
            <a:endParaRPr b="1" sz="1200">
              <a:solidFill>
                <a:schemeClr val="dk1"/>
              </a:solidFill>
              <a:latin typeface="Lora"/>
              <a:ea typeface="Lora"/>
              <a:cs typeface="Lora"/>
              <a:sym typeface="Lor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nvSpPr>
        <p:spPr>
          <a:xfrm>
            <a:off x="612896" y="243588"/>
            <a:ext cx="8128500" cy="42918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5. CI/CD in Action: Three Core Use Cases</a:t>
            </a:r>
            <a:endParaRPr sz="2400">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latin typeface="Lora"/>
                <a:ea typeface="Lora"/>
                <a:cs typeface="Lora"/>
                <a:sym typeface="Lora"/>
              </a:rPr>
              <a:t>Let's explore how we use these concepts in practice.</a:t>
            </a:r>
            <a:endParaRPr b="1" sz="1200">
              <a:solidFill>
                <a:schemeClr val="dk1"/>
              </a:solidFill>
              <a:latin typeface="Lora"/>
              <a:ea typeface="Lora"/>
              <a:cs typeface="Lora"/>
              <a:sym typeface="Lora"/>
            </a:endParaRPr>
          </a:p>
          <a:p>
            <a:pPr indent="-304800" lvl="0" marL="457200" rtl="0" algn="l">
              <a:lnSpc>
                <a:spcPct val="150000"/>
              </a:lnSpc>
              <a:spcBef>
                <a:spcPts val="120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Automating Code Checks (The "CI" part)</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Automating Application Deployment (The "CD" part)</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Automating Infrastructure Provisioning (Advanced CD, if used, typically happens before Deployment) </a:t>
            </a:r>
            <a:endParaRPr sz="1200">
              <a:solidFill>
                <a:schemeClr val="dk1"/>
              </a:solidFill>
              <a:latin typeface="Lora"/>
              <a:ea typeface="Lora"/>
              <a:cs typeface="Lora"/>
              <a:sym typeface="Lora"/>
            </a:endParaRPr>
          </a:p>
          <a:p>
            <a:pPr indent="0" lvl="0" marL="457200" rtl="0" algn="l">
              <a:lnSpc>
                <a:spcPct val="115000"/>
              </a:lnSpc>
              <a:spcBef>
                <a:spcPts val="1200"/>
              </a:spcBef>
              <a:spcAft>
                <a:spcPts val="0"/>
              </a:spcAft>
              <a:buNone/>
            </a:pPr>
            <a:r>
              <a:t/>
            </a:r>
            <a:endParaRPr sz="1100">
              <a:solidFill>
                <a:schemeClr val="dk1"/>
              </a:solidFill>
            </a:endParaRPr>
          </a:p>
          <a:p>
            <a:pPr indent="0" lvl="0" marL="0" marR="0" rtl="0" algn="l">
              <a:lnSpc>
                <a:spcPct val="139979"/>
              </a:lnSpc>
              <a:spcBef>
                <a:spcPts val="120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pic>
        <p:nvPicPr>
          <p:cNvPr id="123" name="Google Shape;123;p23"/>
          <p:cNvPicPr preferRelativeResize="0"/>
          <p:nvPr/>
        </p:nvPicPr>
        <p:blipFill>
          <a:blip r:embed="rId3">
            <a:alphaModFix/>
          </a:blip>
          <a:stretch>
            <a:fillRect/>
          </a:stretch>
        </p:blipFill>
        <p:spPr>
          <a:xfrm>
            <a:off x="1027425" y="2135725"/>
            <a:ext cx="6927227" cy="23237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nvSpPr>
        <p:spPr>
          <a:xfrm>
            <a:off x="612900" y="243595"/>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6. Use Case #1: Automating Code Quality Checks (CI</a:t>
            </a:r>
            <a:r>
              <a:rPr lang="en" sz="2400">
                <a:latin typeface="Lora"/>
                <a:ea typeface="Lora"/>
                <a:cs typeface="Lora"/>
                <a:sym typeface="Lora"/>
              </a:rPr>
              <a:t>)</a:t>
            </a:r>
            <a:endParaRPr sz="2400">
              <a:latin typeface="Lora"/>
              <a:ea typeface="Lora"/>
              <a:cs typeface="Lora"/>
              <a:sym typeface="Lora"/>
            </a:endParaRPr>
          </a:p>
        </p:txBody>
      </p:sp>
      <p:sp>
        <p:nvSpPr>
          <p:cNvPr id="129" name="Google Shape;129;p24"/>
          <p:cNvSpPr txBox="1"/>
          <p:nvPr/>
        </p:nvSpPr>
        <p:spPr>
          <a:xfrm>
            <a:off x="612900" y="612900"/>
            <a:ext cx="7896600" cy="255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latin typeface="Lora"/>
                <a:ea typeface="Lora"/>
                <a:cs typeface="Lora"/>
                <a:sym typeface="Lora"/>
              </a:rPr>
              <a:t>Enforcing the Best Practices from Lecture 3</a:t>
            </a:r>
            <a:endParaRPr b="1" sz="1100">
              <a:solidFill>
                <a:schemeClr val="dk1"/>
              </a:solidFill>
              <a:latin typeface="Lora"/>
              <a:ea typeface="Lora"/>
              <a:cs typeface="Lora"/>
              <a:sym typeface="Lora"/>
            </a:endParaRPr>
          </a:p>
          <a:p>
            <a:pPr indent="0" lvl="0" marL="0" rtl="0" algn="just">
              <a:lnSpc>
                <a:spcPct val="150000"/>
              </a:lnSpc>
              <a:spcBef>
                <a:spcPts val="1200"/>
              </a:spcBef>
              <a:spcAft>
                <a:spcPts val="0"/>
              </a:spcAft>
              <a:buClr>
                <a:schemeClr val="dk1"/>
              </a:buClr>
              <a:buSzPts val="1100"/>
              <a:buFont typeface="Arial"/>
              <a:buNone/>
            </a:pPr>
            <a:r>
              <a:rPr lang="en" sz="1100">
                <a:solidFill>
                  <a:schemeClr val="dk1"/>
                </a:solidFill>
                <a:latin typeface="Lora"/>
                <a:ea typeface="Lora"/>
                <a:cs typeface="Lora"/>
                <a:sym typeface="Lora"/>
              </a:rPr>
              <a:t>This is the foundation of any CI/CD pipeline. Before we build or deploy anything, we must ensure the code is high-quality. If this CI pipeline fails, it prevents from merging a PR into the development branch. Enforces high code standards!</a:t>
            </a:r>
            <a:endParaRPr sz="1100">
              <a:solidFill>
                <a:schemeClr val="dk1"/>
              </a:solidFill>
              <a:latin typeface="Lora"/>
              <a:ea typeface="Lora"/>
              <a:cs typeface="Lora"/>
              <a:sym typeface="Lora"/>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latin typeface="Lora"/>
                <a:ea typeface="Lora"/>
                <a:cs typeface="Lora"/>
                <a:sym typeface="Lora"/>
              </a:rPr>
              <a:t>What we automate:</a:t>
            </a:r>
            <a:endParaRPr b="1" sz="1100">
              <a:solidFill>
                <a:schemeClr val="dk1"/>
              </a:solidFill>
              <a:latin typeface="Lora"/>
              <a:ea typeface="Lora"/>
              <a:cs typeface="Lora"/>
              <a:sym typeface="Lora"/>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latin typeface="Lora"/>
                <a:ea typeface="Lora"/>
                <a:cs typeface="Lora"/>
                <a:sym typeface="Lora"/>
              </a:rPr>
              <a:t>Linting:</a:t>
            </a:r>
            <a:r>
              <a:rPr lang="en" sz="1100">
                <a:solidFill>
                  <a:schemeClr val="dk1"/>
                </a:solidFill>
                <a:latin typeface="Lora"/>
                <a:ea typeface="Lora"/>
                <a:cs typeface="Lora"/>
                <a:sym typeface="Lora"/>
              </a:rPr>
              <a:t> Checking for stylistic errors and bad patterns (e.g., with </a:t>
            </a:r>
            <a:r>
              <a:rPr lang="en" sz="1100">
                <a:solidFill>
                  <a:srgbClr val="188038"/>
                </a:solidFill>
                <a:latin typeface="Lora"/>
                <a:ea typeface="Lora"/>
                <a:cs typeface="Lora"/>
                <a:sym typeface="Lora"/>
              </a:rPr>
              <a:t>ruff </a:t>
            </a:r>
            <a:r>
              <a:rPr lang="en" sz="1100">
                <a:solidFill>
                  <a:schemeClr val="dk1"/>
                </a:solidFill>
                <a:latin typeface="Lora"/>
                <a:ea typeface="Lora"/>
                <a:cs typeface="Lora"/>
                <a:sym typeface="Lora"/>
              </a:rPr>
              <a:t>to ensure PEP8 coding standards &amp; more).</a:t>
            </a:r>
            <a:endParaRPr sz="1100">
              <a:solidFill>
                <a:schemeClr val="dk1"/>
              </a:solidFill>
              <a:latin typeface="Lora"/>
              <a:ea typeface="Lora"/>
              <a:cs typeface="Lora"/>
              <a:sym typeface="Lora"/>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ora"/>
                <a:ea typeface="Lora"/>
                <a:cs typeface="Lora"/>
                <a:sym typeface="Lora"/>
              </a:rPr>
              <a:t>Static Analysis:</a:t>
            </a:r>
            <a:r>
              <a:rPr lang="en" sz="1100">
                <a:solidFill>
                  <a:schemeClr val="dk1"/>
                </a:solidFill>
                <a:latin typeface="Lora"/>
                <a:ea typeface="Lora"/>
                <a:cs typeface="Lora"/>
                <a:sym typeface="Lora"/>
              </a:rPr>
              <a:t> </a:t>
            </a:r>
            <a:r>
              <a:rPr lang="en" sz="1100">
                <a:solidFill>
                  <a:schemeClr val="dk1"/>
                </a:solidFill>
                <a:latin typeface="Lora"/>
                <a:ea typeface="Lora"/>
                <a:cs typeface="Lora"/>
                <a:sym typeface="Lora"/>
              </a:rPr>
              <a:t>Finding potential bugs and code smells without running the code</a:t>
            </a:r>
            <a:r>
              <a:rPr lang="en" sz="1100">
                <a:solidFill>
                  <a:schemeClr val="dk1"/>
                </a:solidFill>
                <a:latin typeface="Lora"/>
                <a:ea typeface="Lora"/>
                <a:cs typeface="Lora"/>
                <a:sym typeface="Lora"/>
              </a:rPr>
              <a:t>. (e.g., with </a:t>
            </a:r>
            <a:r>
              <a:rPr lang="en" sz="1100">
                <a:solidFill>
                  <a:srgbClr val="188038"/>
                </a:solidFill>
                <a:latin typeface="Lora"/>
                <a:ea typeface="Lora"/>
                <a:cs typeface="Lora"/>
                <a:sym typeface="Lora"/>
              </a:rPr>
              <a:t>pyright</a:t>
            </a:r>
            <a:r>
              <a:rPr lang="en" sz="1100">
                <a:solidFill>
                  <a:schemeClr val="dk1"/>
                </a:solidFill>
                <a:latin typeface="Lora"/>
                <a:ea typeface="Lora"/>
                <a:cs typeface="Lora"/>
                <a:sym typeface="Lora"/>
              </a:rPr>
              <a:t>)</a:t>
            </a:r>
            <a:endParaRPr sz="1100">
              <a:solidFill>
                <a:schemeClr val="dk1"/>
              </a:solidFill>
              <a:latin typeface="Lora"/>
              <a:ea typeface="Lora"/>
              <a:cs typeface="Lora"/>
              <a:sym typeface="Lora"/>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ora"/>
                <a:ea typeface="Lora"/>
                <a:cs typeface="Lora"/>
                <a:sym typeface="Lora"/>
              </a:rPr>
              <a:t>Testing:</a:t>
            </a:r>
            <a:r>
              <a:rPr lang="en" sz="1100">
                <a:solidFill>
                  <a:schemeClr val="dk1"/>
                </a:solidFill>
                <a:latin typeface="Lora"/>
                <a:ea typeface="Lora"/>
                <a:cs typeface="Lora"/>
                <a:sym typeface="Lora"/>
              </a:rPr>
              <a:t> Running our unit and integration tests (e.g., with </a:t>
            </a:r>
            <a:r>
              <a:rPr lang="en" sz="1100">
                <a:solidFill>
                  <a:srgbClr val="188038"/>
                </a:solidFill>
                <a:latin typeface="Lora"/>
                <a:ea typeface="Lora"/>
                <a:cs typeface="Lora"/>
                <a:sym typeface="Lora"/>
              </a:rPr>
              <a:t>pytest</a:t>
            </a:r>
            <a:r>
              <a:rPr lang="en" sz="1100">
                <a:solidFill>
                  <a:schemeClr val="dk1"/>
                </a:solidFill>
                <a:latin typeface="Lora"/>
                <a:ea typeface="Lora"/>
                <a:cs typeface="Lora"/>
                <a:sym typeface="Lora"/>
              </a:rPr>
              <a:t>).</a:t>
            </a:r>
            <a:endParaRPr sz="1100">
              <a:solidFill>
                <a:schemeClr val="dk1"/>
              </a:solidFill>
              <a:latin typeface="Lora"/>
              <a:ea typeface="Lora"/>
              <a:cs typeface="Lora"/>
              <a:sym typeface="Lora"/>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ora"/>
                <a:ea typeface="Lora"/>
                <a:cs typeface="Lora"/>
                <a:sym typeface="Lora"/>
              </a:rPr>
              <a:t>Vulnerability Scanning:</a:t>
            </a:r>
            <a:r>
              <a:rPr lang="en" sz="1100">
                <a:solidFill>
                  <a:schemeClr val="dk1"/>
                </a:solidFill>
                <a:latin typeface="Lora"/>
                <a:ea typeface="Lora"/>
                <a:cs typeface="Lora"/>
                <a:sym typeface="Lora"/>
              </a:rPr>
              <a:t> Scanning dependencies (</a:t>
            </a:r>
            <a:r>
              <a:rPr lang="en" sz="1100">
                <a:solidFill>
                  <a:srgbClr val="188038"/>
                </a:solidFill>
                <a:latin typeface="Lora"/>
                <a:ea typeface="Lora"/>
                <a:cs typeface="Lora"/>
                <a:sym typeface="Lora"/>
              </a:rPr>
              <a:t>pyproject</a:t>
            </a:r>
            <a:r>
              <a:rPr lang="en" sz="1100">
                <a:solidFill>
                  <a:srgbClr val="188038"/>
                </a:solidFill>
                <a:latin typeface="Lora"/>
                <a:ea typeface="Lora"/>
                <a:cs typeface="Lora"/>
                <a:sym typeface="Lora"/>
              </a:rPr>
              <a:t>.toml</a:t>
            </a:r>
            <a:r>
              <a:rPr lang="en" sz="1100">
                <a:solidFill>
                  <a:schemeClr val="dk1"/>
                </a:solidFill>
                <a:latin typeface="Lora"/>
                <a:ea typeface="Lora"/>
                <a:cs typeface="Lora"/>
                <a:sym typeface="Lora"/>
              </a:rPr>
              <a:t>) for known security issues. (*advanced)</a:t>
            </a:r>
            <a:endParaRPr sz="1100">
              <a:solidFill>
                <a:schemeClr val="dk1"/>
              </a:solidFill>
              <a:latin typeface="Lora"/>
              <a:ea typeface="Lora"/>
              <a:cs typeface="Lora"/>
              <a:sym typeface="Lora"/>
            </a:endParaRPr>
          </a:p>
        </p:txBody>
      </p:sp>
      <p:pic>
        <p:nvPicPr>
          <p:cNvPr id="130" name="Google Shape;130;p24"/>
          <p:cNvPicPr preferRelativeResize="0"/>
          <p:nvPr/>
        </p:nvPicPr>
        <p:blipFill>
          <a:blip r:embed="rId3">
            <a:alphaModFix/>
          </a:blip>
          <a:stretch>
            <a:fillRect/>
          </a:stretch>
        </p:blipFill>
        <p:spPr>
          <a:xfrm>
            <a:off x="860725" y="2904547"/>
            <a:ext cx="6057900" cy="1866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7. Example Workflow: The CI Pipeline for Code Check</a:t>
            </a:r>
            <a:r>
              <a:rPr lang="en" sz="2400">
                <a:latin typeface="Lora"/>
                <a:ea typeface="Lora"/>
                <a:cs typeface="Lora"/>
                <a:sym typeface="Lora"/>
              </a:rPr>
              <a:t>s</a:t>
            </a:r>
            <a:endParaRPr sz="2400">
              <a:latin typeface="Lora"/>
              <a:ea typeface="Lora"/>
              <a:cs typeface="Lora"/>
              <a:sym typeface="Lora"/>
            </a:endParaRPr>
          </a:p>
        </p:txBody>
      </p:sp>
      <p:sp>
        <p:nvSpPr>
          <p:cNvPr id="136" name="Google Shape;136;p25"/>
          <p:cNvSpPr txBox="1"/>
          <p:nvPr/>
        </p:nvSpPr>
        <p:spPr>
          <a:xfrm>
            <a:off x="551300" y="612900"/>
            <a:ext cx="78966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100">
                <a:solidFill>
                  <a:schemeClr val="dk1"/>
                </a:solidFill>
                <a:latin typeface="Lora"/>
                <a:ea typeface="Lora"/>
                <a:cs typeface="Lora"/>
                <a:sym typeface="Lora"/>
              </a:rPr>
              <a:t>For a full production example see this code checks for this course’s repository </a:t>
            </a:r>
            <a:r>
              <a:rPr lang="en" sz="1100" u="sng">
                <a:solidFill>
                  <a:schemeClr val="hlink"/>
                </a:solidFill>
                <a:latin typeface="Lora"/>
                <a:ea typeface="Lora"/>
                <a:cs typeface="Lora"/>
                <a:sym typeface="Lora"/>
                <a:hlinkClick r:id="rId3"/>
              </a:rPr>
              <a:t>here</a:t>
            </a:r>
            <a:r>
              <a:rPr lang="en" sz="1100">
                <a:solidFill>
                  <a:schemeClr val="dk1"/>
                </a:solidFill>
                <a:latin typeface="Lora"/>
                <a:ea typeface="Lora"/>
                <a:cs typeface="Lora"/>
                <a:sym typeface="Lora"/>
              </a:rPr>
              <a:t>. The workflow below shows the fundamental steps for automating code quality checks.</a:t>
            </a:r>
            <a:endParaRPr sz="1200">
              <a:solidFill>
                <a:schemeClr val="dk1"/>
              </a:solidFill>
              <a:latin typeface="Lora"/>
              <a:ea typeface="Lora"/>
              <a:cs typeface="Lora"/>
              <a:sym typeface="Lora"/>
            </a:endParaRPr>
          </a:p>
        </p:txBody>
      </p:sp>
      <p:sp>
        <p:nvSpPr>
          <p:cNvPr id="137" name="Google Shape;137;p25"/>
          <p:cNvSpPr txBox="1"/>
          <p:nvPr/>
        </p:nvSpPr>
        <p:spPr>
          <a:xfrm>
            <a:off x="612900" y="1161600"/>
            <a:ext cx="7344300" cy="36039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name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Code Checks</a:t>
            </a:r>
            <a:endParaRPr sz="900">
              <a:latin typeface="Roboto Mono"/>
              <a:ea typeface="Roboto Mono"/>
              <a:cs typeface="Roboto Mono"/>
              <a:sym typeface="Roboto Mono"/>
            </a:endParaRPr>
          </a:p>
          <a:p>
            <a:pPr indent="0" lvl="0" marL="0" rtl="0" algn="l">
              <a:spcBef>
                <a:spcPts val="0"/>
              </a:spcBef>
              <a:spcAft>
                <a:spcPts val="0"/>
              </a:spcAft>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on</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pull_request</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jobs</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run-code-checks</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runs-on</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ubuntu-latest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steps</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505050"/>
                </a:solidFill>
                <a:latin typeface="Roboto Mono"/>
                <a:ea typeface="Roboto Mono"/>
                <a:cs typeface="Roboto Mono"/>
                <a:sym typeface="Roboto Mono"/>
              </a:rPr>
              <a:t>      - </a:t>
            </a:r>
            <a:r>
              <a:rPr lang="en" sz="900">
                <a:solidFill>
                  <a:srgbClr val="201090"/>
                </a:solidFill>
                <a:latin typeface="Roboto Mono"/>
                <a:ea typeface="Roboto Mono"/>
                <a:cs typeface="Roboto Mono"/>
                <a:sym typeface="Roboto Mono"/>
              </a:rPr>
              <a:t>name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Checkout repository</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a:t>
            </a:r>
            <a:r>
              <a:rPr lang="en" sz="900">
                <a:latin typeface="Roboto Mono"/>
                <a:ea typeface="Roboto Mono"/>
                <a:cs typeface="Roboto Mono"/>
                <a:sym typeface="Roboto Mono"/>
              </a:rPr>
              <a:t>uses</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actions/checkout@v4</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505050"/>
                </a:solidFill>
                <a:latin typeface="Roboto Mono"/>
                <a:ea typeface="Roboto Mono"/>
                <a:cs typeface="Roboto Mono"/>
                <a:sym typeface="Roboto Mono"/>
              </a:rPr>
              <a:t>      - </a:t>
            </a:r>
            <a:r>
              <a:rPr lang="en" sz="900">
                <a:solidFill>
                  <a:srgbClr val="201090"/>
                </a:solidFill>
                <a:latin typeface="Roboto Mono"/>
                <a:ea typeface="Roboto Mono"/>
                <a:cs typeface="Roboto Mono"/>
                <a:sym typeface="Roboto Mono"/>
              </a:rPr>
              <a:t>name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Set up Python</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uses</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actions/setup-python@v5</a:t>
            </a:r>
            <a:endParaRPr sz="900">
              <a:latin typeface="Roboto Mono"/>
              <a:ea typeface="Roboto Mono"/>
              <a:cs typeface="Roboto Mono"/>
              <a:sym typeface="Roboto Mono"/>
            </a:endParaRPr>
          </a:p>
          <a:p>
            <a:pPr indent="0" lvl="0" marL="0" rtl="0" algn="l">
              <a:spcBef>
                <a:spcPts val="0"/>
              </a:spcBef>
              <a:spcAft>
                <a:spcPts val="0"/>
              </a:spcAft>
              <a:buNone/>
            </a:pPr>
            <a:r>
              <a:t/>
            </a:r>
            <a:endParaRPr sz="900">
              <a:latin typeface="Roboto Mono"/>
              <a:ea typeface="Roboto Mono"/>
              <a:cs typeface="Roboto Mono"/>
              <a:sym typeface="Roboto Mono"/>
            </a:endParaRPr>
          </a:p>
          <a:p>
            <a:pPr indent="0" lvl="0" marL="0" rtl="0" algn="l">
              <a:spcBef>
                <a:spcPts val="0"/>
              </a:spcBef>
              <a:spcAft>
                <a:spcPts val="0"/>
              </a:spcAft>
              <a:buNone/>
            </a:pPr>
            <a:r>
              <a:rPr lang="en" sz="900">
                <a:solidFill>
                  <a:srgbClr val="505050"/>
                </a:solidFill>
                <a:latin typeface="Roboto Mono"/>
                <a:ea typeface="Roboto Mono"/>
                <a:cs typeface="Roboto Mono"/>
                <a:sym typeface="Roboto Mono"/>
              </a:rPr>
              <a:t>      </a:t>
            </a:r>
            <a:r>
              <a:rPr lang="en" sz="900">
                <a:solidFill>
                  <a:srgbClr val="505050"/>
                </a:solidFill>
                <a:latin typeface="Roboto Mono"/>
                <a:ea typeface="Roboto Mono"/>
                <a:cs typeface="Roboto Mono"/>
                <a:sym typeface="Roboto Mono"/>
              </a:rPr>
              <a:t>- </a:t>
            </a:r>
            <a:r>
              <a:rPr lang="en" sz="900">
                <a:solidFill>
                  <a:srgbClr val="201090"/>
                </a:solidFill>
                <a:latin typeface="Roboto Mono"/>
                <a:ea typeface="Roboto Mono"/>
                <a:cs typeface="Roboto Mono"/>
                <a:sym typeface="Roboto Mono"/>
              </a:rPr>
              <a:t>name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install uv</a:t>
            </a:r>
            <a:endParaRPr sz="900">
              <a:latin typeface="Roboto Mono"/>
              <a:ea typeface="Roboto Mono"/>
              <a:cs typeface="Roboto Mono"/>
              <a:sym typeface="Roboto Mono"/>
            </a:endParaRPr>
          </a:p>
          <a:p>
            <a:pPr indent="457200" lvl="0" marL="0" rtl="0" algn="l">
              <a:spcBef>
                <a:spcPts val="0"/>
              </a:spcBef>
              <a:spcAft>
                <a:spcPts val="0"/>
              </a:spcAft>
              <a:buNone/>
            </a:pPr>
            <a:r>
              <a:rPr lang="en" sz="900">
                <a:solidFill>
                  <a:srgbClr val="201090"/>
                </a:solidFill>
                <a:latin typeface="Roboto Mono"/>
                <a:ea typeface="Roboto Mono"/>
                <a:cs typeface="Roboto Mono"/>
                <a:sym typeface="Roboto Mono"/>
              </a:rPr>
              <a:t> uses</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astral-sh/setup-uv@v5</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None/>
            </a:pPr>
            <a:r>
              <a:rPr lang="en" sz="900">
                <a:solidFill>
                  <a:srgbClr val="505050"/>
                </a:solidFill>
                <a:latin typeface="Roboto Mono"/>
                <a:ea typeface="Roboto Mono"/>
                <a:cs typeface="Roboto Mono"/>
                <a:sym typeface="Roboto Mono"/>
              </a:rPr>
              <a:t>      - </a:t>
            </a:r>
            <a:r>
              <a:rPr lang="en" sz="900">
                <a:solidFill>
                  <a:srgbClr val="201090"/>
                </a:solidFill>
                <a:latin typeface="Roboto Mono"/>
                <a:ea typeface="Roboto Mono"/>
                <a:cs typeface="Roboto Mono"/>
                <a:sym typeface="Roboto Mono"/>
              </a:rPr>
              <a:t>name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install python packages</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run</a:t>
            </a:r>
            <a:r>
              <a:rPr lang="en" sz="900">
                <a:solidFill>
                  <a:srgbClr val="505050"/>
                </a:solidFill>
                <a:latin typeface="Roboto Mono"/>
                <a:ea typeface="Roboto Mono"/>
                <a:cs typeface="Roboto Mono"/>
                <a:sym typeface="Roboto Mono"/>
              </a:rPr>
              <a:t>: </a:t>
            </a:r>
            <a:r>
              <a:rPr lang="en" sz="900">
                <a:solidFill>
                  <a:srgbClr val="A01010"/>
                </a:solidFill>
                <a:latin typeface="Roboto Mono"/>
                <a:ea typeface="Roboto Mono"/>
                <a:cs typeface="Roboto Mono"/>
                <a:sym typeface="Roboto Mono"/>
              </a:rPr>
              <a:t>uv sync</a:t>
            </a:r>
            <a:r>
              <a:rPr lang="en" sz="900">
                <a:latin typeface="Roboto Mono"/>
                <a:ea typeface="Roboto Mono"/>
                <a:cs typeface="Roboto Mono"/>
                <a:sym typeface="Roboto Mono"/>
              </a:rPr>
              <a:t>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505050"/>
                </a:solidFill>
                <a:latin typeface="Roboto Mono"/>
                <a:ea typeface="Roboto Mono"/>
                <a:cs typeface="Roboto Mono"/>
                <a:sym typeface="Roboto Mono"/>
              </a:rPr>
              <a:t>      - </a:t>
            </a:r>
            <a:r>
              <a:rPr lang="en" sz="900">
                <a:solidFill>
                  <a:srgbClr val="201090"/>
                </a:solidFill>
                <a:latin typeface="Roboto Mono"/>
                <a:ea typeface="Roboto Mono"/>
                <a:cs typeface="Roboto Mono"/>
                <a:sym typeface="Roboto Mono"/>
              </a:rPr>
              <a:t>name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Run linter, type-checker, and tests</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run</a:t>
            </a:r>
            <a:r>
              <a:rPr lang="en" sz="900">
                <a:solidFill>
                  <a:srgbClr val="505050"/>
                </a:solidFill>
                <a:latin typeface="Roboto Mono"/>
                <a:ea typeface="Roboto Mono"/>
                <a:cs typeface="Roboto Mono"/>
                <a:sym typeface="Roboto Mono"/>
              </a:rPr>
              <a:t>: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A01010"/>
                </a:solidFill>
                <a:latin typeface="Roboto Mono"/>
                <a:ea typeface="Roboto Mono"/>
                <a:cs typeface="Roboto Mono"/>
                <a:sym typeface="Roboto Mono"/>
              </a:rPr>
              <a:t>          uv run ruff check</a:t>
            </a:r>
            <a:r>
              <a:rPr lang="en" sz="900">
                <a:latin typeface="Roboto Mono"/>
                <a:ea typeface="Roboto Mono"/>
                <a:cs typeface="Roboto Mono"/>
                <a:sym typeface="Roboto Mono"/>
              </a:rPr>
              <a:t> .</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          </a:t>
            </a:r>
            <a:r>
              <a:rPr lang="en" sz="900">
                <a:solidFill>
                  <a:srgbClr val="A01010"/>
                </a:solidFill>
                <a:latin typeface="Roboto Mono"/>
                <a:ea typeface="Roboto Mono"/>
                <a:cs typeface="Roboto Mono"/>
                <a:sym typeface="Roboto Mono"/>
              </a:rPr>
              <a:t>uv run pyright</a:t>
            </a:r>
            <a:endParaRPr sz="900">
              <a:latin typeface="Roboto Mono"/>
              <a:ea typeface="Roboto Mono"/>
              <a:cs typeface="Roboto Mono"/>
              <a:sym typeface="Roboto Mon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8. Use Case #2: Automating Deployment (CD)</a:t>
            </a:r>
            <a:endParaRPr sz="2400">
              <a:latin typeface="Lora"/>
              <a:ea typeface="Lora"/>
              <a:cs typeface="Lora"/>
              <a:sym typeface="Lora"/>
            </a:endParaRPr>
          </a:p>
        </p:txBody>
      </p:sp>
      <p:sp>
        <p:nvSpPr>
          <p:cNvPr id="143" name="Google Shape;143;p26"/>
          <p:cNvSpPr txBox="1"/>
          <p:nvPr/>
        </p:nvSpPr>
        <p:spPr>
          <a:xfrm>
            <a:off x="514500" y="651150"/>
            <a:ext cx="3809100" cy="395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latin typeface="Lora"/>
                <a:ea typeface="Lora"/>
                <a:cs typeface="Lora"/>
                <a:sym typeface="Lora"/>
              </a:rPr>
              <a:t>Shipping the Docker Container from Lecture 2</a:t>
            </a:r>
            <a:endParaRPr sz="1100">
              <a:solidFill>
                <a:schemeClr val="dk1"/>
              </a:solidFill>
              <a:latin typeface="Lora"/>
              <a:ea typeface="Lora"/>
              <a:cs typeface="Lora"/>
              <a:sym typeface="Lora"/>
            </a:endParaRPr>
          </a:p>
          <a:p>
            <a:pPr indent="0" lvl="0" marL="0" rtl="0" algn="l">
              <a:lnSpc>
                <a:spcPct val="115000"/>
              </a:lnSpc>
              <a:spcBef>
                <a:spcPts val="1200"/>
              </a:spcBef>
              <a:spcAft>
                <a:spcPts val="0"/>
              </a:spcAft>
              <a:buNone/>
            </a:pPr>
            <a:r>
              <a:rPr lang="en" sz="1100">
                <a:solidFill>
                  <a:schemeClr val="dk1"/>
                </a:solidFill>
                <a:latin typeface="Lora"/>
                <a:ea typeface="Lora"/>
                <a:cs typeface="Lora"/>
                <a:sym typeface="Lora"/>
              </a:rPr>
              <a:t>Once our code is validated, the next step is to package and deploy it. For our Streamlit/Gradio app, this means building a Docker image and pushing it to a container registry.</a:t>
            </a:r>
            <a:endParaRPr sz="1100">
              <a:solidFill>
                <a:schemeClr val="dk1"/>
              </a:solidFill>
              <a:latin typeface="Lora"/>
              <a:ea typeface="Lora"/>
              <a:cs typeface="Lora"/>
              <a:sym typeface="Lora"/>
            </a:endParaRPr>
          </a:p>
          <a:p>
            <a:pPr indent="0" lvl="0" marL="0" rtl="0" algn="l">
              <a:lnSpc>
                <a:spcPct val="150000"/>
              </a:lnSpc>
              <a:spcBef>
                <a:spcPts val="1200"/>
              </a:spcBef>
              <a:spcAft>
                <a:spcPts val="0"/>
              </a:spcAft>
              <a:buNone/>
            </a:pPr>
            <a:r>
              <a:rPr b="1" lang="en" sz="1100">
                <a:solidFill>
                  <a:schemeClr val="dk1"/>
                </a:solidFill>
                <a:latin typeface="Lora"/>
                <a:ea typeface="Lora"/>
                <a:cs typeface="Lora"/>
                <a:sym typeface="Lora"/>
              </a:rPr>
              <a:t>What is a Container Registry?</a:t>
            </a:r>
            <a:r>
              <a:rPr lang="en" sz="1100">
                <a:solidFill>
                  <a:schemeClr val="dk1"/>
                </a:solidFill>
                <a:latin typeface="Lora"/>
                <a:ea typeface="Lora"/>
                <a:cs typeface="Lora"/>
                <a:sym typeface="Lora"/>
              </a:rPr>
              <a:t> It's a storage system for your Docker images, like a "GitHub for Docker." Popular ones are: </a:t>
            </a:r>
            <a:endParaRPr sz="1100">
              <a:solidFill>
                <a:schemeClr val="dk1"/>
              </a:solidFill>
              <a:latin typeface="Lora"/>
              <a:ea typeface="Lora"/>
              <a:cs typeface="Lora"/>
              <a:sym typeface="Lora"/>
            </a:endParaRPr>
          </a:p>
          <a:p>
            <a:pPr indent="-298450" lvl="0" marL="457200" rtl="0" algn="l">
              <a:lnSpc>
                <a:spcPct val="150000"/>
              </a:lnSpc>
              <a:spcBef>
                <a:spcPts val="0"/>
              </a:spcBef>
              <a:spcAft>
                <a:spcPts val="0"/>
              </a:spcAft>
              <a:buClr>
                <a:schemeClr val="dk1"/>
              </a:buClr>
              <a:buSzPts val="1100"/>
              <a:buFont typeface="Lora"/>
              <a:buChar char="●"/>
            </a:pPr>
            <a:r>
              <a:rPr lang="en" sz="1100">
                <a:solidFill>
                  <a:schemeClr val="dk1"/>
                </a:solidFill>
                <a:latin typeface="Lora"/>
                <a:ea typeface="Lora"/>
                <a:cs typeface="Lora"/>
                <a:sym typeface="Lora"/>
              </a:rPr>
              <a:t>Docker Hub</a:t>
            </a:r>
            <a:endParaRPr sz="1100">
              <a:solidFill>
                <a:schemeClr val="dk1"/>
              </a:solidFill>
              <a:latin typeface="Lora"/>
              <a:ea typeface="Lora"/>
              <a:cs typeface="Lora"/>
              <a:sym typeface="Lora"/>
            </a:endParaRPr>
          </a:p>
          <a:p>
            <a:pPr indent="-298450" lvl="0" marL="457200" rtl="0" algn="l">
              <a:lnSpc>
                <a:spcPct val="150000"/>
              </a:lnSpc>
              <a:spcBef>
                <a:spcPts val="0"/>
              </a:spcBef>
              <a:spcAft>
                <a:spcPts val="0"/>
              </a:spcAft>
              <a:buClr>
                <a:schemeClr val="dk1"/>
              </a:buClr>
              <a:buSzPts val="1100"/>
              <a:buFont typeface="Lora"/>
              <a:buChar char="●"/>
            </a:pPr>
            <a:r>
              <a:rPr lang="en" sz="1100">
                <a:solidFill>
                  <a:schemeClr val="dk1"/>
                </a:solidFill>
                <a:latin typeface="Lora"/>
                <a:ea typeface="Lora"/>
                <a:cs typeface="Lora"/>
                <a:sym typeface="Lora"/>
              </a:rPr>
              <a:t>GitHub Container Registry(GHCR)</a:t>
            </a:r>
            <a:endParaRPr sz="1100">
              <a:solidFill>
                <a:schemeClr val="dk1"/>
              </a:solidFill>
              <a:latin typeface="Lora"/>
              <a:ea typeface="Lora"/>
              <a:cs typeface="Lora"/>
              <a:sym typeface="Lora"/>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latin typeface="Lora"/>
                <a:ea typeface="Lora"/>
                <a:cs typeface="Lora"/>
                <a:sym typeface="Lora"/>
              </a:rPr>
              <a:t>Google Artifact Registry (GAR)</a:t>
            </a:r>
            <a:r>
              <a:rPr b="1" lang="en" sz="1100">
                <a:solidFill>
                  <a:schemeClr val="dk1"/>
                </a:solidFill>
                <a:latin typeface="Lora"/>
                <a:ea typeface="Lora"/>
                <a:cs typeface="Lora"/>
                <a:sym typeface="Lora"/>
              </a:rPr>
              <a:t> — what we use in this course</a:t>
            </a:r>
            <a:endParaRPr b="1" sz="11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b="1" sz="1100">
              <a:solidFill>
                <a:schemeClr val="dk1"/>
              </a:solidFill>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p:txBody>
      </p:sp>
      <p:pic>
        <p:nvPicPr>
          <p:cNvPr id="144" name="Google Shape;144;p26"/>
          <p:cNvPicPr preferRelativeResize="0"/>
          <p:nvPr/>
        </p:nvPicPr>
        <p:blipFill>
          <a:blip r:embed="rId3">
            <a:alphaModFix/>
          </a:blip>
          <a:stretch>
            <a:fillRect/>
          </a:stretch>
        </p:blipFill>
        <p:spPr>
          <a:xfrm>
            <a:off x="4478875" y="651150"/>
            <a:ext cx="4214375" cy="41582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9. Example Workflow: The CD Pipeline for Deployment</a:t>
            </a:r>
            <a:endParaRPr sz="2400">
              <a:latin typeface="Lora"/>
              <a:ea typeface="Lora"/>
              <a:cs typeface="Lora"/>
              <a:sym typeface="Lora"/>
            </a:endParaRPr>
          </a:p>
        </p:txBody>
      </p:sp>
      <p:sp>
        <p:nvSpPr>
          <p:cNvPr id="150" name="Google Shape;150;p27"/>
          <p:cNvSpPr txBox="1"/>
          <p:nvPr/>
        </p:nvSpPr>
        <p:spPr>
          <a:xfrm>
            <a:off x="560500" y="636600"/>
            <a:ext cx="84177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chemeClr val="dk1"/>
              </a:buClr>
              <a:buSzPts val="1100"/>
              <a:buFont typeface="Arial"/>
              <a:buNone/>
            </a:pPr>
            <a:r>
              <a:rPr lang="en" sz="1100">
                <a:solidFill>
                  <a:schemeClr val="dk1"/>
                </a:solidFill>
                <a:latin typeface="Lora"/>
                <a:ea typeface="Lora"/>
                <a:cs typeface="Lora"/>
                <a:sym typeface="Lora"/>
              </a:rPr>
              <a:t>To see the full deployment pipeline used in</a:t>
            </a:r>
            <a:r>
              <a:rPr lang="en" sz="1100">
                <a:solidFill>
                  <a:schemeClr val="dk1"/>
                </a:solidFill>
                <a:latin typeface="Lora"/>
                <a:ea typeface="Lora"/>
                <a:cs typeface="Lora"/>
                <a:sym typeface="Lora"/>
              </a:rPr>
              <a:t> this course’s repository, see </a:t>
            </a:r>
            <a:r>
              <a:rPr lang="en" sz="1100" u="sng">
                <a:solidFill>
                  <a:schemeClr val="hlink"/>
                </a:solidFill>
                <a:latin typeface="Lora"/>
                <a:ea typeface="Lora"/>
                <a:cs typeface="Lora"/>
                <a:sym typeface="Lora"/>
                <a:hlinkClick r:id="rId3"/>
              </a:rPr>
              <a:t>here</a:t>
            </a:r>
            <a:r>
              <a:rPr lang="en" sz="1100">
                <a:solidFill>
                  <a:schemeClr val="dk1"/>
                </a:solidFill>
                <a:latin typeface="Lora"/>
                <a:ea typeface="Lora"/>
                <a:cs typeface="Lora"/>
                <a:sym typeface="Lora"/>
              </a:rPr>
              <a:t>. This is a simplified version of the workflow.</a:t>
            </a:r>
            <a:endParaRPr sz="1200">
              <a:solidFill>
                <a:schemeClr val="dk1"/>
              </a:solidFill>
              <a:latin typeface="Lora"/>
              <a:ea typeface="Lora"/>
              <a:cs typeface="Lora"/>
              <a:sym typeface="Lora"/>
            </a:endParaRPr>
          </a:p>
        </p:txBody>
      </p:sp>
      <p:sp>
        <p:nvSpPr>
          <p:cNvPr id="151" name="Google Shape;151;p27"/>
          <p:cNvSpPr txBox="1"/>
          <p:nvPr/>
        </p:nvSpPr>
        <p:spPr>
          <a:xfrm>
            <a:off x="143725" y="1014300"/>
            <a:ext cx="4382400" cy="36735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name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Build, Publish and Deploy</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900">
                <a:solidFill>
                  <a:srgbClr val="A05000"/>
                </a:solidFill>
                <a:latin typeface="Roboto Mono"/>
                <a:ea typeface="Roboto Mono"/>
                <a:cs typeface="Roboto Mono"/>
                <a:sym typeface="Roboto Mono"/>
              </a:rPr>
              <a:t># Run this workflow only on pushes to the 'development' branch</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on</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push</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branches</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 development </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900">
                <a:solidFill>
                  <a:srgbClr val="A05000"/>
                </a:solidFill>
                <a:latin typeface="Roboto Mono"/>
                <a:ea typeface="Roboto Mono"/>
                <a:cs typeface="Roboto Mono"/>
                <a:sym typeface="Roboto Mono"/>
              </a:rPr>
              <a:t># Set key variables for the job</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env</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PROJECT_ID</a:t>
            </a:r>
            <a:r>
              <a:rPr lang="en" sz="900">
                <a:solidFill>
                  <a:srgbClr val="505050"/>
                </a:solidFill>
                <a:latin typeface="Roboto Mono"/>
                <a:ea typeface="Roboto Mono"/>
                <a:cs typeface="Roboto Mono"/>
                <a:sym typeface="Roboto Mono"/>
              </a:rPr>
              <a:t>: </a:t>
            </a:r>
            <a:r>
              <a:rPr lang="en" sz="900">
                <a:solidFill>
                  <a:srgbClr val="A01010"/>
                </a:solidFill>
                <a:latin typeface="Roboto Mono"/>
                <a:ea typeface="Roboto Mono"/>
                <a:cs typeface="Roboto Mono"/>
                <a:sym typeface="Roboto Mono"/>
              </a:rPr>
              <a:t>'your-gcp-project-id'</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GCP_REGION</a:t>
            </a:r>
            <a:r>
              <a:rPr lang="en" sz="900">
                <a:solidFill>
                  <a:srgbClr val="505050"/>
                </a:solidFill>
                <a:latin typeface="Roboto Mono"/>
                <a:ea typeface="Roboto Mono"/>
                <a:cs typeface="Roboto Mono"/>
                <a:sym typeface="Roboto Mono"/>
              </a:rPr>
              <a:t>: </a:t>
            </a:r>
            <a:r>
              <a:rPr lang="en" sz="900">
                <a:solidFill>
                  <a:srgbClr val="A01010"/>
                </a:solidFill>
                <a:latin typeface="Roboto Mono"/>
                <a:ea typeface="Roboto Mono"/>
                <a:cs typeface="Roboto Mono"/>
                <a:sym typeface="Roboto Mono"/>
              </a:rPr>
              <a:t>'europe-west2'</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SERVICE_NAME</a:t>
            </a:r>
            <a:r>
              <a:rPr lang="en" sz="900">
                <a:solidFill>
                  <a:srgbClr val="505050"/>
                </a:solidFill>
                <a:latin typeface="Roboto Mono"/>
                <a:ea typeface="Roboto Mono"/>
                <a:cs typeface="Roboto Mono"/>
                <a:sym typeface="Roboto Mono"/>
              </a:rPr>
              <a:t>: </a:t>
            </a:r>
            <a:r>
              <a:rPr lang="en" sz="900">
                <a:solidFill>
                  <a:srgbClr val="A01010"/>
                </a:solidFill>
                <a:latin typeface="Roboto Mono"/>
                <a:ea typeface="Roboto Mono"/>
                <a:cs typeface="Roboto Mono"/>
                <a:sym typeface="Roboto Mono"/>
              </a:rPr>
              <a:t>'my-ml-app'</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jobs</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build-and-deploy</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runs-on</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ubuntu-latest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permissions</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contents</a:t>
            </a:r>
            <a:r>
              <a:rPr lang="en" sz="900">
                <a:solidFill>
                  <a:srgbClr val="505050"/>
                </a:solidFill>
                <a:latin typeface="Roboto Mono"/>
                <a:ea typeface="Roboto Mono"/>
                <a:cs typeface="Roboto Mono"/>
                <a:sym typeface="Roboto Mono"/>
              </a:rPr>
              <a:t>: </a:t>
            </a:r>
            <a:r>
              <a:rPr lang="en" sz="900">
                <a:solidFill>
                  <a:srgbClr val="A01010"/>
                </a:solidFill>
                <a:latin typeface="Roboto Mono"/>
                <a:ea typeface="Roboto Mono"/>
                <a:cs typeface="Roboto Mono"/>
                <a:sym typeface="Roboto Mono"/>
              </a:rPr>
              <a:t>'read'</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id-token</a:t>
            </a:r>
            <a:r>
              <a:rPr lang="en" sz="900">
                <a:solidFill>
                  <a:srgbClr val="505050"/>
                </a:solidFill>
                <a:latin typeface="Roboto Mono"/>
                <a:ea typeface="Roboto Mono"/>
                <a:cs typeface="Roboto Mono"/>
                <a:sym typeface="Roboto Mono"/>
              </a:rPr>
              <a:t>: </a:t>
            </a:r>
            <a:r>
              <a:rPr lang="en" sz="900">
                <a:solidFill>
                  <a:srgbClr val="A01010"/>
                </a:solidFill>
                <a:latin typeface="Roboto Mono"/>
                <a:ea typeface="Roboto Mono"/>
                <a:cs typeface="Roboto Mono"/>
                <a:sym typeface="Roboto Mono"/>
              </a:rPr>
              <a:t>'write'</a:t>
            </a:r>
            <a:r>
              <a:rPr lang="en" sz="900">
                <a:latin typeface="Roboto Mono"/>
                <a:ea typeface="Roboto Mono"/>
                <a:cs typeface="Roboto Mono"/>
                <a:sym typeface="Roboto Mono"/>
              </a:rPr>
              <a:t> </a:t>
            </a:r>
            <a:r>
              <a:rPr i="1" lang="en" sz="900">
                <a:solidFill>
                  <a:srgbClr val="A05000"/>
                </a:solidFill>
                <a:latin typeface="Roboto Mono"/>
                <a:ea typeface="Roboto Mono"/>
                <a:cs typeface="Roboto Mono"/>
                <a:sym typeface="Roboto Mono"/>
              </a:rPr>
              <a:t># Required for GCP authentication</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steps</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i="1" lang="en" sz="900">
                <a:solidFill>
                  <a:srgbClr val="A05000"/>
                </a:solidFill>
                <a:latin typeface="Roboto Mono"/>
                <a:ea typeface="Roboto Mono"/>
                <a:cs typeface="Roboto Mono"/>
                <a:sym typeface="Roboto Mono"/>
              </a:rPr>
              <a:t># 1. Get the code from the repository</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505050"/>
                </a:solidFill>
                <a:latin typeface="Roboto Mono"/>
                <a:ea typeface="Roboto Mono"/>
                <a:cs typeface="Roboto Mono"/>
                <a:sym typeface="Roboto Mono"/>
              </a:rPr>
              <a:t>      - </a:t>
            </a:r>
            <a:r>
              <a:rPr lang="en" sz="900">
                <a:solidFill>
                  <a:srgbClr val="201090"/>
                </a:solidFill>
                <a:latin typeface="Roboto Mono"/>
                <a:ea typeface="Roboto Mono"/>
                <a:cs typeface="Roboto Mono"/>
                <a:sym typeface="Roboto Mono"/>
              </a:rPr>
              <a:t>name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Checkout repository</a:t>
            </a:r>
            <a:endParaRPr sz="900">
              <a:latin typeface="Roboto Mono"/>
              <a:ea typeface="Roboto Mono"/>
              <a:cs typeface="Roboto Mono"/>
              <a:sym typeface="Roboto Mono"/>
            </a:endParaRPr>
          </a:p>
          <a:p>
            <a:pPr indent="0" lvl="0" marL="0" rtl="0" algn="l">
              <a:spcBef>
                <a:spcPts val="0"/>
              </a:spcBef>
              <a:spcAft>
                <a:spcPts val="0"/>
              </a:spcAft>
              <a:buNone/>
            </a:pPr>
            <a:r>
              <a:rPr lang="en" sz="900">
                <a:solidFill>
                  <a:srgbClr val="201090"/>
                </a:solidFill>
                <a:latin typeface="Roboto Mono"/>
                <a:ea typeface="Roboto Mono"/>
                <a:cs typeface="Roboto Mono"/>
                <a:sym typeface="Roboto Mono"/>
              </a:rPr>
              <a:t>        uses</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actions/checkout@v4</a:t>
            </a:r>
            <a:endParaRPr sz="900">
              <a:latin typeface="Roboto Mono"/>
              <a:ea typeface="Roboto Mono"/>
              <a:cs typeface="Roboto Mono"/>
              <a:sym typeface="Roboto Mono"/>
            </a:endParaRPr>
          </a:p>
        </p:txBody>
      </p:sp>
      <p:sp>
        <p:nvSpPr>
          <p:cNvPr id="152" name="Google Shape;152;p27"/>
          <p:cNvSpPr txBox="1"/>
          <p:nvPr/>
        </p:nvSpPr>
        <p:spPr>
          <a:xfrm>
            <a:off x="4572000" y="1014300"/>
            <a:ext cx="4489200" cy="36735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i="1" lang="en" sz="900">
                <a:solidFill>
                  <a:srgbClr val="A05000"/>
                </a:solidFill>
                <a:latin typeface="Roboto Mono"/>
                <a:ea typeface="Roboto Mono"/>
                <a:cs typeface="Roboto Mono"/>
                <a:sym typeface="Roboto Mono"/>
              </a:rPr>
              <a:t># 2. Authenticate to Google Cloud</a:t>
            </a:r>
            <a:endParaRPr sz="900">
              <a:latin typeface="Roboto Mono"/>
              <a:ea typeface="Roboto Mono"/>
              <a:cs typeface="Roboto Mono"/>
              <a:sym typeface="Roboto Mono"/>
            </a:endParaRPr>
          </a:p>
          <a:p>
            <a:pPr indent="0" lvl="0" marL="0" rtl="0" algn="l">
              <a:spcBef>
                <a:spcPts val="0"/>
              </a:spcBef>
              <a:spcAft>
                <a:spcPts val="0"/>
              </a:spcAft>
              <a:buNone/>
            </a:pPr>
            <a:r>
              <a:rPr lang="en" sz="900">
                <a:solidFill>
                  <a:srgbClr val="505050"/>
                </a:solidFill>
                <a:latin typeface="Roboto Mono"/>
                <a:ea typeface="Roboto Mono"/>
                <a:cs typeface="Roboto Mono"/>
                <a:sym typeface="Roboto Mono"/>
              </a:rPr>
              <a:t>      - </a:t>
            </a:r>
            <a:r>
              <a:rPr lang="en" sz="900">
                <a:solidFill>
                  <a:srgbClr val="201090"/>
                </a:solidFill>
                <a:latin typeface="Roboto Mono"/>
                <a:ea typeface="Roboto Mono"/>
                <a:cs typeface="Roboto Mono"/>
                <a:sym typeface="Roboto Mono"/>
              </a:rPr>
              <a:t>name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Authenticate to GCP</a:t>
            </a:r>
            <a:endParaRPr sz="900">
              <a:latin typeface="Roboto Mono"/>
              <a:ea typeface="Roboto Mono"/>
              <a:cs typeface="Roboto Mono"/>
              <a:sym typeface="Roboto Mono"/>
            </a:endParaRPr>
          </a:p>
          <a:p>
            <a:pPr indent="0" lvl="0" marL="0" rtl="0" algn="l">
              <a:spcBef>
                <a:spcPts val="0"/>
              </a:spcBef>
              <a:spcAft>
                <a:spcPts val="0"/>
              </a:spcAft>
              <a:buNone/>
            </a:pPr>
            <a:r>
              <a:rPr lang="en" sz="900">
                <a:solidFill>
                  <a:srgbClr val="201090"/>
                </a:solidFill>
                <a:latin typeface="Roboto Mono"/>
                <a:ea typeface="Roboto Mono"/>
                <a:cs typeface="Roboto Mono"/>
                <a:sym typeface="Roboto Mono"/>
              </a:rPr>
              <a:t>        uses</a:t>
            </a:r>
            <a:r>
              <a:rPr lang="en" sz="900">
                <a:solidFill>
                  <a:srgbClr val="505050"/>
                </a:solidFill>
                <a:latin typeface="Roboto Mono"/>
                <a:ea typeface="Roboto Mono"/>
                <a:cs typeface="Roboto Mono"/>
                <a:sym typeface="Roboto Mono"/>
              </a:rPr>
              <a:t>: </a:t>
            </a:r>
            <a:r>
              <a:rPr lang="en" sz="900">
                <a:solidFill>
                  <a:srgbClr val="A01010"/>
                </a:solidFill>
                <a:latin typeface="Roboto Mono"/>
                <a:ea typeface="Roboto Mono"/>
                <a:cs typeface="Roboto Mono"/>
                <a:sym typeface="Roboto Mono"/>
              </a:rPr>
              <a:t>'google-github-actions/auth@v2'</a:t>
            </a:r>
            <a:endParaRPr sz="900">
              <a:latin typeface="Roboto Mono"/>
              <a:ea typeface="Roboto Mono"/>
              <a:cs typeface="Roboto Mono"/>
              <a:sym typeface="Roboto Mono"/>
            </a:endParaRPr>
          </a:p>
          <a:p>
            <a:pPr indent="0" lvl="0" marL="0" rtl="0" algn="l">
              <a:spcBef>
                <a:spcPts val="0"/>
              </a:spcBef>
              <a:spcAft>
                <a:spcPts val="0"/>
              </a:spcAft>
              <a:buNone/>
            </a:pPr>
            <a:r>
              <a:rPr lang="en" sz="900">
                <a:solidFill>
                  <a:srgbClr val="201090"/>
                </a:solidFill>
                <a:latin typeface="Roboto Mono"/>
                <a:ea typeface="Roboto Mono"/>
                <a:cs typeface="Roboto Mono"/>
                <a:sym typeface="Roboto Mono"/>
              </a:rPr>
              <a:t>        with</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credentials_json</a:t>
            </a:r>
            <a:r>
              <a:rPr lang="en" sz="900">
                <a:solidFill>
                  <a:srgbClr val="505050"/>
                </a:solidFill>
                <a:latin typeface="Roboto Mono"/>
                <a:ea typeface="Roboto Mono"/>
                <a:cs typeface="Roboto Mono"/>
                <a:sym typeface="Roboto Mono"/>
              </a:rPr>
              <a:t>: </a:t>
            </a:r>
            <a:r>
              <a:rPr lang="en" sz="900">
                <a:solidFill>
                  <a:srgbClr val="A01010"/>
                </a:solidFill>
                <a:latin typeface="Roboto Mono"/>
                <a:ea typeface="Roboto Mono"/>
                <a:cs typeface="Roboto Mono"/>
                <a:sym typeface="Roboto Mono"/>
              </a:rPr>
              <a:t>'${{ secrets.GCP_SA_KEY }}'</a:t>
            </a:r>
            <a:endParaRPr sz="900">
              <a:solidFill>
                <a:srgbClr val="A01010"/>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i="1" lang="en" sz="900">
                <a:solidFill>
                  <a:srgbClr val="A05000"/>
                </a:solidFill>
                <a:latin typeface="Roboto Mono"/>
                <a:ea typeface="Roboto Mono"/>
                <a:cs typeface="Roboto Mono"/>
                <a:sym typeface="Roboto Mono"/>
              </a:rPr>
              <a:t># 3. Build and push the image to Google Artifact Registry</a:t>
            </a:r>
            <a:endParaRPr sz="900">
              <a:latin typeface="Roboto Mono"/>
              <a:ea typeface="Roboto Mono"/>
              <a:cs typeface="Roboto Mono"/>
              <a:sym typeface="Roboto Mono"/>
            </a:endParaRPr>
          </a:p>
          <a:p>
            <a:pPr indent="0" lvl="0" marL="0" rtl="0" algn="l">
              <a:spcBef>
                <a:spcPts val="0"/>
              </a:spcBef>
              <a:spcAft>
                <a:spcPts val="0"/>
              </a:spcAft>
              <a:buNone/>
            </a:pPr>
            <a:r>
              <a:rPr lang="en" sz="900">
                <a:solidFill>
                  <a:srgbClr val="505050"/>
                </a:solidFill>
                <a:latin typeface="Roboto Mono"/>
                <a:ea typeface="Roboto Mono"/>
                <a:cs typeface="Roboto Mono"/>
                <a:sym typeface="Roboto Mono"/>
              </a:rPr>
              <a:t>      - </a:t>
            </a:r>
            <a:r>
              <a:rPr lang="en" sz="900">
                <a:solidFill>
                  <a:srgbClr val="201090"/>
                </a:solidFill>
                <a:latin typeface="Roboto Mono"/>
                <a:ea typeface="Roboto Mono"/>
                <a:cs typeface="Roboto Mono"/>
                <a:sym typeface="Roboto Mono"/>
              </a:rPr>
              <a:t>name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Build and Push Docker Image</a:t>
            </a:r>
            <a:endParaRPr sz="900">
              <a:latin typeface="Roboto Mono"/>
              <a:ea typeface="Roboto Mono"/>
              <a:cs typeface="Roboto Mono"/>
              <a:sym typeface="Roboto Mono"/>
            </a:endParaRPr>
          </a:p>
          <a:p>
            <a:pPr indent="0" lvl="0" marL="0" rtl="0" algn="l">
              <a:spcBef>
                <a:spcPts val="0"/>
              </a:spcBef>
              <a:spcAft>
                <a:spcPts val="0"/>
              </a:spcAft>
              <a:buNone/>
            </a:pPr>
            <a:r>
              <a:rPr lang="en" sz="900">
                <a:solidFill>
                  <a:srgbClr val="201090"/>
                </a:solidFill>
                <a:latin typeface="Roboto Mono"/>
                <a:ea typeface="Roboto Mono"/>
                <a:cs typeface="Roboto Mono"/>
                <a:sym typeface="Roboto Mono"/>
              </a:rPr>
              <a:t>        uses</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docker/build-push-action@v5</a:t>
            </a:r>
            <a:endParaRPr sz="900">
              <a:latin typeface="Roboto Mono"/>
              <a:ea typeface="Roboto Mono"/>
              <a:cs typeface="Roboto Mono"/>
              <a:sym typeface="Roboto Mono"/>
            </a:endParaRPr>
          </a:p>
          <a:p>
            <a:pPr indent="0" lvl="0" marL="0" rtl="0" algn="l">
              <a:spcBef>
                <a:spcPts val="0"/>
              </a:spcBef>
              <a:spcAft>
                <a:spcPts val="0"/>
              </a:spcAft>
              <a:buNone/>
            </a:pPr>
            <a:r>
              <a:rPr lang="en" sz="900">
                <a:solidFill>
                  <a:srgbClr val="201090"/>
                </a:solidFill>
                <a:latin typeface="Roboto Mono"/>
                <a:ea typeface="Roboto Mono"/>
                <a:cs typeface="Roboto Mono"/>
                <a:sym typeface="Roboto Mono"/>
              </a:rPr>
              <a:t>        with</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None/>
            </a:pPr>
            <a:r>
              <a:rPr lang="en" sz="900">
                <a:solidFill>
                  <a:srgbClr val="201090"/>
                </a:solidFill>
                <a:latin typeface="Roboto Mono"/>
                <a:ea typeface="Roboto Mono"/>
                <a:cs typeface="Roboto Mono"/>
                <a:sym typeface="Roboto Mono"/>
              </a:rPr>
              <a:t>          push</a:t>
            </a:r>
            <a:r>
              <a:rPr lang="en" sz="900">
                <a:solidFill>
                  <a:srgbClr val="505050"/>
                </a:solidFill>
                <a:latin typeface="Roboto Mono"/>
                <a:ea typeface="Roboto Mono"/>
                <a:cs typeface="Roboto Mono"/>
                <a:sym typeface="Roboto Mono"/>
              </a:rPr>
              <a:t>: </a:t>
            </a:r>
            <a:r>
              <a:rPr b="1" lang="en" sz="900">
                <a:solidFill>
                  <a:srgbClr val="700080"/>
                </a:solidFill>
                <a:latin typeface="Roboto Mono"/>
                <a:ea typeface="Roboto Mono"/>
                <a:cs typeface="Roboto Mono"/>
                <a:sym typeface="Roboto Mono"/>
              </a:rPr>
              <a:t>true</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tags</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a:t>
            </a:r>
            <a:r>
              <a:rPr lang="en" sz="900">
                <a:solidFill>
                  <a:srgbClr val="505050"/>
                </a:solidFill>
                <a:latin typeface="Roboto Mono"/>
                <a:ea typeface="Roboto Mono"/>
                <a:cs typeface="Roboto Mono"/>
                <a:sym typeface="Roboto Mono"/>
              </a:rPr>
              <a:t>{{</a:t>
            </a:r>
            <a:r>
              <a:rPr lang="en" sz="900">
                <a:latin typeface="Roboto Mono"/>
                <a:ea typeface="Roboto Mono"/>
                <a:cs typeface="Roboto Mono"/>
                <a:sym typeface="Roboto Mono"/>
              </a:rPr>
              <a:t> env.GCP_REGION </a:t>
            </a:r>
            <a:r>
              <a:rPr lang="en" sz="900">
                <a:solidFill>
                  <a:srgbClr val="505050"/>
                </a:solidFill>
                <a:latin typeface="Roboto Mono"/>
                <a:ea typeface="Roboto Mono"/>
                <a:cs typeface="Roboto Mono"/>
                <a:sym typeface="Roboto Mono"/>
              </a:rPr>
              <a:t>}}</a:t>
            </a:r>
            <a:r>
              <a:rPr lang="en" sz="900">
                <a:latin typeface="Roboto Mono"/>
                <a:ea typeface="Roboto Mono"/>
                <a:cs typeface="Roboto Mono"/>
                <a:sym typeface="Roboto Mono"/>
              </a:rPr>
              <a:t>-docker.pkg.dev/$</a:t>
            </a:r>
            <a:r>
              <a:rPr lang="en" sz="900">
                <a:solidFill>
                  <a:srgbClr val="505050"/>
                </a:solidFill>
                <a:latin typeface="Roboto Mono"/>
                <a:ea typeface="Roboto Mono"/>
                <a:cs typeface="Roboto Mono"/>
                <a:sym typeface="Roboto Mono"/>
              </a:rPr>
              <a:t>{{</a:t>
            </a:r>
            <a:r>
              <a:rPr lang="en" sz="900">
                <a:latin typeface="Roboto Mono"/>
                <a:ea typeface="Roboto Mono"/>
                <a:cs typeface="Roboto Mono"/>
                <a:sym typeface="Roboto Mono"/>
              </a:rPr>
              <a:t> env.PROJECT_ID </a:t>
            </a:r>
            <a:r>
              <a:rPr lang="en" sz="900">
                <a:solidFill>
                  <a:srgbClr val="505050"/>
                </a:solidFill>
                <a:latin typeface="Roboto Mono"/>
                <a:ea typeface="Roboto Mono"/>
                <a:cs typeface="Roboto Mono"/>
                <a:sym typeface="Roboto Mono"/>
              </a:rPr>
              <a:t>}}</a:t>
            </a:r>
            <a:r>
              <a:rPr lang="en" sz="900">
                <a:latin typeface="Roboto Mono"/>
                <a:ea typeface="Roboto Mono"/>
                <a:cs typeface="Roboto Mono"/>
                <a:sym typeface="Roboto Mono"/>
              </a:rPr>
              <a:t>/my-repo/$</a:t>
            </a:r>
            <a:r>
              <a:rPr lang="en" sz="900">
                <a:solidFill>
                  <a:srgbClr val="505050"/>
                </a:solidFill>
                <a:latin typeface="Roboto Mono"/>
                <a:ea typeface="Roboto Mono"/>
                <a:cs typeface="Roboto Mono"/>
                <a:sym typeface="Roboto Mono"/>
              </a:rPr>
              <a:t>{{</a:t>
            </a:r>
            <a:r>
              <a:rPr lang="en" sz="900">
                <a:latin typeface="Roboto Mono"/>
                <a:ea typeface="Roboto Mono"/>
                <a:cs typeface="Roboto Mono"/>
                <a:sym typeface="Roboto Mono"/>
              </a:rPr>
              <a:t> env.SERVICE_NAME </a:t>
            </a:r>
            <a:r>
              <a:rPr lang="en" sz="900">
                <a:solidFill>
                  <a:srgbClr val="505050"/>
                </a:solidFill>
                <a:latin typeface="Roboto Mono"/>
                <a:ea typeface="Roboto Mono"/>
                <a:cs typeface="Roboto Mono"/>
                <a:sym typeface="Roboto Mono"/>
              </a:rPr>
              <a:t>}}:</a:t>
            </a:r>
            <a:r>
              <a:rPr lang="en" sz="900">
                <a:latin typeface="Roboto Mono"/>
                <a:ea typeface="Roboto Mono"/>
                <a:cs typeface="Roboto Mono"/>
                <a:sym typeface="Roboto Mono"/>
              </a:rPr>
              <a:t>latest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latin typeface="Roboto Mono"/>
                <a:ea typeface="Roboto Mono"/>
                <a:cs typeface="Roboto Mono"/>
                <a:sym typeface="Roboto Mono"/>
              </a:rPr>
              <a:t>      </a:t>
            </a:r>
            <a:r>
              <a:rPr i="1" lang="en" sz="900">
                <a:solidFill>
                  <a:srgbClr val="A05000"/>
                </a:solidFill>
                <a:latin typeface="Roboto Mono"/>
                <a:ea typeface="Roboto Mono"/>
                <a:cs typeface="Roboto Mono"/>
                <a:sym typeface="Roboto Mono"/>
              </a:rPr>
              <a:t># 4. Deploy the new image to Google Cloud Run</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505050"/>
                </a:solidFill>
                <a:latin typeface="Roboto Mono"/>
                <a:ea typeface="Roboto Mono"/>
                <a:cs typeface="Roboto Mono"/>
                <a:sym typeface="Roboto Mono"/>
              </a:rPr>
              <a:t>      - </a:t>
            </a:r>
            <a:r>
              <a:rPr lang="en" sz="900">
                <a:solidFill>
                  <a:srgbClr val="201090"/>
                </a:solidFill>
                <a:latin typeface="Roboto Mono"/>
                <a:ea typeface="Roboto Mono"/>
                <a:cs typeface="Roboto Mono"/>
                <a:sym typeface="Roboto Mono"/>
              </a:rPr>
              <a:t>name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Deploy to Cloud Run</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uses</a:t>
            </a:r>
            <a:r>
              <a:rPr lang="en" sz="900">
                <a:solidFill>
                  <a:srgbClr val="505050"/>
                </a:solidFill>
                <a:latin typeface="Roboto Mono"/>
                <a:ea typeface="Roboto Mono"/>
                <a:cs typeface="Roboto Mono"/>
                <a:sym typeface="Roboto Mono"/>
              </a:rPr>
              <a:t>: </a:t>
            </a:r>
            <a:r>
              <a:rPr lang="en" sz="900">
                <a:solidFill>
                  <a:srgbClr val="A01010"/>
                </a:solidFill>
                <a:latin typeface="Roboto Mono"/>
                <a:ea typeface="Roboto Mono"/>
                <a:cs typeface="Roboto Mono"/>
                <a:sym typeface="Roboto Mono"/>
              </a:rPr>
              <a:t>'google-github-actions/deploy-cloudrun@v2'</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with</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service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a:t>
            </a:r>
            <a:r>
              <a:rPr lang="en" sz="900">
                <a:solidFill>
                  <a:srgbClr val="505050"/>
                </a:solidFill>
                <a:latin typeface="Roboto Mono"/>
                <a:ea typeface="Roboto Mono"/>
                <a:cs typeface="Roboto Mono"/>
                <a:sym typeface="Roboto Mono"/>
              </a:rPr>
              <a:t>{{</a:t>
            </a:r>
            <a:r>
              <a:rPr lang="en" sz="900">
                <a:latin typeface="Roboto Mono"/>
                <a:ea typeface="Roboto Mono"/>
                <a:cs typeface="Roboto Mono"/>
                <a:sym typeface="Roboto Mono"/>
              </a:rPr>
              <a:t> env.SERVICE_NAME </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region</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a:t>
            </a:r>
            <a:r>
              <a:rPr lang="en" sz="900">
                <a:solidFill>
                  <a:srgbClr val="505050"/>
                </a:solidFill>
                <a:latin typeface="Roboto Mono"/>
                <a:ea typeface="Roboto Mono"/>
                <a:cs typeface="Roboto Mono"/>
                <a:sym typeface="Roboto Mono"/>
              </a:rPr>
              <a:t>{{</a:t>
            </a:r>
            <a:r>
              <a:rPr lang="en" sz="900">
                <a:latin typeface="Roboto Mono"/>
                <a:ea typeface="Roboto Mono"/>
                <a:cs typeface="Roboto Mono"/>
                <a:sym typeface="Roboto Mono"/>
              </a:rPr>
              <a:t> env.GCP_REGION </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image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a:t>
            </a:r>
            <a:r>
              <a:rPr lang="en" sz="900">
                <a:solidFill>
                  <a:srgbClr val="505050"/>
                </a:solidFill>
                <a:latin typeface="Roboto Mono"/>
                <a:ea typeface="Roboto Mono"/>
                <a:cs typeface="Roboto Mono"/>
                <a:sym typeface="Roboto Mono"/>
              </a:rPr>
              <a:t>{{</a:t>
            </a:r>
            <a:r>
              <a:rPr lang="en" sz="900">
                <a:latin typeface="Roboto Mono"/>
                <a:ea typeface="Roboto Mono"/>
                <a:cs typeface="Roboto Mono"/>
                <a:sym typeface="Roboto Mono"/>
              </a:rPr>
              <a:t> env.GCP_REGION </a:t>
            </a:r>
            <a:r>
              <a:rPr lang="en" sz="900">
                <a:solidFill>
                  <a:srgbClr val="505050"/>
                </a:solidFill>
                <a:latin typeface="Roboto Mono"/>
                <a:ea typeface="Roboto Mono"/>
                <a:cs typeface="Roboto Mono"/>
                <a:sym typeface="Roboto Mono"/>
              </a:rPr>
              <a:t>}}</a:t>
            </a:r>
            <a:r>
              <a:rPr lang="en" sz="900">
                <a:latin typeface="Roboto Mono"/>
                <a:ea typeface="Roboto Mono"/>
                <a:cs typeface="Roboto Mono"/>
                <a:sym typeface="Roboto Mono"/>
              </a:rPr>
              <a:t>-docker.pkg.dev/$</a:t>
            </a:r>
            <a:r>
              <a:rPr lang="en" sz="900">
                <a:solidFill>
                  <a:srgbClr val="505050"/>
                </a:solidFill>
                <a:latin typeface="Roboto Mono"/>
                <a:ea typeface="Roboto Mono"/>
                <a:cs typeface="Roboto Mono"/>
                <a:sym typeface="Roboto Mono"/>
              </a:rPr>
              <a:t>{{</a:t>
            </a:r>
            <a:r>
              <a:rPr lang="en" sz="900">
                <a:latin typeface="Roboto Mono"/>
                <a:ea typeface="Roboto Mono"/>
                <a:cs typeface="Roboto Mono"/>
                <a:sym typeface="Roboto Mono"/>
              </a:rPr>
              <a:t> env.PROJECT_ID </a:t>
            </a:r>
            <a:r>
              <a:rPr lang="en" sz="900">
                <a:solidFill>
                  <a:srgbClr val="505050"/>
                </a:solidFill>
                <a:latin typeface="Roboto Mono"/>
                <a:ea typeface="Roboto Mono"/>
                <a:cs typeface="Roboto Mono"/>
                <a:sym typeface="Roboto Mono"/>
              </a:rPr>
              <a:t>}}</a:t>
            </a:r>
            <a:r>
              <a:rPr lang="en" sz="900">
                <a:latin typeface="Roboto Mono"/>
                <a:ea typeface="Roboto Mono"/>
                <a:cs typeface="Roboto Mono"/>
                <a:sym typeface="Roboto Mono"/>
              </a:rPr>
              <a:t>/my-repo/$</a:t>
            </a:r>
            <a:r>
              <a:rPr lang="en" sz="900">
                <a:solidFill>
                  <a:srgbClr val="505050"/>
                </a:solidFill>
                <a:latin typeface="Roboto Mono"/>
                <a:ea typeface="Roboto Mono"/>
                <a:cs typeface="Roboto Mono"/>
                <a:sym typeface="Roboto Mono"/>
              </a:rPr>
              <a:t>{{</a:t>
            </a:r>
            <a:r>
              <a:rPr lang="en" sz="900">
                <a:latin typeface="Roboto Mono"/>
                <a:ea typeface="Roboto Mono"/>
                <a:cs typeface="Roboto Mono"/>
                <a:sym typeface="Roboto Mono"/>
              </a:rPr>
              <a:t> env.SERVICE_NAME </a:t>
            </a:r>
            <a:r>
              <a:rPr lang="en" sz="900">
                <a:solidFill>
                  <a:srgbClr val="505050"/>
                </a:solidFill>
                <a:latin typeface="Roboto Mono"/>
                <a:ea typeface="Roboto Mono"/>
                <a:cs typeface="Roboto Mono"/>
                <a:sym typeface="Roboto Mono"/>
              </a:rPr>
              <a:t>}}:</a:t>
            </a:r>
            <a:r>
              <a:rPr lang="en" sz="900">
                <a:latin typeface="Roboto Mono"/>
                <a:ea typeface="Roboto Mono"/>
                <a:cs typeface="Roboto Mono"/>
                <a:sym typeface="Roboto Mono"/>
              </a:rPr>
              <a:t>latest</a:t>
            </a:r>
            <a:endParaRPr sz="900">
              <a:latin typeface="Roboto Mono"/>
              <a:ea typeface="Roboto Mono"/>
              <a:cs typeface="Roboto Mono"/>
              <a:sym typeface="Roboto Mono"/>
            </a:endParaRPr>
          </a:p>
          <a:p>
            <a:pPr indent="0" lvl="0" marL="0" rtl="0" algn="l">
              <a:spcBef>
                <a:spcPts val="0"/>
              </a:spcBef>
              <a:spcAft>
                <a:spcPts val="0"/>
              </a:spcAft>
              <a:buNone/>
            </a:pPr>
            <a:r>
              <a:t/>
            </a:r>
            <a:endParaRPr sz="900">
              <a:solidFill>
                <a:srgbClr val="201090"/>
              </a:solidFill>
              <a:latin typeface="Roboto Mono"/>
              <a:ea typeface="Roboto Mono"/>
              <a:cs typeface="Roboto Mono"/>
              <a:sym typeface="Roboto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8"/>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10. Use Case #3: Automating Infrastructure (IaC)</a:t>
            </a:r>
            <a:endParaRPr sz="2400">
              <a:latin typeface="Lora"/>
              <a:ea typeface="Lora"/>
              <a:cs typeface="Lora"/>
              <a:sym typeface="Lora"/>
            </a:endParaRPr>
          </a:p>
        </p:txBody>
      </p:sp>
      <p:sp>
        <p:nvSpPr>
          <p:cNvPr id="158" name="Google Shape;158;p28"/>
          <p:cNvSpPr txBox="1"/>
          <p:nvPr/>
        </p:nvSpPr>
        <p:spPr>
          <a:xfrm>
            <a:off x="468500" y="612900"/>
            <a:ext cx="7896600" cy="2089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b="1" lang="en" sz="1100">
                <a:solidFill>
                  <a:schemeClr val="dk1"/>
                </a:solidFill>
                <a:latin typeface="Lora"/>
                <a:ea typeface="Lora"/>
                <a:cs typeface="Lora"/>
                <a:sym typeface="Lora"/>
              </a:rPr>
              <a:t>Provisioning the Servers Themselves : </a:t>
            </a:r>
            <a:r>
              <a:rPr lang="en" sz="1100">
                <a:solidFill>
                  <a:schemeClr val="dk1"/>
                </a:solidFill>
                <a:latin typeface="Lora"/>
                <a:ea typeface="Lora"/>
                <a:cs typeface="Lora"/>
                <a:sym typeface="Lora"/>
              </a:rPr>
              <a:t>What if our application needs a database, a cloud storage bucket, or a specific server configuration? We can automate the creation of this infrastructure using Infrastructure as Code (IaC).</a:t>
            </a:r>
            <a:endParaRPr sz="11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t/>
            </a:r>
            <a:endParaRPr sz="11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latin typeface="Lora"/>
                <a:ea typeface="Lora"/>
                <a:cs typeface="Lora"/>
                <a:sym typeface="Lora"/>
              </a:rPr>
              <a:t>IaC:</a:t>
            </a:r>
            <a:r>
              <a:rPr lang="en" sz="1100">
                <a:solidFill>
                  <a:schemeClr val="dk1"/>
                </a:solidFill>
                <a:latin typeface="Lora"/>
                <a:ea typeface="Lora"/>
                <a:cs typeface="Lora"/>
                <a:sym typeface="Lora"/>
              </a:rPr>
              <a:t> The practice of managing and provisioning infrastructure through code and version control, rather than through manual configuration (“ClickOps”). Examples of the tools used are: Terraform, </a:t>
            </a:r>
            <a:r>
              <a:rPr b="1" lang="en" sz="1100">
                <a:solidFill>
                  <a:schemeClr val="dk1"/>
                </a:solidFill>
                <a:latin typeface="Lora"/>
                <a:ea typeface="Lora"/>
                <a:cs typeface="Lora"/>
                <a:sym typeface="Lora"/>
              </a:rPr>
              <a:t>Opentofu</a:t>
            </a:r>
            <a:r>
              <a:rPr lang="en" sz="1100">
                <a:solidFill>
                  <a:schemeClr val="dk1"/>
                </a:solidFill>
                <a:latin typeface="Lora"/>
                <a:ea typeface="Lora"/>
                <a:cs typeface="Lora"/>
                <a:sym typeface="Lora"/>
              </a:rPr>
              <a:t> (Open source version of Terraform), AWS CloudFormation etc.</a:t>
            </a:r>
            <a:endParaRPr sz="11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latin typeface="Lora"/>
                <a:ea typeface="Lora"/>
                <a:cs typeface="Lora"/>
                <a:sym typeface="Lora"/>
              </a:rPr>
              <a:t>You write code (e.g. in </a:t>
            </a:r>
            <a:r>
              <a:rPr lang="en" sz="1100">
                <a:solidFill>
                  <a:schemeClr val="dk1"/>
                </a:solidFill>
                <a:latin typeface="Lora"/>
                <a:ea typeface="Lora"/>
                <a:cs typeface="Lora"/>
                <a:sym typeface="Lora"/>
              </a:rPr>
              <a:t>Terraform</a:t>
            </a:r>
            <a:r>
              <a:rPr lang="en" sz="1100">
                <a:solidFill>
                  <a:schemeClr val="dk1"/>
                </a:solidFill>
                <a:latin typeface="Lora"/>
                <a:ea typeface="Lora"/>
                <a:cs typeface="Lora"/>
                <a:sym typeface="Lora"/>
              </a:rPr>
              <a:t> HCL language) that declares what cloud resources you need. See </a:t>
            </a:r>
            <a:r>
              <a:rPr lang="en" sz="1100" u="sng">
                <a:solidFill>
                  <a:schemeClr val="hlink"/>
                </a:solidFill>
                <a:latin typeface="Lora"/>
                <a:ea typeface="Lora"/>
                <a:cs typeface="Lora"/>
                <a:sym typeface="Lora"/>
                <a:hlinkClick r:id="rId3"/>
              </a:rPr>
              <a:t>example here</a:t>
            </a:r>
            <a:r>
              <a:rPr lang="en" sz="1100">
                <a:solidFill>
                  <a:schemeClr val="dk1"/>
                </a:solidFill>
                <a:latin typeface="Lora"/>
                <a:ea typeface="Lora"/>
                <a:cs typeface="Lora"/>
                <a:sym typeface="Lora"/>
              </a:rPr>
              <a:t>. </a:t>
            </a:r>
            <a:r>
              <a:rPr lang="en" sz="1100">
                <a:solidFill>
                  <a:schemeClr val="dk1"/>
                </a:solidFill>
                <a:latin typeface="Lora"/>
                <a:ea typeface="Lora"/>
                <a:cs typeface="Lora"/>
                <a:sym typeface="Lora"/>
              </a:rPr>
              <a:t>Then configure a pipeline that checks and applies them to create the infrastructure on your cloud provider of choice.</a:t>
            </a:r>
            <a:endParaRPr sz="1200">
              <a:solidFill>
                <a:schemeClr val="dk1"/>
              </a:solidFill>
              <a:latin typeface="Lora"/>
              <a:ea typeface="Lora"/>
              <a:cs typeface="Lora"/>
              <a:sym typeface="Lora"/>
            </a:endParaRPr>
          </a:p>
        </p:txBody>
      </p:sp>
      <p:pic>
        <p:nvPicPr>
          <p:cNvPr id="159" name="Google Shape;159;p28"/>
          <p:cNvPicPr preferRelativeResize="0"/>
          <p:nvPr/>
        </p:nvPicPr>
        <p:blipFill>
          <a:blip r:embed="rId4">
            <a:alphaModFix/>
          </a:blip>
          <a:stretch>
            <a:fillRect/>
          </a:stretch>
        </p:blipFill>
        <p:spPr>
          <a:xfrm>
            <a:off x="1360033" y="2654525"/>
            <a:ext cx="6240292" cy="2221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9"/>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rtl="0" algn="l">
              <a:lnSpc>
                <a:spcPct val="139979"/>
              </a:lnSpc>
              <a:spcBef>
                <a:spcPts val="0"/>
              </a:spcBef>
              <a:spcAft>
                <a:spcPts val="0"/>
              </a:spcAft>
              <a:buClr>
                <a:schemeClr val="dk1"/>
              </a:buClr>
              <a:buSzPts val="2400"/>
              <a:buFont typeface="Arial"/>
              <a:buNone/>
            </a:pPr>
            <a:r>
              <a:rPr lang="en" sz="2400">
                <a:solidFill>
                  <a:schemeClr val="dk1"/>
                </a:solidFill>
                <a:latin typeface="Lora"/>
                <a:ea typeface="Lora"/>
                <a:cs typeface="Lora"/>
                <a:sym typeface="Lora"/>
              </a:rPr>
              <a:t>11. Example Workflow: Provisioning with Opentofu</a:t>
            </a:r>
            <a:endParaRPr sz="2400">
              <a:latin typeface="Lora"/>
              <a:ea typeface="Lora"/>
              <a:cs typeface="Lora"/>
              <a:sym typeface="Lora"/>
            </a:endParaRPr>
          </a:p>
        </p:txBody>
      </p:sp>
      <p:sp>
        <p:nvSpPr>
          <p:cNvPr id="165" name="Google Shape;165;p29"/>
          <p:cNvSpPr txBox="1"/>
          <p:nvPr/>
        </p:nvSpPr>
        <p:spPr>
          <a:xfrm>
            <a:off x="569700" y="576100"/>
            <a:ext cx="78966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100">
                <a:solidFill>
                  <a:schemeClr val="dk1"/>
                </a:solidFill>
                <a:latin typeface="Lora"/>
                <a:ea typeface="Lora"/>
                <a:cs typeface="Lora"/>
                <a:sym typeface="Lora"/>
              </a:rPr>
              <a:t>For a full production example see this opentofu provisioning pipeline </a:t>
            </a:r>
            <a:r>
              <a:rPr lang="en" sz="1100" u="sng">
                <a:solidFill>
                  <a:schemeClr val="hlink"/>
                </a:solidFill>
                <a:latin typeface="Lora"/>
                <a:ea typeface="Lora"/>
                <a:cs typeface="Lora"/>
                <a:sym typeface="Lora"/>
                <a:hlinkClick r:id="rId3"/>
              </a:rPr>
              <a:t>here</a:t>
            </a:r>
            <a:r>
              <a:rPr lang="en" sz="1100">
                <a:solidFill>
                  <a:schemeClr val="dk1"/>
                </a:solidFill>
                <a:latin typeface="Lora"/>
                <a:ea typeface="Lora"/>
                <a:cs typeface="Lora"/>
                <a:sym typeface="Lora"/>
              </a:rPr>
              <a:t>. </a:t>
            </a:r>
            <a:r>
              <a:rPr lang="en" sz="1100">
                <a:solidFill>
                  <a:schemeClr val="dk1"/>
                </a:solidFill>
                <a:latin typeface="Lora"/>
                <a:ea typeface="Lora"/>
                <a:cs typeface="Lora"/>
                <a:sym typeface="Lora"/>
              </a:rPr>
              <a:t>The workflow below is a simplified version</a:t>
            </a:r>
            <a:endParaRPr sz="1200">
              <a:solidFill>
                <a:schemeClr val="dk1"/>
              </a:solidFill>
              <a:latin typeface="Lora"/>
              <a:ea typeface="Lora"/>
              <a:cs typeface="Lora"/>
              <a:sym typeface="Lora"/>
            </a:endParaRPr>
          </a:p>
        </p:txBody>
      </p:sp>
      <p:sp>
        <p:nvSpPr>
          <p:cNvPr id="166" name="Google Shape;166;p29"/>
          <p:cNvSpPr txBox="1"/>
          <p:nvPr/>
        </p:nvSpPr>
        <p:spPr>
          <a:xfrm>
            <a:off x="612900" y="865700"/>
            <a:ext cx="3618600" cy="39456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name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OpenTofu Plan</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900">
                <a:solidFill>
                  <a:srgbClr val="A05000"/>
                </a:solidFill>
                <a:latin typeface="Roboto Mono"/>
                <a:ea typeface="Roboto Mono"/>
                <a:cs typeface="Roboto Mono"/>
                <a:sym typeface="Roboto Mono"/>
              </a:rPr>
              <a:t># Run only when a pull request changes files in the 'opentofu' directory</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on</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pull_request</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paths</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505050"/>
                </a:solidFill>
                <a:latin typeface="Roboto Mono"/>
                <a:ea typeface="Roboto Mono"/>
                <a:cs typeface="Roboto Mono"/>
                <a:sym typeface="Roboto Mono"/>
              </a:rPr>
              <a:t>      - </a:t>
            </a:r>
            <a:r>
              <a:rPr lang="en" sz="900">
                <a:solidFill>
                  <a:srgbClr val="A01010"/>
                </a:solidFill>
                <a:latin typeface="Roboto Mono"/>
                <a:ea typeface="Roboto Mono"/>
                <a:cs typeface="Roboto Mono"/>
                <a:sym typeface="Roboto Mono"/>
              </a:rPr>
              <a:t>'opentofu/**'</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jobs</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plan-infrastructure</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runs-on</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ubuntu-latest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steps</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505050"/>
                </a:solidFill>
                <a:latin typeface="Roboto Mono"/>
                <a:ea typeface="Roboto Mono"/>
                <a:cs typeface="Roboto Mono"/>
                <a:sym typeface="Roboto Mono"/>
              </a:rPr>
              <a:t>      - </a:t>
            </a:r>
            <a:r>
              <a:rPr lang="en" sz="900">
                <a:solidFill>
                  <a:srgbClr val="201090"/>
                </a:solidFill>
                <a:latin typeface="Roboto Mono"/>
                <a:ea typeface="Roboto Mono"/>
                <a:cs typeface="Roboto Mono"/>
                <a:sym typeface="Roboto Mono"/>
              </a:rPr>
              <a:t>name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Checkout code</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uses</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actions/checkout@v4</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505050"/>
                </a:solidFill>
                <a:latin typeface="Roboto Mono"/>
                <a:ea typeface="Roboto Mono"/>
                <a:cs typeface="Roboto Mono"/>
                <a:sym typeface="Roboto Mono"/>
              </a:rPr>
              <a:t>      - </a:t>
            </a:r>
            <a:r>
              <a:rPr lang="en" sz="900">
                <a:solidFill>
                  <a:srgbClr val="201090"/>
                </a:solidFill>
                <a:latin typeface="Roboto Mono"/>
                <a:ea typeface="Roboto Mono"/>
                <a:cs typeface="Roboto Mono"/>
                <a:sym typeface="Roboto Mono"/>
              </a:rPr>
              <a:t>name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Setup OpenTofu</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uses</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opentofu/setup-opentofu@v1</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505050"/>
                </a:solidFill>
                <a:latin typeface="Roboto Mono"/>
                <a:ea typeface="Roboto Mono"/>
                <a:cs typeface="Roboto Mono"/>
                <a:sym typeface="Roboto Mono"/>
              </a:rPr>
              <a:t>      - </a:t>
            </a:r>
            <a:r>
              <a:rPr lang="en" sz="900">
                <a:solidFill>
                  <a:srgbClr val="201090"/>
                </a:solidFill>
                <a:latin typeface="Roboto Mono"/>
                <a:ea typeface="Roboto Mono"/>
                <a:cs typeface="Roboto Mono"/>
                <a:sym typeface="Roboto Mono"/>
              </a:rPr>
              <a:t>name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Authenticate to GCP</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uses</a:t>
            </a:r>
            <a:r>
              <a:rPr lang="en" sz="900">
                <a:solidFill>
                  <a:srgbClr val="505050"/>
                </a:solidFill>
                <a:latin typeface="Roboto Mono"/>
                <a:ea typeface="Roboto Mono"/>
                <a:cs typeface="Roboto Mono"/>
                <a:sym typeface="Roboto Mono"/>
              </a:rPr>
              <a:t>: </a:t>
            </a:r>
            <a:r>
              <a:rPr lang="en" sz="900">
                <a:solidFill>
                  <a:srgbClr val="A01010"/>
                </a:solidFill>
                <a:latin typeface="Roboto Mono"/>
                <a:ea typeface="Roboto Mono"/>
                <a:cs typeface="Roboto Mono"/>
                <a:sym typeface="Roboto Mono"/>
              </a:rPr>
              <a:t>'google-github-actions/auth@v2'</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505050"/>
                </a:solidFill>
                <a:latin typeface="Roboto Mono"/>
                <a:ea typeface="Roboto Mono"/>
                <a:cs typeface="Roboto Mono"/>
                <a:sym typeface="Roboto Mono"/>
              </a:rPr>
              <a:t>      - </a:t>
            </a:r>
            <a:r>
              <a:rPr lang="en" sz="900">
                <a:solidFill>
                  <a:srgbClr val="201090"/>
                </a:solidFill>
                <a:latin typeface="Roboto Mono"/>
                <a:ea typeface="Roboto Mono"/>
                <a:cs typeface="Roboto Mono"/>
                <a:sym typeface="Roboto Mono"/>
              </a:rPr>
              <a:t>name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Run OpenTofu Plan</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run</a:t>
            </a:r>
            <a:r>
              <a:rPr lang="en" sz="900">
                <a:solidFill>
                  <a:srgbClr val="505050"/>
                </a:solidFill>
                <a:latin typeface="Roboto Mono"/>
                <a:ea typeface="Roboto Mono"/>
                <a:cs typeface="Roboto Mono"/>
                <a:sym typeface="Roboto Mono"/>
              </a:rPr>
              <a:t>: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A01010"/>
                </a:solidFill>
                <a:latin typeface="Roboto Mono"/>
                <a:ea typeface="Roboto Mono"/>
                <a:cs typeface="Roboto Mono"/>
                <a:sym typeface="Roboto Mono"/>
              </a:rPr>
              <a:t>          cd opentofu</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A01010"/>
                </a:solidFill>
                <a:latin typeface="Roboto Mono"/>
                <a:ea typeface="Roboto Mono"/>
                <a:cs typeface="Roboto Mono"/>
                <a:sym typeface="Roboto Mono"/>
              </a:rPr>
              <a:t>          tofu init</a:t>
            </a:r>
            <a:endParaRPr sz="900">
              <a:latin typeface="Roboto Mono"/>
              <a:ea typeface="Roboto Mono"/>
              <a:cs typeface="Roboto Mono"/>
              <a:sym typeface="Roboto Mono"/>
            </a:endParaRPr>
          </a:p>
          <a:p>
            <a:pPr indent="0" lvl="0" marL="0" rtl="0" algn="l">
              <a:spcBef>
                <a:spcPts val="0"/>
              </a:spcBef>
              <a:spcAft>
                <a:spcPts val="0"/>
              </a:spcAft>
              <a:buNone/>
            </a:pPr>
            <a:r>
              <a:rPr lang="en" sz="900">
                <a:solidFill>
                  <a:srgbClr val="A01010"/>
                </a:solidFill>
                <a:latin typeface="Roboto Mono"/>
                <a:ea typeface="Roboto Mono"/>
                <a:cs typeface="Roboto Mono"/>
                <a:sym typeface="Roboto Mono"/>
              </a:rPr>
              <a:t>          tofu plan</a:t>
            </a:r>
            <a:endParaRPr sz="900">
              <a:solidFill>
                <a:srgbClr val="A01010"/>
              </a:solidFill>
              <a:latin typeface="Roboto Mono"/>
              <a:ea typeface="Roboto Mono"/>
              <a:cs typeface="Roboto Mono"/>
              <a:sym typeface="Roboto Mono"/>
            </a:endParaRPr>
          </a:p>
        </p:txBody>
      </p:sp>
      <p:sp>
        <p:nvSpPr>
          <p:cNvPr id="167" name="Google Shape;167;p29"/>
          <p:cNvSpPr txBox="1"/>
          <p:nvPr/>
        </p:nvSpPr>
        <p:spPr>
          <a:xfrm>
            <a:off x="4351100" y="865700"/>
            <a:ext cx="3618600" cy="39456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name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OpenTofu Apply</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on</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push</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branches</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 main </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paths</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505050"/>
                </a:solidFill>
                <a:latin typeface="Roboto Mono"/>
                <a:ea typeface="Roboto Mono"/>
                <a:cs typeface="Roboto Mono"/>
                <a:sym typeface="Roboto Mono"/>
              </a:rPr>
              <a:t>      - </a:t>
            </a:r>
            <a:r>
              <a:rPr lang="en" sz="900">
                <a:solidFill>
                  <a:srgbClr val="A01010"/>
                </a:solidFill>
                <a:latin typeface="Roboto Mono"/>
                <a:ea typeface="Roboto Mono"/>
                <a:cs typeface="Roboto Mono"/>
                <a:sym typeface="Roboto Mono"/>
              </a:rPr>
              <a:t>'opentofu/**'</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jobs</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apply-infrastructure</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runs-on</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ubuntu-latest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steps</a:t>
            </a:r>
            <a:r>
              <a:rPr lang="en" sz="900">
                <a:solidFill>
                  <a:srgbClr val="505050"/>
                </a:solidFill>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505050"/>
                </a:solidFill>
                <a:latin typeface="Roboto Mono"/>
                <a:ea typeface="Roboto Mono"/>
                <a:cs typeface="Roboto Mono"/>
                <a:sym typeface="Roboto Mono"/>
              </a:rPr>
              <a:t>      - </a:t>
            </a:r>
            <a:r>
              <a:rPr lang="en" sz="900">
                <a:solidFill>
                  <a:srgbClr val="201090"/>
                </a:solidFill>
                <a:latin typeface="Roboto Mono"/>
                <a:ea typeface="Roboto Mono"/>
                <a:cs typeface="Roboto Mono"/>
                <a:sym typeface="Roboto Mono"/>
              </a:rPr>
              <a:t>name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Checkout code</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uses</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actions/checkout@v4</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505050"/>
                </a:solidFill>
                <a:latin typeface="Roboto Mono"/>
                <a:ea typeface="Roboto Mono"/>
                <a:cs typeface="Roboto Mono"/>
                <a:sym typeface="Roboto Mono"/>
              </a:rPr>
              <a:t>      - </a:t>
            </a:r>
            <a:r>
              <a:rPr lang="en" sz="900">
                <a:solidFill>
                  <a:srgbClr val="201090"/>
                </a:solidFill>
                <a:latin typeface="Roboto Mono"/>
                <a:ea typeface="Roboto Mono"/>
                <a:cs typeface="Roboto Mono"/>
                <a:sym typeface="Roboto Mono"/>
              </a:rPr>
              <a:t>name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Setup OpenTofu</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uses</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opentofu/setup-opentofu@v1</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505050"/>
                </a:solidFill>
                <a:latin typeface="Roboto Mono"/>
                <a:ea typeface="Roboto Mono"/>
                <a:cs typeface="Roboto Mono"/>
                <a:sym typeface="Roboto Mono"/>
              </a:rPr>
              <a:t>      - </a:t>
            </a:r>
            <a:r>
              <a:rPr lang="en" sz="900">
                <a:solidFill>
                  <a:srgbClr val="201090"/>
                </a:solidFill>
                <a:latin typeface="Roboto Mono"/>
                <a:ea typeface="Roboto Mono"/>
                <a:cs typeface="Roboto Mono"/>
                <a:sym typeface="Roboto Mono"/>
              </a:rPr>
              <a:t>name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Authenticate to GCP</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uses</a:t>
            </a:r>
            <a:r>
              <a:rPr lang="en" sz="900">
                <a:solidFill>
                  <a:srgbClr val="505050"/>
                </a:solidFill>
                <a:latin typeface="Roboto Mono"/>
                <a:ea typeface="Roboto Mono"/>
                <a:cs typeface="Roboto Mono"/>
                <a:sym typeface="Roboto Mono"/>
              </a:rPr>
              <a:t>: </a:t>
            </a:r>
            <a:r>
              <a:rPr lang="en" sz="900">
                <a:solidFill>
                  <a:srgbClr val="A01010"/>
                </a:solidFill>
                <a:latin typeface="Roboto Mono"/>
                <a:ea typeface="Roboto Mono"/>
                <a:cs typeface="Roboto Mono"/>
                <a:sym typeface="Roboto Mono"/>
              </a:rPr>
              <a:t>'google-github-actions/auth@v2'</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505050"/>
                </a:solidFill>
                <a:latin typeface="Roboto Mono"/>
                <a:ea typeface="Roboto Mono"/>
                <a:cs typeface="Roboto Mono"/>
                <a:sym typeface="Roboto Mono"/>
              </a:rPr>
              <a:t>      - </a:t>
            </a:r>
            <a:r>
              <a:rPr lang="en" sz="900">
                <a:solidFill>
                  <a:srgbClr val="201090"/>
                </a:solidFill>
                <a:latin typeface="Roboto Mono"/>
                <a:ea typeface="Roboto Mono"/>
                <a:cs typeface="Roboto Mono"/>
                <a:sym typeface="Roboto Mono"/>
              </a:rPr>
              <a:t>name</a:t>
            </a:r>
            <a:r>
              <a:rPr lang="en" sz="900">
                <a:solidFill>
                  <a:srgbClr val="505050"/>
                </a:solidFill>
                <a:latin typeface="Roboto Mono"/>
                <a:ea typeface="Roboto Mono"/>
                <a:cs typeface="Roboto Mono"/>
                <a:sym typeface="Roboto Mono"/>
              </a:rPr>
              <a:t>: </a:t>
            </a:r>
            <a:r>
              <a:rPr lang="en" sz="900">
                <a:latin typeface="Roboto Mono"/>
                <a:ea typeface="Roboto Mono"/>
                <a:cs typeface="Roboto Mono"/>
                <a:sym typeface="Roboto Mono"/>
              </a:rPr>
              <a:t>Run OpenTofu Apply</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201090"/>
                </a:solidFill>
                <a:latin typeface="Roboto Mono"/>
                <a:ea typeface="Roboto Mono"/>
                <a:cs typeface="Roboto Mono"/>
                <a:sym typeface="Roboto Mono"/>
              </a:rPr>
              <a:t>        run</a:t>
            </a:r>
            <a:r>
              <a:rPr lang="en" sz="900">
                <a:solidFill>
                  <a:srgbClr val="505050"/>
                </a:solidFill>
                <a:latin typeface="Roboto Mono"/>
                <a:ea typeface="Roboto Mono"/>
                <a:cs typeface="Roboto Mono"/>
                <a:sym typeface="Roboto Mono"/>
              </a:rPr>
              <a:t>: |</a:t>
            </a:r>
            <a:endParaRPr sz="9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900">
                <a:solidFill>
                  <a:srgbClr val="A01010"/>
                </a:solidFill>
                <a:latin typeface="Roboto Mono"/>
                <a:ea typeface="Roboto Mono"/>
                <a:cs typeface="Roboto Mono"/>
                <a:sym typeface="Roboto Mono"/>
              </a:rPr>
              <a:t>          cd opentofu</a:t>
            </a:r>
            <a:endParaRPr sz="900">
              <a:latin typeface="Roboto Mono"/>
              <a:ea typeface="Roboto Mono"/>
              <a:cs typeface="Roboto Mono"/>
              <a:sym typeface="Roboto Mono"/>
            </a:endParaRPr>
          </a:p>
          <a:p>
            <a:pPr indent="0" lvl="0" marL="0" rtl="0" algn="l">
              <a:spcBef>
                <a:spcPts val="0"/>
              </a:spcBef>
              <a:spcAft>
                <a:spcPts val="0"/>
              </a:spcAft>
              <a:buNone/>
            </a:pPr>
            <a:r>
              <a:rPr lang="en" sz="900">
                <a:solidFill>
                  <a:srgbClr val="A01010"/>
                </a:solidFill>
                <a:latin typeface="Roboto Mono"/>
                <a:ea typeface="Roboto Mono"/>
                <a:cs typeface="Roboto Mono"/>
                <a:sym typeface="Roboto Mono"/>
              </a:rPr>
              <a:t>          tofu apply -auto-approve</a:t>
            </a:r>
            <a:endParaRPr sz="900">
              <a:latin typeface="Roboto Mono"/>
              <a:ea typeface="Roboto Mono"/>
              <a:cs typeface="Roboto Mono"/>
              <a:sym typeface="Roboto Mon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12. Tying It All Together: A Complete Workflow</a:t>
            </a:r>
            <a:endParaRPr sz="2400">
              <a:latin typeface="Lora"/>
              <a:ea typeface="Lora"/>
              <a:cs typeface="Lora"/>
              <a:sym typeface="Lora"/>
            </a:endParaRPr>
          </a:p>
        </p:txBody>
      </p:sp>
      <p:sp>
        <p:nvSpPr>
          <p:cNvPr id="173" name="Google Shape;173;p30"/>
          <p:cNvSpPr txBox="1"/>
          <p:nvPr/>
        </p:nvSpPr>
        <p:spPr>
          <a:xfrm>
            <a:off x="486900" y="700975"/>
            <a:ext cx="7896600" cy="167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latin typeface="Lora"/>
                <a:ea typeface="Lora"/>
                <a:cs typeface="Lora"/>
                <a:sym typeface="Lora"/>
              </a:rPr>
              <a:t>Our three use cases form a logical progression for a mature MLOps pipeline.</a:t>
            </a:r>
            <a:endParaRPr sz="1100">
              <a:solidFill>
                <a:schemeClr val="dk1"/>
              </a:solidFill>
              <a:latin typeface="Lora"/>
              <a:ea typeface="Lora"/>
              <a:cs typeface="Lora"/>
              <a:sym typeface="Lora"/>
            </a:endParaRPr>
          </a:p>
          <a:p>
            <a:pPr indent="-298450" lvl="0" marL="457200" rtl="0" algn="l">
              <a:lnSpc>
                <a:spcPct val="115000"/>
              </a:lnSpc>
              <a:spcBef>
                <a:spcPts val="1200"/>
              </a:spcBef>
              <a:spcAft>
                <a:spcPts val="0"/>
              </a:spcAft>
              <a:buClr>
                <a:schemeClr val="dk1"/>
              </a:buClr>
              <a:buSzPts val="1100"/>
              <a:buFont typeface="Lora"/>
              <a:buAutoNum type="arabicPeriod"/>
            </a:pPr>
            <a:r>
              <a:rPr lang="en" sz="1100">
                <a:solidFill>
                  <a:schemeClr val="dk1"/>
                </a:solidFill>
                <a:latin typeface="Lora"/>
                <a:ea typeface="Lora"/>
                <a:cs typeface="Lora"/>
                <a:sym typeface="Lora"/>
              </a:rPr>
              <a:t>A developer </a:t>
            </a:r>
            <a:r>
              <a:rPr lang="en" sz="1100">
                <a:solidFill>
                  <a:schemeClr val="dk1"/>
                </a:solidFill>
                <a:latin typeface="Lora"/>
                <a:ea typeface="Lora"/>
                <a:cs typeface="Lora"/>
                <a:sym typeface="Lora"/>
              </a:rPr>
              <a:t>raises PR</a:t>
            </a:r>
            <a:r>
              <a:rPr lang="en" sz="1100">
                <a:solidFill>
                  <a:schemeClr val="dk1"/>
                </a:solidFill>
                <a:latin typeface="Lora"/>
                <a:ea typeface="Lora"/>
                <a:cs typeface="Lora"/>
                <a:sym typeface="Lora"/>
              </a:rPr>
              <a:t>.</a:t>
            </a:r>
            <a:endParaRPr sz="1100">
              <a:solidFill>
                <a:schemeClr val="dk1"/>
              </a:solidFill>
              <a:latin typeface="Lora"/>
              <a:ea typeface="Lora"/>
              <a:cs typeface="Lora"/>
              <a:sym typeface="Lora"/>
            </a:endParaRPr>
          </a:p>
          <a:p>
            <a:pPr indent="-298450" lvl="0" marL="457200" rtl="0" algn="l">
              <a:lnSpc>
                <a:spcPct val="115000"/>
              </a:lnSpc>
              <a:spcBef>
                <a:spcPts val="0"/>
              </a:spcBef>
              <a:spcAft>
                <a:spcPts val="0"/>
              </a:spcAft>
              <a:buClr>
                <a:schemeClr val="dk1"/>
              </a:buClr>
              <a:buSzPts val="1100"/>
              <a:buAutoNum type="arabicPeriod"/>
            </a:pPr>
            <a:r>
              <a:rPr lang="en" sz="1100">
                <a:solidFill>
                  <a:schemeClr val="dk1"/>
                </a:solidFill>
                <a:latin typeface="Lora"/>
                <a:ea typeface="Lora"/>
                <a:cs typeface="Lora"/>
                <a:sym typeface="Lora"/>
              </a:rPr>
              <a:t>The </a:t>
            </a:r>
            <a:r>
              <a:rPr b="1" lang="en" sz="1100">
                <a:solidFill>
                  <a:schemeClr val="dk1"/>
                </a:solidFill>
                <a:latin typeface="Lora"/>
                <a:ea typeface="Lora"/>
                <a:cs typeface="Lora"/>
                <a:sym typeface="Lora"/>
              </a:rPr>
              <a:t>CI Job</a:t>
            </a:r>
            <a:r>
              <a:rPr lang="en" sz="1100">
                <a:solidFill>
                  <a:schemeClr val="dk1"/>
                </a:solidFill>
                <a:latin typeface="Lora"/>
                <a:ea typeface="Lora"/>
                <a:cs typeface="Lora"/>
                <a:sym typeface="Lora"/>
              </a:rPr>
              <a:t> triggers, running linting and tests.</a:t>
            </a:r>
            <a:endParaRPr sz="1100">
              <a:solidFill>
                <a:schemeClr val="dk1"/>
              </a:solidFill>
              <a:latin typeface="Lora"/>
              <a:ea typeface="Lora"/>
              <a:cs typeface="Lora"/>
              <a:sym typeface="Lora"/>
            </a:endParaRPr>
          </a:p>
          <a:p>
            <a:pPr indent="-298450" lvl="0" marL="457200" rtl="0" algn="l">
              <a:lnSpc>
                <a:spcPct val="115000"/>
              </a:lnSpc>
              <a:spcBef>
                <a:spcPts val="0"/>
              </a:spcBef>
              <a:spcAft>
                <a:spcPts val="0"/>
              </a:spcAft>
              <a:buClr>
                <a:schemeClr val="dk1"/>
              </a:buClr>
              <a:buSzPts val="1100"/>
              <a:buAutoNum type="arabicPeriod"/>
            </a:pPr>
            <a:r>
              <a:rPr lang="en" sz="1100">
                <a:solidFill>
                  <a:schemeClr val="dk1"/>
                </a:solidFill>
                <a:latin typeface="Lora"/>
                <a:ea typeface="Lora"/>
                <a:cs typeface="Lora"/>
                <a:sym typeface="Lora"/>
              </a:rPr>
              <a:t>If CI succeeds, an approver merges the code and</a:t>
            </a:r>
            <a:r>
              <a:rPr lang="en" sz="1100">
                <a:solidFill>
                  <a:schemeClr val="dk1"/>
                </a:solidFill>
                <a:latin typeface="Lora"/>
                <a:ea typeface="Lora"/>
                <a:cs typeface="Lora"/>
                <a:sym typeface="Lora"/>
              </a:rPr>
              <a:t> </a:t>
            </a:r>
            <a:r>
              <a:rPr b="1" lang="en" sz="1100">
                <a:solidFill>
                  <a:schemeClr val="dk1"/>
                </a:solidFill>
                <a:latin typeface="Lora"/>
                <a:ea typeface="Lora"/>
                <a:cs typeface="Lora"/>
                <a:sym typeface="Lora"/>
              </a:rPr>
              <a:t>CD Job</a:t>
            </a:r>
            <a:r>
              <a:rPr lang="en" sz="1100">
                <a:solidFill>
                  <a:schemeClr val="dk1"/>
                </a:solidFill>
                <a:latin typeface="Lora"/>
                <a:ea typeface="Lora"/>
                <a:cs typeface="Lora"/>
                <a:sym typeface="Lora"/>
              </a:rPr>
              <a:t> triggers, building a new Docker image and pushing it to a registry.</a:t>
            </a:r>
            <a:endParaRPr sz="1100">
              <a:solidFill>
                <a:schemeClr val="dk1"/>
              </a:solidFill>
              <a:latin typeface="Lora"/>
              <a:ea typeface="Lora"/>
              <a:cs typeface="Lora"/>
              <a:sym typeface="Lora"/>
            </a:endParaRPr>
          </a:p>
          <a:p>
            <a:pPr indent="-298450" lvl="0" marL="457200" rtl="0" algn="l">
              <a:lnSpc>
                <a:spcPct val="115000"/>
              </a:lnSpc>
              <a:spcBef>
                <a:spcPts val="0"/>
              </a:spcBef>
              <a:spcAft>
                <a:spcPts val="0"/>
              </a:spcAft>
              <a:buClr>
                <a:schemeClr val="dk1"/>
              </a:buClr>
              <a:buSzPts val="1100"/>
              <a:buAutoNum type="arabicPeriod"/>
            </a:pPr>
            <a:r>
              <a:rPr lang="en" sz="1100">
                <a:solidFill>
                  <a:schemeClr val="dk1"/>
                </a:solidFill>
                <a:latin typeface="Lora"/>
                <a:ea typeface="Lora"/>
                <a:cs typeface="Lora"/>
                <a:sym typeface="Lora"/>
              </a:rPr>
              <a:t>Simultaneously, if infrastructure code was changed, the </a:t>
            </a:r>
            <a:r>
              <a:rPr b="1" lang="en" sz="1100">
                <a:solidFill>
                  <a:schemeClr val="dk1"/>
                </a:solidFill>
                <a:latin typeface="Lora"/>
                <a:ea typeface="Lora"/>
                <a:cs typeface="Lora"/>
                <a:sym typeface="Lora"/>
              </a:rPr>
              <a:t>IaC Job</a:t>
            </a:r>
            <a:r>
              <a:rPr lang="en" sz="1100">
                <a:solidFill>
                  <a:schemeClr val="dk1"/>
                </a:solidFill>
                <a:latin typeface="Lora"/>
                <a:ea typeface="Lora"/>
                <a:cs typeface="Lora"/>
                <a:sym typeface="Lora"/>
              </a:rPr>
              <a:t> triggers to update the cloud environment.</a:t>
            </a:r>
            <a:endParaRPr sz="1100">
              <a:solidFill>
                <a:schemeClr val="dk1"/>
              </a:solidFill>
              <a:latin typeface="Lora"/>
              <a:ea typeface="Lora"/>
              <a:cs typeface="Lora"/>
              <a:sym typeface="Lora"/>
            </a:endParaRPr>
          </a:p>
          <a:p>
            <a:pPr indent="-298450" lvl="0" marL="457200" rtl="0" algn="l">
              <a:lnSpc>
                <a:spcPct val="115000"/>
              </a:lnSpc>
              <a:spcBef>
                <a:spcPts val="0"/>
              </a:spcBef>
              <a:spcAft>
                <a:spcPts val="0"/>
              </a:spcAft>
              <a:buClr>
                <a:schemeClr val="dk1"/>
              </a:buClr>
              <a:buSzPts val="1100"/>
              <a:buFont typeface="Lora"/>
              <a:buAutoNum type="arabicPeriod"/>
            </a:pPr>
            <a:r>
              <a:rPr lang="en" sz="1100">
                <a:solidFill>
                  <a:schemeClr val="dk1"/>
                </a:solidFill>
                <a:latin typeface="Lora"/>
                <a:ea typeface="Lora"/>
                <a:cs typeface="Lora"/>
                <a:sym typeface="Lora"/>
              </a:rPr>
              <a:t>Finally, a deployment step pulls the new Docker image and runs it on the provisioned infrastructure.</a:t>
            </a:r>
            <a:endParaRPr sz="1100">
              <a:solidFill>
                <a:schemeClr val="dk1"/>
              </a:solidFill>
              <a:latin typeface="Lora"/>
              <a:ea typeface="Lora"/>
              <a:cs typeface="Lora"/>
              <a:sym typeface="Lora"/>
            </a:endParaRPr>
          </a:p>
        </p:txBody>
      </p:sp>
      <p:pic>
        <p:nvPicPr>
          <p:cNvPr id="174" name="Google Shape;174;p30"/>
          <p:cNvPicPr preferRelativeResize="0"/>
          <p:nvPr/>
        </p:nvPicPr>
        <p:blipFill>
          <a:blip r:embed="rId3">
            <a:alphaModFix/>
          </a:blip>
          <a:stretch>
            <a:fillRect/>
          </a:stretch>
        </p:blipFill>
        <p:spPr>
          <a:xfrm>
            <a:off x="726275" y="2290450"/>
            <a:ext cx="7417825" cy="25518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1"/>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13. </a:t>
            </a:r>
            <a:r>
              <a:rPr lang="en" sz="2400">
                <a:latin typeface="Lora"/>
                <a:ea typeface="Lora"/>
                <a:cs typeface="Lora"/>
                <a:sym typeface="Lora"/>
              </a:rPr>
              <a:t>Conclusion &amp; Key Takeaways</a:t>
            </a:r>
            <a:endParaRPr sz="2400">
              <a:latin typeface="Lora"/>
              <a:ea typeface="Lora"/>
              <a:cs typeface="Lora"/>
              <a:sym typeface="Lora"/>
            </a:endParaRPr>
          </a:p>
        </p:txBody>
      </p:sp>
      <p:sp>
        <p:nvSpPr>
          <p:cNvPr id="180" name="Google Shape;180;p31"/>
          <p:cNvSpPr txBox="1"/>
          <p:nvPr/>
        </p:nvSpPr>
        <p:spPr>
          <a:xfrm>
            <a:off x="486900" y="700975"/>
            <a:ext cx="7896600" cy="40173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0"/>
              </a:spcAft>
              <a:buNone/>
            </a:pPr>
            <a:r>
              <a:rPr lang="en" sz="1200">
                <a:solidFill>
                  <a:schemeClr val="dk1"/>
                </a:solidFill>
                <a:latin typeface="Lora"/>
                <a:ea typeface="Lora"/>
                <a:cs typeface="Lora"/>
                <a:sym typeface="Lora"/>
              </a:rPr>
              <a:t>Some other best practices to </a:t>
            </a:r>
            <a:r>
              <a:rPr lang="en" sz="1200">
                <a:solidFill>
                  <a:schemeClr val="dk1"/>
                </a:solidFill>
                <a:latin typeface="Lora"/>
                <a:ea typeface="Lora"/>
                <a:cs typeface="Lora"/>
                <a:sym typeface="Lora"/>
              </a:rPr>
              <a:t>consider</a:t>
            </a:r>
            <a:r>
              <a:rPr lang="en" sz="1200">
                <a:solidFill>
                  <a:schemeClr val="dk1"/>
                </a:solidFill>
                <a:latin typeface="Lora"/>
                <a:ea typeface="Lora"/>
                <a:cs typeface="Lora"/>
                <a:sym typeface="Lora"/>
              </a:rPr>
              <a:t>:</a:t>
            </a:r>
            <a:endParaRPr sz="1200">
              <a:solidFill>
                <a:schemeClr val="dk1"/>
              </a:solidFill>
              <a:latin typeface="Lora"/>
              <a:ea typeface="Lora"/>
              <a:cs typeface="Lora"/>
              <a:sym typeface="Lora"/>
            </a:endParaRPr>
          </a:p>
          <a:p>
            <a:pPr indent="-304800" lvl="0" marL="457200" rtl="0" algn="just">
              <a:lnSpc>
                <a:spcPct val="150000"/>
              </a:lnSpc>
              <a:spcBef>
                <a:spcPts val="1200"/>
              </a:spcBef>
              <a:spcAft>
                <a:spcPts val="0"/>
              </a:spcAft>
              <a:buClr>
                <a:schemeClr val="dk1"/>
              </a:buClr>
              <a:buSzPts val="1200"/>
              <a:buFont typeface="Lora"/>
              <a:buChar char="●"/>
            </a:pPr>
            <a:r>
              <a:rPr lang="en" sz="1200">
                <a:solidFill>
                  <a:schemeClr val="dk1"/>
                </a:solidFill>
                <a:latin typeface="Lora"/>
                <a:ea typeface="Lora"/>
                <a:cs typeface="Lora"/>
                <a:sym typeface="Lora"/>
              </a:rPr>
              <a:t>Version Everything: version code and infrastructure with git.</a:t>
            </a:r>
            <a:endParaRPr sz="1200">
              <a:solidFill>
                <a:schemeClr val="dk1"/>
              </a:solidFill>
              <a:latin typeface="Lora"/>
              <a:ea typeface="Lora"/>
              <a:cs typeface="Lora"/>
              <a:sym typeface="Lora"/>
            </a:endParaRPr>
          </a:p>
          <a:p>
            <a:pPr indent="-304800" lvl="0" marL="457200" rtl="0" algn="just">
              <a:lnSpc>
                <a:spcPct val="150000"/>
              </a:lnSpc>
              <a:spcBef>
                <a:spcPts val="0"/>
              </a:spcBef>
              <a:spcAft>
                <a:spcPts val="0"/>
              </a:spcAft>
              <a:buClr>
                <a:schemeClr val="dk1"/>
              </a:buClr>
              <a:buSzPts val="1200"/>
              <a:buChar char="●"/>
            </a:pPr>
            <a:r>
              <a:rPr lang="en" sz="1200">
                <a:solidFill>
                  <a:schemeClr val="dk1"/>
                </a:solidFill>
                <a:latin typeface="Lora"/>
                <a:ea typeface="Lora"/>
                <a:cs typeface="Lora"/>
                <a:sym typeface="Lora"/>
              </a:rPr>
              <a:t>Use Secrets for All Sensitive Data - Never hardcode API keys, passwords, or credentials in your yaml — </a:t>
            </a:r>
            <a:r>
              <a:rPr b="1" lang="en" sz="1200">
                <a:solidFill>
                  <a:schemeClr val="dk1"/>
                </a:solidFill>
                <a:latin typeface="Lora"/>
                <a:ea typeface="Lora"/>
                <a:cs typeface="Lora"/>
                <a:sym typeface="Lora"/>
              </a:rPr>
              <a:t>we use GitHub Secrets in this course</a:t>
            </a:r>
            <a:endParaRPr b="1" sz="1200">
              <a:solidFill>
                <a:schemeClr val="dk1"/>
              </a:solidFill>
              <a:latin typeface="Lora"/>
              <a:ea typeface="Lora"/>
              <a:cs typeface="Lora"/>
              <a:sym typeface="Lora"/>
            </a:endParaRPr>
          </a:p>
          <a:p>
            <a:pPr indent="-304800" lvl="0" marL="457200" rtl="0" algn="just">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Fail Fast: Design your pipeline so that the fastest checks </a:t>
            </a:r>
            <a:endParaRPr sz="1200">
              <a:solidFill>
                <a:schemeClr val="dk1"/>
              </a:solidFill>
              <a:latin typeface="Lora"/>
              <a:ea typeface="Lora"/>
              <a:cs typeface="Lora"/>
              <a:sym typeface="Lora"/>
            </a:endParaRPr>
          </a:p>
          <a:p>
            <a:pPr indent="0" lvl="0" marL="0" rtl="0" algn="just">
              <a:lnSpc>
                <a:spcPct val="150000"/>
              </a:lnSpc>
              <a:spcBef>
                <a:spcPts val="1200"/>
              </a:spcBef>
              <a:spcAft>
                <a:spcPts val="0"/>
              </a:spcAft>
              <a:buNone/>
            </a:pPr>
            <a:r>
              <a:rPr lang="en" sz="1200">
                <a:solidFill>
                  <a:schemeClr val="dk1"/>
                </a:solidFill>
                <a:latin typeface="Lora"/>
                <a:ea typeface="Lora"/>
                <a:cs typeface="Lora"/>
                <a:sym typeface="Lora"/>
              </a:rPr>
              <a:t>GitHub Actions is a powerful, integrated platform for building these automated workflows. We explored three core use cases: </a:t>
            </a:r>
            <a:r>
              <a:rPr b="1" lang="en" sz="1200">
                <a:solidFill>
                  <a:schemeClr val="dk1"/>
                </a:solidFill>
                <a:latin typeface="Lora"/>
                <a:ea typeface="Lora"/>
                <a:cs typeface="Lora"/>
                <a:sym typeface="Lora"/>
              </a:rPr>
              <a:t>Code Quality (CI), Application Deployment (CD), Infrastructure Provisioning (IaC). </a:t>
            </a:r>
            <a:r>
              <a:rPr lang="en" sz="1200">
                <a:solidFill>
                  <a:schemeClr val="dk1"/>
                </a:solidFill>
                <a:latin typeface="Lora"/>
                <a:ea typeface="Lora"/>
                <a:cs typeface="Lora"/>
                <a:sym typeface="Lora"/>
              </a:rPr>
              <a:t>It can be used for so much more like automation (sending notifications), monitoring, and testing</a:t>
            </a:r>
            <a:r>
              <a:rPr b="1" lang="en" sz="1200">
                <a:solidFill>
                  <a:schemeClr val="dk1"/>
                </a:solidFill>
                <a:latin typeface="Lora"/>
                <a:ea typeface="Lora"/>
                <a:cs typeface="Lora"/>
                <a:sym typeface="Lora"/>
              </a:rPr>
              <a:t>. </a:t>
            </a:r>
            <a:endParaRPr b="1" sz="1200">
              <a:solidFill>
                <a:schemeClr val="dk1"/>
              </a:solidFill>
              <a:latin typeface="Lora"/>
              <a:ea typeface="Lora"/>
              <a:cs typeface="Lora"/>
              <a:sym typeface="Lora"/>
            </a:endParaRPr>
          </a:p>
          <a:p>
            <a:pPr indent="0" lvl="0" marL="0" rtl="0" algn="just">
              <a:lnSpc>
                <a:spcPct val="150000"/>
              </a:lnSpc>
              <a:spcBef>
                <a:spcPts val="1200"/>
              </a:spcBef>
              <a:spcAft>
                <a:spcPts val="0"/>
              </a:spcAft>
              <a:buNone/>
            </a:pPr>
            <a:r>
              <a:rPr lang="en" sz="1200">
                <a:solidFill>
                  <a:schemeClr val="dk1"/>
                </a:solidFill>
                <a:latin typeface="Lora"/>
                <a:ea typeface="Lora"/>
                <a:cs typeface="Lora"/>
                <a:sym typeface="Lora"/>
              </a:rPr>
              <a:t>To practice on your own separate repository (create a dummy repository on Github if you don’t have one), then follow </a:t>
            </a:r>
            <a:r>
              <a:rPr lang="en" sz="1200" u="sng">
                <a:solidFill>
                  <a:schemeClr val="hlink"/>
                </a:solidFill>
                <a:latin typeface="Lora"/>
                <a:ea typeface="Lora"/>
                <a:cs typeface="Lora"/>
                <a:sym typeface="Lora"/>
                <a:hlinkClick r:id="rId3"/>
              </a:rPr>
              <a:t>this quickstart guide</a:t>
            </a:r>
            <a:r>
              <a:rPr b="1" lang="en" sz="1200">
                <a:solidFill>
                  <a:schemeClr val="dk1"/>
                </a:solidFill>
                <a:latin typeface="Lora"/>
                <a:ea typeface="Lora"/>
                <a:cs typeface="Lora"/>
                <a:sym typeface="Lora"/>
              </a:rPr>
              <a:t>: try to Implement a CI/CD Pipeline </a:t>
            </a:r>
            <a:r>
              <a:rPr lang="en" sz="1200">
                <a:solidFill>
                  <a:schemeClr val="dk1"/>
                </a:solidFill>
                <a:latin typeface="Lora"/>
                <a:ea typeface="Lora"/>
                <a:cs typeface="Lora"/>
                <a:sym typeface="Lora"/>
              </a:rPr>
              <a:t>(i.e Create a workflow to run </a:t>
            </a:r>
            <a:r>
              <a:rPr lang="en" sz="1200">
                <a:solidFill>
                  <a:srgbClr val="188038"/>
                </a:solidFill>
                <a:latin typeface="Lora"/>
                <a:ea typeface="Lora"/>
                <a:cs typeface="Lora"/>
                <a:sym typeface="Lora"/>
              </a:rPr>
              <a:t>pytest</a:t>
            </a:r>
            <a:r>
              <a:rPr lang="en" sz="1200">
                <a:solidFill>
                  <a:schemeClr val="dk1"/>
                </a:solidFill>
                <a:latin typeface="Lora"/>
                <a:ea typeface="Lora"/>
                <a:cs typeface="Lora"/>
                <a:sym typeface="Lora"/>
              </a:rPr>
              <a:t> on every push. Make sure it fails if you intentionally introduce an error.)</a:t>
            </a:r>
            <a:endParaRPr b="1" sz="1200">
              <a:solidFill>
                <a:schemeClr val="dk1"/>
              </a:solidFill>
              <a:latin typeface="Lora"/>
              <a:ea typeface="Lora"/>
              <a:cs typeface="Lora"/>
              <a:sym typeface="Lora"/>
            </a:endParaRPr>
          </a:p>
          <a:p>
            <a:pPr indent="0" lvl="0" marL="0" rtl="0" algn="l">
              <a:lnSpc>
                <a:spcPct val="115000"/>
              </a:lnSpc>
              <a:spcBef>
                <a:spcPts val="1200"/>
              </a:spcBef>
              <a:spcAft>
                <a:spcPts val="1200"/>
              </a:spcAft>
              <a:buNone/>
            </a:pPr>
            <a:r>
              <a:t/>
            </a:r>
            <a:endParaRPr sz="1100">
              <a:solidFill>
                <a:schemeClr val="dk1"/>
              </a:solidFill>
              <a:latin typeface="Lora"/>
              <a:ea typeface="Lora"/>
              <a:cs typeface="Lora"/>
              <a:sym typeface="Lor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2"/>
          <p:cNvSpPr txBox="1"/>
          <p:nvPr/>
        </p:nvSpPr>
        <p:spPr>
          <a:xfrm>
            <a:off x="612900" y="167395"/>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solidFill>
                  <a:schemeClr val="dk1"/>
                </a:solidFill>
                <a:latin typeface="Lora"/>
                <a:ea typeface="Lora"/>
                <a:cs typeface="Lora"/>
                <a:sym typeface="Lora"/>
              </a:rPr>
              <a:t>Assignment 1 </a:t>
            </a:r>
            <a:r>
              <a:rPr lang="en" sz="2400">
                <a:solidFill>
                  <a:schemeClr val="dk1"/>
                </a:solidFill>
                <a:latin typeface="Lora"/>
                <a:ea typeface="Lora"/>
                <a:cs typeface="Lora"/>
                <a:sym typeface="Lora"/>
              </a:rPr>
              <a:t>(work in pairs)</a:t>
            </a:r>
            <a:endParaRPr sz="1200">
              <a:latin typeface="Lora"/>
              <a:ea typeface="Lora"/>
              <a:cs typeface="Lora"/>
              <a:sym typeface="Lora"/>
            </a:endParaRPr>
          </a:p>
        </p:txBody>
      </p:sp>
      <p:sp>
        <p:nvSpPr>
          <p:cNvPr id="186" name="Google Shape;186;p32"/>
          <p:cNvSpPr txBox="1"/>
          <p:nvPr/>
        </p:nvSpPr>
        <p:spPr>
          <a:xfrm>
            <a:off x="612900" y="696908"/>
            <a:ext cx="8301300" cy="4405200"/>
          </a:xfrm>
          <a:prstGeom prst="rect">
            <a:avLst/>
          </a:prstGeom>
          <a:noFill/>
          <a:ln>
            <a:noFill/>
          </a:ln>
        </p:spPr>
        <p:txBody>
          <a:bodyPr anchorCtr="0" anchor="t" bIns="91425" lIns="91425" spcFirstLastPara="1" rIns="91425" wrap="square" tIns="91425">
            <a:spAutoFit/>
          </a:bodyPr>
          <a:lstStyle/>
          <a:p>
            <a:pPr indent="0" lvl="0" marL="0" rtl="0" algn="l">
              <a:lnSpc>
                <a:spcPct val="139979"/>
              </a:lnSpc>
              <a:spcBef>
                <a:spcPts val="0"/>
              </a:spcBef>
              <a:spcAft>
                <a:spcPts val="0"/>
              </a:spcAft>
              <a:buNone/>
            </a:pPr>
            <a:r>
              <a:rPr b="1" lang="en" sz="1300">
                <a:solidFill>
                  <a:schemeClr val="dk1"/>
                </a:solidFill>
                <a:latin typeface="Lora"/>
                <a:ea typeface="Lora"/>
                <a:cs typeface="Lora"/>
                <a:sym typeface="Lora"/>
              </a:rPr>
              <a:t>Proposition A</a:t>
            </a:r>
            <a:r>
              <a:rPr lang="en" sz="1100">
                <a:solidFill>
                  <a:schemeClr val="dk1"/>
                </a:solidFill>
                <a:latin typeface="Lora"/>
                <a:ea typeface="Lora"/>
                <a:cs typeface="Lora"/>
                <a:sym typeface="Lora"/>
              </a:rPr>
              <a:t>: Build a Gradio app that allows a user to enter text, perform different text operations, and display the result in a single output box.</a:t>
            </a:r>
            <a:endParaRPr sz="1100">
              <a:solidFill>
                <a:schemeClr val="dk1"/>
              </a:solidFill>
              <a:latin typeface="Lora"/>
              <a:ea typeface="Lora"/>
              <a:cs typeface="Lora"/>
              <a:sym typeface="Lora"/>
            </a:endParaRPr>
          </a:p>
          <a:p>
            <a:pPr indent="0" lvl="0" marL="0" rtl="0" algn="l">
              <a:lnSpc>
                <a:spcPct val="139979"/>
              </a:lnSpc>
              <a:spcBef>
                <a:spcPts val="0"/>
              </a:spcBef>
              <a:spcAft>
                <a:spcPts val="0"/>
              </a:spcAft>
              <a:buNone/>
            </a:pPr>
            <a:r>
              <a:rPr b="1" lang="en" sz="1100">
                <a:solidFill>
                  <a:schemeClr val="dk1"/>
                </a:solidFill>
                <a:latin typeface="Lora"/>
                <a:ea typeface="Lora"/>
                <a:cs typeface="Lora"/>
                <a:sym typeface="Lora"/>
              </a:rPr>
              <a:t>Requirements:</a:t>
            </a:r>
            <a:endParaRPr sz="1100">
              <a:solidFill>
                <a:schemeClr val="dk1"/>
              </a:solidFill>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AutoNum type="arabicPeriod"/>
            </a:pPr>
            <a:r>
              <a:rPr lang="en" sz="1100">
                <a:solidFill>
                  <a:schemeClr val="dk1"/>
                </a:solidFill>
                <a:latin typeface="Lora"/>
                <a:ea typeface="Lora"/>
                <a:cs typeface="Lora"/>
                <a:sym typeface="Lora"/>
              </a:rPr>
              <a:t>An input textbox at the top </a:t>
            </a:r>
            <a:r>
              <a:rPr lang="en" sz="1100">
                <a:solidFill>
                  <a:schemeClr val="dk1"/>
                </a:solidFill>
                <a:latin typeface="Lora"/>
                <a:ea typeface="Lora"/>
                <a:cs typeface="Lora"/>
                <a:sym typeface="Lora"/>
              </a:rPr>
              <a:t>where the user can type or paste any text</a:t>
            </a:r>
            <a:r>
              <a:rPr lang="en" sz="1100">
                <a:solidFill>
                  <a:schemeClr val="dk1"/>
                </a:solidFill>
                <a:latin typeface="Lora"/>
                <a:ea typeface="Lora"/>
                <a:cs typeface="Lora"/>
                <a:sym typeface="Lora"/>
              </a:rPr>
              <a:t>.</a:t>
            </a:r>
            <a:endParaRPr sz="1100">
              <a:solidFill>
                <a:schemeClr val="dk1"/>
              </a:solidFill>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AutoNum type="arabicPeriod"/>
            </a:pPr>
            <a:r>
              <a:rPr lang="en" sz="1100">
                <a:solidFill>
                  <a:schemeClr val="dk1"/>
                </a:solidFill>
                <a:latin typeface="Lora"/>
                <a:ea typeface="Lora"/>
                <a:cs typeface="Lora"/>
                <a:sym typeface="Lora"/>
              </a:rPr>
              <a:t>An Accordion or Tabbed interface below with at least three sections:</a:t>
            </a:r>
            <a:endParaRPr sz="1100">
              <a:solidFill>
                <a:schemeClr val="dk1"/>
              </a:solidFill>
              <a:latin typeface="Lora"/>
              <a:ea typeface="Lora"/>
              <a:cs typeface="Lora"/>
              <a:sym typeface="Lora"/>
            </a:endParaRPr>
          </a:p>
          <a:p>
            <a:pPr indent="-298450" lvl="1" marL="914400" rtl="0" algn="l">
              <a:lnSpc>
                <a:spcPct val="139979"/>
              </a:lnSpc>
              <a:spcBef>
                <a:spcPts val="0"/>
              </a:spcBef>
              <a:spcAft>
                <a:spcPts val="0"/>
              </a:spcAft>
              <a:buClr>
                <a:schemeClr val="dk1"/>
              </a:buClr>
              <a:buSzPts val="1100"/>
              <a:buFont typeface="Lora"/>
              <a:buAutoNum type="alphaLcPeriod"/>
            </a:pPr>
            <a:r>
              <a:rPr lang="en" sz="1100">
                <a:solidFill>
                  <a:schemeClr val="dk1"/>
                </a:solidFill>
                <a:latin typeface="Lora"/>
                <a:ea typeface="Lora"/>
                <a:cs typeface="Lora"/>
                <a:sym typeface="Lora"/>
              </a:rPr>
              <a:t>Section 1: Case Converter</a:t>
            </a:r>
            <a:endParaRPr sz="1100">
              <a:solidFill>
                <a:schemeClr val="dk1"/>
              </a:solidFill>
              <a:latin typeface="Lora"/>
              <a:ea typeface="Lora"/>
              <a:cs typeface="Lora"/>
              <a:sym typeface="Lora"/>
            </a:endParaRPr>
          </a:p>
          <a:p>
            <a:pPr indent="-298450" lvl="2" marL="1371600" rtl="0" algn="l">
              <a:lnSpc>
                <a:spcPct val="115000"/>
              </a:lnSpc>
              <a:spcBef>
                <a:spcPts val="0"/>
              </a:spcBef>
              <a:spcAft>
                <a:spcPts val="0"/>
              </a:spcAft>
              <a:buClr>
                <a:schemeClr val="dk1"/>
              </a:buClr>
              <a:buSzPts val="1100"/>
              <a:buFont typeface="Lora"/>
              <a:buAutoNum type="romanLcPeriod"/>
            </a:pPr>
            <a:r>
              <a:rPr lang="en" sz="1100">
                <a:solidFill>
                  <a:schemeClr val="dk1"/>
                </a:solidFill>
                <a:latin typeface="Lora"/>
                <a:ea typeface="Lora"/>
                <a:cs typeface="Lora"/>
                <a:sym typeface="Lora"/>
              </a:rPr>
              <a:t>Has radio buttons for "Uppercase," "Lowercase," and "Title Case."</a:t>
            </a:r>
            <a:endParaRPr sz="1100">
              <a:solidFill>
                <a:schemeClr val="dk1"/>
              </a:solidFill>
              <a:latin typeface="Lora"/>
              <a:ea typeface="Lora"/>
              <a:cs typeface="Lora"/>
              <a:sym typeface="Lora"/>
            </a:endParaRPr>
          </a:p>
          <a:p>
            <a:pPr indent="-298450" lvl="1" marL="914400" rtl="0" algn="l">
              <a:lnSpc>
                <a:spcPct val="115000"/>
              </a:lnSpc>
              <a:spcBef>
                <a:spcPts val="0"/>
              </a:spcBef>
              <a:spcAft>
                <a:spcPts val="0"/>
              </a:spcAft>
              <a:buClr>
                <a:schemeClr val="dk1"/>
              </a:buClr>
              <a:buSzPts val="1100"/>
              <a:buFont typeface="Lora"/>
              <a:buAutoNum type="alphaLcPeriod"/>
            </a:pPr>
            <a:r>
              <a:rPr lang="en" sz="1100">
                <a:solidFill>
                  <a:schemeClr val="dk1"/>
                </a:solidFill>
                <a:latin typeface="Lora"/>
                <a:ea typeface="Lora"/>
                <a:cs typeface="Lora"/>
                <a:sym typeface="Lora"/>
              </a:rPr>
              <a:t>Section 2: Text Reverser</a:t>
            </a:r>
            <a:endParaRPr sz="1100">
              <a:solidFill>
                <a:schemeClr val="dk1"/>
              </a:solidFill>
              <a:latin typeface="Lora"/>
              <a:ea typeface="Lora"/>
              <a:cs typeface="Lora"/>
              <a:sym typeface="Lora"/>
            </a:endParaRPr>
          </a:p>
          <a:p>
            <a:pPr indent="-298450" lvl="2" marL="1371600" rtl="0" algn="l">
              <a:lnSpc>
                <a:spcPct val="115000"/>
              </a:lnSpc>
              <a:spcBef>
                <a:spcPts val="0"/>
              </a:spcBef>
              <a:spcAft>
                <a:spcPts val="0"/>
              </a:spcAft>
              <a:buClr>
                <a:schemeClr val="dk1"/>
              </a:buClr>
              <a:buSzPts val="1100"/>
              <a:buFont typeface="Lora"/>
              <a:buAutoNum type="romanLcPeriod"/>
            </a:pPr>
            <a:r>
              <a:rPr lang="en" sz="1100">
                <a:solidFill>
                  <a:schemeClr val="dk1"/>
                </a:solidFill>
                <a:latin typeface="Lora"/>
                <a:ea typeface="Lora"/>
                <a:cs typeface="Lora"/>
                <a:sym typeface="Lora"/>
              </a:rPr>
              <a:t>Has a checkbox for "Reverse Word Order."</a:t>
            </a:r>
            <a:endParaRPr sz="1100">
              <a:solidFill>
                <a:schemeClr val="dk1"/>
              </a:solidFill>
              <a:latin typeface="Lora"/>
              <a:ea typeface="Lora"/>
              <a:cs typeface="Lora"/>
              <a:sym typeface="Lora"/>
            </a:endParaRPr>
          </a:p>
          <a:p>
            <a:pPr indent="-298450" lvl="2" marL="1371600" rtl="0" algn="l">
              <a:lnSpc>
                <a:spcPct val="115000"/>
              </a:lnSpc>
              <a:spcBef>
                <a:spcPts val="0"/>
              </a:spcBef>
              <a:spcAft>
                <a:spcPts val="0"/>
              </a:spcAft>
              <a:buClr>
                <a:schemeClr val="dk1"/>
              </a:buClr>
              <a:buSzPts val="1100"/>
              <a:buFont typeface="Lora"/>
              <a:buAutoNum type="romanLcPeriod"/>
            </a:pPr>
            <a:r>
              <a:rPr lang="en" sz="1100">
                <a:solidFill>
                  <a:schemeClr val="dk1"/>
                </a:solidFill>
                <a:latin typeface="Lora"/>
                <a:ea typeface="Lora"/>
                <a:cs typeface="Lora"/>
                <a:sym typeface="Lora"/>
              </a:rPr>
              <a:t>Has another checkbox for "Reverse All Characters."</a:t>
            </a:r>
            <a:endParaRPr sz="1100">
              <a:solidFill>
                <a:schemeClr val="dk1"/>
              </a:solidFill>
              <a:latin typeface="Lora"/>
              <a:ea typeface="Lora"/>
              <a:cs typeface="Lora"/>
              <a:sym typeface="Lora"/>
            </a:endParaRPr>
          </a:p>
          <a:p>
            <a:pPr indent="-298450" lvl="1" marL="914400" rtl="0" algn="l">
              <a:lnSpc>
                <a:spcPct val="115000"/>
              </a:lnSpc>
              <a:spcBef>
                <a:spcPts val="0"/>
              </a:spcBef>
              <a:spcAft>
                <a:spcPts val="0"/>
              </a:spcAft>
              <a:buClr>
                <a:schemeClr val="dk1"/>
              </a:buClr>
              <a:buSzPts val="1100"/>
              <a:buFont typeface="Lora"/>
              <a:buAutoNum type="alphaLcPeriod"/>
            </a:pPr>
            <a:r>
              <a:rPr lang="en" sz="1100">
                <a:solidFill>
                  <a:schemeClr val="dk1"/>
                </a:solidFill>
                <a:latin typeface="Lora"/>
                <a:ea typeface="Lora"/>
                <a:cs typeface="Lora"/>
                <a:sym typeface="Lora"/>
              </a:rPr>
              <a:t>Section 3: Text Analyzer</a:t>
            </a:r>
            <a:endParaRPr sz="1100">
              <a:solidFill>
                <a:schemeClr val="dk1"/>
              </a:solidFill>
              <a:latin typeface="Lora"/>
              <a:ea typeface="Lora"/>
              <a:cs typeface="Lora"/>
              <a:sym typeface="Lora"/>
            </a:endParaRPr>
          </a:p>
          <a:p>
            <a:pPr indent="-298450" lvl="2" marL="1371600" rtl="0" algn="l">
              <a:lnSpc>
                <a:spcPct val="115000"/>
              </a:lnSpc>
              <a:spcBef>
                <a:spcPts val="0"/>
              </a:spcBef>
              <a:spcAft>
                <a:spcPts val="0"/>
              </a:spcAft>
              <a:buClr>
                <a:schemeClr val="dk1"/>
              </a:buClr>
              <a:buSzPts val="1100"/>
              <a:buAutoNum type="romanLcPeriod"/>
            </a:pPr>
            <a:r>
              <a:rPr lang="en" sz="1100">
                <a:solidFill>
                  <a:schemeClr val="dk1"/>
                </a:solidFill>
                <a:latin typeface="Lora"/>
                <a:ea typeface="Lora"/>
                <a:cs typeface="Lora"/>
                <a:sym typeface="Lora"/>
              </a:rPr>
              <a:t>Displays the Word Count, Character Count, and Average Word Length of the input text.</a:t>
            </a:r>
            <a:endParaRPr sz="1100">
              <a:solidFill>
                <a:schemeClr val="dk1"/>
              </a:solidFill>
              <a:latin typeface="Lora"/>
              <a:ea typeface="Lora"/>
              <a:cs typeface="Lora"/>
              <a:sym typeface="Lora"/>
            </a:endParaRPr>
          </a:p>
          <a:p>
            <a:pPr indent="-298450" lvl="0" marL="457200" rtl="0" algn="l">
              <a:lnSpc>
                <a:spcPct val="115000"/>
              </a:lnSpc>
              <a:spcBef>
                <a:spcPts val="0"/>
              </a:spcBef>
              <a:spcAft>
                <a:spcPts val="0"/>
              </a:spcAft>
              <a:buClr>
                <a:schemeClr val="dk1"/>
              </a:buClr>
              <a:buSzPts val="1100"/>
              <a:buFont typeface="Lora"/>
              <a:buAutoNum type="arabicPeriod"/>
            </a:pPr>
            <a:r>
              <a:rPr lang="en" sz="1100">
                <a:solidFill>
                  <a:schemeClr val="dk1"/>
                </a:solidFill>
                <a:latin typeface="Lora"/>
                <a:ea typeface="Lora"/>
                <a:cs typeface="Lora"/>
                <a:sym typeface="Lora"/>
              </a:rPr>
              <a:t>A single output textbox that updates based on the selected operations.</a:t>
            </a:r>
            <a:endParaRPr sz="1100">
              <a:solidFill>
                <a:schemeClr val="dk1"/>
              </a:solidFill>
              <a:latin typeface="Lora"/>
              <a:ea typeface="Lora"/>
              <a:cs typeface="Lora"/>
              <a:sym typeface="Lora"/>
            </a:endParaRPr>
          </a:p>
          <a:p>
            <a:pPr indent="0" lvl="0" marL="0" rtl="0" algn="l">
              <a:lnSpc>
                <a:spcPct val="115000"/>
              </a:lnSpc>
              <a:spcBef>
                <a:spcPts val="1400"/>
              </a:spcBef>
              <a:spcAft>
                <a:spcPts val="0"/>
              </a:spcAft>
              <a:buNone/>
            </a:pPr>
            <a:r>
              <a:rPr b="1" lang="en" sz="1200">
                <a:solidFill>
                  <a:schemeClr val="dk1"/>
                </a:solidFill>
                <a:latin typeface="Lora"/>
                <a:ea typeface="Lora"/>
                <a:cs typeface="Lora"/>
                <a:sym typeface="Lora"/>
              </a:rPr>
              <a:t>G</a:t>
            </a:r>
            <a:r>
              <a:rPr b="1" lang="en" sz="1200">
                <a:solidFill>
                  <a:schemeClr val="dk1"/>
                </a:solidFill>
                <a:latin typeface="Lora"/>
                <a:ea typeface="Lora"/>
                <a:cs typeface="Lora"/>
                <a:sym typeface="Lora"/>
              </a:rPr>
              <a:t>o</a:t>
            </a:r>
            <a:r>
              <a:rPr b="1" lang="en" sz="1100">
                <a:solidFill>
                  <a:schemeClr val="dk1"/>
                </a:solidFill>
                <a:latin typeface="Lora"/>
                <a:ea typeface="Lora"/>
                <a:cs typeface="Lora"/>
                <a:sym typeface="Lora"/>
              </a:rPr>
              <a:t> a bit further:</a:t>
            </a:r>
            <a:endParaRPr b="1" sz="1200">
              <a:solidFill>
                <a:schemeClr val="dk1"/>
              </a:solidFill>
              <a:latin typeface="Lora"/>
              <a:ea typeface="Lora"/>
              <a:cs typeface="Lora"/>
              <a:sym typeface="Lora"/>
            </a:endParaRPr>
          </a:p>
          <a:p>
            <a:pPr indent="-298450" lvl="0" marL="457200" rtl="0" algn="l">
              <a:lnSpc>
                <a:spcPct val="100000"/>
              </a:lnSpc>
              <a:spcBef>
                <a:spcPts val="1200"/>
              </a:spcBef>
              <a:spcAft>
                <a:spcPts val="0"/>
              </a:spcAft>
              <a:buClr>
                <a:schemeClr val="dk1"/>
              </a:buClr>
              <a:buSzPts val="1100"/>
              <a:buFont typeface="Lora"/>
              <a:buChar char="●"/>
            </a:pPr>
            <a:r>
              <a:rPr lang="en" sz="1100">
                <a:solidFill>
                  <a:schemeClr val="dk1"/>
                </a:solidFill>
                <a:latin typeface="Lora"/>
                <a:ea typeface="Lora"/>
                <a:cs typeface="Lora"/>
                <a:sym typeface="Lora"/>
              </a:rPr>
              <a:t>For example: Add a "Clear" butto</a:t>
            </a:r>
            <a:r>
              <a:rPr lang="en" sz="1100">
                <a:solidFill>
                  <a:schemeClr val="dk1"/>
                </a:solidFill>
                <a:latin typeface="Lora"/>
                <a:ea typeface="Lora"/>
                <a:cs typeface="Lora"/>
                <a:sym typeface="Lora"/>
              </a:rPr>
              <a:t>n</a:t>
            </a:r>
            <a:endParaRPr sz="1100">
              <a:solidFill>
                <a:schemeClr val="dk1"/>
              </a:solidFill>
              <a:latin typeface="Lora"/>
              <a:ea typeface="Lora"/>
              <a:cs typeface="Lora"/>
              <a:sym typeface="Lora"/>
            </a:endParaRPr>
          </a:p>
          <a:p>
            <a:pPr indent="-298450" lvl="0" marL="457200" rtl="0" algn="l">
              <a:lnSpc>
                <a:spcPct val="100000"/>
              </a:lnSpc>
              <a:spcBef>
                <a:spcPts val="0"/>
              </a:spcBef>
              <a:spcAft>
                <a:spcPts val="0"/>
              </a:spcAft>
              <a:buClr>
                <a:schemeClr val="dk1"/>
              </a:buClr>
              <a:buSzPts val="1100"/>
              <a:buFont typeface="Lora"/>
              <a:buChar char="●"/>
            </a:pPr>
            <a:r>
              <a:rPr lang="en" sz="1100">
                <a:solidFill>
                  <a:schemeClr val="dk1"/>
                </a:solidFill>
                <a:latin typeface="Lora"/>
                <a:ea typeface="Lora"/>
                <a:cs typeface="Lora"/>
                <a:sym typeface="Lora"/>
              </a:rPr>
              <a:t>For example: Display statistics dynamically as the user types</a:t>
            </a:r>
            <a:endParaRPr sz="1100">
              <a:solidFill>
                <a:schemeClr val="dk1"/>
              </a:solidFill>
              <a:latin typeface="Lora"/>
              <a:ea typeface="Lora"/>
              <a:cs typeface="Lora"/>
              <a:sym typeface="Lora"/>
            </a:endParaRPr>
          </a:p>
          <a:p>
            <a:pPr indent="-298450" lvl="0" marL="457200" rtl="0" algn="l">
              <a:lnSpc>
                <a:spcPct val="100000"/>
              </a:lnSpc>
              <a:spcBef>
                <a:spcPts val="0"/>
              </a:spcBef>
              <a:spcAft>
                <a:spcPts val="0"/>
              </a:spcAft>
              <a:buClr>
                <a:schemeClr val="dk1"/>
              </a:buClr>
              <a:buSzPts val="1100"/>
              <a:buFont typeface="Lora"/>
              <a:buChar char="●"/>
            </a:pPr>
            <a:r>
              <a:rPr lang="en" sz="1100">
                <a:solidFill>
                  <a:schemeClr val="dk1"/>
                </a:solidFill>
                <a:latin typeface="Lora"/>
                <a:ea typeface="Lora"/>
                <a:cs typeface="Lora"/>
                <a:sym typeface="Lora"/>
              </a:rPr>
              <a:t>Anything</a:t>
            </a:r>
            <a:r>
              <a:rPr lang="en" sz="1100">
                <a:solidFill>
                  <a:schemeClr val="dk1"/>
                </a:solidFill>
                <a:latin typeface="Lora"/>
                <a:ea typeface="Lora"/>
                <a:cs typeface="Lora"/>
                <a:sym typeface="Lora"/>
              </a:rPr>
              <a:t> else you can think of </a:t>
            </a:r>
            <a:r>
              <a:rPr b="1" lang="en" sz="1100">
                <a:solidFill>
                  <a:schemeClr val="dk1"/>
                </a:solidFill>
                <a:latin typeface="Lora"/>
                <a:ea typeface="Lora"/>
                <a:cs typeface="Lora"/>
                <a:sym typeface="Lora"/>
              </a:rPr>
              <a:t>(extra points awarded for creativity)!</a:t>
            </a:r>
            <a:endParaRPr sz="1100">
              <a:solidFill>
                <a:schemeClr val="dk1"/>
              </a:solidFill>
              <a:latin typeface="Lora"/>
              <a:ea typeface="Lora"/>
              <a:cs typeface="Lora"/>
              <a:sym typeface="Lora"/>
            </a:endParaRPr>
          </a:p>
          <a:p>
            <a:pPr indent="0" lvl="0" marL="0" rtl="0" algn="l">
              <a:lnSpc>
                <a:spcPct val="115000"/>
              </a:lnSpc>
              <a:spcBef>
                <a:spcPts val="1200"/>
              </a:spcBef>
              <a:spcAft>
                <a:spcPts val="0"/>
              </a:spcAft>
              <a:buNone/>
            </a:pPr>
            <a:r>
              <a:t/>
            </a:r>
            <a:endParaRPr sz="1200">
              <a:solidFill>
                <a:schemeClr val="dk1"/>
              </a:solidFill>
              <a:latin typeface="Lora"/>
              <a:ea typeface="Lora"/>
              <a:cs typeface="Lora"/>
              <a:sym typeface="Lor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3"/>
          <p:cNvSpPr txBox="1"/>
          <p:nvPr/>
        </p:nvSpPr>
        <p:spPr>
          <a:xfrm>
            <a:off x="612900" y="167395"/>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solidFill>
                  <a:schemeClr val="dk1"/>
                </a:solidFill>
                <a:latin typeface="Lora"/>
                <a:ea typeface="Lora"/>
                <a:cs typeface="Lora"/>
                <a:sym typeface="Lora"/>
              </a:rPr>
              <a:t>Assignment 1 </a:t>
            </a:r>
            <a:r>
              <a:rPr lang="en" sz="2400">
                <a:solidFill>
                  <a:schemeClr val="dk1"/>
                </a:solidFill>
                <a:latin typeface="Lora"/>
                <a:ea typeface="Lora"/>
                <a:cs typeface="Lora"/>
                <a:sym typeface="Lora"/>
              </a:rPr>
              <a:t>(work in pairs)</a:t>
            </a:r>
            <a:r>
              <a:rPr lang="en" sz="2400">
                <a:solidFill>
                  <a:schemeClr val="dk1"/>
                </a:solidFill>
                <a:latin typeface="Lora"/>
                <a:ea typeface="Lora"/>
                <a:cs typeface="Lora"/>
                <a:sym typeface="Lora"/>
              </a:rPr>
              <a:t> </a:t>
            </a:r>
            <a:endParaRPr sz="1200">
              <a:latin typeface="Lora"/>
              <a:ea typeface="Lora"/>
              <a:cs typeface="Lora"/>
              <a:sym typeface="Lora"/>
            </a:endParaRPr>
          </a:p>
        </p:txBody>
      </p:sp>
      <p:pic>
        <p:nvPicPr>
          <p:cNvPr id="192" name="Google Shape;192;p33"/>
          <p:cNvPicPr preferRelativeResize="0"/>
          <p:nvPr/>
        </p:nvPicPr>
        <p:blipFill>
          <a:blip r:embed="rId3">
            <a:alphaModFix/>
          </a:blip>
          <a:stretch>
            <a:fillRect/>
          </a:stretch>
        </p:blipFill>
        <p:spPr>
          <a:xfrm>
            <a:off x="1028175" y="1120820"/>
            <a:ext cx="2981325" cy="2419350"/>
          </a:xfrm>
          <a:prstGeom prst="rect">
            <a:avLst/>
          </a:prstGeom>
          <a:noFill/>
          <a:ln>
            <a:noFill/>
          </a:ln>
        </p:spPr>
      </p:pic>
      <p:pic>
        <p:nvPicPr>
          <p:cNvPr id="193" name="Google Shape;193;p33"/>
          <p:cNvPicPr preferRelativeResize="0"/>
          <p:nvPr/>
        </p:nvPicPr>
        <p:blipFill>
          <a:blip r:embed="rId4">
            <a:alphaModFix/>
          </a:blip>
          <a:stretch>
            <a:fillRect/>
          </a:stretch>
        </p:blipFill>
        <p:spPr>
          <a:xfrm>
            <a:off x="4124896" y="1120803"/>
            <a:ext cx="4829699" cy="197520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4"/>
          <p:cNvSpPr txBox="1"/>
          <p:nvPr/>
        </p:nvSpPr>
        <p:spPr>
          <a:xfrm>
            <a:off x="612900" y="167395"/>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solidFill>
                  <a:schemeClr val="dk1"/>
                </a:solidFill>
                <a:latin typeface="Lora"/>
                <a:ea typeface="Lora"/>
                <a:cs typeface="Lora"/>
                <a:sym typeface="Lora"/>
              </a:rPr>
              <a:t>Assignment 1 </a:t>
            </a:r>
            <a:r>
              <a:rPr lang="en" sz="2400">
                <a:solidFill>
                  <a:schemeClr val="dk1"/>
                </a:solidFill>
                <a:latin typeface="Lora"/>
                <a:ea typeface="Lora"/>
                <a:cs typeface="Lora"/>
                <a:sym typeface="Lora"/>
              </a:rPr>
              <a:t>(work in pairs)</a:t>
            </a:r>
            <a:r>
              <a:rPr lang="en" sz="2400">
                <a:solidFill>
                  <a:schemeClr val="dk1"/>
                </a:solidFill>
                <a:latin typeface="Lora"/>
                <a:ea typeface="Lora"/>
                <a:cs typeface="Lora"/>
                <a:sym typeface="Lora"/>
              </a:rPr>
              <a:t> </a:t>
            </a:r>
            <a:endParaRPr sz="1200">
              <a:latin typeface="Lora"/>
              <a:ea typeface="Lora"/>
              <a:cs typeface="Lora"/>
              <a:sym typeface="Lora"/>
            </a:endParaRPr>
          </a:p>
        </p:txBody>
      </p:sp>
      <p:sp>
        <p:nvSpPr>
          <p:cNvPr id="199" name="Google Shape;199;p34"/>
          <p:cNvSpPr txBox="1"/>
          <p:nvPr/>
        </p:nvSpPr>
        <p:spPr>
          <a:xfrm>
            <a:off x="612900" y="783250"/>
            <a:ext cx="8301300" cy="4223700"/>
          </a:xfrm>
          <a:prstGeom prst="rect">
            <a:avLst/>
          </a:prstGeom>
          <a:noFill/>
          <a:ln>
            <a:noFill/>
          </a:ln>
        </p:spPr>
        <p:txBody>
          <a:bodyPr anchorCtr="0" anchor="t" bIns="91425" lIns="91425" spcFirstLastPara="1" rIns="91425" wrap="square" tIns="91425">
            <a:spAutoFit/>
          </a:bodyPr>
          <a:lstStyle/>
          <a:p>
            <a:pPr indent="0" lvl="0" marL="0" rtl="0" algn="l">
              <a:lnSpc>
                <a:spcPct val="139979"/>
              </a:lnSpc>
              <a:spcBef>
                <a:spcPts val="0"/>
              </a:spcBef>
              <a:spcAft>
                <a:spcPts val="0"/>
              </a:spcAft>
              <a:buNone/>
            </a:pPr>
            <a:r>
              <a:rPr b="1" lang="en">
                <a:solidFill>
                  <a:schemeClr val="dk1"/>
                </a:solidFill>
                <a:latin typeface="Lora"/>
                <a:ea typeface="Lora"/>
                <a:cs typeface="Lora"/>
                <a:sym typeface="Lora"/>
              </a:rPr>
              <a:t>Proposition B</a:t>
            </a:r>
            <a:r>
              <a:rPr lang="en" sz="1200">
                <a:solidFill>
                  <a:schemeClr val="dk1"/>
                </a:solidFill>
                <a:latin typeface="Lora"/>
                <a:ea typeface="Lora"/>
                <a:cs typeface="Lora"/>
                <a:sym typeface="Lora"/>
              </a:rPr>
              <a:t>: Build a Gradio app that </a:t>
            </a:r>
            <a:r>
              <a:rPr lang="en" sz="1200">
                <a:solidFill>
                  <a:schemeClr val="dk1"/>
                </a:solidFill>
                <a:latin typeface="Lora"/>
                <a:ea typeface="Lora"/>
                <a:cs typeface="Lora"/>
                <a:sym typeface="Lora"/>
              </a:rPr>
              <a:t>that allows a user to upload an image, apply basic editing operations, and view the updated image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An image upload component for the user's input image.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Several controls to manipulate the image:</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lphaLcPeriod"/>
            </a:pPr>
            <a:r>
              <a:rPr lang="en" sz="1200">
                <a:solidFill>
                  <a:schemeClr val="dk1"/>
                </a:solidFill>
                <a:latin typeface="Lora"/>
                <a:ea typeface="Lora"/>
                <a:cs typeface="Lora"/>
                <a:sym typeface="Lora"/>
              </a:rPr>
              <a:t>A checkbox to convert the image to Grayscale.</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lphaLcPeriod"/>
            </a:pPr>
            <a:r>
              <a:rPr lang="en" sz="1200">
                <a:solidFill>
                  <a:schemeClr val="dk1"/>
                </a:solidFill>
                <a:latin typeface="Lora"/>
                <a:ea typeface="Lora"/>
                <a:cs typeface="Lora"/>
                <a:sym typeface="Lora"/>
              </a:rPr>
              <a:t>A slider (from 0.5 to 1.5) to adjust Brightness.</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lphaLcPeriod"/>
            </a:pPr>
            <a:r>
              <a:rPr lang="en" sz="1200">
                <a:solidFill>
                  <a:schemeClr val="dk1"/>
                </a:solidFill>
                <a:latin typeface="Lora"/>
                <a:ea typeface="Lora"/>
                <a:cs typeface="Lora"/>
                <a:sym typeface="Lora"/>
              </a:rPr>
              <a:t>A slider (from 0.5 to 1.5) to adjust Contrast.</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lphaLcPeriod"/>
            </a:pPr>
            <a:r>
              <a:rPr lang="en" sz="1200">
                <a:solidFill>
                  <a:schemeClr val="dk1"/>
                </a:solidFill>
                <a:latin typeface="Lora"/>
                <a:ea typeface="Lora"/>
                <a:cs typeface="Lora"/>
                <a:sym typeface="Lora"/>
              </a:rPr>
              <a:t>A slider (from -180 to 180 degrees) to Rotate the image.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An output image display that updates the input image</a:t>
            </a:r>
            <a:endParaRPr sz="1200">
              <a:solidFill>
                <a:schemeClr val="dk1"/>
              </a:solidFill>
              <a:latin typeface="Lora"/>
              <a:ea typeface="Lora"/>
              <a:cs typeface="Lora"/>
              <a:sym typeface="Lora"/>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latin typeface="Lora"/>
                <a:ea typeface="Lora"/>
                <a:cs typeface="Lora"/>
                <a:sym typeface="Lora"/>
              </a:rPr>
              <a:t>Go</a:t>
            </a:r>
            <a:r>
              <a:rPr b="1" lang="en" sz="1200">
                <a:solidFill>
                  <a:schemeClr val="dk1"/>
                </a:solidFill>
                <a:latin typeface="Lora"/>
                <a:ea typeface="Lora"/>
                <a:cs typeface="Lora"/>
                <a:sym typeface="Lora"/>
              </a:rPr>
              <a:t> a bit further:</a:t>
            </a:r>
            <a:endParaRPr b="1" sz="1200">
              <a:solidFill>
                <a:schemeClr val="dk1"/>
              </a:solidFill>
              <a:latin typeface="Lora"/>
              <a:ea typeface="Lora"/>
              <a:cs typeface="Lora"/>
              <a:sym typeface="Lora"/>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latin typeface="Lora"/>
                <a:ea typeface="Lora"/>
                <a:cs typeface="Lora"/>
                <a:sym typeface="Lora"/>
              </a:rPr>
              <a:t>For example: Add a </a:t>
            </a:r>
            <a:r>
              <a:rPr b="1" lang="en" sz="1200">
                <a:solidFill>
                  <a:schemeClr val="dk1"/>
                </a:solidFill>
                <a:latin typeface="Lora"/>
                <a:ea typeface="Lora"/>
                <a:cs typeface="Lora"/>
                <a:sym typeface="Lora"/>
              </a:rPr>
              <a:t>"Reset" button</a:t>
            </a:r>
            <a:r>
              <a:rPr lang="en" sz="1200">
                <a:solidFill>
                  <a:schemeClr val="dk1"/>
                </a:solidFill>
                <a:latin typeface="Lora"/>
                <a:ea typeface="Lora"/>
                <a:cs typeface="Lora"/>
                <a:sym typeface="Lora"/>
              </a:rPr>
              <a:t> to revert to the original image</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latin typeface="Lora"/>
                <a:ea typeface="Lora"/>
                <a:cs typeface="Lora"/>
                <a:sym typeface="Lora"/>
              </a:rPr>
              <a:t>For example: Add a </a:t>
            </a:r>
            <a:r>
              <a:rPr b="1" lang="en" sz="1200">
                <a:solidFill>
                  <a:schemeClr val="dk1"/>
                </a:solidFill>
                <a:latin typeface="Lora"/>
                <a:ea typeface="Lora"/>
                <a:cs typeface="Lora"/>
                <a:sym typeface="Lora"/>
              </a:rPr>
              <a:t>"Download"  button</a:t>
            </a:r>
            <a:r>
              <a:rPr lang="en" sz="1200">
                <a:solidFill>
                  <a:schemeClr val="dk1"/>
                </a:solidFill>
                <a:latin typeface="Lora"/>
                <a:ea typeface="Lora"/>
                <a:cs typeface="Lora"/>
                <a:sym typeface="Lora"/>
              </a:rPr>
              <a:t> to save the edited image</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Anything else you can think of </a:t>
            </a:r>
            <a:r>
              <a:rPr b="1" lang="en" sz="1200">
                <a:solidFill>
                  <a:schemeClr val="dk1"/>
                </a:solidFill>
                <a:latin typeface="Lora"/>
                <a:ea typeface="Lora"/>
                <a:cs typeface="Lora"/>
                <a:sym typeface="Lora"/>
              </a:rPr>
              <a:t>(extra points awarded for creativity)</a:t>
            </a:r>
            <a:r>
              <a:rPr lang="en" sz="1200">
                <a:solidFill>
                  <a:schemeClr val="dk1"/>
                </a:solidFill>
                <a:latin typeface="Lora"/>
                <a:ea typeface="Lora"/>
                <a:cs typeface="Lora"/>
                <a:sym typeface="Lora"/>
              </a:rPr>
              <a:t>!</a:t>
            </a:r>
            <a:endParaRPr sz="1200">
              <a:solidFill>
                <a:schemeClr val="dk1"/>
              </a:solidFill>
              <a:latin typeface="Lora"/>
              <a:ea typeface="Lora"/>
              <a:cs typeface="Lora"/>
              <a:sym typeface="Lora"/>
            </a:endParaRPr>
          </a:p>
          <a:p>
            <a:pPr indent="0" lvl="0" marL="0" rtl="0" algn="l">
              <a:lnSpc>
                <a:spcPct val="150000"/>
              </a:lnSpc>
              <a:spcBef>
                <a:spcPts val="1200"/>
              </a:spcBef>
              <a:spcAft>
                <a:spcPts val="0"/>
              </a:spcAft>
              <a:buNone/>
            </a:pPr>
            <a:r>
              <a:t/>
            </a:r>
            <a:endParaRPr sz="1200">
              <a:solidFill>
                <a:schemeClr val="dk1"/>
              </a:solidFill>
              <a:latin typeface="Lora"/>
              <a:ea typeface="Lora"/>
              <a:cs typeface="Lora"/>
              <a:sym typeface="Lor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5"/>
          <p:cNvSpPr txBox="1"/>
          <p:nvPr/>
        </p:nvSpPr>
        <p:spPr>
          <a:xfrm>
            <a:off x="612900" y="167395"/>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solidFill>
                  <a:schemeClr val="dk1"/>
                </a:solidFill>
                <a:latin typeface="Lora"/>
                <a:ea typeface="Lora"/>
                <a:cs typeface="Lora"/>
                <a:sym typeface="Lora"/>
              </a:rPr>
              <a:t>Assignment 1 </a:t>
            </a:r>
            <a:r>
              <a:rPr lang="en" sz="2400">
                <a:solidFill>
                  <a:schemeClr val="dk1"/>
                </a:solidFill>
                <a:latin typeface="Lora"/>
                <a:ea typeface="Lora"/>
                <a:cs typeface="Lora"/>
                <a:sym typeface="Lora"/>
              </a:rPr>
              <a:t>(work in pairs)</a:t>
            </a:r>
            <a:r>
              <a:rPr lang="en" sz="2400">
                <a:solidFill>
                  <a:schemeClr val="dk1"/>
                </a:solidFill>
                <a:latin typeface="Lora"/>
                <a:ea typeface="Lora"/>
                <a:cs typeface="Lora"/>
                <a:sym typeface="Lora"/>
              </a:rPr>
              <a:t> </a:t>
            </a:r>
            <a:endParaRPr sz="1200">
              <a:latin typeface="Lora"/>
              <a:ea typeface="Lora"/>
              <a:cs typeface="Lora"/>
              <a:sym typeface="Lora"/>
            </a:endParaRPr>
          </a:p>
        </p:txBody>
      </p:sp>
      <p:sp>
        <p:nvSpPr>
          <p:cNvPr id="205" name="Google Shape;205;p35"/>
          <p:cNvSpPr txBox="1"/>
          <p:nvPr/>
        </p:nvSpPr>
        <p:spPr>
          <a:xfrm>
            <a:off x="612900" y="783250"/>
            <a:ext cx="8301300" cy="3878400"/>
          </a:xfrm>
          <a:prstGeom prst="rect">
            <a:avLst/>
          </a:prstGeom>
          <a:noFill/>
          <a:ln>
            <a:noFill/>
          </a:ln>
        </p:spPr>
        <p:txBody>
          <a:bodyPr anchorCtr="0" anchor="t" bIns="91425" lIns="91425" spcFirstLastPara="1" rIns="91425" wrap="square" tIns="91425">
            <a:spAutoFit/>
          </a:bodyPr>
          <a:lstStyle/>
          <a:p>
            <a:pPr indent="0" lvl="0" marL="0" rtl="0" algn="l">
              <a:lnSpc>
                <a:spcPct val="139979"/>
              </a:lnSpc>
              <a:spcBef>
                <a:spcPts val="0"/>
              </a:spcBef>
              <a:spcAft>
                <a:spcPts val="0"/>
              </a:spcAft>
              <a:buNone/>
            </a:pPr>
            <a:r>
              <a:rPr b="1" lang="en" sz="1000">
                <a:solidFill>
                  <a:schemeClr val="dk1"/>
                </a:solidFill>
                <a:latin typeface="Lora"/>
                <a:ea typeface="Lora"/>
                <a:cs typeface="Lora"/>
                <a:sym typeface="Lora"/>
              </a:rPr>
              <a:t>Instructions to help you</a:t>
            </a:r>
            <a:r>
              <a:rPr lang="en" sz="1000">
                <a:solidFill>
                  <a:schemeClr val="dk1"/>
                </a:solidFill>
                <a:latin typeface="Lora"/>
                <a:ea typeface="Lora"/>
                <a:cs typeface="Lora"/>
                <a:sym typeface="Lora"/>
              </a:rPr>
              <a:t>:</a:t>
            </a:r>
            <a:endParaRPr sz="1000">
              <a:solidFill>
                <a:schemeClr val="dk1"/>
              </a:solidFill>
              <a:latin typeface="Lora"/>
              <a:ea typeface="Lora"/>
              <a:cs typeface="Lora"/>
              <a:sym typeface="Lora"/>
            </a:endParaRPr>
          </a:p>
          <a:p>
            <a:pPr indent="-292100" lvl="0" marL="457200" rtl="0" algn="l">
              <a:lnSpc>
                <a:spcPct val="139979"/>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create a feature branch from the development branch (e.g. feature-branch-{yourname})</a:t>
            </a:r>
            <a:endParaRPr sz="1000">
              <a:solidFill>
                <a:schemeClr val="dk1"/>
              </a:solidFill>
              <a:latin typeface="Lora"/>
              <a:ea typeface="Lora"/>
              <a:cs typeface="Lora"/>
              <a:sym typeface="Lora"/>
            </a:endParaRPr>
          </a:p>
          <a:p>
            <a:pPr indent="-292100" lvl="0" marL="457200" rtl="0" algn="l">
              <a:lnSpc>
                <a:spcPct val="139979"/>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create a new .py file inside gradioapp/</a:t>
            </a:r>
            <a:endParaRPr sz="1000">
              <a:solidFill>
                <a:schemeClr val="dk1"/>
              </a:solidFill>
              <a:latin typeface="Lora"/>
              <a:ea typeface="Lora"/>
              <a:cs typeface="Lora"/>
              <a:sym typeface="Lora"/>
            </a:endParaRPr>
          </a:p>
          <a:p>
            <a:pPr indent="-292100" lvl="0" marL="457200" rtl="0" algn="l">
              <a:lnSpc>
                <a:spcPct val="139979"/>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build the app</a:t>
            </a:r>
            <a:endParaRPr sz="1000">
              <a:solidFill>
                <a:schemeClr val="dk1"/>
              </a:solidFill>
              <a:latin typeface="Lora"/>
              <a:ea typeface="Lora"/>
              <a:cs typeface="Lora"/>
              <a:sym typeface="Lora"/>
            </a:endParaRPr>
          </a:p>
          <a:p>
            <a:pPr indent="-292100" lvl="0" marL="457200" rtl="0" algn="l">
              <a:lnSpc>
                <a:spcPct val="139979"/>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edit api/main.py</a:t>
            </a:r>
            <a:endParaRPr sz="1000">
              <a:solidFill>
                <a:schemeClr val="dk1"/>
              </a:solidFill>
              <a:latin typeface="Lora"/>
              <a:ea typeface="Lora"/>
              <a:cs typeface="Lora"/>
              <a:sym typeface="Lora"/>
            </a:endParaRPr>
          </a:p>
          <a:p>
            <a:pPr indent="-292100" lvl="1" marL="914400" rtl="0" algn="l">
              <a:lnSpc>
                <a:spcPct val="139979"/>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mount it at the bottom of the file</a:t>
            </a:r>
            <a:endParaRPr sz="1000">
              <a:solidFill>
                <a:schemeClr val="dk1"/>
              </a:solidFill>
              <a:latin typeface="Lora"/>
              <a:ea typeface="Lora"/>
              <a:cs typeface="Lora"/>
              <a:sym typeface="Lora"/>
            </a:endParaRPr>
          </a:p>
          <a:p>
            <a:pPr indent="-292100" lvl="1" marL="914400" rtl="0" algn="l">
              <a:lnSpc>
                <a:spcPct val="139979"/>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add a new markdown hyperlink near the top of the file, to show in the OpenAPI URL</a:t>
            </a:r>
            <a:endParaRPr sz="1000">
              <a:solidFill>
                <a:schemeClr val="dk1"/>
              </a:solidFill>
              <a:latin typeface="Lora"/>
              <a:ea typeface="Lora"/>
              <a:cs typeface="Lora"/>
              <a:sym typeface="Lora"/>
            </a:endParaRPr>
          </a:p>
          <a:p>
            <a:pPr indent="-292100" lvl="0" marL="457200" rtl="0" algn="l">
              <a:lnSpc>
                <a:spcPct val="139979"/>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To run your app locally for testing purposes, type:</a:t>
            </a:r>
            <a:endParaRPr sz="1000">
              <a:solidFill>
                <a:schemeClr val="dk1"/>
              </a:solidFill>
              <a:latin typeface="Lora"/>
              <a:ea typeface="Lora"/>
              <a:cs typeface="Lora"/>
              <a:sym typeface="Lora"/>
            </a:endParaRPr>
          </a:p>
          <a:p>
            <a:pPr indent="-292100" lvl="1" marL="914400" rtl="0" algn="l">
              <a:spcBef>
                <a:spcPts val="0"/>
              </a:spcBef>
              <a:spcAft>
                <a:spcPts val="0"/>
              </a:spcAft>
              <a:buClr>
                <a:schemeClr val="dk1"/>
              </a:buClr>
              <a:buSzPts val="1000"/>
              <a:buFont typeface="Lora"/>
              <a:buChar char="○"/>
            </a:pPr>
            <a:r>
              <a:rPr lang="en" sz="1000">
                <a:latin typeface="Lora"/>
                <a:ea typeface="Lora"/>
                <a:cs typeface="Lora"/>
                <a:sym typeface="Lora"/>
              </a:rPr>
              <a:t>cd src/students/$GITHUB_USER</a:t>
            </a:r>
            <a:endParaRPr sz="1000">
              <a:latin typeface="Lora"/>
              <a:ea typeface="Lora"/>
              <a:cs typeface="Lora"/>
              <a:sym typeface="Lora"/>
            </a:endParaRPr>
          </a:p>
          <a:p>
            <a:pPr indent="-292100" lvl="1" marL="914400" rtl="0" algn="l">
              <a:spcBef>
                <a:spcPts val="0"/>
              </a:spcBef>
              <a:spcAft>
                <a:spcPts val="0"/>
              </a:spcAft>
              <a:buClr>
                <a:schemeClr val="dk1"/>
              </a:buClr>
              <a:buSzPts val="1000"/>
              <a:buFont typeface="Lora"/>
              <a:buChar char="○"/>
            </a:pPr>
            <a:r>
              <a:rPr lang="en" sz="1000">
                <a:latin typeface="Lora"/>
                <a:ea typeface="Lora"/>
                <a:cs typeface="Lora"/>
                <a:sym typeface="Lora"/>
              </a:rPr>
              <a:t>uvicorn "api.main:app" --reload --port 8080</a:t>
            </a:r>
            <a:endParaRPr sz="1000">
              <a:solidFill>
                <a:schemeClr val="dk1"/>
              </a:solidFill>
              <a:latin typeface="Lora"/>
              <a:ea typeface="Lora"/>
              <a:cs typeface="Lora"/>
              <a:sym typeface="Lora"/>
            </a:endParaRPr>
          </a:p>
          <a:p>
            <a:pPr indent="-292100" lvl="0" marL="457200" rtl="0" algn="l">
              <a:lnSpc>
                <a:spcPct val="139979"/>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Raise a PR to merge your feature branch into the development branch</a:t>
            </a:r>
            <a:endParaRPr sz="1000">
              <a:solidFill>
                <a:schemeClr val="dk1"/>
              </a:solidFill>
              <a:latin typeface="Lora"/>
              <a:ea typeface="Lora"/>
              <a:cs typeface="Lora"/>
              <a:sym typeface="Lora"/>
            </a:endParaRPr>
          </a:p>
          <a:p>
            <a:pPr indent="-292100" lvl="0" marL="457200" rtl="0" algn="l">
              <a:lnSpc>
                <a:spcPct val="139979"/>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Merge the PR and watch the app get deployed!</a:t>
            </a:r>
            <a:endParaRPr sz="1000">
              <a:solidFill>
                <a:schemeClr val="dk1"/>
              </a:solidFill>
              <a:latin typeface="Lora"/>
              <a:ea typeface="Lora"/>
              <a:cs typeface="Lora"/>
              <a:sym typeface="Lora"/>
            </a:endParaRPr>
          </a:p>
          <a:p>
            <a:pPr indent="-292100" lvl="0" marL="457200" rtl="0" algn="l">
              <a:lnSpc>
                <a:spcPct val="139979"/>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Send us in the slack channel:</a:t>
            </a:r>
            <a:endParaRPr sz="1000">
              <a:solidFill>
                <a:schemeClr val="dk1"/>
              </a:solidFill>
              <a:latin typeface="Lora"/>
              <a:ea typeface="Lora"/>
              <a:cs typeface="Lora"/>
              <a:sym typeface="Lora"/>
            </a:endParaRPr>
          </a:p>
          <a:p>
            <a:pPr indent="-292100" lvl="1" marL="914400" rtl="0" algn="l">
              <a:lnSpc>
                <a:spcPct val="139979"/>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the names of the two members in your group</a:t>
            </a:r>
            <a:endParaRPr sz="1000">
              <a:solidFill>
                <a:schemeClr val="dk1"/>
              </a:solidFill>
              <a:latin typeface="Lora"/>
              <a:ea typeface="Lora"/>
              <a:cs typeface="Lora"/>
              <a:sym typeface="Lora"/>
            </a:endParaRPr>
          </a:p>
          <a:p>
            <a:pPr indent="-292100" lvl="1" marL="914400" rtl="0" algn="l">
              <a:lnSpc>
                <a:spcPct val="139979"/>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a  link of your merged PR</a:t>
            </a:r>
            <a:endParaRPr sz="1000">
              <a:solidFill>
                <a:schemeClr val="dk1"/>
              </a:solidFill>
              <a:latin typeface="Lora"/>
              <a:ea typeface="Lora"/>
              <a:cs typeface="Lora"/>
              <a:sym typeface="Lora"/>
            </a:endParaRPr>
          </a:p>
          <a:p>
            <a:pPr indent="-292100" lvl="1" marL="914400" rtl="0" algn="l">
              <a:lnSpc>
                <a:spcPct val="139979"/>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the OpenAPI URL</a:t>
            </a:r>
            <a:endParaRPr sz="1000">
              <a:solidFill>
                <a:schemeClr val="dk1"/>
              </a:solidFill>
              <a:latin typeface="Lora"/>
              <a:ea typeface="Lora"/>
              <a:cs typeface="Lora"/>
              <a:sym typeface="Lora"/>
            </a:endParaRPr>
          </a:p>
          <a:p>
            <a:pPr indent="-292100" lvl="1" marL="914400" rtl="0" algn="l">
              <a:lnSpc>
                <a:spcPct val="139979"/>
              </a:lnSpc>
              <a:spcBef>
                <a:spcPts val="0"/>
              </a:spcBef>
              <a:spcAft>
                <a:spcPts val="0"/>
              </a:spcAft>
              <a:buClr>
                <a:schemeClr val="dk1"/>
              </a:buClr>
              <a:buSzPts val="1000"/>
              <a:buFont typeface="Lora"/>
              <a:buChar char="○"/>
            </a:pPr>
            <a:r>
              <a:rPr lang="en" sz="1000">
                <a:solidFill>
                  <a:schemeClr val="dk1"/>
                </a:solidFill>
                <a:latin typeface="Lora"/>
                <a:ea typeface="Lora"/>
                <a:cs typeface="Lora"/>
                <a:sym typeface="Lora"/>
              </a:rPr>
              <a:t>a brief description of the contributions you each made</a:t>
            </a:r>
            <a:endParaRPr sz="1000">
              <a:solidFill>
                <a:schemeClr val="dk1"/>
              </a:solidFill>
              <a:latin typeface="Lora"/>
              <a:ea typeface="Lora"/>
              <a:cs typeface="Lora"/>
              <a:sym typeface="Lora"/>
            </a:endParaRPr>
          </a:p>
          <a:p>
            <a:pPr indent="0" lvl="0" marL="0" rtl="0" algn="l">
              <a:lnSpc>
                <a:spcPct val="139979"/>
              </a:lnSpc>
              <a:spcBef>
                <a:spcPts val="0"/>
              </a:spcBef>
              <a:spcAft>
                <a:spcPts val="0"/>
              </a:spcAft>
              <a:buNone/>
            </a:pPr>
            <a:r>
              <a:rPr lang="en" sz="1000">
                <a:solidFill>
                  <a:schemeClr val="dk1"/>
                </a:solidFill>
                <a:latin typeface="Lora"/>
                <a:ea typeface="Lora"/>
                <a:cs typeface="Lora"/>
                <a:sym typeface="Lora"/>
              </a:rPr>
              <a:t>TIP: use GenAI to help you. But beware — it often gives rubbish code</a:t>
            </a:r>
            <a:endParaRPr sz="1000">
              <a:solidFill>
                <a:schemeClr val="dk1"/>
              </a:solidFill>
              <a:latin typeface="Lora"/>
              <a:ea typeface="Lora"/>
              <a:cs typeface="Lora"/>
              <a:sym typeface="Lor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6"/>
          <p:cNvSpPr txBox="1"/>
          <p:nvPr/>
        </p:nvSpPr>
        <p:spPr>
          <a:xfrm>
            <a:off x="612896" y="243588"/>
            <a:ext cx="8128500" cy="4506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Q&amp;A</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211" name="Google Shape;211;p36"/>
          <p:cNvSpPr txBox="1"/>
          <p:nvPr/>
        </p:nvSpPr>
        <p:spPr>
          <a:xfrm>
            <a:off x="486900" y="700975"/>
            <a:ext cx="7896600" cy="26781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Clr>
                <a:schemeClr val="dk1"/>
              </a:buClr>
              <a:buSzPts val="1100"/>
              <a:buChar char="●"/>
            </a:pPr>
            <a:r>
              <a:rPr lang="en" sz="1100">
                <a:solidFill>
                  <a:schemeClr val="dk1"/>
                </a:solidFill>
              </a:rPr>
              <a:t>Questions?</a:t>
            </a:r>
            <a:endParaRPr sz="1100">
              <a:solidFill>
                <a:schemeClr val="dk1"/>
              </a:solidFill>
            </a:endParaRPr>
          </a:p>
          <a:p>
            <a:pPr indent="0" lvl="0" marL="0" rtl="0" algn="l">
              <a:lnSpc>
                <a:spcPct val="150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50000"/>
              </a:lnSpc>
              <a:spcBef>
                <a:spcPts val="0"/>
              </a:spcBef>
              <a:spcAft>
                <a:spcPts val="0"/>
              </a:spcAft>
              <a:buNone/>
            </a:pPr>
            <a:r>
              <a:t/>
            </a:r>
            <a:endParaRPr sz="1100">
              <a:solidFill>
                <a:schemeClr val="dk1"/>
              </a:solidFill>
            </a:endParaRPr>
          </a:p>
          <a:p>
            <a:pPr indent="0" lvl="0" marL="0" rtl="0" algn="l">
              <a:lnSpc>
                <a:spcPct val="150000"/>
              </a:lnSpc>
              <a:spcBef>
                <a:spcPts val="0"/>
              </a:spcBef>
              <a:spcAft>
                <a:spcPts val="0"/>
              </a:spcAft>
              <a:buNone/>
            </a:pPr>
            <a:r>
              <a:t/>
            </a:r>
            <a:endParaRPr b="1" sz="1100">
              <a:solidFill>
                <a:schemeClr val="dk1"/>
              </a:solidFill>
            </a:endParaRPr>
          </a:p>
          <a:p>
            <a:pPr indent="0" lvl="0" marL="0" rtl="0" algn="l">
              <a:lnSpc>
                <a:spcPct val="150000"/>
              </a:lnSpc>
              <a:spcBef>
                <a:spcPts val="0"/>
              </a:spcBef>
              <a:spcAft>
                <a:spcPts val="0"/>
              </a:spcAft>
              <a:buNone/>
            </a:pPr>
            <a:r>
              <a:t/>
            </a:r>
            <a:endParaRPr sz="1100">
              <a:solidFill>
                <a:schemeClr val="dk1"/>
              </a:solidFill>
            </a:endParaRPr>
          </a:p>
          <a:p>
            <a:pPr indent="0" lvl="0" marL="0" rtl="0" algn="l">
              <a:lnSpc>
                <a:spcPct val="150000"/>
              </a:lnSpc>
              <a:spcBef>
                <a:spcPts val="0"/>
              </a:spcBef>
              <a:spcAft>
                <a:spcPts val="0"/>
              </a:spcAft>
              <a:buNone/>
            </a:pPr>
            <a:r>
              <a:t/>
            </a:r>
            <a:endParaRPr sz="1100">
              <a:solidFill>
                <a:schemeClr val="dk1"/>
              </a:solidFill>
            </a:endParaRPr>
          </a:p>
          <a:p>
            <a:pPr indent="0" lvl="0" marL="0" rtl="0" algn="l">
              <a:lnSpc>
                <a:spcPct val="150000"/>
              </a:lnSpc>
              <a:spcBef>
                <a:spcPts val="0"/>
              </a:spcBef>
              <a:spcAft>
                <a:spcPts val="0"/>
              </a:spcAft>
              <a:buNone/>
            </a:pPr>
            <a:r>
              <a:t/>
            </a:r>
            <a:endParaRPr b="1" sz="1100">
              <a:solidFill>
                <a:schemeClr val="dk1"/>
              </a:solidFill>
            </a:endParaRPr>
          </a:p>
          <a:p>
            <a:pPr indent="0" lvl="0" marL="0" rtl="0" algn="l">
              <a:lnSpc>
                <a:spcPct val="150000"/>
              </a:lnSpc>
              <a:spcBef>
                <a:spcPts val="0"/>
              </a:spcBef>
              <a:spcAft>
                <a:spcPts val="0"/>
              </a:spcAft>
              <a:buNone/>
            </a:pPr>
            <a:r>
              <a:t/>
            </a:r>
            <a:endParaRPr b="1" sz="1100">
              <a:solidFill>
                <a:schemeClr val="dk1"/>
              </a:solidFill>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