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Lora"/>
      <p:regular r:id="rId43"/>
      <p:bold r:id="rId44"/>
      <p:italic r:id="rId45"/>
      <p:boldItalic r:id="rId46"/>
    </p:embeddedFont>
    <p:embeddedFont>
      <p:font typeface="Roboto Mon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Lora-bold.fntdata"/><Relationship Id="rId43" Type="http://schemas.openxmlformats.org/officeDocument/2006/relationships/font" Target="fonts/Lora-regular.fntdata"/><Relationship Id="rId46" Type="http://schemas.openxmlformats.org/officeDocument/2006/relationships/font" Target="fonts/Lora-boldItalic.fntdata"/><Relationship Id="rId45" Type="http://schemas.openxmlformats.org/officeDocument/2006/relationships/font" Target="fonts/Lor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bold.fntdata"/><Relationship Id="rId47" Type="http://schemas.openxmlformats.org/officeDocument/2006/relationships/font" Target="fonts/RobotoMono-regular.fntdata"/><Relationship Id="rId49"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7e5b78fa1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g37e5b78fa1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33f06d82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g3733f06d82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8d7ca8187f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8d7ca8187f_1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667610437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g34667610437_0_3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e2ffc2560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4e2ffc2560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75731bcd9c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375731bcd9c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75731bcd9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375731bcd9c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5731bcd9c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g375731bcd9c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75731bcd9c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375731bcd9c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5731bcd9c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75731bcd9c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75731bcd9c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g375731bcd9c_0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6a0474257_1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g356a0474257_1_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7ae6fadcd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77ae6fadcd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77ae6fadcd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377ae6fadcd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75731bcd9c_0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375731bcd9c_0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7ae6fadcd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77ae6fadcd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5731bcd9c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g375731bcd9c_0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64bde0ab2e_6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g364bde0ab2e_6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5731bcd9c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375731bcd9c_0_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5731bcd9c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375731bcd9c_0_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75731bcd9c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375731bcd9c_0_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75731bcd9c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g375731bcd9c_0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56a0474257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356a047425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75731bcd9c_0_2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g375731bcd9c_0_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5731bcd9c_0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375731bcd9c_0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75731bcd9c_0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75731bcd9c_0_2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77ae6fadc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77ae6fadcd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77ae6fadcd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377ae6fadcd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77ae6fadcd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77ae6fadcd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8883b5fe5b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g38883b5fe5b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77ae6fadcd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377ae6fadcd_0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8883b5fe5b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g38883b5fe5b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8883b5fe5b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g38883b5fe5b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77ae6fadcd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g377ae6fadcd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4a52b8b1e4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g34a52b8b1e4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4a52b8b1e4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g34a52b8b1e4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ora"/>
              <a:buNone/>
              <a:defRPr sz="2800">
                <a:solidFill>
                  <a:schemeClr val="dk1"/>
                </a:solidFill>
                <a:latin typeface="Lora"/>
                <a:ea typeface="Lora"/>
                <a:cs typeface="Lora"/>
                <a:sym typeface="Lora"/>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ora"/>
              <a:buChar char="●"/>
              <a:defRPr sz="1800">
                <a:solidFill>
                  <a:schemeClr val="dk2"/>
                </a:solidFill>
                <a:latin typeface="Lora"/>
                <a:ea typeface="Lora"/>
                <a:cs typeface="Lora"/>
                <a:sym typeface="Lora"/>
              </a:defRPr>
            </a:lvl1pPr>
            <a:lvl2pPr indent="-317500" lvl="1" marL="914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2pPr>
            <a:lvl3pPr indent="-317500" lvl="2" marL="1371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3pPr>
            <a:lvl4pPr indent="-317500" lvl="3" marL="1828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4pPr>
            <a:lvl5pPr indent="-317500" lvl="4" marL="22860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5pPr>
            <a:lvl6pPr indent="-317500" lvl="5" marL="27432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6pPr>
            <a:lvl7pPr indent="-317500" lvl="6" marL="3200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7pPr>
            <a:lvl8pPr indent="-317500" lvl="7" marL="3657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8pPr>
            <a:lvl9pPr indent="-317500" lvl="8" marL="4114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7692148" y="4782312"/>
            <a:ext cx="1188720" cy="297180"/>
          </a:xfrm>
          <a:prstGeom prst="rect">
            <a:avLst/>
          </a:prstGeom>
          <a:noFill/>
          <a:ln>
            <a:noFill/>
          </a:ln>
        </p:spPr>
      </p:pic>
      <p:pic>
        <p:nvPicPr>
          <p:cNvPr id="10" name="Google Shape;10;p1"/>
          <p:cNvPicPr preferRelativeResize="0"/>
          <p:nvPr/>
        </p:nvPicPr>
        <p:blipFill>
          <a:blip r:embed="rId2">
            <a:alphaModFix/>
          </a:blip>
          <a:stretch>
            <a:fillRect/>
          </a:stretch>
        </p:blipFill>
        <p:spPr>
          <a:xfrm>
            <a:off x="154577" y="4779825"/>
            <a:ext cx="1188721" cy="23774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hyperlink" Target="https://mlflow.org/docs/latest/assets/images/tracking-setup-overview-3d8cfd511355d9379328d69573763331.p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hyperlink" Target="https://mlflow.org/docs/latest/assets/images/mlflow-deployment-overview-99db410b2c58fedf506eb9ce5aa41a86.pn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hyperlink" Target="https://github.com/Ishangoai/AIMS_course/tree/development/src/students/example/dagster/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hyperlink" Target="https://github.com/Ishangoai/AIMS_course/blob/development/src/students/example/dagster/ml/assets.py" TargetMode="Externa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9</a:t>
            </a:r>
            <a:endParaRPr i="0" sz="700" u="none" cap="none" strike="noStrike">
              <a:solidFill>
                <a:srgbClr val="000000"/>
              </a:solidFill>
              <a:latin typeface="Lora"/>
              <a:ea typeface="Lora"/>
              <a:cs typeface="Lora"/>
              <a:sym typeface="Lora"/>
            </a:endParaRPr>
          </a:p>
        </p:txBody>
      </p:sp>
      <p:sp>
        <p:nvSpPr>
          <p:cNvPr id="57" name="Google Shape;57;p13"/>
          <p:cNvSpPr txBox="1"/>
          <p:nvPr/>
        </p:nvSpPr>
        <p:spPr>
          <a:xfrm>
            <a:off x="486900" y="700975"/>
            <a:ext cx="7896600" cy="923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Please receive the quiz handout from Cyrille, Oliver, Vincent, Jan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Complete the quiz in silence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Hand the quiz back</a:t>
            </a:r>
            <a:endParaRPr sz="1200">
              <a:solidFill>
                <a:schemeClr val="dk1"/>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9</a:t>
            </a:r>
            <a:endParaRPr i="0" sz="700" u="none" cap="none" strike="noStrike">
              <a:solidFill>
                <a:srgbClr val="000000"/>
              </a:solidFill>
              <a:latin typeface="Lora"/>
              <a:ea typeface="Lora"/>
              <a:cs typeface="Lora"/>
              <a:sym typeface="Lora"/>
            </a:endParaRPr>
          </a:p>
        </p:txBody>
      </p:sp>
      <p:sp>
        <p:nvSpPr>
          <p:cNvPr id="63" name="Google Shape;63;p14"/>
          <p:cNvSpPr txBox="1"/>
          <p:nvPr/>
        </p:nvSpPr>
        <p:spPr>
          <a:xfrm>
            <a:off x="191200" y="624775"/>
            <a:ext cx="4709400" cy="38280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Which of the following is the best-defined business objective for an ML project?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Build a churn prediction model with 99% accuracy.</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Improve customer satisfaction.</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Develop a model to predict customer churn to reduce the monthly churn rate by 15% in the next six months.</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Use machine learning to increase sales.</a:t>
            </a:r>
            <a:endParaRPr sz="9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is the primary advantage of using k-Fold Cross-Validation instead of a simple Train/Test Split?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eliminates the need for hyperparameter tuning.</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only works for classification problems, not regression.</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is computationally less expensive and faster to execute.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provides a more robust evaluation of the model's performance by using the entire dataset for both training and testing.</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is 'Concept Drift' in the context of model monitoring?</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chemeClr val="lt1"/>
                </a:highlight>
                <a:latin typeface="Lora"/>
                <a:ea typeface="Lora"/>
                <a:cs typeface="Lora"/>
                <a:sym typeface="Lora"/>
              </a:rPr>
              <a:t>The input data's statistical properties have changed over time.</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chemeClr val="lt1"/>
                </a:highlight>
                <a:latin typeface="Lora"/>
                <a:ea typeface="Lora"/>
                <a:cs typeface="Lora"/>
                <a:sym typeface="Lora"/>
              </a:rPr>
              <a:t>The model's performance metrics, like accuracy, have gradually decreased.</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chemeClr val="lt1"/>
                </a:highlight>
                <a:latin typeface="Lora"/>
                <a:ea typeface="Lora"/>
                <a:cs typeface="Lora"/>
                <a:sym typeface="Lora"/>
              </a:rPr>
              <a:t>The system's latency has increased, and it is serving predictions slower.</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chemeClr val="lt1"/>
                </a:highlight>
                <a:latin typeface="Lora"/>
                <a:ea typeface="Lora"/>
                <a:cs typeface="Lora"/>
                <a:sym typeface="Lora"/>
              </a:rPr>
              <a:t>The relationship between the input features and the target variable has changed.</a:t>
            </a:r>
            <a:endParaRPr sz="900">
              <a:solidFill>
                <a:schemeClr val="dk1"/>
              </a:solidFill>
              <a:latin typeface="Lora"/>
              <a:ea typeface="Lora"/>
              <a:cs typeface="Lora"/>
              <a:sym typeface="Lora"/>
            </a:endParaRPr>
          </a:p>
        </p:txBody>
      </p:sp>
      <p:sp>
        <p:nvSpPr>
          <p:cNvPr id="64" name="Google Shape;64;p14"/>
          <p:cNvSpPr txBox="1"/>
          <p:nvPr/>
        </p:nvSpPr>
        <p:spPr>
          <a:xfrm>
            <a:off x="4791250" y="351318"/>
            <a:ext cx="4506000" cy="63663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In one iteration of the outer loop in nested cross-validation, the inner loop is used to identify the best of two different hyperparameter combinations on the training data. </a:t>
            </a:r>
            <a:br>
              <a:rPr lang="en" sz="900">
                <a:solidFill>
                  <a:schemeClr val="dk1"/>
                </a:solidFill>
                <a:latin typeface="Lora"/>
                <a:ea typeface="Lora"/>
                <a:cs typeface="Lora"/>
                <a:sym typeface="Lora"/>
              </a:rPr>
            </a:br>
            <a:br>
              <a:rPr lang="en" sz="900">
                <a:solidFill>
                  <a:schemeClr val="dk1"/>
                </a:solidFill>
                <a:latin typeface="Lora"/>
                <a:ea typeface="Lora"/>
                <a:cs typeface="Lora"/>
                <a:sym typeface="Lora"/>
              </a:rPr>
            </a:br>
            <a:r>
              <a:rPr lang="en" sz="900">
                <a:solidFill>
                  <a:schemeClr val="dk1"/>
                </a:solidFill>
                <a:latin typeface="Lora"/>
                <a:ea typeface="Lora"/>
                <a:cs typeface="Lora"/>
                <a:sym typeface="Lora"/>
              </a:rPr>
              <a:t>Assume the following inner-loop results using 2-fold cross-validation:</a:t>
            </a:r>
            <a:br>
              <a:rPr lang="en" sz="900">
                <a:solidFill>
                  <a:schemeClr val="dk1"/>
                </a:solidFill>
                <a:latin typeface="Lora"/>
                <a:ea typeface="Lora"/>
                <a:cs typeface="Lora"/>
                <a:sym typeface="Lora"/>
              </a:rPr>
            </a:br>
            <a:r>
              <a:rPr lang="en" sz="900">
                <a:solidFill>
                  <a:schemeClr val="dk1"/>
                </a:solidFill>
                <a:latin typeface="Lora"/>
                <a:ea typeface="Lora"/>
                <a:cs typeface="Lora"/>
                <a:sym typeface="Lora"/>
              </a:rPr>
              <a:t>Fold 1 (train on chunk 1, test on chunk 2): for parameter combination A, accuracy = 0.62; for parameter combination B, accuracy = 0.65</a:t>
            </a:r>
            <a:br>
              <a:rPr lang="en" sz="900">
                <a:solidFill>
                  <a:schemeClr val="dk1"/>
                </a:solidFill>
                <a:latin typeface="Lora"/>
                <a:ea typeface="Lora"/>
                <a:cs typeface="Lora"/>
                <a:sym typeface="Lora"/>
              </a:rPr>
            </a:br>
            <a:r>
              <a:rPr lang="en" sz="900">
                <a:solidFill>
                  <a:schemeClr val="dk1"/>
                </a:solidFill>
                <a:latin typeface="Lora"/>
                <a:ea typeface="Lora"/>
                <a:cs typeface="Lora"/>
                <a:sym typeface="Lora"/>
              </a:rPr>
              <a:t>Fold 2 (train on chunk 2, test on chunk 1): for parameter combination A, accuracy = 0.68; for parameter combination B, accuracy = 0.4</a:t>
            </a:r>
            <a:br>
              <a:rPr lang="en" sz="900">
                <a:solidFill>
                  <a:schemeClr val="dk1"/>
                </a:solidFill>
                <a:latin typeface="Lora"/>
                <a:ea typeface="Lora"/>
                <a:cs typeface="Lora"/>
                <a:sym typeface="Lora"/>
              </a:rPr>
            </a:br>
            <a:br>
              <a:rPr lang="en" sz="900">
                <a:solidFill>
                  <a:schemeClr val="dk1"/>
                </a:solidFill>
                <a:latin typeface="Lora"/>
                <a:ea typeface="Lora"/>
                <a:cs typeface="Lora"/>
                <a:sym typeface="Lora"/>
              </a:rPr>
            </a:br>
            <a:r>
              <a:rPr lang="en" sz="900">
                <a:solidFill>
                  <a:schemeClr val="dk1"/>
                </a:solidFill>
                <a:latin typeface="Lora"/>
                <a:ea typeface="Lora"/>
                <a:cs typeface="Lora"/>
                <a:sym typeface="Lora"/>
              </a:rPr>
              <a:t>What immediately happens next in the process? </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combination A parameters are used in the next iteration of the outer-loop, to test the performance of the model on the test set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combination B parameters are used in the next iteration of the outer-loop, to test the performance of the model on the test set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combination A parameters are used to re-train the model using data from both chunks 1 &amp; 2, and performance is tested on the unseen outer-loop test data</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combination B parameters are used to re-train the model using data from both chunks 1 &amp; 2, and performance is tested on the unseen outer-loop test data.</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An AI model, trained on 2010-2019 weather data to predict crop yield, becomes inaccurate by 2025. An investigation finds two reasons for the failure:</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The statistical distributions of input features like rainfall and temperature have significantly shifted due to climate change.</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Farmers now use a new crop variant that responds differently to heat, altering the established relationship between temperature and yield.</a:t>
            </a:r>
            <a:endParaRPr sz="9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lang="en" sz="900">
                <a:solidFill>
                  <a:schemeClr val="dk1"/>
                </a:solidFill>
                <a:latin typeface="Lora"/>
                <a:ea typeface="Lora"/>
                <a:cs typeface="Lora"/>
                <a:sym typeface="Lora"/>
              </a:rPr>
              <a:t>Given these findings, how would you classify the problem affecting the model?</a:t>
            </a:r>
            <a:endParaRPr sz="900">
              <a:solidFill>
                <a:schemeClr val="dk1"/>
              </a:solidFill>
              <a:latin typeface="Lora"/>
              <a:ea typeface="Lora"/>
              <a:cs typeface="Lora"/>
              <a:sym typeface="Lora"/>
            </a:endParaRPr>
          </a:p>
          <a:p>
            <a:pPr indent="-285750" lvl="1" marL="914400" rtl="0" algn="l">
              <a:lnSpc>
                <a:spcPct val="115000"/>
              </a:lnSpc>
              <a:spcBef>
                <a:spcPts val="120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is Data Drift, because the statistical properties of the input features have changed</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is Concept Drift, because the fundamental relationship between an input feature and the target outcome has changed</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The problem is primarily Concept Drift, with the changing weather patterns being a secondary consequence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None of the above</a:t>
            </a:r>
            <a:endParaRPr sz="9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900">
              <a:solidFill>
                <a:schemeClr val="dk1"/>
              </a:solidFill>
              <a:highlight>
                <a:srgbClr val="FFFFFF"/>
              </a:highlight>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9</a:t>
            </a:r>
            <a:r>
              <a:rPr lang="en" sz="2400">
                <a:latin typeface="Lora"/>
                <a:ea typeface="Lora"/>
                <a:cs typeface="Lora"/>
                <a:sym typeface="Lora"/>
              </a:rPr>
              <a:t> (Answers)</a:t>
            </a:r>
            <a:endParaRPr i="0" sz="700" u="none" cap="none" strike="noStrike">
              <a:solidFill>
                <a:srgbClr val="000000"/>
              </a:solidFill>
              <a:latin typeface="Lora"/>
              <a:ea typeface="Lora"/>
              <a:cs typeface="Lora"/>
              <a:sym typeface="Lora"/>
            </a:endParaRPr>
          </a:p>
        </p:txBody>
      </p:sp>
      <p:sp>
        <p:nvSpPr>
          <p:cNvPr id="70" name="Google Shape;70;p15"/>
          <p:cNvSpPr txBox="1"/>
          <p:nvPr/>
        </p:nvSpPr>
        <p:spPr>
          <a:xfrm>
            <a:off x="191200" y="624775"/>
            <a:ext cx="4709400" cy="38280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Which of the following is the best-defined business objective for an ML project?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Build a churn prediction model with 99% accuracy.</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Improve customer satisfaction.</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Develop a model to predict customer churn to reduce the monthly churn rate by 15% in the next six months.</a:t>
            </a:r>
            <a:endParaRPr b="1"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Use machine learning to increase sales.</a:t>
            </a:r>
            <a:endParaRPr sz="9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is the primary advantage of using k-Fold Cross-Validation instead of a simple Train/Test Split?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eliminates the need for hyperparameter tuning.</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only works for classification problems, not regression.</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is computationally less expensive and faster to execute.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It provides a more robust evaluation of the model's performance by using the entire dataset for both training and testing.</a:t>
            </a:r>
            <a:endParaRPr b="1"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a:pPr>
            <a:r>
              <a:rPr lang="en" sz="900">
                <a:solidFill>
                  <a:schemeClr val="dk1"/>
                </a:solidFill>
                <a:latin typeface="Lora"/>
                <a:ea typeface="Lora"/>
                <a:cs typeface="Lora"/>
                <a:sym typeface="Lora"/>
              </a:rPr>
              <a:t>What is 'Concept Drift' in the context of model monitoring?</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chemeClr val="lt1"/>
                </a:highlight>
                <a:latin typeface="Lora"/>
                <a:ea typeface="Lora"/>
                <a:cs typeface="Lora"/>
                <a:sym typeface="Lora"/>
              </a:rPr>
              <a:t>The input data's statistical properties have changed over time.</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chemeClr val="lt1"/>
                </a:highlight>
                <a:latin typeface="Lora"/>
                <a:ea typeface="Lora"/>
                <a:cs typeface="Lora"/>
                <a:sym typeface="Lora"/>
              </a:rPr>
              <a:t>The model's performance metrics, like accuracy, have gradually decreased.</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highlight>
                  <a:schemeClr val="lt1"/>
                </a:highlight>
                <a:latin typeface="Lora"/>
                <a:ea typeface="Lora"/>
                <a:cs typeface="Lora"/>
                <a:sym typeface="Lora"/>
              </a:rPr>
              <a:t>The system's latency has increased, and it is serving predictions slower.</a:t>
            </a:r>
            <a:endParaRPr sz="900">
              <a:solidFill>
                <a:schemeClr val="dk1"/>
              </a:solidFill>
              <a:highlight>
                <a:schemeClr val="lt1"/>
              </a:highlight>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highlight>
                  <a:schemeClr val="lt1"/>
                </a:highlight>
                <a:latin typeface="Lora"/>
                <a:ea typeface="Lora"/>
                <a:cs typeface="Lora"/>
                <a:sym typeface="Lora"/>
              </a:rPr>
              <a:t>The relationship between the input features and the target variable has changed.</a:t>
            </a:r>
            <a:endParaRPr b="1" sz="900">
              <a:solidFill>
                <a:schemeClr val="dk1"/>
              </a:solidFill>
              <a:latin typeface="Lora"/>
              <a:ea typeface="Lora"/>
              <a:cs typeface="Lora"/>
              <a:sym typeface="Lora"/>
            </a:endParaRPr>
          </a:p>
        </p:txBody>
      </p:sp>
      <p:sp>
        <p:nvSpPr>
          <p:cNvPr id="71" name="Google Shape;71;p15"/>
          <p:cNvSpPr txBox="1"/>
          <p:nvPr/>
        </p:nvSpPr>
        <p:spPr>
          <a:xfrm>
            <a:off x="4791250" y="351318"/>
            <a:ext cx="4506000" cy="63663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In one iteration of the outer loop in nested cross-validation, the inner loop is used to identify the best of two different hyperparameter combinations on the training data. </a:t>
            </a:r>
            <a:br>
              <a:rPr lang="en" sz="900">
                <a:solidFill>
                  <a:schemeClr val="dk1"/>
                </a:solidFill>
                <a:latin typeface="Lora"/>
                <a:ea typeface="Lora"/>
                <a:cs typeface="Lora"/>
                <a:sym typeface="Lora"/>
              </a:rPr>
            </a:br>
            <a:br>
              <a:rPr lang="en" sz="900">
                <a:solidFill>
                  <a:schemeClr val="dk1"/>
                </a:solidFill>
                <a:latin typeface="Lora"/>
                <a:ea typeface="Lora"/>
                <a:cs typeface="Lora"/>
                <a:sym typeface="Lora"/>
              </a:rPr>
            </a:br>
            <a:r>
              <a:rPr lang="en" sz="900">
                <a:solidFill>
                  <a:schemeClr val="dk1"/>
                </a:solidFill>
                <a:latin typeface="Lora"/>
                <a:ea typeface="Lora"/>
                <a:cs typeface="Lora"/>
                <a:sym typeface="Lora"/>
              </a:rPr>
              <a:t>Assume the following inner-loop results using 2-fold cross-validation:</a:t>
            </a:r>
            <a:br>
              <a:rPr lang="en" sz="900">
                <a:solidFill>
                  <a:schemeClr val="dk1"/>
                </a:solidFill>
                <a:latin typeface="Lora"/>
                <a:ea typeface="Lora"/>
                <a:cs typeface="Lora"/>
                <a:sym typeface="Lora"/>
              </a:rPr>
            </a:br>
            <a:r>
              <a:rPr lang="en" sz="900">
                <a:solidFill>
                  <a:schemeClr val="dk1"/>
                </a:solidFill>
                <a:latin typeface="Lora"/>
                <a:ea typeface="Lora"/>
                <a:cs typeface="Lora"/>
                <a:sym typeface="Lora"/>
              </a:rPr>
              <a:t>Fold 1 (train on chunk 1, test on chunk 2): for parameter combination A, accuracy = 0.62; for parameter combination B, accuracy = 0.65</a:t>
            </a:r>
            <a:br>
              <a:rPr lang="en" sz="900">
                <a:solidFill>
                  <a:schemeClr val="dk1"/>
                </a:solidFill>
                <a:latin typeface="Lora"/>
                <a:ea typeface="Lora"/>
                <a:cs typeface="Lora"/>
                <a:sym typeface="Lora"/>
              </a:rPr>
            </a:br>
            <a:r>
              <a:rPr lang="en" sz="900">
                <a:solidFill>
                  <a:schemeClr val="dk1"/>
                </a:solidFill>
                <a:latin typeface="Lora"/>
                <a:ea typeface="Lora"/>
                <a:cs typeface="Lora"/>
                <a:sym typeface="Lora"/>
              </a:rPr>
              <a:t>Fold 2 (train on chunk 2, test on chunk 1): for parameter combination A, accuracy = 0.68; for parameter combination B, accuracy = 0.4</a:t>
            </a:r>
            <a:br>
              <a:rPr lang="en" sz="900">
                <a:solidFill>
                  <a:schemeClr val="dk1"/>
                </a:solidFill>
                <a:latin typeface="Lora"/>
                <a:ea typeface="Lora"/>
                <a:cs typeface="Lora"/>
                <a:sym typeface="Lora"/>
              </a:rPr>
            </a:br>
            <a:br>
              <a:rPr lang="en" sz="900">
                <a:solidFill>
                  <a:schemeClr val="dk1"/>
                </a:solidFill>
                <a:latin typeface="Lora"/>
                <a:ea typeface="Lora"/>
                <a:cs typeface="Lora"/>
                <a:sym typeface="Lora"/>
              </a:rPr>
            </a:br>
            <a:r>
              <a:rPr lang="en" sz="900">
                <a:solidFill>
                  <a:schemeClr val="dk1"/>
                </a:solidFill>
                <a:latin typeface="Lora"/>
                <a:ea typeface="Lora"/>
                <a:cs typeface="Lora"/>
                <a:sym typeface="Lora"/>
              </a:rPr>
              <a:t>What immediately happens next in the process? </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combination A parameters are used in the next iteration of the outer-loop, to test the performance of the model on the test set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combination B parameters are used in the next iteration of the outer-loop, to test the performance of the model on the test set</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combination A parameters are used to re-train the model using data from both chunks 1 &amp; 2, and performance is tested on the unseen outer-loop test data</a:t>
            </a:r>
            <a:endParaRPr b="1"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combination B parameters are used to re-train the model using data from both chunks 1 &amp; 2, and performance is tested on the unseen outer-loop test data.</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AutoNum type="arabicPeriod" startAt="4"/>
            </a:pPr>
            <a:r>
              <a:rPr lang="en" sz="900">
                <a:solidFill>
                  <a:schemeClr val="dk1"/>
                </a:solidFill>
                <a:latin typeface="Lora"/>
                <a:ea typeface="Lora"/>
                <a:cs typeface="Lora"/>
                <a:sym typeface="Lora"/>
              </a:rPr>
              <a:t>An AI model, trained on 2010-2019 weather data to predict crop yield, becomes inaccurate by 2025. An investigation finds two reasons for the failure:</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The statistical distributions of input features like rainfall and temperature have significantly shifted due to climate change.</a:t>
            </a:r>
            <a:endParaRPr sz="900">
              <a:solidFill>
                <a:schemeClr val="dk1"/>
              </a:solidFill>
              <a:latin typeface="Lora"/>
              <a:ea typeface="Lora"/>
              <a:cs typeface="Lora"/>
              <a:sym typeface="Lora"/>
            </a:endParaRPr>
          </a:p>
          <a:p>
            <a:pPr indent="-285750" lvl="0" marL="457200" rtl="0" algn="l">
              <a:lnSpc>
                <a:spcPct val="115000"/>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Farmers now use a new crop variant that responds differently to heat, altering the established relationship between temperature and yield.</a:t>
            </a:r>
            <a:endParaRPr sz="900">
              <a:solidFill>
                <a:schemeClr val="dk1"/>
              </a:solidFill>
              <a:latin typeface="Lora"/>
              <a:ea typeface="Lora"/>
              <a:cs typeface="Lora"/>
              <a:sym typeface="Lora"/>
            </a:endParaRPr>
          </a:p>
          <a:p>
            <a:pPr indent="0" lvl="0" marL="0" rtl="0" algn="l">
              <a:lnSpc>
                <a:spcPct val="115000"/>
              </a:lnSpc>
              <a:spcBef>
                <a:spcPts val="1200"/>
              </a:spcBef>
              <a:spcAft>
                <a:spcPts val="0"/>
              </a:spcAft>
              <a:buNone/>
            </a:pPr>
            <a:r>
              <a:rPr lang="en" sz="900">
                <a:solidFill>
                  <a:schemeClr val="dk1"/>
                </a:solidFill>
                <a:latin typeface="Lora"/>
                <a:ea typeface="Lora"/>
                <a:cs typeface="Lora"/>
                <a:sym typeface="Lora"/>
              </a:rPr>
              <a:t>Given these findings, how would you classify the problem affecting the model?</a:t>
            </a:r>
            <a:endParaRPr sz="900">
              <a:solidFill>
                <a:schemeClr val="dk1"/>
              </a:solidFill>
              <a:latin typeface="Lora"/>
              <a:ea typeface="Lora"/>
              <a:cs typeface="Lora"/>
              <a:sym typeface="Lora"/>
            </a:endParaRPr>
          </a:p>
          <a:p>
            <a:pPr indent="-285750" lvl="1" marL="914400" rtl="0" algn="l">
              <a:lnSpc>
                <a:spcPct val="115000"/>
              </a:lnSpc>
              <a:spcBef>
                <a:spcPts val="120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is Data Drift, because the statistical properties of the input features have changed</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It is Concept Drift, because the fundamental relationship between an input feature and the target outcome has changed</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lang="en" sz="900">
                <a:solidFill>
                  <a:schemeClr val="dk1"/>
                </a:solidFill>
                <a:latin typeface="Lora"/>
                <a:ea typeface="Lora"/>
                <a:cs typeface="Lora"/>
                <a:sym typeface="Lora"/>
              </a:rPr>
              <a:t>The problem is primarily Concept Drift, with the changing weather patterns being a secondary consequence</a:t>
            </a:r>
            <a:endParaRPr sz="900">
              <a:solidFill>
                <a:schemeClr val="dk1"/>
              </a:solidFill>
              <a:latin typeface="Lora"/>
              <a:ea typeface="Lora"/>
              <a:cs typeface="Lora"/>
              <a:sym typeface="Lora"/>
            </a:endParaRPr>
          </a:p>
          <a:p>
            <a:pPr indent="-285750" lvl="1" marL="914400" rtl="0" algn="l">
              <a:lnSpc>
                <a:spcPct val="115000"/>
              </a:lnSpc>
              <a:spcBef>
                <a:spcPts val="0"/>
              </a:spcBef>
              <a:spcAft>
                <a:spcPts val="0"/>
              </a:spcAft>
              <a:buClr>
                <a:schemeClr val="dk1"/>
              </a:buClr>
              <a:buSzPts val="900"/>
              <a:buFont typeface="Lora"/>
              <a:buAutoNum type="alphaLcPeriod"/>
            </a:pPr>
            <a:r>
              <a:rPr b="1" lang="en" sz="900">
                <a:solidFill>
                  <a:schemeClr val="dk1"/>
                </a:solidFill>
                <a:latin typeface="Lora"/>
                <a:ea typeface="Lora"/>
                <a:cs typeface="Lora"/>
                <a:sym typeface="Lora"/>
              </a:rPr>
              <a:t>None of the above</a:t>
            </a:r>
            <a:endParaRPr b="1" sz="9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900">
              <a:solidFill>
                <a:schemeClr val="dk1"/>
              </a:solidFill>
              <a:highlight>
                <a:srgbClr val="FFFFFF"/>
              </a:highlight>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125" y="575250"/>
            <a:ext cx="9144000" cy="20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700">
                <a:solidFill>
                  <a:schemeClr val="dk2"/>
                </a:solidFill>
                <a:latin typeface="Lora"/>
                <a:ea typeface="Lora"/>
                <a:cs typeface="Lora"/>
                <a:sym typeface="Lora"/>
              </a:rPr>
              <a:t>Designing and Deploying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end-to-end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Production Grade ML Applications</a:t>
            </a:r>
            <a:endParaRPr sz="3700">
              <a:solidFill>
                <a:schemeClr val="dk2"/>
              </a:solidFill>
              <a:latin typeface="Lora"/>
              <a:ea typeface="Lora"/>
              <a:cs typeface="Lora"/>
              <a:sym typeface="Lora"/>
            </a:endParaRPr>
          </a:p>
          <a:p>
            <a:pPr indent="0" lvl="0" marL="0" rtl="0" algn="ctr">
              <a:spcBef>
                <a:spcPts val="0"/>
              </a:spcBef>
              <a:spcAft>
                <a:spcPts val="0"/>
              </a:spcAft>
              <a:buNone/>
            </a:pPr>
            <a:r>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2400">
                <a:solidFill>
                  <a:schemeClr val="dk2"/>
                </a:solidFill>
                <a:latin typeface="Lora"/>
                <a:ea typeface="Lora"/>
                <a:cs typeface="Lora"/>
                <a:sym typeface="Lora"/>
              </a:rPr>
              <a:t> </a:t>
            </a:r>
            <a:r>
              <a:rPr lang="en" sz="2400">
                <a:solidFill>
                  <a:schemeClr val="dk2"/>
                </a:solidFill>
                <a:latin typeface="Lora"/>
                <a:ea typeface="Lora"/>
                <a:cs typeface="Lora"/>
                <a:sym typeface="Lora"/>
              </a:rPr>
              <a:t>Lecture </a:t>
            </a:r>
            <a:r>
              <a:rPr lang="en" sz="2400">
                <a:solidFill>
                  <a:schemeClr val="dk2"/>
                </a:solidFill>
                <a:latin typeface="Lora"/>
                <a:ea typeface="Lora"/>
                <a:cs typeface="Lora"/>
                <a:sym typeface="Lora"/>
              </a:rPr>
              <a:t>10</a:t>
            </a:r>
            <a:r>
              <a:rPr lang="en" sz="2400">
                <a:solidFill>
                  <a:schemeClr val="dk2"/>
                </a:solidFill>
                <a:latin typeface="Lora"/>
                <a:ea typeface="Lora"/>
                <a:cs typeface="Lora"/>
                <a:sym typeface="Lora"/>
              </a:rPr>
              <a:t>: Automation using MLflow</a:t>
            </a:r>
            <a:endParaRPr sz="2400">
              <a:solidFill>
                <a:schemeClr val="dk2"/>
              </a:solidFill>
              <a:latin typeface="Lora"/>
              <a:ea typeface="Lora"/>
              <a:cs typeface="Lora"/>
              <a:sym typeface="Lora"/>
            </a:endParaRPr>
          </a:p>
        </p:txBody>
      </p:sp>
      <p:sp>
        <p:nvSpPr>
          <p:cNvPr id="77" name="Google Shape;77;p16"/>
          <p:cNvSpPr txBox="1"/>
          <p:nvPr/>
        </p:nvSpPr>
        <p:spPr>
          <a:xfrm>
            <a:off x="-117" y="3838750"/>
            <a:ext cx="9144000" cy="800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October 2025</a:t>
            </a:r>
            <a:endParaRPr sz="1600">
              <a:solidFill>
                <a:schemeClr val="dk2"/>
              </a:solidFill>
              <a:latin typeface="Lora"/>
              <a:ea typeface="Lora"/>
              <a:cs typeface="Lora"/>
              <a:sym typeface="Lora"/>
            </a:endParaRPr>
          </a:p>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Cyrille Feudjio &amp; </a:t>
            </a:r>
            <a:r>
              <a:rPr lang="en" sz="1600">
                <a:solidFill>
                  <a:schemeClr val="dk2"/>
                </a:solidFill>
                <a:latin typeface="Lora"/>
                <a:ea typeface="Lora"/>
                <a:cs typeface="Lora"/>
                <a:sym typeface="Lora"/>
              </a:rPr>
              <a:t>Oliver Angélil </a:t>
            </a:r>
            <a:endParaRPr sz="1600">
              <a:solidFill>
                <a:schemeClr val="dk2"/>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i="0" lang="en" sz="2400" u="none" cap="none" strike="noStrike">
                <a:solidFill>
                  <a:srgbClr val="000000"/>
                </a:solidFill>
                <a:latin typeface="Lora"/>
                <a:ea typeface="Lora"/>
                <a:cs typeface="Lora"/>
                <a:sym typeface="Lora"/>
              </a:rPr>
              <a:t>Contents of this lecture</a:t>
            </a:r>
            <a:endParaRPr i="0" sz="700" u="none" cap="none" strike="noStrike">
              <a:solidFill>
                <a:srgbClr val="000000"/>
              </a:solidFill>
              <a:latin typeface="Lora"/>
              <a:ea typeface="Lora"/>
              <a:cs typeface="Lora"/>
              <a:sym typeface="Lora"/>
            </a:endParaRPr>
          </a:p>
        </p:txBody>
      </p:sp>
      <p:sp>
        <p:nvSpPr>
          <p:cNvPr id="83" name="Google Shape;83;p17"/>
          <p:cNvSpPr txBox="1"/>
          <p:nvPr/>
        </p:nvSpPr>
        <p:spPr>
          <a:xfrm>
            <a:off x="486900" y="700975"/>
            <a:ext cx="7896600" cy="3140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Challenges in Traditional Machine Learning</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From Experimentation to Deployment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Introducing MLflow</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Managing the ML Lifecycle with MLflow</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Experimentation &amp; Tracking</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Model Packaging</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Model Registration</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Model Serving &amp; Inference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Putting It All Together</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Conclusion &amp; Q&amp;A</a:t>
            </a:r>
            <a:endParaRPr sz="1200">
              <a:solidFill>
                <a:schemeClr val="dk1"/>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612896" y="243588"/>
            <a:ext cx="8128500" cy="34722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a:t>
            </a:r>
            <a:r>
              <a:rPr lang="en" sz="2400">
                <a:latin typeface="Lora"/>
                <a:ea typeface="Lora"/>
                <a:cs typeface="Lora"/>
                <a:sym typeface="Lora"/>
              </a:rPr>
              <a:t>. </a:t>
            </a:r>
            <a:r>
              <a:rPr lang="en" sz="2400">
                <a:solidFill>
                  <a:schemeClr val="dk1"/>
                </a:solidFill>
                <a:latin typeface="Lora"/>
                <a:ea typeface="Lora"/>
                <a:cs typeface="Lora"/>
                <a:sym typeface="Lora"/>
              </a:rPr>
              <a:t>Challenges in Traditional Machine Learning</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89" name="Google Shape;89;p18"/>
          <p:cNvSpPr txBox="1"/>
          <p:nvPr/>
        </p:nvSpPr>
        <p:spPr>
          <a:xfrm>
            <a:off x="486900" y="665875"/>
            <a:ext cx="7896600" cy="36171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lang="en" sz="1200">
                <a:solidFill>
                  <a:schemeClr val="dk1"/>
                </a:solidFill>
                <a:latin typeface="Lora"/>
                <a:ea typeface="Lora"/>
                <a:cs typeface="Lora"/>
                <a:sym typeface="Lora"/>
              </a:rPr>
              <a:t>Let’s first see the challenges data scientists face with the old way of working</a:t>
            </a:r>
            <a:endParaRPr sz="1200">
              <a:solidFill>
                <a:schemeClr val="dk1"/>
              </a:solidFill>
              <a:latin typeface="Lora"/>
              <a:ea typeface="Lora"/>
              <a:cs typeface="Lora"/>
              <a:sym typeface="Lora"/>
            </a:endParaRPr>
          </a:p>
          <a:p>
            <a:pPr indent="0" lvl="0" marL="0" rtl="0" algn="just">
              <a:lnSpc>
                <a:spcPct val="150000"/>
              </a:lnSpc>
              <a:spcBef>
                <a:spcPts val="1200"/>
              </a:spcBef>
              <a:spcAft>
                <a:spcPts val="0"/>
              </a:spcAft>
              <a:buNone/>
            </a:pPr>
            <a:r>
              <a:rPr lang="en" sz="1200">
                <a:solidFill>
                  <a:schemeClr val="dk1"/>
                </a:solidFill>
                <a:latin typeface="Lora"/>
                <a:ea typeface="Lora"/>
                <a:cs typeface="Lora"/>
                <a:sym typeface="Lora"/>
              </a:rPr>
              <a:t>Let's suppose Mr </a:t>
            </a:r>
            <a:r>
              <a:rPr lang="en" sz="1200">
                <a:solidFill>
                  <a:schemeClr val="dk1"/>
                </a:solidFill>
                <a:latin typeface="Lora"/>
                <a:ea typeface="Lora"/>
                <a:cs typeface="Lora"/>
                <a:sym typeface="Lora"/>
              </a:rPr>
              <a:t>S</a:t>
            </a:r>
            <a:r>
              <a:rPr lang="en" sz="1200">
                <a:solidFill>
                  <a:schemeClr val="dk1"/>
                </a:solidFill>
                <a:latin typeface="Lora"/>
                <a:ea typeface="Lora"/>
                <a:cs typeface="Lora"/>
                <a:sym typeface="Lora"/>
              </a:rPr>
              <a:t>IMI</a:t>
            </a:r>
            <a:r>
              <a:rPr lang="en" sz="1200">
                <a:solidFill>
                  <a:schemeClr val="dk1"/>
                </a:solidFill>
                <a:latin typeface="Lora"/>
                <a:ea typeface="Lora"/>
                <a:cs typeface="Lora"/>
                <a:sym typeface="Lora"/>
              </a:rPr>
              <a:t> is a data scientist at a telecom company. </a:t>
            </a:r>
            <a:r>
              <a:rPr lang="en" sz="1200">
                <a:solidFill>
                  <a:schemeClr val="dk1"/>
                </a:solidFill>
                <a:latin typeface="Lora"/>
                <a:ea typeface="Lora"/>
                <a:cs typeface="Lora"/>
                <a:sym typeface="Lora"/>
              </a:rPr>
              <a:t>SIMI</a:t>
            </a:r>
            <a:r>
              <a:rPr lang="en" sz="1200">
                <a:solidFill>
                  <a:schemeClr val="dk1"/>
                </a:solidFill>
                <a:latin typeface="Lora"/>
                <a:ea typeface="Lora"/>
                <a:cs typeface="Lora"/>
                <a:sym typeface="Lora"/>
              </a:rPr>
              <a:t>'s task is to build a model that predicts which customers are likely to churn (cancel their subscription). Below is </a:t>
            </a:r>
            <a:r>
              <a:rPr lang="en" sz="1200">
                <a:solidFill>
                  <a:schemeClr val="dk1"/>
                </a:solidFill>
                <a:latin typeface="Lora"/>
                <a:ea typeface="Lora"/>
                <a:cs typeface="Lora"/>
                <a:sym typeface="Lora"/>
              </a:rPr>
              <a:t>SIMI</a:t>
            </a:r>
            <a:r>
              <a:rPr b="1"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Traditional Workflow:</a:t>
            </a:r>
            <a:endParaRPr sz="1200">
              <a:solidFill>
                <a:schemeClr val="dk1"/>
              </a:solidFill>
              <a:latin typeface="Lora"/>
              <a:ea typeface="Lora"/>
              <a:cs typeface="Lora"/>
              <a:sym typeface="Lora"/>
            </a:endParaRPr>
          </a:p>
          <a:p>
            <a:pPr indent="-304800" lvl="0" marL="457200" rtl="0" algn="just">
              <a:lnSpc>
                <a:spcPct val="150000"/>
              </a:lnSpc>
              <a:spcBef>
                <a:spcPts val="1200"/>
              </a:spcBef>
              <a:spcAft>
                <a:spcPts val="0"/>
              </a:spcAft>
              <a:buClr>
                <a:schemeClr val="dk1"/>
              </a:buClr>
              <a:buSzPts val="1200"/>
              <a:buAutoNum type="arabicPeriod"/>
            </a:pPr>
            <a:r>
              <a:rPr lang="en" sz="1200">
                <a:solidFill>
                  <a:schemeClr val="dk1"/>
                </a:solidFill>
                <a:latin typeface="Lora"/>
                <a:ea typeface="Lora"/>
                <a:cs typeface="Lora"/>
                <a:sym typeface="Lora"/>
              </a:rPr>
              <a:t>Local Development: Works in a Jupyter Notebook on a local laptop</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AutoNum type="arabicPeriod"/>
            </a:pPr>
            <a:r>
              <a:rPr lang="en" sz="1200">
                <a:solidFill>
                  <a:schemeClr val="dk1"/>
                </a:solidFill>
                <a:latin typeface="Lora"/>
                <a:ea typeface="Lora"/>
                <a:cs typeface="Lora"/>
                <a:sym typeface="Lora"/>
              </a:rPr>
              <a:t>Manual Experimentation: Tries different algorithms (Logistic Regression, Random Forest) and manually tunes hyperparameters</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AutoNum type="arabicPeriod"/>
            </a:pPr>
            <a:r>
              <a:rPr lang="en" sz="1200">
                <a:solidFill>
                  <a:schemeClr val="dk1"/>
                </a:solidFill>
                <a:latin typeface="Lora"/>
                <a:ea typeface="Lora"/>
                <a:cs typeface="Lora"/>
                <a:sym typeface="Lora"/>
              </a:rPr>
              <a:t>Tracking: Keeps track of results in spreadsheets. The model files are saved locally in a folder with names like churn_model_v1.pkl, churn_model_v2_better.pkl</a:t>
            </a:r>
            <a:endParaRPr sz="1200">
              <a:solidFill>
                <a:schemeClr val="dk1"/>
              </a:solidFill>
              <a:latin typeface="Lora"/>
              <a:ea typeface="Lora"/>
              <a:cs typeface="Lora"/>
              <a:sym typeface="Lora"/>
            </a:endParaRPr>
          </a:p>
          <a:p>
            <a:pPr indent="-298450" lvl="0" marL="457200" rtl="0" algn="just">
              <a:lnSpc>
                <a:spcPct val="150000"/>
              </a:lnSpc>
              <a:spcBef>
                <a:spcPts val="0"/>
              </a:spcBef>
              <a:spcAft>
                <a:spcPts val="0"/>
              </a:spcAft>
              <a:buClr>
                <a:schemeClr val="dk1"/>
              </a:buClr>
              <a:buSzPts val="1100"/>
              <a:buAutoNum type="arabicPeriod"/>
            </a:pPr>
            <a:r>
              <a:rPr lang="en" sz="1200">
                <a:solidFill>
                  <a:schemeClr val="dk1"/>
                </a:solidFill>
                <a:latin typeface="Lora"/>
                <a:ea typeface="Lora"/>
                <a:cs typeface="Lora"/>
                <a:sym typeface="Lora"/>
              </a:rPr>
              <a:t>After finding a good model (final_churn_model.pkl), he emails it to the engineering team for deployment</a:t>
            </a:r>
            <a:endParaRPr sz="1100">
              <a:solidFill>
                <a:schemeClr val="dk1"/>
              </a:solidFill>
            </a:endParaRPr>
          </a:p>
          <a:p>
            <a:pPr indent="0" lvl="0" marL="0" rtl="0" algn="ctr">
              <a:lnSpc>
                <a:spcPct val="115000"/>
              </a:lnSpc>
              <a:spcBef>
                <a:spcPts val="1200"/>
              </a:spcBef>
              <a:spcAft>
                <a:spcPts val="1200"/>
              </a:spcAft>
              <a:buNone/>
            </a:pPr>
            <a:r>
              <a:rPr i="1" lang="en" sz="1300">
                <a:solidFill>
                  <a:srgbClr val="DD1144"/>
                </a:solidFill>
                <a:latin typeface="Lora"/>
                <a:ea typeface="Lora"/>
                <a:cs typeface="Lora"/>
                <a:sym typeface="Lora"/>
              </a:rPr>
              <a:t>This common approach seems straightforward right? but it quickly leads to significant problems</a:t>
            </a:r>
            <a:endParaRPr b="1" i="1" sz="1300">
              <a:solidFill>
                <a:srgbClr val="DD1144"/>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nvSpPr>
        <p:spPr>
          <a:xfrm>
            <a:off x="612896" y="243588"/>
            <a:ext cx="8128500" cy="34722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 </a:t>
            </a:r>
            <a:r>
              <a:rPr lang="en" sz="2400">
                <a:solidFill>
                  <a:schemeClr val="dk1"/>
                </a:solidFill>
                <a:latin typeface="Lora"/>
                <a:ea typeface="Lora"/>
                <a:cs typeface="Lora"/>
                <a:sym typeface="Lora"/>
              </a:rPr>
              <a:t>Challenges in Traditional Machine Learning</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pic>
        <p:nvPicPr>
          <p:cNvPr id="95" name="Google Shape;95;p19"/>
          <p:cNvPicPr preferRelativeResize="0"/>
          <p:nvPr/>
        </p:nvPicPr>
        <p:blipFill>
          <a:blip r:embed="rId3">
            <a:alphaModFix/>
          </a:blip>
          <a:stretch>
            <a:fillRect/>
          </a:stretch>
        </p:blipFill>
        <p:spPr>
          <a:xfrm>
            <a:off x="257650" y="772150"/>
            <a:ext cx="8796549" cy="2933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2</a:t>
            </a:r>
            <a:r>
              <a:rPr lang="en" sz="2400">
                <a:latin typeface="Lora"/>
                <a:ea typeface="Lora"/>
                <a:cs typeface="Lora"/>
                <a:sym typeface="Lora"/>
              </a:rPr>
              <a:t>. </a:t>
            </a:r>
            <a:r>
              <a:rPr lang="en" sz="2400">
                <a:solidFill>
                  <a:schemeClr val="dk1"/>
                </a:solidFill>
                <a:latin typeface="Lora"/>
                <a:ea typeface="Lora"/>
                <a:cs typeface="Lora"/>
                <a:sym typeface="Lora"/>
              </a:rPr>
              <a:t>From Experimentation to Deployment</a:t>
            </a:r>
            <a:endParaRPr sz="2400">
              <a:solidFill>
                <a:schemeClr val="dk1"/>
              </a:solidFill>
              <a:latin typeface="Lora"/>
              <a:ea typeface="Lora"/>
              <a:cs typeface="Lora"/>
              <a:sym typeface="Lora"/>
            </a:endParaRPr>
          </a:p>
        </p:txBody>
      </p:sp>
      <p:sp>
        <p:nvSpPr>
          <p:cNvPr id="101" name="Google Shape;101;p20"/>
          <p:cNvSpPr txBox="1"/>
          <p:nvPr/>
        </p:nvSpPr>
        <p:spPr>
          <a:xfrm>
            <a:off x="612900" y="697050"/>
            <a:ext cx="7403400" cy="163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A typical machine learning project follows a lifecycle:</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AutoNum type="arabicPeriod"/>
            </a:pPr>
            <a:r>
              <a:rPr b="1" lang="en" sz="1200">
                <a:solidFill>
                  <a:schemeClr val="dk1"/>
                </a:solidFill>
                <a:latin typeface="Lora"/>
                <a:ea typeface="Lora"/>
                <a:cs typeface="Lora"/>
                <a:sym typeface="Lora"/>
              </a:rPr>
              <a:t>Experimentation &amp; Tracking:</a:t>
            </a:r>
            <a:r>
              <a:rPr lang="en" sz="1200">
                <a:solidFill>
                  <a:schemeClr val="dk1"/>
                </a:solidFill>
                <a:latin typeface="Lora"/>
                <a:ea typeface="Lora"/>
                <a:cs typeface="Lora"/>
                <a:sym typeface="Lora"/>
              </a:rPr>
              <a:t> Train various models and track their performance.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AutoNum type="arabicPeriod"/>
            </a:pPr>
            <a:r>
              <a:rPr b="1" lang="en" sz="1200">
                <a:solidFill>
                  <a:schemeClr val="dk1"/>
                </a:solidFill>
                <a:latin typeface="Lora"/>
                <a:ea typeface="Lora"/>
                <a:cs typeface="Lora"/>
                <a:sym typeface="Lora"/>
              </a:rPr>
              <a:t>Model Packaging:</a:t>
            </a:r>
            <a:r>
              <a:rPr lang="en" sz="1200">
                <a:solidFill>
                  <a:schemeClr val="dk1"/>
                </a:solidFill>
                <a:latin typeface="Lora"/>
                <a:ea typeface="Lora"/>
                <a:cs typeface="Lora"/>
                <a:sym typeface="Lora"/>
              </a:rPr>
              <a:t> Save the trained model in a standard format.</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AutoNum type="arabicPeriod"/>
            </a:pPr>
            <a:r>
              <a:rPr b="1" lang="en" sz="1200">
                <a:solidFill>
                  <a:schemeClr val="dk1"/>
                </a:solidFill>
                <a:latin typeface="Lora"/>
                <a:ea typeface="Lora"/>
                <a:cs typeface="Lora"/>
                <a:sym typeface="Lora"/>
              </a:rPr>
              <a:t>Model Registration:</a:t>
            </a:r>
            <a:r>
              <a:rPr lang="en" sz="1200">
                <a:solidFill>
                  <a:schemeClr val="dk1"/>
                </a:solidFill>
                <a:latin typeface="Lora"/>
                <a:ea typeface="Lora"/>
                <a:cs typeface="Lora"/>
                <a:sym typeface="Lora"/>
              </a:rPr>
              <a:t> Version and manage the best models in a central repository.</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AutoNum type="arabicPeriod"/>
            </a:pPr>
            <a:r>
              <a:rPr b="1" lang="en" sz="1200">
                <a:solidFill>
                  <a:schemeClr val="dk1"/>
                </a:solidFill>
                <a:latin typeface="Lora"/>
                <a:ea typeface="Lora"/>
                <a:cs typeface="Lora"/>
                <a:sym typeface="Lora"/>
              </a:rPr>
              <a:t>Model Serving &amp; Inference:</a:t>
            </a:r>
            <a:r>
              <a:rPr lang="en" sz="1200">
                <a:solidFill>
                  <a:schemeClr val="dk1"/>
                </a:solidFill>
                <a:latin typeface="Lora"/>
                <a:ea typeface="Lora"/>
                <a:cs typeface="Lora"/>
                <a:sym typeface="Lora"/>
              </a:rPr>
              <a:t> Deploy the model and use it to make predictions.</a:t>
            </a:r>
            <a:endParaRPr i="1" sz="1200">
              <a:solidFill>
                <a:schemeClr val="dk1"/>
              </a:solidFill>
              <a:latin typeface="Lora"/>
              <a:ea typeface="Lora"/>
              <a:cs typeface="Lora"/>
              <a:sym typeface="Lora"/>
            </a:endParaRPr>
          </a:p>
        </p:txBody>
      </p:sp>
      <p:sp>
        <p:nvSpPr>
          <p:cNvPr id="102" name="Google Shape;102;p20"/>
          <p:cNvSpPr txBox="1"/>
          <p:nvPr/>
        </p:nvSpPr>
        <p:spPr>
          <a:xfrm>
            <a:off x="1207425" y="2664275"/>
            <a:ext cx="66606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i="1" lang="en" sz="1200">
                <a:solidFill>
                  <a:schemeClr val="dk1"/>
                </a:solidFill>
                <a:latin typeface="Lora"/>
                <a:ea typeface="Lora"/>
                <a:cs typeface="Lora"/>
                <a:sym typeface="Lora"/>
              </a:rPr>
              <a:t>We will now introduce the tool that will help us manage this entire lifecycle: MLflow.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a:t>
            </a:r>
            <a:r>
              <a:rPr lang="en" sz="2400">
                <a:latin typeface="Lora"/>
                <a:ea typeface="Lora"/>
                <a:cs typeface="Lora"/>
                <a:sym typeface="Lora"/>
              </a:rPr>
              <a:t>. </a:t>
            </a:r>
            <a:r>
              <a:rPr lang="en" sz="2400">
                <a:solidFill>
                  <a:schemeClr val="dk1"/>
                </a:solidFill>
                <a:latin typeface="Lora"/>
                <a:ea typeface="Lora"/>
                <a:cs typeface="Lora"/>
                <a:sym typeface="Lora"/>
              </a:rPr>
              <a:t>Introducing MLflow</a:t>
            </a:r>
            <a:endParaRPr sz="2400">
              <a:solidFill>
                <a:schemeClr val="dk1"/>
              </a:solidFill>
              <a:latin typeface="Lora"/>
              <a:ea typeface="Lora"/>
              <a:cs typeface="Lora"/>
              <a:sym typeface="Lora"/>
            </a:endParaRPr>
          </a:p>
        </p:txBody>
      </p:sp>
      <p:sp>
        <p:nvSpPr>
          <p:cNvPr id="108" name="Google Shape;108;p21"/>
          <p:cNvSpPr txBox="1"/>
          <p:nvPr/>
        </p:nvSpPr>
        <p:spPr>
          <a:xfrm>
            <a:off x="612900" y="697050"/>
            <a:ext cx="74034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sz="1200">
                <a:solidFill>
                  <a:schemeClr val="dk1"/>
                </a:solidFill>
                <a:latin typeface="Lora"/>
                <a:ea typeface="Lora"/>
                <a:cs typeface="Lora"/>
                <a:sym typeface="Lora"/>
              </a:rPr>
              <a:t>MLflow is an open-source platform for managing the end-to-end machine learning lifecycle.</a:t>
            </a:r>
            <a:endParaRPr i="1" sz="1200">
              <a:solidFill>
                <a:schemeClr val="dk1"/>
              </a:solidFill>
              <a:latin typeface="Lora"/>
              <a:ea typeface="Lora"/>
              <a:cs typeface="Lora"/>
              <a:sym typeface="Lora"/>
            </a:endParaRPr>
          </a:p>
        </p:txBody>
      </p:sp>
      <p:pic>
        <p:nvPicPr>
          <p:cNvPr id="109" name="Google Shape;109;p21"/>
          <p:cNvPicPr preferRelativeResize="0"/>
          <p:nvPr/>
        </p:nvPicPr>
        <p:blipFill>
          <a:blip r:embed="rId3">
            <a:alphaModFix/>
          </a:blip>
          <a:stretch>
            <a:fillRect/>
          </a:stretch>
        </p:blipFill>
        <p:spPr>
          <a:xfrm>
            <a:off x="1714500" y="965490"/>
            <a:ext cx="4947124" cy="3025975"/>
          </a:xfrm>
          <a:prstGeom prst="rect">
            <a:avLst/>
          </a:prstGeom>
          <a:noFill/>
          <a:ln>
            <a:noFill/>
          </a:ln>
        </p:spPr>
      </p:pic>
      <p:sp>
        <p:nvSpPr>
          <p:cNvPr id="110" name="Google Shape;110;p21"/>
          <p:cNvSpPr txBox="1"/>
          <p:nvPr/>
        </p:nvSpPr>
        <p:spPr>
          <a:xfrm>
            <a:off x="612800" y="4082025"/>
            <a:ext cx="8128500" cy="554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i="1" lang="en" sz="1200">
                <a:latin typeface="Lora"/>
                <a:ea typeface="Lora"/>
                <a:cs typeface="Lora"/>
                <a:sym typeface="Lora"/>
              </a:rPr>
              <a:t>Before we dive into the components, it's important to understand the philosophy that makes MLflow so powerful and flexible</a:t>
            </a:r>
            <a:endParaRPr i="1" sz="1200">
              <a:latin typeface="Lora"/>
              <a:ea typeface="Lora"/>
              <a:cs typeface="Lora"/>
              <a:sym typeface="L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a:t>
            </a:r>
            <a:r>
              <a:rPr lang="en" sz="2400">
                <a:latin typeface="Lora"/>
                <a:ea typeface="Lora"/>
                <a:cs typeface="Lora"/>
                <a:sym typeface="Lora"/>
              </a:rPr>
              <a:t>. </a:t>
            </a:r>
            <a:r>
              <a:rPr lang="en" sz="2400">
                <a:solidFill>
                  <a:schemeClr val="dk1"/>
                </a:solidFill>
                <a:latin typeface="Lora"/>
                <a:ea typeface="Lora"/>
                <a:cs typeface="Lora"/>
                <a:sym typeface="Lora"/>
              </a:rPr>
              <a:t>Introducing MLflow</a:t>
            </a:r>
            <a:endParaRPr sz="2400">
              <a:solidFill>
                <a:schemeClr val="dk1"/>
              </a:solidFill>
              <a:latin typeface="Lora"/>
              <a:ea typeface="Lora"/>
              <a:cs typeface="Lora"/>
              <a:sym typeface="Lora"/>
            </a:endParaRPr>
          </a:p>
        </p:txBody>
      </p:sp>
      <p:sp>
        <p:nvSpPr>
          <p:cNvPr id="116" name="Google Shape;116;p22"/>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3</a:t>
            </a:r>
            <a:r>
              <a:rPr lang="en">
                <a:solidFill>
                  <a:schemeClr val="dk1"/>
                </a:solidFill>
                <a:latin typeface="Lora"/>
                <a:ea typeface="Lora"/>
                <a:cs typeface="Lora"/>
                <a:sym typeface="Lora"/>
              </a:rPr>
              <a:t>.1 </a:t>
            </a:r>
            <a:r>
              <a:rPr lang="en">
                <a:solidFill>
                  <a:schemeClr val="dk1"/>
                </a:solidFill>
                <a:latin typeface="Lora"/>
                <a:ea typeface="Lora"/>
                <a:cs typeface="Lora"/>
                <a:sym typeface="Lora"/>
              </a:rPr>
              <a:t>MLflow's Philosophy</a:t>
            </a:r>
            <a:endParaRPr i="1">
              <a:solidFill>
                <a:schemeClr val="dk1"/>
              </a:solidFill>
              <a:latin typeface="Lora"/>
              <a:ea typeface="Lora"/>
              <a:cs typeface="Lora"/>
              <a:sym typeface="Lora"/>
            </a:endParaRPr>
          </a:p>
        </p:txBody>
      </p:sp>
      <p:sp>
        <p:nvSpPr>
          <p:cNvPr id="117" name="Google Shape;117;p22"/>
          <p:cNvSpPr txBox="1"/>
          <p:nvPr/>
        </p:nvSpPr>
        <p:spPr>
          <a:xfrm>
            <a:off x="937425" y="1052100"/>
            <a:ext cx="7473300" cy="218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MLflow is designed with a few core principles in mind, as stated in its documentation:</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Open Source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Works with any ML library, language &amp; cloud:</a:t>
            </a:r>
            <a:r>
              <a:rPr lang="en" sz="1200">
                <a:solidFill>
                  <a:schemeClr val="dk1"/>
                </a:solidFill>
                <a:latin typeface="Lora"/>
                <a:ea typeface="Lora"/>
                <a:cs typeface="Lora"/>
                <a:sym typeface="Lora"/>
              </a:rPr>
              <a:t> MLflow is not tied to any specific framework.</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Modular:</a:t>
            </a:r>
            <a:r>
              <a:rPr lang="en" sz="1200">
                <a:solidFill>
                  <a:schemeClr val="dk1"/>
                </a:solidFill>
                <a:latin typeface="Lora"/>
                <a:ea typeface="Lora"/>
                <a:cs typeface="Lora"/>
                <a:sym typeface="Lora"/>
              </a:rPr>
              <a:t> You can use each component (Tracking, Models, Registry) on its own. You don't have to adopt the entire platform at once.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Scalable:</a:t>
            </a:r>
            <a:r>
              <a:rPr lang="en" sz="1200">
                <a:solidFill>
                  <a:schemeClr val="dk1"/>
                </a:solidFill>
                <a:latin typeface="Lora"/>
                <a:ea typeface="Lora"/>
                <a:cs typeface="Lora"/>
                <a:sym typeface="Lora"/>
              </a:rPr>
              <a:t> Designed to scale from a single user on a laptop to large teams in an enterprise environment.</a:t>
            </a:r>
            <a:endParaRPr sz="1200">
              <a:solidFill>
                <a:schemeClr val="dk1"/>
              </a:solidFill>
              <a:latin typeface="Lora"/>
              <a:ea typeface="Lora"/>
              <a:cs typeface="Lora"/>
              <a:sym typeface="L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3</a:t>
            </a:r>
            <a:r>
              <a:rPr lang="en" sz="2400">
                <a:latin typeface="Lora"/>
                <a:ea typeface="Lora"/>
                <a:cs typeface="Lora"/>
                <a:sym typeface="Lora"/>
              </a:rPr>
              <a:t>. </a:t>
            </a:r>
            <a:r>
              <a:rPr lang="en" sz="2400">
                <a:solidFill>
                  <a:schemeClr val="dk1"/>
                </a:solidFill>
                <a:latin typeface="Lora"/>
                <a:ea typeface="Lora"/>
                <a:cs typeface="Lora"/>
                <a:sym typeface="Lora"/>
              </a:rPr>
              <a:t>Introducing MLflow</a:t>
            </a:r>
            <a:endParaRPr sz="2400">
              <a:solidFill>
                <a:schemeClr val="dk1"/>
              </a:solidFill>
              <a:latin typeface="Lora"/>
              <a:ea typeface="Lora"/>
              <a:cs typeface="Lora"/>
              <a:sym typeface="Lora"/>
            </a:endParaRPr>
          </a:p>
        </p:txBody>
      </p:sp>
      <p:sp>
        <p:nvSpPr>
          <p:cNvPr id="123" name="Google Shape;123;p23"/>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3.2 MLflow's Core Components</a:t>
            </a:r>
            <a:endParaRPr i="1">
              <a:solidFill>
                <a:schemeClr val="dk1"/>
              </a:solidFill>
              <a:latin typeface="Lora"/>
              <a:ea typeface="Lora"/>
              <a:cs typeface="Lora"/>
              <a:sym typeface="Lora"/>
            </a:endParaRPr>
          </a:p>
        </p:txBody>
      </p:sp>
      <p:pic>
        <p:nvPicPr>
          <p:cNvPr id="124" name="Google Shape;124;p23"/>
          <p:cNvPicPr preferRelativeResize="0"/>
          <p:nvPr/>
        </p:nvPicPr>
        <p:blipFill>
          <a:blip r:embed="rId3">
            <a:alphaModFix/>
          </a:blip>
          <a:stretch>
            <a:fillRect/>
          </a:stretch>
        </p:blipFill>
        <p:spPr>
          <a:xfrm>
            <a:off x="742075" y="1181400"/>
            <a:ext cx="7942968" cy="2679976"/>
          </a:xfrm>
          <a:prstGeom prst="rect">
            <a:avLst/>
          </a:prstGeom>
          <a:noFill/>
          <a:ln>
            <a:noFill/>
          </a:ln>
        </p:spPr>
      </p:pic>
      <p:sp>
        <p:nvSpPr>
          <p:cNvPr id="125" name="Google Shape;125;p23"/>
          <p:cNvSpPr txBox="1"/>
          <p:nvPr/>
        </p:nvSpPr>
        <p:spPr>
          <a:xfrm>
            <a:off x="937425" y="3866961"/>
            <a:ext cx="7403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Lora"/>
                <a:ea typeface="Lora"/>
                <a:cs typeface="Lora"/>
                <a:sym typeface="Lora"/>
              </a:rPr>
              <a:t>With that foundation, let's begin our journey through the ML lifecycle, starting with the first and most critical step: tracking our experiments</a:t>
            </a:r>
            <a:endParaRPr i="1" sz="1200">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131" name="Google Shape;131;p24"/>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.1 </a:t>
            </a:r>
            <a:r>
              <a:rPr lang="en">
                <a:solidFill>
                  <a:schemeClr val="dk1"/>
                </a:solidFill>
                <a:latin typeface="Lora"/>
                <a:ea typeface="Lora"/>
                <a:cs typeface="Lora"/>
                <a:sym typeface="Lora"/>
              </a:rPr>
              <a:t>Experimentation &amp; Tracking</a:t>
            </a:r>
            <a:endParaRPr i="1">
              <a:solidFill>
                <a:schemeClr val="dk1"/>
              </a:solidFill>
              <a:latin typeface="Lora"/>
              <a:ea typeface="Lora"/>
              <a:cs typeface="Lora"/>
              <a:sym typeface="Lora"/>
            </a:endParaRPr>
          </a:p>
        </p:txBody>
      </p:sp>
      <p:sp>
        <p:nvSpPr>
          <p:cNvPr id="132" name="Google Shape;132;p24"/>
          <p:cNvSpPr txBox="1"/>
          <p:nvPr/>
        </p:nvSpPr>
        <p:spPr>
          <a:xfrm>
            <a:off x="870300" y="1124850"/>
            <a:ext cx="4439100" cy="2462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Here we use the component called </a:t>
            </a:r>
            <a:r>
              <a:rPr b="1" lang="en" sz="1200">
                <a:solidFill>
                  <a:schemeClr val="dk1"/>
                </a:solidFill>
                <a:latin typeface="Lora"/>
                <a:ea typeface="Lora"/>
                <a:cs typeface="Lora"/>
                <a:sym typeface="Lora"/>
              </a:rPr>
              <a:t>MLflow Tracking. </a:t>
            </a:r>
            <a:r>
              <a:rPr lang="en" sz="1200">
                <a:solidFill>
                  <a:schemeClr val="dk1"/>
                </a:solidFill>
                <a:latin typeface="Lora"/>
                <a:ea typeface="Lora"/>
                <a:cs typeface="Lora"/>
                <a:sym typeface="Lora"/>
              </a:rPr>
              <a:t>It is an API and UI for logging parameters, code versions, metrics, and artifacts when running your machine learning code.</a:t>
            </a:r>
            <a:endParaRPr sz="1200">
              <a:solidFill>
                <a:schemeClr val="dk1"/>
              </a:solidFill>
              <a:latin typeface="Lora"/>
              <a:ea typeface="Lora"/>
              <a:cs typeface="Lora"/>
              <a:sym typeface="Lora"/>
            </a:endParaRPr>
          </a:p>
          <a:p>
            <a:pPr indent="0" lvl="0" marL="0" rtl="0" algn="l">
              <a:lnSpc>
                <a:spcPct val="150000"/>
              </a:lnSpc>
              <a:spcBef>
                <a:spcPts val="1200"/>
              </a:spcBef>
              <a:spcAft>
                <a:spcPts val="1200"/>
              </a:spcAft>
              <a:buNone/>
            </a:pPr>
            <a:r>
              <a:rPr b="1" lang="en" sz="1200">
                <a:solidFill>
                  <a:schemeClr val="dk1"/>
                </a:solidFill>
                <a:latin typeface="Lora"/>
                <a:ea typeface="Lora"/>
                <a:cs typeface="Lora"/>
                <a:sym typeface="Lora"/>
              </a:rPr>
              <a:t>Why we need it:</a:t>
            </a:r>
            <a:r>
              <a:rPr lang="en" sz="1200">
                <a:solidFill>
                  <a:schemeClr val="dk1"/>
                </a:solidFill>
                <a:latin typeface="Lora"/>
                <a:ea typeface="Lora"/>
                <a:cs typeface="Lora"/>
                <a:sym typeface="Lora"/>
              </a:rPr>
              <a:t> To solve the problem of poor experiment tracking and lack of reproducibility. With MLflow Tracking, you have a centralized place to record and compare all your experiments.</a:t>
            </a:r>
            <a:endParaRPr sz="1200">
              <a:solidFill>
                <a:schemeClr val="dk1"/>
              </a:solidFill>
              <a:latin typeface="Lora"/>
              <a:ea typeface="Lora"/>
              <a:cs typeface="Lora"/>
              <a:sym typeface="Lora"/>
            </a:endParaRPr>
          </a:p>
        </p:txBody>
      </p:sp>
      <p:pic>
        <p:nvPicPr>
          <p:cNvPr id="133" name="Google Shape;133;p24" title="databricks-adds-access-control-to-mlflow-model-registry_01.jpg"/>
          <p:cNvPicPr preferRelativeResize="0"/>
          <p:nvPr/>
        </p:nvPicPr>
        <p:blipFill rotWithShape="1">
          <a:blip r:embed="rId3">
            <a:alphaModFix/>
          </a:blip>
          <a:srcRect b="21102" l="0" r="72631" t="17157"/>
          <a:stretch/>
        </p:blipFill>
        <p:spPr>
          <a:xfrm>
            <a:off x="5536512" y="697050"/>
            <a:ext cx="2737188" cy="3087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nvSpPr>
        <p:spPr>
          <a:xfrm>
            <a:off x="486900" y="700975"/>
            <a:ext cx="7896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b="1" sz="1100">
              <a:solidFill>
                <a:schemeClr val="dk1"/>
              </a:solidFill>
            </a:endParaRPr>
          </a:p>
        </p:txBody>
      </p:sp>
      <p:pic>
        <p:nvPicPr>
          <p:cNvPr id="139" name="Google Shape;139;p25" title="tracking-setup-overview.png"/>
          <p:cNvPicPr preferRelativeResize="0"/>
          <p:nvPr/>
        </p:nvPicPr>
        <p:blipFill>
          <a:blip r:embed="rId3">
            <a:alphaModFix/>
          </a:blip>
          <a:stretch>
            <a:fillRect/>
          </a:stretch>
        </p:blipFill>
        <p:spPr>
          <a:xfrm>
            <a:off x="841500" y="1005775"/>
            <a:ext cx="7205827" cy="3789025"/>
          </a:xfrm>
          <a:prstGeom prst="rect">
            <a:avLst/>
          </a:prstGeom>
          <a:noFill/>
          <a:ln>
            <a:noFill/>
          </a:ln>
        </p:spPr>
      </p:pic>
      <p:sp>
        <p:nvSpPr>
          <p:cNvPr id="140" name="Google Shape;140;p25"/>
          <p:cNvSpPr txBox="1"/>
          <p:nvPr/>
        </p:nvSpPr>
        <p:spPr>
          <a:xfrm>
            <a:off x="612900" y="4372550"/>
            <a:ext cx="7403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Lora"/>
                <a:ea typeface="Lora"/>
                <a:cs typeface="Lora"/>
                <a:sym typeface="Lora"/>
              </a:rPr>
              <a:t>Let's see how this looks in practice with a code example</a:t>
            </a:r>
            <a:endParaRPr i="1" sz="1200">
              <a:latin typeface="Lora"/>
              <a:ea typeface="Lora"/>
              <a:cs typeface="Lora"/>
              <a:sym typeface="Lora"/>
            </a:endParaRPr>
          </a:p>
        </p:txBody>
      </p:sp>
      <p:sp>
        <p:nvSpPr>
          <p:cNvPr id="141" name="Google Shape;141;p2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142" name="Google Shape;142;p25"/>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.1.1 Tracking Strategy </a:t>
            </a:r>
            <a:endParaRPr i="1">
              <a:solidFill>
                <a:schemeClr val="dk1"/>
              </a:solidFill>
              <a:latin typeface="Lora"/>
              <a:ea typeface="Lora"/>
              <a:cs typeface="Lora"/>
              <a:sym typeface="Lora"/>
            </a:endParaRPr>
          </a:p>
        </p:txBody>
      </p:sp>
      <p:sp>
        <p:nvSpPr>
          <p:cNvPr id="143" name="Google Shape;143;p25"/>
          <p:cNvSpPr txBox="1"/>
          <p:nvPr/>
        </p:nvSpPr>
        <p:spPr>
          <a:xfrm>
            <a:off x="8040825" y="2178275"/>
            <a:ext cx="8880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Lora"/>
                <a:ea typeface="Lora"/>
                <a:cs typeface="Lora"/>
                <a:sym typeface="Lora"/>
                <a:hlinkClick r:id="rId4"/>
              </a:rPr>
              <a:t>source</a:t>
            </a:r>
            <a:endParaRPr sz="1200">
              <a:solidFill>
                <a:schemeClr val="dk2"/>
              </a:solidFill>
              <a:latin typeface="Lora"/>
              <a:ea typeface="Lora"/>
              <a:cs typeface="Lora"/>
              <a:sym typeface="Lo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nvSpPr>
        <p:spPr>
          <a:xfrm>
            <a:off x="486900" y="700975"/>
            <a:ext cx="7896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b="1" sz="1100">
              <a:solidFill>
                <a:schemeClr val="dk1"/>
              </a:solidFill>
            </a:endParaRPr>
          </a:p>
        </p:txBody>
      </p:sp>
      <p:sp>
        <p:nvSpPr>
          <p:cNvPr id="149" name="Google Shape;149;p26"/>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150" name="Google Shape;150;p26"/>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.1.1 Tracking Strategy </a:t>
            </a:r>
            <a:endParaRPr i="1">
              <a:solidFill>
                <a:schemeClr val="dk1"/>
              </a:solidFill>
              <a:latin typeface="Lora"/>
              <a:ea typeface="Lora"/>
              <a:cs typeface="Lora"/>
              <a:sym typeface="Lora"/>
            </a:endParaRPr>
          </a:p>
        </p:txBody>
      </p:sp>
      <p:sp>
        <p:nvSpPr>
          <p:cNvPr id="151" name="Google Shape;151;p26"/>
          <p:cNvSpPr txBox="1"/>
          <p:nvPr/>
        </p:nvSpPr>
        <p:spPr>
          <a:xfrm>
            <a:off x="662250" y="1257800"/>
            <a:ext cx="7575900" cy="27831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BASE_DIR</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os</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path</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abspath</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os</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getenv</a:t>
            </a:r>
            <a:r>
              <a:rPr lang="en" sz="1000">
                <a:highlight>
                  <a:schemeClr val="lt2"/>
                </a:highlight>
                <a:latin typeface="Roboto Mono"/>
                <a:ea typeface="Roboto Mono"/>
                <a:cs typeface="Roboto Mono"/>
                <a:sym typeface="Roboto Mono"/>
              </a:rPr>
              <a:t>(</a:t>
            </a:r>
            <a:r>
              <a:rPr lang="en" sz="1000">
                <a:solidFill>
                  <a:srgbClr val="A01010"/>
                </a:solidFill>
                <a:highlight>
                  <a:schemeClr val="lt2"/>
                </a:highlight>
                <a:latin typeface="Roboto Mono"/>
                <a:ea typeface="Roboto Mono"/>
                <a:cs typeface="Roboto Mono"/>
                <a:sym typeface="Roboto Mono"/>
              </a:rPr>
              <a:t>"DAGSTER_HOME"</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i="1" lang="en" sz="1000">
                <a:solidFill>
                  <a:srgbClr val="A05000"/>
                </a:solidFill>
                <a:highlight>
                  <a:schemeClr val="lt2"/>
                </a:highlight>
                <a:latin typeface="Roboto Mono"/>
                <a:ea typeface="Roboto Mono"/>
                <a:cs typeface="Roboto Mono"/>
                <a:sym typeface="Roboto Mono"/>
              </a:rPr>
              <a:t># base directory for all MLflow data.</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SQLITE_DB_FILENAME</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"mlflow_local_tracking.db"</a:t>
            </a:r>
            <a:r>
              <a:rPr lang="en" sz="1000">
                <a:highlight>
                  <a:schemeClr val="lt2"/>
                </a:highlight>
                <a:latin typeface="Roboto Mono"/>
                <a:ea typeface="Roboto Mono"/>
                <a:cs typeface="Roboto Mono"/>
                <a:sym typeface="Roboto Mono"/>
              </a:rPr>
              <a:t>  </a:t>
            </a:r>
            <a:r>
              <a:rPr i="1" lang="en" sz="1000">
                <a:solidFill>
                  <a:srgbClr val="A05000"/>
                </a:solidFill>
                <a:highlight>
                  <a:schemeClr val="lt2"/>
                </a:highlight>
                <a:latin typeface="Roboto Mono"/>
                <a:ea typeface="Roboto Mono"/>
                <a:cs typeface="Roboto Mono"/>
                <a:sym typeface="Roboto Mono"/>
              </a:rPr>
              <a:t># Name of the SQLite database file</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Construct full paths</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SQLITE_DB_PATH</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os</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path</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join</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BASE_DIR</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SQLITE_DB_FILENAME</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DEFAULT_EXPERIMENT_NAME</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"era5_temperature_analysis"</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Define the MLflow resource</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mlflow_resource</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mlflow_tracking</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configured</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r>
              <a:rPr i="1" lang="en" sz="1000">
                <a:solidFill>
                  <a:srgbClr val="A05000"/>
                </a:solidFill>
                <a:highlight>
                  <a:schemeClr val="lt2"/>
                </a:highlight>
                <a:latin typeface="Roboto Mono"/>
                <a:ea typeface="Roboto Mono"/>
                <a:cs typeface="Roboto Mono"/>
                <a:sym typeface="Roboto Mono"/>
              </a:rPr>
              <a:t># Point MLflow to use the local SQLite database</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"mlflow_tracking_uri"</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f"sqlite:///</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SQLITE_DB_PATH</a:t>
            </a:r>
            <a:r>
              <a:rPr lang="en" sz="1000">
                <a:highlight>
                  <a:schemeClr val="lt2"/>
                </a:highlight>
                <a:latin typeface="Roboto Mono"/>
                <a:ea typeface="Roboto Mono"/>
                <a:cs typeface="Roboto Mono"/>
                <a:sym typeface="Roboto Mono"/>
              </a:rPr>
              <a:t>}</a:t>
            </a:r>
            <a:r>
              <a:rPr lang="en" sz="1000">
                <a:solidFill>
                  <a:srgbClr val="A01010"/>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"experiment_name"</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DEFAULT_EXPERIMENT_NAME</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a:t>
            </a:r>
            <a:endParaRPr sz="1300">
              <a:latin typeface="Roboto Mono"/>
              <a:ea typeface="Roboto Mono"/>
              <a:cs typeface="Roboto Mono"/>
              <a:sym typeface="Roboto Mono"/>
            </a:endParaRPr>
          </a:p>
        </p:txBody>
      </p:sp>
      <p:sp>
        <p:nvSpPr>
          <p:cNvPr id="152" name="Google Shape;152;p26"/>
          <p:cNvSpPr txBox="1"/>
          <p:nvPr/>
        </p:nvSpPr>
        <p:spPr>
          <a:xfrm>
            <a:off x="662250" y="4161950"/>
            <a:ext cx="7575900" cy="49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chemeClr val="dk2"/>
                </a:solidFill>
                <a:latin typeface="Lora"/>
                <a:ea typeface="Lora"/>
                <a:cs typeface="Lora"/>
                <a:sym typeface="Lora"/>
              </a:rPr>
              <a:t>The MLflow Models tab requires a tracking database to store model registry information. Without a DB, only experiment tracking is available, not model management</a:t>
            </a:r>
            <a:endParaRPr i="1" sz="1200">
              <a:solidFill>
                <a:schemeClr val="dk2"/>
              </a:solidFill>
              <a:latin typeface="Lora"/>
              <a:ea typeface="Lora"/>
              <a:cs typeface="Lora"/>
              <a:sym typeface="Lo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nvSpPr>
        <p:spPr>
          <a:xfrm>
            <a:off x="486900" y="700975"/>
            <a:ext cx="7896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b="1" sz="1100">
              <a:solidFill>
                <a:schemeClr val="dk1"/>
              </a:solidFill>
            </a:endParaRPr>
          </a:p>
        </p:txBody>
      </p:sp>
      <p:sp>
        <p:nvSpPr>
          <p:cNvPr id="158" name="Google Shape;158;p2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159" name="Google Shape;159;p27"/>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.1.1 Tracking Strategy </a:t>
            </a:r>
            <a:endParaRPr i="1">
              <a:solidFill>
                <a:schemeClr val="dk1"/>
              </a:solidFill>
              <a:latin typeface="Lora"/>
              <a:ea typeface="Lora"/>
              <a:cs typeface="Lora"/>
              <a:sym typeface="Lora"/>
            </a:endParaRPr>
          </a:p>
        </p:txBody>
      </p:sp>
      <p:pic>
        <p:nvPicPr>
          <p:cNvPr id="160" name="Google Shape;160;p27"/>
          <p:cNvPicPr preferRelativeResize="0"/>
          <p:nvPr/>
        </p:nvPicPr>
        <p:blipFill>
          <a:blip r:embed="rId3">
            <a:alphaModFix/>
          </a:blip>
          <a:stretch>
            <a:fillRect/>
          </a:stretch>
        </p:blipFill>
        <p:spPr>
          <a:xfrm>
            <a:off x="457200" y="1144750"/>
            <a:ext cx="8320050" cy="3203775"/>
          </a:xfrm>
          <a:prstGeom prst="rect">
            <a:avLst/>
          </a:prstGeom>
          <a:noFill/>
          <a:ln>
            <a:noFill/>
          </a:ln>
        </p:spPr>
      </p:pic>
      <p:sp>
        <p:nvSpPr>
          <p:cNvPr id="161" name="Google Shape;161;p27"/>
          <p:cNvSpPr/>
          <p:nvPr/>
        </p:nvSpPr>
        <p:spPr>
          <a:xfrm>
            <a:off x="2181850" y="1097250"/>
            <a:ext cx="505800" cy="5385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2"/>
              </a:highlight>
              <a:latin typeface="Lora"/>
              <a:ea typeface="Lora"/>
              <a:cs typeface="Lora"/>
              <a:sym typeface="L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167" name="Google Shape;167;p28"/>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.1.2 </a:t>
            </a:r>
            <a:r>
              <a:rPr lang="en">
                <a:solidFill>
                  <a:schemeClr val="dk1"/>
                </a:solidFill>
                <a:latin typeface="Lora"/>
                <a:ea typeface="Lora"/>
                <a:cs typeface="Lora"/>
                <a:sym typeface="Lora"/>
              </a:rPr>
              <a:t>Tracking Code Example</a:t>
            </a:r>
            <a:endParaRPr i="1">
              <a:solidFill>
                <a:schemeClr val="dk1"/>
              </a:solidFill>
              <a:latin typeface="Lora"/>
              <a:ea typeface="Lora"/>
              <a:cs typeface="Lora"/>
              <a:sym typeface="Lora"/>
            </a:endParaRPr>
          </a:p>
        </p:txBody>
      </p:sp>
      <p:sp>
        <p:nvSpPr>
          <p:cNvPr id="168" name="Google Shape;168;p28"/>
          <p:cNvSpPr txBox="1"/>
          <p:nvPr/>
        </p:nvSpPr>
        <p:spPr>
          <a:xfrm>
            <a:off x="662250" y="1105400"/>
            <a:ext cx="7822500" cy="24573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50">
                <a:solidFill>
                  <a:srgbClr val="1AB1CD"/>
                </a:solidFill>
                <a:highlight>
                  <a:schemeClr val="lt2"/>
                </a:highlight>
                <a:latin typeface="Roboto Mono"/>
                <a:ea typeface="Roboto Mono"/>
                <a:cs typeface="Roboto Mono"/>
                <a:sym typeface="Roboto Mono"/>
              </a:rPr>
              <a:t>    predictions</a:t>
            </a:r>
            <a:r>
              <a:rPr lang="en" sz="1050">
                <a:highlight>
                  <a:schemeClr val="lt2"/>
                </a:highlight>
                <a:latin typeface="Roboto Mono"/>
                <a:ea typeface="Roboto Mono"/>
                <a:cs typeface="Roboto Mono"/>
                <a:sym typeface="Roboto Mono"/>
              </a:rPr>
              <a:t> </a:t>
            </a:r>
            <a:r>
              <a:rPr b="1" lang="en" sz="1050">
                <a:solidFill>
                  <a:srgbClr val="EE11FF"/>
                </a:solidFill>
                <a:highlight>
                  <a:schemeClr val="lt2"/>
                </a:highlight>
                <a:latin typeface="Roboto Mono"/>
                <a:ea typeface="Roboto Mono"/>
                <a:cs typeface="Roboto Mono"/>
                <a:sym typeface="Roboto Mono"/>
              </a:rPr>
              <a:t>=</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model</a:t>
            </a:r>
            <a:r>
              <a:rPr lang="en" sz="1050">
                <a:highlight>
                  <a:schemeClr val="lt2"/>
                </a:highlight>
                <a:latin typeface="Roboto Mono"/>
                <a:ea typeface="Roboto Mono"/>
                <a:cs typeface="Roboto Mono"/>
                <a:sym typeface="Roboto Mono"/>
              </a:rPr>
              <a:t>.</a:t>
            </a:r>
            <a:r>
              <a:rPr lang="en" sz="1050">
                <a:solidFill>
                  <a:srgbClr val="572000"/>
                </a:solidFill>
                <a:highlight>
                  <a:schemeClr val="lt2"/>
                </a:highlight>
                <a:latin typeface="Roboto Mono"/>
                <a:ea typeface="Roboto Mono"/>
                <a:cs typeface="Roboto Mono"/>
                <a:sym typeface="Roboto Mono"/>
              </a:rPr>
              <a:t>predict</a:t>
            </a:r>
            <a:r>
              <a:rPr lang="en" sz="1050">
                <a:highlight>
                  <a:schemeClr val="lt2"/>
                </a:highlight>
                <a:latin typeface="Roboto Mono"/>
                <a:ea typeface="Roboto Mono"/>
                <a:cs typeface="Roboto Mono"/>
                <a:sym typeface="Roboto Mono"/>
              </a:rPr>
              <a:t>(</a:t>
            </a:r>
            <a:r>
              <a:rPr lang="en" sz="1050">
                <a:solidFill>
                  <a:srgbClr val="1AB1CD"/>
                </a:solidFill>
                <a:highlight>
                  <a:schemeClr val="lt2"/>
                </a:highlight>
                <a:latin typeface="Roboto Mono"/>
                <a:ea typeface="Roboto Mono"/>
                <a:cs typeface="Roboto Mono"/>
                <a:sym typeface="Roboto Mono"/>
              </a:rPr>
              <a:t>X_test</a:t>
            </a:r>
            <a:r>
              <a:rPr lang="en" sz="1050">
                <a:highlight>
                  <a:schemeClr val="lt2"/>
                </a:highlight>
                <a:latin typeface="Roboto Mono"/>
                <a:ea typeface="Roboto Mono"/>
                <a:cs typeface="Roboto Mono"/>
                <a:sym typeface="Roboto Mono"/>
              </a:rPr>
              <a:t>)</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mse</a:t>
            </a:r>
            <a:r>
              <a:rPr lang="en" sz="1050">
                <a:highlight>
                  <a:schemeClr val="lt2"/>
                </a:highlight>
                <a:latin typeface="Roboto Mono"/>
                <a:ea typeface="Roboto Mono"/>
                <a:cs typeface="Roboto Mono"/>
                <a:sym typeface="Roboto Mono"/>
              </a:rPr>
              <a:t> </a:t>
            </a:r>
            <a:r>
              <a:rPr b="1" lang="en" sz="1050">
                <a:solidFill>
                  <a:srgbClr val="EE11FF"/>
                </a:solidFill>
                <a:highlight>
                  <a:schemeClr val="lt2"/>
                </a:highlight>
                <a:latin typeface="Roboto Mono"/>
                <a:ea typeface="Roboto Mono"/>
                <a:cs typeface="Roboto Mono"/>
                <a:sym typeface="Roboto Mono"/>
              </a:rPr>
              <a:t>=</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mean_squared_error</a:t>
            </a:r>
            <a:r>
              <a:rPr lang="en" sz="1050">
                <a:highlight>
                  <a:schemeClr val="lt2"/>
                </a:highlight>
                <a:latin typeface="Roboto Mono"/>
                <a:ea typeface="Roboto Mono"/>
                <a:cs typeface="Roboto Mono"/>
                <a:sym typeface="Roboto Mono"/>
              </a:rPr>
              <a:t>(</a:t>
            </a:r>
            <a:r>
              <a:rPr lang="en" sz="1050">
                <a:solidFill>
                  <a:srgbClr val="1AB1CD"/>
                </a:solidFill>
                <a:highlight>
                  <a:schemeClr val="lt2"/>
                </a:highlight>
                <a:latin typeface="Roboto Mono"/>
                <a:ea typeface="Roboto Mono"/>
                <a:cs typeface="Roboto Mono"/>
                <a:sym typeface="Roboto Mono"/>
              </a:rPr>
              <a:t>y_test</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predictions</a:t>
            </a:r>
            <a:r>
              <a:rPr lang="en" sz="1050">
                <a:highlight>
                  <a:schemeClr val="lt2"/>
                </a:highlight>
                <a:latin typeface="Roboto Mono"/>
                <a:ea typeface="Roboto Mono"/>
                <a:cs typeface="Roboto Mono"/>
                <a:sym typeface="Roboto Mono"/>
              </a:rPr>
              <a:t>)</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mae</a:t>
            </a:r>
            <a:r>
              <a:rPr lang="en" sz="1050">
                <a:highlight>
                  <a:schemeClr val="lt2"/>
                </a:highlight>
                <a:latin typeface="Roboto Mono"/>
                <a:ea typeface="Roboto Mono"/>
                <a:cs typeface="Roboto Mono"/>
                <a:sym typeface="Roboto Mono"/>
              </a:rPr>
              <a:t> </a:t>
            </a:r>
            <a:r>
              <a:rPr b="1" lang="en" sz="1050">
                <a:solidFill>
                  <a:srgbClr val="EE11FF"/>
                </a:solidFill>
                <a:highlight>
                  <a:schemeClr val="lt2"/>
                </a:highlight>
                <a:latin typeface="Roboto Mono"/>
                <a:ea typeface="Roboto Mono"/>
                <a:cs typeface="Roboto Mono"/>
                <a:sym typeface="Roboto Mono"/>
              </a:rPr>
              <a:t>=</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mean_absolute_error</a:t>
            </a:r>
            <a:r>
              <a:rPr lang="en" sz="1050">
                <a:highlight>
                  <a:schemeClr val="lt2"/>
                </a:highlight>
                <a:latin typeface="Roboto Mono"/>
                <a:ea typeface="Roboto Mono"/>
                <a:cs typeface="Roboto Mono"/>
                <a:sym typeface="Roboto Mono"/>
              </a:rPr>
              <a:t>(</a:t>
            </a:r>
            <a:r>
              <a:rPr lang="en" sz="1050">
                <a:solidFill>
                  <a:srgbClr val="1AB1CD"/>
                </a:solidFill>
                <a:highlight>
                  <a:schemeClr val="lt2"/>
                </a:highlight>
                <a:latin typeface="Roboto Mono"/>
                <a:ea typeface="Roboto Mono"/>
                <a:cs typeface="Roboto Mono"/>
                <a:sym typeface="Roboto Mono"/>
              </a:rPr>
              <a:t>y_test</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predictions</a:t>
            </a:r>
            <a:r>
              <a:rPr lang="en" sz="1050">
                <a:highlight>
                  <a:schemeClr val="lt2"/>
                </a:highlight>
                <a:latin typeface="Roboto Mono"/>
                <a:ea typeface="Roboto Mono"/>
                <a:cs typeface="Roboto Mono"/>
                <a:sym typeface="Roboto Mono"/>
              </a:rPr>
              <a:t>)</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r2</a:t>
            </a:r>
            <a:r>
              <a:rPr lang="en" sz="1050">
                <a:highlight>
                  <a:schemeClr val="lt2"/>
                </a:highlight>
                <a:latin typeface="Roboto Mono"/>
                <a:ea typeface="Roboto Mono"/>
                <a:cs typeface="Roboto Mono"/>
                <a:sym typeface="Roboto Mono"/>
              </a:rPr>
              <a:t> </a:t>
            </a:r>
            <a:r>
              <a:rPr b="1" lang="en" sz="1050">
                <a:solidFill>
                  <a:srgbClr val="EE11FF"/>
                </a:solidFill>
                <a:highlight>
                  <a:schemeClr val="lt2"/>
                </a:highlight>
                <a:latin typeface="Roboto Mono"/>
                <a:ea typeface="Roboto Mono"/>
                <a:cs typeface="Roboto Mono"/>
                <a:sym typeface="Roboto Mono"/>
              </a:rPr>
              <a:t>=</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r2_score</a:t>
            </a:r>
            <a:r>
              <a:rPr lang="en" sz="1050">
                <a:highlight>
                  <a:schemeClr val="lt2"/>
                </a:highlight>
                <a:latin typeface="Roboto Mono"/>
                <a:ea typeface="Roboto Mono"/>
                <a:cs typeface="Roboto Mono"/>
                <a:sym typeface="Roboto Mono"/>
              </a:rPr>
              <a:t>(</a:t>
            </a:r>
            <a:r>
              <a:rPr lang="en" sz="1050">
                <a:solidFill>
                  <a:srgbClr val="1AB1CD"/>
                </a:solidFill>
                <a:highlight>
                  <a:schemeClr val="lt2"/>
                </a:highlight>
                <a:latin typeface="Roboto Mono"/>
                <a:ea typeface="Roboto Mono"/>
                <a:cs typeface="Roboto Mono"/>
                <a:sym typeface="Roboto Mono"/>
              </a:rPr>
              <a:t>y_test</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predictions</a:t>
            </a:r>
            <a:r>
              <a:rPr lang="en" sz="1050">
                <a:highlight>
                  <a:schemeClr val="lt2"/>
                </a:highlight>
                <a:latin typeface="Roboto Mono"/>
                <a:ea typeface="Roboto Mono"/>
                <a:cs typeface="Roboto Mono"/>
                <a:sym typeface="Roboto Mono"/>
              </a:rPr>
              <a:t>)</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context</a:t>
            </a:r>
            <a:r>
              <a:rPr lang="en" sz="1050">
                <a:highlight>
                  <a:schemeClr val="lt2"/>
                </a:highlight>
                <a:latin typeface="Roboto Mono"/>
                <a:ea typeface="Roboto Mono"/>
                <a:cs typeface="Roboto Mono"/>
                <a:sym typeface="Roboto Mono"/>
              </a:rPr>
              <a:t>.</a:t>
            </a:r>
            <a:r>
              <a:rPr lang="en" sz="1050">
                <a:solidFill>
                  <a:srgbClr val="572000"/>
                </a:solidFill>
                <a:highlight>
                  <a:schemeClr val="lt2"/>
                </a:highlight>
                <a:latin typeface="Roboto Mono"/>
                <a:ea typeface="Roboto Mono"/>
                <a:cs typeface="Roboto Mono"/>
                <a:sym typeface="Roboto Mono"/>
              </a:rPr>
              <a:t>log</a:t>
            </a:r>
            <a:r>
              <a:rPr lang="en" sz="1050">
                <a:highlight>
                  <a:schemeClr val="lt2"/>
                </a:highlight>
                <a:latin typeface="Roboto Mono"/>
                <a:ea typeface="Roboto Mono"/>
                <a:cs typeface="Roboto Mono"/>
                <a:sym typeface="Roboto Mono"/>
              </a:rPr>
              <a:t>.</a:t>
            </a:r>
            <a:r>
              <a:rPr lang="en" sz="1050">
                <a:solidFill>
                  <a:srgbClr val="572000"/>
                </a:solidFill>
                <a:highlight>
                  <a:schemeClr val="lt2"/>
                </a:highlight>
                <a:latin typeface="Roboto Mono"/>
                <a:ea typeface="Roboto Mono"/>
                <a:cs typeface="Roboto Mono"/>
                <a:sym typeface="Roboto Mono"/>
              </a:rPr>
              <a:t>info</a:t>
            </a:r>
            <a:r>
              <a:rPr lang="en" sz="1050">
                <a:highlight>
                  <a:schemeClr val="lt2"/>
                </a:highlight>
                <a:latin typeface="Roboto Mono"/>
                <a:ea typeface="Roboto Mono"/>
                <a:cs typeface="Roboto Mono"/>
                <a:sym typeface="Roboto Mono"/>
              </a:rPr>
              <a:t>(</a:t>
            </a:r>
            <a:r>
              <a:rPr lang="en" sz="1050">
                <a:solidFill>
                  <a:srgbClr val="A01010"/>
                </a:solidFill>
                <a:highlight>
                  <a:schemeClr val="lt2"/>
                </a:highlight>
                <a:latin typeface="Roboto Mono"/>
                <a:ea typeface="Roboto Mono"/>
                <a:cs typeface="Roboto Mono"/>
                <a:sym typeface="Roboto Mono"/>
              </a:rPr>
              <a:t>f"Final Model Evaluation Metrics on Test Set: MSE=</a:t>
            </a:r>
            <a:r>
              <a:rPr lang="en" sz="1050">
                <a:highlight>
                  <a:schemeClr val="lt2"/>
                </a:highlight>
                <a:latin typeface="Roboto Mono"/>
                <a:ea typeface="Roboto Mono"/>
                <a:cs typeface="Roboto Mono"/>
                <a:sym typeface="Roboto Mono"/>
              </a:rPr>
              <a:t>{</a:t>
            </a:r>
            <a:r>
              <a:rPr lang="en" sz="1050">
                <a:solidFill>
                  <a:srgbClr val="1AB1CD"/>
                </a:solidFill>
                <a:highlight>
                  <a:schemeClr val="lt2"/>
                </a:highlight>
                <a:latin typeface="Roboto Mono"/>
                <a:ea typeface="Roboto Mono"/>
                <a:cs typeface="Roboto Mono"/>
                <a:sym typeface="Roboto Mono"/>
              </a:rPr>
              <a:t>mse</a:t>
            </a:r>
            <a:r>
              <a:rPr lang="en" sz="1050">
                <a:highlight>
                  <a:schemeClr val="lt2"/>
                </a:highlight>
                <a:latin typeface="Roboto Mono"/>
                <a:ea typeface="Roboto Mono"/>
                <a:cs typeface="Roboto Mono"/>
                <a:sym typeface="Roboto Mono"/>
              </a:rPr>
              <a:t>:</a:t>
            </a:r>
            <a:r>
              <a:rPr lang="en" sz="1050">
                <a:solidFill>
                  <a:srgbClr val="106040"/>
                </a:solidFill>
                <a:highlight>
                  <a:schemeClr val="lt2"/>
                </a:highlight>
                <a:latin typeface="Roboto Mono"/>
                <a:ea typeface="Roboto Mono"/>
                <a:cs typeface="Roboto Mono"/>
                <a:sym typeface="Roboto Mono"/>
              </a:rPr>
              <a:t>.4</a:t>
            </a:r>
            <a:r>
              <a:rPr lang="en" sz="1050">
                <a:solidFill>
                  <a:srgbClr val="1AB1CD"/>
                </a:solidFill>
                <a:highlight>
                  <a:schemeClr val="lt2"/>
                </a:highlight>
                <a:latin typeface="Roboto Mono"/>
                <a:ea typeface="Roboto Mono"/>
                <a:cs typeface="Roboto Mono"/>
                <a:sym typeface="Roboto Mono"/>
              </a:rPr>
              <a:t>f</a:t>
            </a:r>
            <a:r>
              <a:rPr lang="en" sz="1050">
                <a:highlight>
                  <a:schemeClr val="lt2"/>
                </a:highlight>
                <a:latin typeface="Roboto Mono"/>
                <a:ea typeface="Roboto Mono"/>
                <a:cs typeface="Roboto Mono"/>
                <a:sym typeface="Roboto Mono"/>
              </a:rPr>
              <a:t>}</a:t>
            </a:r>
            <a:r>
              <a:rPr lang="en" sz="1050">
                <a:solidFill>
                  <a:srgbClr val="A01010"/>
                </a:solidFill>
                <a:highlight>
                  <a:schemeClr val="lt2"/>
                </a:highlight>
                <a:latin typeface="Roboto Mono"/>
                <a:ea typeface="Roboto Mono"/>
                <a:cs typeface="Roboto Mono"/>
                <a:sym typeface="Roboto Mono"/>
              </a:rPr>
              <a:t>, MAE=</a:t>
            </a:r>
            <a:r>
              <a:rPr lang="en" sz="1050">
                <a:highlight>
                  <a:schemeClr val="lt2"/>
                </a:highlight>
                <a:latin typeface="Roboto Mono"/>
                <a:ea typeface="Roboto Mono"/>
                <a:cs typeface="Roboto Mono"/>
                <a:sym typeface="Roboto Mono"/>
              </a:rPr>
              <a:t>{</a:t>
            </a:r>
            <a:r>
              <a:rPr lang="en" sz="1050">
                <a:solidFill>
                  <a:srgbClr val="1AB1CD"/>
                </a:solidFill>
                <a:highlight>
                  <a:schemeClr val="lt2"/>
                </a:highlight>
                <a:latin typeface="Roboto Mono"/>
                <a:ea typeface="Roboto Mono"/>
                <a:cs typeface="Roboto Mono"/>
                <a:sym typeface="Roboto Mono"/>
              </a:rPr>
              <a:t>mae</a:t>
            </a:r>
            <a:r>
              <a:rPr lang="en" sz="1050">
                <a:highlight>
                  <a:schemeClr val="lt2"/>
                </a:highlight>
                <a:latin typeface="Roboto Mono"/>
                <a:ea typeface="Roboto Mono"/>
                <a:cs typeface="Roboto Mono"/>
                <a:sym typeface="Roboto Mono"/>
              </a:rPr>
              <a:t>:</a:t>
            </a:r>
            <a:r>
              <a:rPr lang="en" sz="1050">
                <a:solidFill>
                  <a:srgbClr val="106040"/>
                </a:solidFill>
                <a:highlight>
                  <a:schemeClr val="lt2"/>
                </a:highlight>
                <a:latin typeface="Roboto Mono"/>
                <a:ea typeface="Roboto Mono"/>
                <a:cs typeface="Roboto Mono"/>
                <a:sym typeface="Roboto Mono"/>
              </a:rPr>
              <a:t>.4</a:t>
            </a:r>
            <a:r>
              <a:rPr lang="en" sz="1050">
                <a:solidFill>
                  <a:srgbClr val="1AB1CD"/>
                </a:solidFill>
                <a:highlight>
                  <a:schemeClr val="lt2"/>
                </a:highlight>
                <a:latin typeface="Roboto Mono"/>
                <a:ea typeface="Roboto Mono"/>
                <a:cs typeface="Roboto Mono"/>
                <a:sym typeface="Roboto Mono"/>
              </a:rPr>
              <a:t>f</a:t>
            </a:r>
            <a:r>
              <a:rPr lang="en" sz="1050">
                <a:highlight>
                  <a:schemeClr val="lt2"/>
                </a:highlight>
                <a:latin typeface="Roboto Mono"/>
                <a:ea typeface="Roboto Mono"/>
                <a:cs typeface="Roboto Mono"/>
                <a:sym typeface="Roboto Mono"/>
              </a:rPr>
              <a:t>}</a:t>
            </a:r>
            <a:r>
              <a:rPr lang="en" sz="1050">
                <a:solidFill>
                  <a:srgbClr val="A01010"/>
                </a:solidFill>
                <a:highlight>
                  <a:schemeClr val="lt2"/>
                </a:highlight>
                <a:latin typeface="Roboto Mono"/>
                <a:ea typeface="Roboto Mono"/>
                <a:cs typeface="Roboto Mono"/>
                <a:sym typeface="Roboto Mono"/>
              </a:rPr>
              <a:t>, R2=</a:t>
            </a:r>
            <a:r>
              <a:rPr lang="en" sz="1050">
                <a:highlight>
                  <a:schemeClr val="lt2"/>
                </a:highlight>
                <a:latin typeface="Roboto Mono"/>
                <a:ea typeface="Roboto Mono"/>
                <a:cs typeface="Roboto Mono"/>
                <a:sym typeface="Roboto Mono"/>
              </a:rPr>
              <a:t>{</a:t>
            </a:r>
            <a:r>
              <a:rPr lang="en" sz="1050">
                <a:solidFill>
                  <a:srgbClr val="1AB1CD"/>
                </a:solidFill>
                <a:highlight>
                  <a:schemeClr val="lt2"/>
                </a:highlight>
                <a:latin typeface="Roboto Mono"/>
                <a:ea typeface="Roboto Mono"/>
                <a:cs typeface="Roboto Mono"/>
                <a:sym typeface="Roboto Mono"/>
              </a:rPr>
              <a:t>r2</a:t>
            </a:r>
            <a:r>
              <a:rPr lang="en" sz="1050">
                <a:highlight>
                  <a:schemeClr val="lt2"/>
                </a:highlight>
                <a:latin typeface="Roboto Mono"/>
                <a:ea typeface="Roboto Mono"/>
                <a:cs typeface="Roboto Mono"/>
                <a:sym typeface="Roboto Mono"/>
              </a:rPr>
              <a:t>:</a:t>
            </a:r>
            <a:r>
              <a:rPr lang="en" sz="1050">
                <a:solidFill>
                  <a:srgbClr val="106040"/>
                </a:solidFill>
                <a:highlight>
                  <a:schemeClr val="lt2"/>
                </a:highlight>
                <a:latin typeface="Roboto Mono"/>
                <a:ea typeface="Roboto Mono"/>
                <a:cs typeface="Roboto Mono"/>
                <a:sym typeface="Roboto Mono"/>
              </a:rPr>
              <a:t>.4</a:t>
            </a:r>
            <a:r>
              <a:rPr lang="en" sz="1050">
                <a:solidFill>
                  <a:srgbClr val="1AB1CD"/>
                </a:solidFill>
                <a:highlight>
                  <a:schemeClr val="lt2"/>
                </a:highlight>
                <a:latin typeface="Roboto Mono"/>
                <a:ea typeface="Roboto Mono"/>
                <a:cs typeface="Roboto Mono"/>
                <a:sym typeface="Roboto Mono"/>
              </a:rPr>
              <a:t>f</a:t>
            </a:r>
            <a:r>
              <a:rPr lang="en" sz="1050">
                <a:highlight>
                  <a:schemeClr val="lt2"/>
                </a:highlight>
                <a:latin typeface="Roboto Mono"/>
                <a:ea typeface="Roboto Mono"/>
                <a:cs typeface="Roboto Mono"/>
                <a:sym typeface="Roboto Mono"/>
              </a:rPr>
              <a:t>}</a:t>
            </a:r>
            <a:r>
              <a:rPr lang="en" sz="1050">
                <a:solidFill>
                  <a:srgbClr val="A01010"/>
                </a:solidFill>
                <a:highlight>
                  <a:schemeClr val="lt2"/>
                </a:highlight>
                <a:latin typeface="Roboto Mono"/>
                <a:ea typeface="Roboto Mono"/>
                <a:cs typeface="Roboto Mono"/>
                <a:sym typeface="Roboto Mono"/>
              </a:rPr>
              <a:t>"</a:t>
            </a:r>
            <a:r>
              <a:rPr lang="en" sz="1050">
                <a:highlight>
                  <a:schemeClr val="lt2"/>
                </a:highlight>
                <a:latin typeface="Roboto Mono"/>
                <a:ea typeface="Roboto Mono"/>
                <a:cs typeface="Roboto Mono"/>
                <a:sym typeface="Roboto Mono"/>
              </a:rPr>
              <a:t>)</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eval_metrics</a:t>
            </a:r>
            <a:r>
              <a:rPr lang="en" sz="1050">
                <a:highlight>
                  <a:schemeClr val="lt2"/>
                </a:highlight>
                <a:latin typeface="Roboto Mono"/>
                <a:ea typeface="Roboto Mono"/>
                <a:cs typeface="Roboto Mono"/>
                <a:sym typeface="Roboto Mono"/>
              </a:rPr>
              <a:t> </a:t>
            </a:r>
            <a:r>
              <a:rPr b="1" lang="en" sz="1050">
                <a:solidFill>
                  <a:srgbClr val="EE11FF"/>
                </a:solidFill>
                <a:highlight>
                  <a:schemeClr val="lt2"/>
                </a:highlight>
                <a:latin typeface="Roboto Mono"/>
                <a:ea typeface="Roboto Mono"/>
                <a:cs typeface="Roboto Mono"/>
                <a:sym typeface="Roboto Mono"/>
              </a:rPr>
              <a:t>=</a:t>
            </a:r>
            <a:r>
              <a:rPr lang="en" sz="1050">
                <a:highlight>
                  <a:schemeClr val="lt2"/>
                </a:highlight>
                <a:latin typeface="Roboto Mono"/>
                <a:ea typeface="Roboto Mono"/>
                <a:cs typeface="Roboto Mono"/>
                <a:sym typeface="Roboto Mono"/>
              </a:rPr>
              <a:t> {</a:t>
            </a:r>
            <a:r>
              <a:rPr lang="en" sz="1050">
                <a:solidFill>
                  <a:srgbClr val="A01010"/>
                </a:solidFill>
                <a:highlight>
                  <a:schemeClr val="lt2"/>
                </a:highlight>
                <a:latin typeface="Roboto Mono"/>
                <a:ea typeface="Roboto Mono"/>
                <a:cs typeface="Roboto Mono"/>
                <a:sym typeface="Roboto Mono"/>
              </a:rPr>
              <a:t>"test_mse"</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mse</a:t>
            </a:r>
            <a:r>
              <a:rPr lang="en" sz="1050">
                <a:highlight>
                  <a:schemeClr val="lt2"/>
                </a:highlight>
                <a:latin typeface="Roboto Mono"/>
                <a:ea typeface="Roboto Mono"/>
                <a:cs typeface="Roboto Mono"/>
                <a:sym typeface="Roboto Mono"/>
              </a:rPr>
              <a:t>, </a:t>
            </a:r>
            <a:r>
              <a:rPr lang="en" sz="1050">
                <a:solidFill>
                  <a:srgbClr val="A01010"/>
                </a:solidFill>
                <a:highlight>
                  <a:schemeClr val="lt2"/>
                </a:highlight>
                <a:latin typeface="Roboto Mono"/>
                <a:ea typeface="Roboto Mono"/>
                <a:cs typeface="Roboto Mono"/>
                <a:sym typeface="Roboto Mono"/>
              </a:rPr>
              <a:t>"test_mae"</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mae</a:t>
            </a:r>
            <a:r>
              <a:rPr lang="en" sz="1050">
                <a:highlight>
                  <a:schemeClr val="lt2"/>
                </a:highlight>
                <a:latin typeface="Roboto Mono"/>
                <a:ea typeface="Roboto Mono"/>
                <a:cs typeface="Roboto Mono"/>
                <a:sym typeface="Roboto Mono"/>
              </a:rPr>
              <a:t>, </a:t>
            </a:r>
            <a:r>
              <a:rPr lang="en" sz="1050">
                <a:solidFill>
                  <a:srgbClr val="A01010"/>
                </a:solidFill>
                <a:highlight>
                  <a:schemeClr val="lt2"/>
                </a:highlight>
                <a:latin typeface="Roboto Mono"/>
                <a:ea typeface="Roboto Mono"/>
                <a:cs typeface="Roboto Mono"/>
                <a:sym typeface="Roboto Mono"/>
              </a:rPr>
              <a:t>"test_r2"</a:t>
            </a: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r2</a:t>
            </a:r>
            <a:r>
              <a:rPr lang="en" sz="1050">
                <a:highlight>
                  <a:schemeClr val="lt2"/>
                </a:highlight>
                <a:latin typeface="Roboto Mono"/>
                <a:ea typeface="Roboto Mono"/>
                <a:cs typeface="Roboto Mono"/>
                <a:sym typeface="Roboto Mono"/>
              </a:rPr>
              <a:t>}</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50">
                <a:highlight>
                  <a:schemeClr val="lt2"/>
                </a:highlight>
                <a:latin typeface="Roboto Mono"/>
                <a:ea typeface="Roboto Mono"/>
                <a:cs typeface="Roboto Mono"/>
                <a:sym typeface="Roboto Mono"/>
              </a:rPr>
              <a:t>    # call mlflow tracking API client to log model evaluation metrics</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50">
                <a:highlight>
                  <a:schemeClr val="lt2"/>
                </a:highlight>
                <a:latin typeface="Roboto Mono"/>
                <a:ea typeface="Roboto Mono"/>
                <a:cs typeface="Roboto Mono"/>
                <a:sym typeface="Roboto Mono"/>
              </a:rPr>
              <a:t>    </a:t>
            </a:r>
            <a:r>
              <a:rPr lang="en" sz="1050">
                <a:solidFill>
                  <a:srgbClr val="1AB1CD"/>
                </a:solidFill>
                <a:highlight>
                  <a:schemeClr val="lt2"/>
                </a:highlight>
                <a:latin typeface="Roboto Mono"/>
                <a:ea typeface="Roboto Mono"/>
                <a:cs typeface="Roboto Mono"/>
                <a:sym typeface="Roboto Mono"/>
              </a:rPr>
              <a:t>mlflow_client</a:t>
            </a:r>
            <a:r>
              <a:rPr lang="en" sz="1050">
                <a:highlight>
                  <a:schemeClr val="lt2"/>
                </a:highlight>
                <a:latin typeface="Roboto Mono"/>
                <a:ea typeface="Roboto Mono"/>
                <a:cs typeface="Roboto Mono"/>
                <a:sym typeface="Roboto Mono"/>
              </a:rPr>
              <a:t>.</a:t>
            </a:r>
            <a:r>
              <a:rPr lang="en" sz="1050">
                <a:solidFill>
                  <a:srgbClr val="572000"/>
                </a:solidFill>
                <a:highlight>
                  <a:schemeClr val="lt2"/>
                </a:highlight>
                <a:latin typeface="Roboto Mono"/>
                <a:ea typeface="Roboto Mono"/>
                <a:cs typeface="Roboto Mono"/>
                <a:sym typeface="Roboto Mono"/>
              </a:rPr>
              <a:t>log_metrics</a:t>
            </a:r>
            <a:r>
              <a:rPr lang="en" sz="1050">
                <a:highlight>
                  <a:schemeClr val="lt2"/>
                </a:highlight>
                <a:latin typeface="Roboto Mono"/>
                <a:ea typeface="Roboto Mono"/>
                <a:cs typeface="Roboto Mono"/>
                <a:sym typeface="Roboto Mono"/>
              </a:rPr>
              <a:t>(</a:t>
            </a:r>
            <a:r>
              <a:rPr lang="en" sz="1050">
                <a:solidFill>
                  <a:srgbClr val="1AB1CD"/>
                </a:solidFill>
                <a:highlight>
                  <a:schemeClr val="lt2"/>
                </a:highlight>
                <a:latin typeface="Roboto Mono"/>
                <a:ea typeface="Roboto Mono"/>
                <a:cs typeface="Roboto Mono"/>
                <a:sym typeface="Roboto Mono"/>
              </a:rPr>
              <a:t>eval_metrics</a:t>
            </a:r>
            <a:r>
              <a:rPr lang="en" sz="1050">
                <a:highlight>
                  <a:schemeClr val="lt2"/>
                </a:highlight>
                <a:latin typeface="Roboto Mono"/>
                <a:ea typeface="Roboto Mono"/>
                <a:cs typeface="Roboto Mono"/>
                <a:sym typeface="Roboto Mono"/>
              </a:rPr>
              <a:t>)</a:t>
            </a:r>
            <a:endParaRPr sz="105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1000">
              <a:solidFill>
                <a:schemeClr val="dk1"/>
              </a:solidFill>
              <a:highlight>
                <a:schemeClr val="lt2"/>
              </a:highlight>
              <a:latin typeface="Courier New"/>
              <a:ea typeface="Courier New"/>
              <a:cs typeface="Courier New"/>
              <a:sym typeface="Courier New"/>
            </a:endParaRPr>
          </a:p>
          <a:p>
            <a:pPr indent="0" lvl="0" marL="0" rtl="0" algn="l">
              <a:spcBef>
                <a:spcPts val="0"/>
              </a:spcBef>
              <a:spcAft>
                <a:spcPts val="0"/>
              </a:spcAft>
              <a:buClr>
                <a:srgbClr val="000000"/>
              </a:buClr>
              <a:buSzPts val="1100"/>
              <a:buFont typeface="Arial"/>
              <a:buNone/>
            </a:pPr>
            <a:r>
              <a:t/>
            </a:r>
            <a:endParaRPr sz="1100">
              <a:latin typeface="Courier New"/>
              <a:ea typeface="Courier New"/>
              <a:cs typeface="Courier New"/>
              <a:sym typeface="Courier New"/>
            </a:endParaRPr>
          </a:p>
          <a:p>
            <a:pPr indent="0" lvl="0" marL="0" rtl="0" algn="l">
              <a:spcBef>
                <a:spcPts val="0"/>
              </a:spcBef>
              <a:spcAft>
                <a:spcPts val="0"/>
              </a:spcAft>
              <a:buClr>
                <a:srgbClr val="000000"/>
              </a:buClr>
              <a:buSzPts val="1100"/>
              <a:buFont typeface="Arial"/>
              <a:buNone/>
            </a:pPr>
            <a:r>
              <a:t/>
            </a:r>
            <a:endParaRPr sz="13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300">
              <a:solidFill>
                <a:srgbClr val="595959"/>
              </a:solidFill>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174" name="Google Shape;174;p29"/>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.1.2 Tracking Code Example</a:t>
            </a:r>
            <a:endParaRPr i="1">
              <a:solidFill>
                <a:schemeClr val="dk1"/>
              </a:solidFill>
              <a:latin typeface="Lora"/>
              <a:ea typeface="Lora"/>
              <a:cs typeface="Lora"/>
              <a:sym typeface="Lora"/>
            </a:endParaRPr>
          </a:p>
        </p:txBody>
      </p:sp>
      <p:sp>
        <p:nvSpPr>
          <p:cNvPr id="175" name="Google Shape;175;p29"/>
          <p:cNvSpPr txBox="1"/>
          <p:nvPr/>
        </p:nvSpPr>
        <p:spPr>
          <a:xfrm>
            <a:off x="801725" y="4033375"/>
            <a:ext cx="7403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DD1144"/>
                </a:solidFill>
                <a:latin typeface="Lora"/>
                <a:ea typeface="Lora"/>
                <a:cs typeface="Lora"/>
                <a:sym typeface="Lora"/>
              </a:rPr>
              <a:t>NB: While manual logging gives you full control, MLflow offers an even simpler way to get started.</a:t>
            </a:r>
            <a:endParaRPr i="1" sz="1200">
              <a:solidFill>
                <a:srgbClr val="DD1144"/>
              </a:solidFill>
              <a:latin typeface="Lora"/>
              <a:ea typeface="Lora"/>
              <a:cs typeface="Lora"/>
              <a:sym typeface="Lora"/>
            </a:endParaRPr>
          </a:p>
        </p:txBody>
      </p:sp>
      <p:pic>
        <p:nvPicPr>
          <p:cNvPr id="176" name="Google Shape;176;p29"/>
          <p:cNvPicPr preferRelativeResize="0"/>
          <p:nvPr/>
        </p:nvPicPr>
        <p:blipFill>
          <a:blip r:embed="rId3">
            <a:alphaModFix/>
          </a:blip>
          <a:stretch>
            <a:fillRect/>
          </a:stretch>
        </p:blipFill>
        <p:spPr>
          <a:xfrm>
            <a:off x="420725" y="1173450"/>
            <a:ext cx="7732974" cy="2807875"/>
          </a:xfrm>
          <a:prstGeom prst="rect">
            <a:avLst/>
          </a:prstGeom>
          <a:noFill/>
          <a:ln>
            <a:noFill/>
          </a:ln>
        </p:spPr>
      </p:pic>
      <p:sp>
        <p:nvSpPr>
          <p:cNvPr id="177" name="Google Shape;177;p29"/>
          <p:cNvSpPr/>
          <p:nvPr/>
        </p:nvSpPr>
        <p:spPr>
          <a:xfrm>
            <a:off x="4192375" y="2170350"/>
            <a:ext cx="3823800" cy="1747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2"/>
              </a:highlight>
              <a:latin typeface="Lora"/>
              <a:ea typeface="Lora"/>
              <a:cs typeface="Lora"/>
              <a:sym typeface="Lor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183" name="Google Shape;183;p30"/>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.1.3 </a:t>
            </a:r>
            <a:r>
              <a:rPr lang="en">
                <a:solidFill>
                  <a:schemeClr val="dk1"/>
                </a:solidFill>
                <a:latin typeface="Lora"/>
                <a:ea typeface="Lora"/>
                <a:cs typeface="Lora"/>
                <a:sym typeface="Lora"/>
              </a:rPr>
              <a:t>Automatic Experiment Tracking</a:t>
            </a:r>
            <a:endParaRPr i="1">
              <a:solidFill>
                <a:schemeClr val="dk1"/>
              </a:solidFill>
              <a:latin typeface="Lora"/>
              <a:ea typeface="Lora"/>
              <a:cs typeface="Lora"/>
              <a:sym typeface="Lora"/>
            </a:endParaRPr>
          </a:p>
        </p:txBody>
      </p:sp>
      <p:sp>
        <p:nvSpPr>
          <p:cNvPr id="184" name="Google Shape;184;p30"/>
          <p:cNvSpPr txBox="1"/>
          <p:nvPr/>
        </p:nvSpPr>
        <p:spPr>
          <a:xfrm>
            <a:off x="801725" y="1097250"/>
            <a:ext cx="73500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latin typeface="Lora"/>
                <a:ea typeface="Lora"/>
                <a:cs typeface="Lora"/>
                <a:sym typeface="Lora"/>
              </a:rPr>
              <a:t>For many popular libraries (Scikit-learn, TensorFlow, PyTorch, etc.), MLflow can automatically log everything for you with a single line of code</a:t>
            </a:r>
            <a:r>
              <a:rPr b="1" lang="en" sz="1200">
                <a:solidFill>
                  <a:schemeClr val="dk1"/>
                </a:solidFill>
                <a:latin typeface="Lora"/>
                <a:ea typeface="Lora"/>
                <a:cs typeface="Lora"/>
                <a:sym typeface="Lora"/>
              </a:rPr>
              <a:t>:</a:t>
            </a:r>
            <a:r>
              <a:rPr lang="en" sz="1200">
                <a:solidFill>
                  <a:schemeClr val="dk1"/>
                </a:solidFill>
                <a:latin typeface="Lora"/>
                <a:ea typeface="Lora"/>
                <a:cs typeface="Lora"/>
                <a:sym typeface="Lora"/>
              </a:rPr>
              <a:t> </a:t>
            </a:r>
            <a:r>
              <a:rPr b="1" lang="en" sz="1200">
                <a:solidFill>
                  <a:schemeClr val="dk1"/>
                </a:solidFill>
                <a:latin typeface="Lora"/>
                <a:ea typeface="Lora"/>
                <a:cs typeface="Lora"/>
                <a:sym typeface="Lora"/>
              </a:rPr>
              <a:t>mlflow.autolog()</a:t>
            </a:r>
            <a:r>
              <a:rPr b="1" lang="en" sz="1200">
                <a:solidFill>
                  <a:schemeClr val="dk1"/>
                </a:solidFill>
                <a:latin typeface="Lora"/>
                <a:ea typeface="Lora"/>
                <a:cs typeface="Lora"/>
                <a:sym typeface="Lora"/>
              </a:rPr>
              <a:t> </a:t>
            </a:r>
            <a:endParaRPr b="1" sz="1200">
              <a:solidFill>
                <a:schemeClr val="dk1"/>
              </a:solidFill>
              <a:latin typeface="Lora"/>
              <a:ea typeface="Lora"/>
              <a:cs typeface="Lora"/>
              <a:sym typeface="Lora"/>
            </a:endParaRPr>
          </a:p>
        </p:txBody>
      </p:sp>
      <p:sp>
        <p:nvSpPr>
          <p:cNvPr id="185" name="Google Shape;185;p30"/>
          <p:cNvSpPr txBox="1"/>
          <p:nvPr/>
        </p:nvSpPr>
        <p:spPr>
          <a:xfrm>
            <a:off x="881525" y="1678950"/>
            <a:ext cx="6869100" cy="26085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mlflow</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sklearn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model_selection</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train_test_split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sklearn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datasets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load_diabetes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sklearn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ensemble</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RandomForestRegressor</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mlflow</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autolog</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db</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load_diabetes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X_train</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X_test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y_train</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y_test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train_test_split</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db</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data</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db</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target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rf</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RandomForestRegressor</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n_estimators</a:t>
            </a:r>
            <a:r>
              <a:rPr b="1" lang="en" sz="1100">
                <a:solidFill>
                  <a:srgbClr val="EE11FF"/>
                </a:solidFill>
                <a:latin typeface="Roboto Mono"/>
                <a:ea typeface="Roboto Mono"/>
                <a:cs typeface="Roboto Mono"/>
                <a:sym typeface="Roboto Mono"/>
              </a:rPr>
              <a:t>=</a:t>
            </a:r>
            <a:r>
              <a:rPr lang="en" sz="1100">
                <a:solidFill>
                  <a:srgbClr val="106040"/>
                </a:solidFill>
                <a:latin typeface="Roboto Mono"/>
                <a:ea typeface="Roboto Mono"/>
                <a:cs typeface="Roboto Mono"/>
                <a:sym typeface="Roboto Mono"/>
              </a:rPr>
              <a:t>100</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max_depth</a:t>
            </a:r>
            <a:r>
              <a:rPr b="1" lang="en" sz="1100">
                <a:solidFill>
                  <a:srgbClr val="EE11FF"/>
                </a:solidFill>
                <a:latin typeface="Roboto Mono"/>
                <a:ea typeface="Roboto Mono"/>
                <a:cs typeface="Roboto Mono"/>
                <a:sym typeface="Roboto Mono"/>
              </a:rPr>
              <a:t>=</a:t>
            </a:r>
            <a:r>
              <a:rPr lang="en" sz="1100">
                <a:solidFill>
                  <a:srgbClr val="106040"/>
                </a:solidFill>
                <a:latin typeface="Roboto Mono"/>
                <a:ea typeface="Roboto Mono"/>
                <a:cs typeface="Roboto Mono"/>
                <a:sym typeface="Roboto Mono"/>
              </a:rPr>
              <a:t>6</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max_features</a:t>
            </a:r>
            <a:r>
              <a:rPr b="1" lang="en" sz="1100">
                <a:solidFill>
                  <a:srgbClr val="EE11FF"/>
                </a:solidFill>
                <a:latin typeface="Roboto Mono"/>
                <a:ea typeface="Roboto Mono"/>
                <a:cs typeface="Roboto Mono"/>
                <a:sym typeface="Roboto Mono"/>
              </a:rPr>
              <a:t>=</a:t>
            </a:r>
            <a:r>
              <a:rPr lang="en" sz="1100">
                <a:solidFill>
                  <a:srgbClr val="106040"/>
                </a:solidFill>
                <a:latin typeface="Roboto Mono"/>
                <a:ea typeface="Roboto Mono"/>
                <a:cs typeface="Roboto Mono"/>
                <a:sym typeface="Roboto Mono"/>
              </a:rPr>
              <a:t>3</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MLflow triggers logging automatically upon model fitting</a:t>
            </a:r>
            <a:endParaRPr sz="1100">
              <a:latin typeface="Roboto Mono"/>
              <a:ea typeface="Roboto Mono"/>
              <a:cs typeface="Roboto Mono"/>
              <a:sym typeface="Roboto Mono"/>
            </a:endParaRPr>
          </a:p>
          <a:p>
            <a:pPr indent="0" lvl="0" marL="0" rtl="0" algn="l">
              <a:spcBef>
                <a:spcPts val="0"/>
              </a:spcBef>
              <a:spcAft>
                <a:spcPts val="0"/>
              </a:spcAft>
              <a:buNone/>
            </a:pPr>
            <a:r>
              <a:rPr lang="en" sz="1100">
                <a:solidFill>
                  <a:srgbClr val="1AB1CD"/>
                </a:solidFill>
                <a:latin typeface="Roboto Mono"/>
                <a:ea typeface="Roboto Mono"/>
                <a:cs typeface="Roboto Mono"/>
                <a:sym typeface="Roboto Mono"/>
              </a:rPr>
              <a:t>rf</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fit</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X_train</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y_train</a:t>
            </a: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191" name="Google Shape;191;p31"/>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.1.3 Automatic Experiment Tracking</a:t>
            </a:r>
            <a:endParaRPr i="1">
              <a:solidFill>
                <a:schemeClr val="dk1"/>
              </a:solidFill>
              <a:latin typeface="Lora"/>
              <a:ea typeface="Lora"/>
              <a:cs typeface="Lora"/>
              <a:sym typeface="Lora"/>
            </a:endParaRPr>
          </a:p>
        </p:txBody>
      </p:sp>
      <p:sp>
        <p:nvSpPr>
          <p:cNvPr id="192" name="Google Shape;192;p31"/>
          <p:cNvSpPr txBox="1"/>
          <p:nvPr/>
        </p:nvSpPr>
        <p:spPr>
          <a:xfrm>
            <a:off x="880050" y="4341750"/>
            <a:ext cx="6869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DD1144"/>
                </a:solidFill>
                <a:latin typeface="Lora"/>
                <a:ea typeface="Lora"/>
                <a:cs typeface="Lora"/>
                <a:sym typeface="Lora"/>
              </a:rPr>
              <a:t>Once our runs are logged, we need a way to see and compare them. That's where the UI comes in</a:t>
            </a:r>
            <a:endParaRPr i="1" sz="1200">
              <a:solidFill>
                <a:srgbClr val="DD1144"/>
              </a:solidFill>
              <a:latin typeface="Lora"/>
              <a:ea typeface="Lora"/>
              <a:cs typeface="Lora"/>
              <a:sym typeface="Lora"/>
            </a:endParaRPr>
          </a:p>
        </p:txBody>
      </p:sp>
      <p:sp>
        <p:nvSpPr>
          <p:cNvPr id="193" name="Google Shape;193;p31"/>
          <p:cNvSpPr txBox="1"/>
          <p:nvPr/>
        </p:nvSpPr>
        <p:spPr>
          <a:xfrm>
            <a:off x="801725" y="1097250"/>
            <a:ext cx="7350000" cy="199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latin typeface="Lora"/>
                <a:ea typeface="Lora"/>
                <a:cs typeface="Lora"/>
                <a:sym typeface="Lora"/>
              </a:rPr>
              <a:t>You usually should not rely on mlflow.autolog() directly in production code, and here’s why:</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It logs </a:t>
            </a:r>
            <a:r>
              <a:rPr i="1" lang="en" sz="1200">
                <a:solidFill>
                  <a:schemeClr val="dk1"/>
                </a:solidFill>
                <a:latin typeface="Lora"/>
                <a:ea typeface="Lora"/>
                <a:cs typeface="Lora"/>
                <a:sym typeface="Lora"/>
              </a:rPr>
              <a:t>everything</a:t>
            </a:r>
            <a:r>
              <a:rPr lang="en" sz="1200">
                <a:solidFill>
                  <a:schemeClr val="dk1"/>
                </a:solidFill>
                <a:latin typeface="Lora"/>
                <a:ea typeface="Lora"/>
                <a:cs typeface="Lora"/>
                <a:sym typeface="Lora"/>
              </a:rPr>
              <a:t> by default, which may include unnecessary artifacts, making runs noisy and storage heavy</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The process is hidden, so you don’t see exactly when or how things are being logged. If your production pipeline breaks or behaves unexpectedly, debugging can be harder.</a:t>
            </a:r>
            <a:endParaRPr sz="1200">
              <a:solidFill>
                <a:schemeClr val="dk1"/>
              </a:solidFill>
              <a:latin typeface="Lora"/>
              <a:ea typeface="Lora"/>
              <a:cs typeface="Lora"/>
              <a:sym typeface="Lora"/>
            </a:endParaRPr>
          </a:p>
          <a:p>
            <a:pPr indent="0" lvl="0" marL="0" rtl="0" algn="l">
              <a:lnSpc>
                <a:spcPct val="115000"/>
              </a:lnSpc>
              <a:spcBef>
                <a:spcPts val="1200"/>
              </a:spcBef>
              <a:spcAft>
                <a:spcPts val="1200"/>
              </a:spcAft>
              <a:buNone/>
            </a:pPr>
            <a:r>
              <a:t/>
            </a:r>
            <a:endParaRPr sz="1200">
              <a:solidFill>
                <a:schemeClr val="dk1"/>
              </a:solidFill>
              <a:latin typeface="Lora"/>
              <a:ea typeface="Lora"/>
              <a:cs typeface="Lora"/>
              <a:sym typeface="Lo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199" name="Google Shape;199;p32"/>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.1.4 </a:t>
            </a:r>
            <a:r>
              <a:rPr lang="en">
                <a:solidFill>
                  <a:schemeClr val="dk1"/>
                </a:solidFill>
                <a:latin typeface="Lora"/>
                <a:ea typeface="Lora"/>
                <a:cs typeface="Lora"/>
                <a:sym typeface="Lora"/>
              </a:rPr>
              <a:t>Visualizing and Comparing Experiments</a:t>
            </a:r>
            <a:endParaRPr i="1">
              <a:solidFill>
                <a:schemeClr val="dk1"/>
              </a:solidFill>
              <a:latin typeface="Lora"/>
              <a:ea typeface="Lora"/>
              <a:cs typeface="Lora"/>
              <a:sym typeface="Lora"/>
            </a:endParaRPr>
          </a:p>
        </p:txBody>
      </p:sp>
      <p:sp>
        <p:nvSpPr>
          <p:cNvPr id="200" name="Google Shape;200;p32"/>
          <p:cNvSpPr txBox="1"/>
          <p:nvPr/>
        </p:nvSpPr>
        <p:spPr>
          <a:xfrm>
            <a:off x="880050" y="4341750"/>
            <a:ext cx="7136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DD1144"/>
                </a:solidFill>
                <a:latin typeface="Lora"/>
                <a:ea typeface="Lora"/>
                <a:cs typeface="Lora"/>
                <a:sym typeface="Lora"/>
              </a:rPr>
              <a:t>Beyond the UI, MLflow also provides a way (the MlflowClient API</a:t>
            </a:r>
            <a:r>
              <a:rPr lang="en" sz="1100">
                <a:solidFill>
                  <a:schemeClr val="dk1"/>
                </a:solidFill>
              </a:rPr>
              <a:t>)</a:t>
            </a:r>
            <a:r>
              <a:rPr i="1" lang="en" sz="1200">
                <a:solidFill>
                  <a:srgbClr val="DD1144"/>
                </a:solidFill>
                <a:latin typeface="Lora"/>
                <a:ea typeface="Lora"/>
                <a:cs typeface="Lora"/>
                <a:sym typeface="Lora"/>
              </a:rPr>
              <a:t> to interact with your tracking data programmatically, which is key for automation</a:t>
            </a:r>
            <a:endParaRPr i="1" sz="1200">
              <a:solidFill>
                <a:srgbClr val="DD1144"/>
              </a:solidFill>
              <a:latin typeface="Lora"/>
              <a:ea typeface="Lora"/>
              <a:cs typeface="Lora"/>
              <a:sym typeface="Lora"/>
            </a:endParaRPr>
          </a:p>
        </p:txBody>
      </p:sp>
      <p:sp>
        <p:nvSpPr>
          <p:cNvPr id="201" name="Google Shape;201;p32"/>
          <p:cNvSpPr txBox="1"/>
          <p:nvPr/>
        </p:nvSpPr>
        <p:spPr>
          <a:xfrm>
            <a:off x="801725" y="1097250"/>
            <a:ext cx="73500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latin typeface="Lora"/>
                <a:ea typeface="Lora"/>
                <a:cs typeface="Lora"/>
                <a:sym typeface="Lora"/>
              </a:rPr>
              <a:t>The MLflow Tracking UI provides a web-based interface to visualize, search, and compare your runs, helping you quickly identify the best-performing models.</a:t>
            </a:r>
            <a:endParaRPr b="1" sz="1200">
              <a:solidFill>
                <a:schemeClr val="dk1"/>
              </a:solidFill>
              <a:latin typeface="Lora"/>
              <a:ea typeface="Lora"/>
              <a:cs typeface="Lora"/>
              <a:sym typeface="Lora"/>
            </a:endParaRPr>
          </a:p>
        </p:txBody>
      </p:sp>
      <p:pic>
        <p:nvPicPr>
          <p:cNvPr id="202" name="Google Shape;202;p32"/>
          <p:cNvPicPr preferRelativeResize="0"/>
          <p:nvPr/>
        </p:nvPicPr>
        <p:blipFill>
          <a:blip r:embed="rId3">
            <a:alphaModFix/>
          </a:blip>
          <a:stretch>
            <a:fillRect/>
          </a:stretch>
        </p:blipFill>
        <p:spPr>
          <a:xfrm>
            <a:off x="1165749" y="1732675"/>
            <a:ext cx="6040650" cy="26090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08" name="Google Shape;208;p33"/>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a:t>
            </a:r>
            <a:r>
              <a:rPr lang="en">
                <a:solidFill>
                  <a:schemeClr val="dk1"/>
                </a:solidFill>
                <a:latin typeface="Lora"/>
                <a:ea typeface="Lora"/>
                <a:cs typeface="Lora"/>
                <a:sym typeface="Lora"/>
              </a:rPr>
              <a:t>1.5</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the MlflowClient API</a:t>
            </a:r>
            <a:endParaRPr i="1">
              <a:solidFill>
                <a:schemeClr val="dk1"/>
              </a:solidFill>
              <a:latin typeface="Lora"/>
              <a:ea typeface="Lora"/>
              <a:cs typeface="Lora"/>
              <a:sym typeface="Lora"/>
            </a:endParaRPr>
          </a:p>
        </p:txBody>
      </p:sp>
      <p:sp>
        <p:nvSpPr>
          <p:cNvPr id="209" name="Google Shape;209;p33"/>
          <p:cNvSpPr txBox="1"/>
          <p:nvPr/>
        </p:nvSpPr>
        <p:spPr>
          <a:xfrm>
            <a:off x="880050" y="4341750"/>
            <a:ext cx="713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DD1144"/>
                </a:solidFill>
                <a:latin typeface="Lora"/>
                <a:ea typeface="Lora"/>
                <a:cs typeface="Lora"/>
                <a:sym typeface="Lora"/>
              </a:rPr>
              <a:t>The transition can also be done from the UI (we will see in the next few slides)</a:t>
            </a:r>
            <a:endParaRPr i="1" sz="1200">
              <a:solidFill>
                <a:srgbClr val="DD1144"/>
              </a:solidFill>
              <a:latin typeface="Lora"/>
              <a:ea typeface="Lora"/>
              <a:cs typeface="Lora"/>
              <a:sym typeface="Lora"/>
            </a:endParaRPr>
          </a:p>
        </p:txBody>
      </p:sp>
      <p:sp>
        <p:nvSpPr>
          <p:cNvPr id="210" name="Google Shape;210;p33"/>
          <p:cNvSpPr txBox="1"/>
          <p:nvPr/>
        </p:nvSpPr>
        <p:spPr>
          <a:xfrm>
            <a:off x="801725" y="1097250"/>
            <a:ext cx="73500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latin typeface="Lora"/>
                <a:ea typeface="Lora"/>
                <a:cs typeface="Lora"/>
                <a:sym typeface="Lora"/>
              </a:rPr>
              <a:t>In addition to</a:t>
            </a:r>
            <a:r>
              <a:rPr lang="en" sz="1200">
                <a:solidFill>
                  <a:schemeClr val="dk1"/>
                </a:solidFill>
                <a:latin typeface="Lora"/>
                <a:ea typeface="Lora"/>
                <a:cs typeface="Lora"/>
                <a:sym typeface="Lora"/>
              </a:rPr>
              <a:t> logging</a:t>
            </a:r>
            <a:r>
              <a:rPr lang="en" sz="1200">
                <a:solidFill>
                  <a:schemeClr val="dk1"/>
                </a:solidFill>
                <a:latin typeface="Lora"/>
                <a:ea typeface="Lora"/>
                <a:cs typeface="Lora"/>
                <a:sym typeface="Lora"/>
              </a:rPr>
              <a:t>, you can also use the MlflowClient API to interact with your experiments and runs programmatically. </a:t>
            </a:r>
            <a:endParaRPr b="1" sz="1300">
              <a:solidFill>
                <a:schemeClr val="dk1"/>
              </a:solidFill>
              <a:latin typeface="Lora"/>
              <a:ea typeface="Lora"/>
              <a:cs typeface="Lora"/>
              <a:sym typeface="Lora"/>
            </a:endParaRPr>
          </a:p>
        </p:txBody>
      </p:sp>
      <p:pic>
        <p:nvPicPr>
          <p:cNvPr id="211" name="Google Shape;211;p33"/>
          <p:cNvPicPr preferRelativeResize="0"/>
          <p:nvPr/>
        </p:nvPicPr>
        <p:blipFill>
          <a:blip r:embed="rId3">
            <a:alphaModFix/>
          </a:blip>
          <a:stretch>
            <a:fillRect/>
          </a:stretch>
        </p:blipFill>
        <p:spPr>
          <a:xfrm>
            <a:off x="1219200" y="1755150"/>
            <a:ext cx="6477131" cy="2358000"/>
          </a:xfrm>
          <a:prstGeom prst="rect">
            <a:avLst/>
          </a:prstGeom>
          <a:noFill/>
          <a:ln>
            <a:noFill/>
          </a:ln>
        </p:spPr>
      </p:pic>
      <p:sp>
        <p:nvSpPr>
          <p:cNvPr id="212" name="Google Shape;212;p33"/>
          <p:cNvSpPr/>
          <p:nvPr/>
        </p:nvSpPr>
        <p:spPr>
          <a:xfrm>
            <a:off x="1774900" y="3251400"/>
            <a:ext cx="5673900" cy="666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2"/>
              </a:highlight>
              <a:latin typeface="Lora"/>
              <a:ea typeface="Lora"/>
              <a:cs typeface="Lora"/>
              <a:sym typeface="Lor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18" name="Google Shape;218;p34"/>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.2 </a:t>
            </a:r>
            <a:r>
              <a:rPr lang="en">
                <a:solidFill>
                  <a:schemeClr val="dk1"/>
                </a:solidFill>
                <a:latin typeface="Lora"/>
                <a:ea typeface="Lora"/>
                <a:cs typeface="Lora"/>
                <a:sym typeface="Lora"/>
              </a:rPr>
              <a:t>Model Packaging</a:t>
            </a:r>
            <a:endParaRPr i="1">
              <a:solidFill>
                <a:schemeClr val="dk1"/>
              </a:solidFill>
              <a:latin typeface="Lora"/>
              <a:ea typeface="Lora"/>
              <a:cs typeface="Lora"/>
              <a:sym typeface="Lora"/>
            </a:endParaRPr>
          </a:p>
        </p:txBody>
      </p:sp>
      <p:sp>
        <p:nvSpPr>
          <p:cNvPr id="219" name="Google Shape;219;p34"/>
          <p:cNvSpPr txBox="1"/>
          <p:nvPr/>
        </p:nvSpPr>
        <p:spPr>
          <a:xfrm>
            <a:off x="1413450" y="4646550"/>
            <a:ext cx="603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DD1144"/>
                </a:solidFill>
                <a:latin typeface="Lora"/>
                <a:ea typeface="Lora"/>
                <a:cs typeface="Lora"/>
                <a:sym typeface="Lora"/>
              </a:rPr>
              <a:t>Let's see where we can find this packaged model and its metadata in the MLflow UI.</a:t>
            </a:r>
            <a:endParaRPr i="1" sz="1200">
              <a:solidFill>
                <a:srgbClr val="DD1144"/>
              </a:solidFill>
              <a:latin typeface="Lora"/>
              <a:ea typeface="Lora"/>
              <a:cs typeface="Lora"/>
              <a:sym typeface="Lora"/>
            </a:endParaRPr>
          </a:p>
        </p:txBody>
      </p:sp>
      <p:sp>
        <p:nvSpPr>
          <p:cNvPr id="220" name="Google Shape;220;p34"/>
          <p:cNvSpPr txBox="1"/>
          <p:nvPr/>
        </p:nvSpPr>
        <p:spPr>
          <a:xfrm>
            <a:off x="801725" y="1097250"/>
            <a:ext cx="7350000" cy="1431600"/>
          </a:xfrm>
          <a:prstGeom prst="rect">
            <a:avLst/>
          </a:prstGeom>
          <a:noFill/>
          <a:ln>
            <a:noFill/>
          </a:ln>
        </p:spPr>
        <p:txBody>
          <a:bodyPr anchorCtr="0" anchor="t" bIns="91425" lIns="91425" spcFirstLastPara="1" rIns="91425" wrap="square" tIns="91425">
            <a:spAutoFit/>
          </a:bodyPr>
          <a:lstStyle/>
          <a:p>
            <a:pPr indent="-304800" lvl="0" marL="457200" rtl="0" algn="just">
              <a:lnSpc>
                <a:spcPct val="115000"/>
              </a:lnSpc>
              <a:spcBef>
                <a:spcPts val="1200"/>
              </a:spcBef>
              <a:spcAft>
                <a:spcPts val="0"/>
              </a:spcAft>
              <a:buClr>
                <a:schemeClr val="dk1"/>
              </a:buClr>
              <a:buSzPts val="1200"/>
              <a:buFont typeface="Lora"/>
              <a:buChar char="●"/>
            </a:pPr>
            <a:r>
              <a:rPr b="1" lang="en" sz="1200">
                <a:solidFill>
                  <a:schemeClr val="dk1"/>
                </a:solidFill>
                <a:latin typeface="Lora"/>
                <a:ea typeface="Lora"/>
                <a:cs typeface="Lora"/>
                <a:sym typeface="Lora"/>
              </a:rPr>
              <a:t>Here we use </a:t>
            </a:r>
            <a:r>
              <a:rPr lang="en" sz="1200">
                <a:solidFill>
                  <a:schemeClr val="dk1"/>
                </a:solidFill>
                <a:latin typeface="Lora"/>
                <a:ea typeface="Lora"/>
                <a:cs typeface="Lora"/>
                <a:sym typeface="Lora"/>
              </a:rPr>
              <a:t>MLflow Models.</a:t>
            </a:r>
            <a:r>
              <a:rPr lang="en" sz="1200">
                <a:solidFill>
                  <a:schemeClr val="dk1"/>
                </a:solidFill>
                <a:latin typeface="Lora"/>
                <a:ea typeface="Lora"/>
                <a:cs typeface="Lora"/>
                <a:sym typeface="Lora"/>
              </a:rPr>
              <a:t> it provide a standard format for packaging machine learning models.</a:t>
            </a:r>
            <a:endParaRPr sz="1200">
              <a:solidFill>
                <a:schemeClr val="dk1"/>
              </a:solidFill>
              <a:latin typeface="Lora"/>
              <a:ea typeface="Lora"/>
              <a:cs typeface="Lora"/>
              <a:sym typeface="Lora"/>
            </a:endParaRPr>
          </a:p>
          <a:p>
            <a:pPr indent="-304800" lvl="0" marL="457200" rtl="0" algn="just">
              <a:lnSpc>
                <a:spcPct val="115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Why we need it:</a:t>
            </a:r>
            <a:r>
              <a:rPr lang="en" sz="1200">
                <a:solidFill>
                  <a:schemeClr val="dk1"/>
                </a:solidFill>
                <a:latin typeface="Lora"/>
                <a:ea typeface="Lora"/>
                <a:cs typeface="Lora"/>
                <a:sym typeface="Lora"/>
              </a:rPr>
              <a:t> To solve deployment difficulties. With MLflow Models, you package your model in a way that can be easily deployed to a variety of environments.</a:t>
            </a:r>
            <a:endParaRPr sz="1200">
              <a:solidFill>
                <a:schemeClr val="dk1"/>
              </a:solidFill>
              <a:latin typeface="Lora"/>
              <a:ea typeface="Lora"/>
              <a:cs typeface="Lora"/>
              <a:sym typeface="Lora"/>
            </a:endParaRPr>
          </a:p>
          <a:p>
            <a:pPr indent="-304800" lvl="0" marL="457200" rtl="0" algn="just">
              <a:lnSpc>
                <a:spcPct val="115000"/>
              </a:lnSpc>
              <a:spcBef>
                <a:spcPts val="0"/>
              </a:spcBef>
              <a:spcAft>
                <a:spcPts val="0"/>
              </a:spcAft>
              <a:buClr>
                <a:schemeClr val="dk1"/>
              </a:buClr>
              <a:buSzPts val="1200"/>
              <a:buFont typeface="Lora"/>
              <a:buChar char="●"/>
            </a:pPr>
            <a:r>
              <a:rPr b="1" lang="en" sz="1200">
                <a:solidFill>
                  <a:schemeClr val="dk1"/>
                </a:solidFill>
                <a:latin typeface="Lora"/>
                <a:ea typeface="Lora"/>
                <a:cs typeface="Lora"/>
                <a:sym typeface="Lora"/>
              </a:rPr>
              <a:t>How it works:</a:t>
            </a:r>
            <a:r>
              <a:rPr lang="en" sz="1200">
                <a:solidFill>
                  <a:schemeClr val="dk1"/>
                </a:solidFill>
                <a:latin typeface="Lora"/>
                <a:ea typeface="Lora"/>
                <a:cs typeface="Lora"/>
                <a:sym typeface="Lora"/>
              </a:rPr>
              <a:t> When you call </a:t>
            </a:r>
            <a:r>
              <a:rPr b="1" lang="en" sz="1200">
                <a:solidFill>
                  <a:schemeClr val="dk1"/>
                </a:solidFill>
                <a:latin typeface="Lora"/>
                <a:ea typeface="Lora"/>
                <a:cs typeface="Lora"/>
                <a:sym typeface="Lora"/>
              </a:rPr>
              <a:t>mlflow.log_model(model, "model")</a:t>
            </a:r>
            <a:r>
              <a:rPr lang="en" sz="1200">
                <a:solidFill>
                  <a:schemeClr val="dk1"/>
                </a:solidFill>
                <a:latin typeface="Lora"/>
                <a:ea typeface="Lora"/>
                <a:cs typeface="Lora"/>
                <a:sym typeface="Lora"/>
              </a:rPr>
              <a:t>, MLflow saves the model in a directory with a standard structure, including the serialized model and its dependencies.</a:t>
            </a:r>
            <a:endParaRPr sz="1200">
              <a:solidFill>
                <a:schemeClr val="dk1"/>
              </a:solidFill>
              <a:latin typeface="Lora"/>
              <a:ea typeface="Lora"/>
              <a:cs typeface="Lora"/>
              <a:sym typeface="Lora"/>
            </a:endParaRPr>
          </a:p>
        </p:txBody>
      </p:sp>
      <p:pic>
        <p:nvPicPr>
          <p:cNvPr id="221" name="Google Shape;221;p34"/>
          <p:cNvPicPr preferRelativeResize="0"/>
          <p:nvPr/>
        </p:nvPicPr>
        <p:blipFill>
          <a:blip r:embed="rId3">
            <a:alphaModFix/>
          </a:blip>
          <a:stretch>
            <a:fillRect/>
          </a:stretch>
        </p:blipFill>
        <p:spPr>
          <a:xfrm>
            <a:off x="966563" y="2488575"/>
            <a:ext cx="7153275" cy="2171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27" name="Google Shape;227;p35"/>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.2.1 </a:t>
            </a:r>
            <a:r>
              <a:rPr lang="en">
                <a:solidFill>
                  <a:schemeClr val="dk1"/>
                </a:solidFill>
                <a:latin typeface="Lora"/>
                <a:ea typeface="Lora"/>
                <a:cs typeface="Lora"/>
                <a:sym typeface="Lora"/>
              </a:rPr>
              <a:t>The Artifacts View</a:t>
            </a:r>
            <a:endParaRPr i="1">
              <a:solidFill>
                <a:schemeClr val="dk1"/>
              </a:solidFill>
              <a:latin typeface="Lora"/>
              <a:ea typeface="Lora"/>
              <a:cs typeface="Lora"/>
              <a:sym typeface="Lora"/>
            </a:endParaRPr>
          </a:p>
        </p:txBody>
      </p:sp>
      <p:sp>
        <p:nvSpPr>
          <p:cNvPr id="228" name="Google Shape;228;p35"/>
          <p:cNvSpPr txBox="1"/>
          <p:nvPr/>
        </p:nvSpPr>
        <p:spPr>
          <a:xfrm>
            <a:off x="801725" y="1097250"/>
            <a:ext cx="73500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 sz="1200">
                <a:solidFill>
                  <a:schemeClr val="dk1"/>
                </a:solidFill>
                <a:latin typeface="Lora"/>
                <a:ea typeface="Lora"/>
                <a:cs typeface="Lora"/>
                <a:sym typeface="Lora"/>
              </a:rPr>
              <a:t>In the MLflow UI, you can navigate to a run's "Artifacts" section to see the logged model files. This directory is your self-contained, deployable model package. You'll see the ML model file</a:t>
            </a:r>
            <a:endParaRPr sz="1300">
              <a:solidFill>
                <a:schemeClr val="dk1"/>
              </a:solidFill>
              <a:latin typeface="Lora"/>
              <a:ea typeface="Lora"/>
              <a:cs typeface="Lora"/>
              <a:sym typeface="Lora"/>
            </a:endParaRPr>
          </a:p>
        </p:txBody>
      </p:sp>
      <p:pic>
        <p:nvPicPr>
          <p:cNvPr id="229" name="Google Shape;229;p35"/>
          <p:cNvPicPr preferRelativeResize="0"/>
          <p:nvPr/>
        </p:nvPicPr>
        <p:blipFill>
          <a:blip r:embed="rId3">
            <a:alphaModFix/>
          </a:blip>
          <a:stretch>
            <a:fillRect/>
          </a:stretch>
        </p:blipFill>
        <p:spPr>
          <a:xfrm>
            <a:off x="976275" y="1755150"/>
            <a:ext cx="7175475" cy="27420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6"/>
          <p:cNvSpPr txBox="1"/>
          <p:nvPr/>
        </p:nvSpPr>
        <p:spPr>
          <a:xfrm>
            <a:off x="486900" y="700975"/>
            <a:ext cx="78966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t/>
            </a:r>
            <a:endParaRPr b="1" sz="1200">
              <a:solidFill>
                <a:schemeClr val="dk1"/>
              </a:solidFill>
              <a:latin typeface="Lora"/>
              <a:ea typeface="Lora"/>
              <a:cs typeface="Lora"/>
              <a:sym typeface="Lora"/>
            </a:endParaRPr>
          </a:p>
        </p:txBody>
      </p:sp>
      <p:pic>
        <p:nvPicPr>
          <p:cNvPr id="235" name="Google Shape;235;p36" title="databricks-adds-access-control-to-mlflow-model-registry_01.jpg"/>
          <p:cNvPicPr preferRelativeResize="0"/>
          <p:nvPr/>
        </p:nvPicPr>
        <p:blipFill>
          <a:blip r:embed="rId3">
            <a:alphaModFix/>
          </a:blip>
          <a:stretch>
            <a:fillRect/>
          </a:stretch>
        </p:blipFill>
        <p:spPr>
          <a:xfrm>
            <a:off x="612900" y="687550"/>
            <a:ext cx="8031174" cy="4015700"/>
          </a:xfrm>
          <a:prstGeom prst="rect">
            <a:avLst/>
          </a:prstGeom>
          <a:noFill/>
          <a:ln>
            <a:noFill/>
          </a:ln>
        </p:spPr>
      </p:pic>
      <p:sp>
        <p:nvSpPr>
          <p:cNvPr id="236" name="Google Shape;236;p36"/>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37" name="Google Shape;237;p36"/>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.3 Model Registration</a:t>
            </a:r>
            <a:endParaRPr i="1">
              <a:solidFill>
                <a:schemeClr val="dk1"/>
              </a:solidFill>
              <a:latin typeface="Lora"/>
              <a:ea typeface="Lora"/>
              <a:cs typeface="Lora"/>
              <a:sym typeface="Lor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43" name="Google Shape;243;p37"/>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.3 </a:t>
            </a:r>
            <a:r>
              <a:rPr lang="en">
                <a:solidFill>
                  <a:schemeClr val="dk1"/>
                </a:solidFill>
                <a:latin typeface="Lora"/>
                <a:ea typeface="Lora"/>
                <a:cs typeface="Lora"/>
                <a:sym typeface="Lora"/>
              </a:rPr>
              <a:t>Model Registration</a:t>
            </a:r>
            <a:endParaRPr i="1">
              <a:solidFill>
                <a:schemeClr val="dk1"/>
              </a:solidFill>
              <a:latin typeface="Lora"/>
              <a:ea typeface="Lora"/>
              <a:cs typeface="Lora"/>
              <a:sym typeface="Lora"/>
            </a:endParaRPr>
          </a:p>
        </p:txBody>
      </p:sp>
      <p:sp>
        <p:nvSpPr>
          <p:cNvPr id="244" name="Google Shape;244;p37"/>
          <p:cNvSpPr txBox="1"/>
          <p:nvPr/>
        </p:nvSpPr>
        <p:spPr>
          <a:xfrm>
            <a:off x="801725" y="1097250"/>
            <a:ext cx="7350000" cy="152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1200">
                <a:solidFill>
                  <a:schemeClr val="dk1"/>
                </a:solidFill>
                <a:latin typeface="Lora"/>
                <a:ea typeface="Lora"/>
                <a:cs typeface="Lora"/>
                <a:sym typeface="Lora"/>
              </a:rPr>
              <a:t>Here we use a </a:t>
            </a:r>
            <a:r>
              <a:rPr lang="en" sz="1200">
                <a:solidFill>
                  <a:schemeClr val="dk1"/>
                </a:solidFill>
                <a:latin typeface="Lora"/>
                <a:ea typeface="Lora"/>
                <a:cs typeface="Lora"/>
                <a:sym typeface="Lora"/>
              </a:rPr>
              <a:t>component</a:t>
            </a:r>
            <a:r>
              <a:rPr lang="en" sz="1200">
                <a:solidFill>
                  <a:schemeClr val="dk1"/>
                </a:solidFill>
                <a:latin typeface="Lora"/>
                <a:ea typeface="Lora"/>
                <a:cs typeface="Lora"/>
                <a:sym typeface="Lora"/>
              </a:rPr>
              <a:t> called Model Registry. It is a centralized model store, API, and UI to collaboratively manage the full lifecycle of an MLflow Model.</a:t>
            </a:r>
            <a:endParaRPr sz="1200">
              <a:solidFill>
                <a:schemeClr val="dk1"/>
              </a:solidFill>
              <a:latin typeface="Lora"/>
              <a:ea typeface="Lora"/>
              <a:cs typeface="Lora"/>
              <a:sym typeface="Lora"/>
            </a:endParaRPr>
          </a:p>
          <a:p>
            <a:pPr indent="0" lvl="0" marL="0" rtl="0" algn="just">
              <a:lnSpc>
                <a:spcPct val="115000"/>
              </a:lnSpc>
              <a:spcBef>
                <a:spcPts val="1200"/>
              </a:spcBef>
              <a:spcAft>
                <a:spcPts val="0"/>
              </a:spcAft>
              <a:buNone/>
            </a:pPr>
            <a:r>
              <a:rPr b="1" lang="en" sz="1200">
                <a:solidFill>
                  <a:schemeClr val="dk1"/>
                </a:solidFill>
                <a:latin typeface="Lora"/>
                <a:ea typeface="Lora"/>
                <a:cs typeface="Lora"/>
                <a:sym typeface="Lora"/>
              </a:rPr>
              <a:t>Why we need it:</a:t>
            </a:r>
            <a:r>
              <a:rPr lang="en" sz="1200">
                <a:solidFill>
                  <a:schemeClr val="dk1"/>
                </a:solidFill>
                <a:latin typeface="Lora"/>
                <a:ea typeface="Lora"/>
                <a:cs typeface="Lora"/>
                <a:sym typeface="Lora"/>
              </a:rPr>
              <a:t> To solve the "unorganized" model problem and provide a structured, auditable way to manage the model lifecycle from development to production.</a:t>
            </a:r>
            <a:endParaRPr sz="1200">
              <a:solidFill>
                <a:schemeClr val="dk1"/>
              </a:solidFill>
              <a:latin typeface="Lora"/>
              <a:ea typeface="Lora"/>
              <a:cs typeface="Lora"/>
              <a:sym typeface="Lora"/>
            </a:endParaRPr>
          </a:p>
          <a:p>
            <a:pPr indent="0" lvl="0" marL="0" rtl="0" algn="just">
              <a:lnSpc>
                <a:spcPct val="115000"/>
              </a:lnSpc>
              <a:spcBef>
                <a:spcPts val="1200"/>
              </a:spcBef>
              <a:spcAft>
                <a:spcPts val="1200"/>
              </a:spcAft>
              <a:buNone/>
            </a:pPr>
            <a:r>
              <a:rPr lang="en" sz="1200">
                <a:solidFill>
                  <a:schemeClr val="dk1"/>
                </a:solidFill>
                <a:latin typeface="Lora"/>
                <a:ea typeface="Lora"/>
                <a:cs typeface="Lora"/>
                <a:sym typeface="Lora"/>
              </a:rPr>
              <a:t>You can register a model directly when you log it, or after a run is complete</a:t>
            </a:r>
            <a:endParaRPr sz="1200">
              <a:solidFill>
                <a:schemeClr val="dk1"/>
              </a:solidFill>
              <a:latin typeface="Lora"/>
              <a:ea typeface="Lora"/>
              <a:cs typeface="Lora"/>
              <a:sym typeface="Lora"/>
            </a:endParaRPr>
          </a:p>
        </p:txBody>
      </p:sp>
      <p:sp>
        <p:nvSpPr>
          <p:cNvPr id="245" name="Google Shape;245;p37"/>
          <p:cNvSpPr txBox="1"/>
          <p:nvPr/>
        </p:nvSpPr>
        <p:spPr>
          <a:xfrm>
            <a:off x="881525" y="2593350"/>
            <a:ext cx="3853500" cy="21876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900">
                <a:solidFill>
                  <a:schemeClr val="dk2"/>
                </a:solidFill>
                <a:highlight>
                  <a:schemeClr val="lt2"/>
                </a:highlight>
                <a:latin typeface="Consolas"/>
                <a:ea typeface="Consolas"/>
                <a:cs typeface="Consolas"/>
                <a:sym typeface="Consolas"/>
              </a:rPr>
              <a:t>Option 1: Log and register in one step</a:t>
            </a:r>
            <a:endParaRPr sz="900">
              <a:solidFill>
                <a:schemeClr val="dk2"/>
              </a:solidFill>
              <a:highlight>
                <a:schemeClr val="lt2"/>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900">
                <a:solidFill>
                  <a:srgbClr val="700080"/>
                </a:solidFill>
                <a:highlight>
                  <a:schemeClr val="lt2"/>
                </a:highlight>
                <a:latin typeface="Roboto Mono"/>
                <a:ea typeface="Roboto Mono"/>
                <a:cs typeface="Roboto Mono"/>
                <a:sym typeface="Roboto Mono"/>
              </a:rPr>
              <a:t>with</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mlflow</a:t>
            </a:r>
            <a:r>
              <a:rPr lang="en" sz="900">
                <a:highlight>
                  <a:schemeClr val="lt2"/>
                </a:highlight>
                <a:latin typeface="Roboto Mono"/>
                <a:ea typeface="Roboto Mono"/>
                <a:cs typeface="Roboto Mono"/>
                <a:sym typeface="Roboto Mono"/>
              </a:rPr>
              <a:t>.</a:t>
            </a:r>
            <a:r>
              <a:rPr lang="en" sz="900">
                <a:solidFill>
                  <a:srgbClr val="572000"/>
                </a:solidFill>
                <a:highlight>
                  <a:schemeClr val="lt2"/>
                </a:highlight>
                <a:latin typeface="Roboto Mono"/>
                <a:ea typeface="Roboto Mono"/>
                <a:cs typeface="Roboto Mono"/>
                <a:sym typeface="Roboto Mono"/>
              </a:rPr>
              <a:t>start_run</a:t>
            </a:r>
            <a:r>
              <a:rPr lang="en" sz="900">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nested</a:t>
            </a:r>
            <a:r>
              <a:rPr b="1" lang="en" sz="900">
                <a:solidFill>
                  <a:srgbClr val="EE11FF"/>
                </a:solidFill>
                <a:highlight>
                  <a:schemeClr val="lt2"/>
                </a:highlight>
                <a:latin typeface="Roboto Mono"/>
                <a:ea typeface="Roboto Mono"/>
                <a:cs typeface="Roboto Mono"/>
                <a:sym typeface="Roboto Mono"/>
              </a:rPr>
              <a:t>=</a:t>
            </a:r>
            <a:r>
              <a:rPr b="1" lang="en" sz="900">
                <a:solidFill>
                  <a:srgbClr val="700080"/>
                </a:solidFill>
                <a:highlight>
                  <a:schemeClr val="lt2"/>
                </a:highlight>
                <a:latin typeface="Roboto Mono"/>
                <a:ea typeface="Roboto Mono"/>
                <a:cs typeface="Roboto Mono"/>
                <a:sym typeface="Roboto Mono"/>
              </a:rPr>
              <a:t>True</a:t>
            </a:r>
            <a:r>
              <a:rPr lang="en" sz="900">
                <a:highlight>
                  <a:schemeClr val="lt2"/>
                </a:highlight>
                <a:latin typeface="Roboto Mono"/>
                <a:ea typeface="Roboto Mono"/>
                <a:cs typeface="Roboto Mono"/>
                <a:sym typeface="Roboto Mono"/>
              </a:rPr>
              <a:t>) </a:t>
            </a:r>
            <a:r>
              <a:rPr b="1" lang="en" sz="900">
                <a:solidFill>
                  <a:srgbClr val="700080"/>
                </a:solidFill>
                <a:highlight>
                  <a:schemeClr val="lt2"/>
                </a:highlight>
                <a:latin typeface="Roboto Mono"/>
                <a:ea typeface="Roboto Mono"/>
                <a:cs typeface="Roboto Mono"/>
                <a:sym typeface="Roboto Mono"/>
              </a:rPr>
              <a:t>as</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current_run</a:t>
            </a:r>
            <a:r>
              <a:rPr lang="en" sz="900">
                <a:highlight>
                  <a:schemeClr val="lt2"/>
                </a:highlight>
                <a:latin typeface="Roboto Mono"/>
                <a:ea typeface="Roboto Mono"/>
                <a:cs typeface="Roboto Mono"/>
                <a:sym typeface="Roboto Mono"/>
              </a:rPr>
              <a:t>:</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log_model_info</a:t>
            </a:r>
            <a:r>
              <a:rPr lang="en" sz="900">
                <a:highlight>
                  <a:schemeClr val="lt2"/>
                </a:highlight>
                <a:latin typeface="Roboto Mono"/>
                <a:ea typeface="Roboto Mono"/>
                <a:cs typeface="Roboto Mono"/>
                <a:sym typeface="Roboto Mono"/>
              </a:rPr>
              <a:t> </a:t>
            </a:r>
            <a:r>
              <a:rPr b="1" lang="en" sz="900">
                <a:solidFill>
                  <a:srgbClr val="EE11FF"/>
                </a:solidFill>
                <a:highlight>
                  <a:schemeClr val="lt2"/>
                </a:highlight>
                <a:latin typeface="Roboto Mono"/>
                <a:ea typeface="Roboto Mono"/>
                <a:cs typeface="Roboto Mono"/>
                <a:sym typeface="Roboto Mono"/>
              </a:rPr>
              <a:t>=</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ms</a:t>
            </a:r>
            <a:r>
              <a:rPr lang="en" sz="900">
                <a:highlight>
                  <a:schemeClr val="lt2"/>
                </a:highlight>
                <a:latin typeface="Roboto Mono"/>
                <a:ea typeface="Roboto Mono"/>
                <a:cs typeface="Roboto Mono"/>
                <a:sym typeface="Roboto Mono"/>
              </a:rPr>
              <a:t>.</a:t>
            </a:r>
            <a:r>
              <a:rPr lang="en" sz="900">
                <a:solidFill>
                  <a:srgbClr val="572000"/>
                </a:solidFill>
                <a:highlight>
                  <a:schemeClr val="lt2"/>
                </a:highlight>
                <a:latin typeface="Roboto Mono"/>
                <a:ea typeface="Roboto Mono"/>
                <a:cs typeface="Roboto Mono"/>
                <a:sym typeface="Roboto Mono"/>
              </a:rPr>
              <a:t>log_model</a:t>
            </a:r>
            <a:r>
              <a:rPr lang="en" sz="900">
                <a:highlight>
                  <a:schemeClr val="lt2"/>
                </a:highlight>
                <a:latin typeface="Roboto Mono"/>
                <a:ea typeface="Roboto Mono"/>
                <a:cs typeface="Roboto Mono"/>
                <a:sym typeface="Roboto Mono"/>
              </a:rPr>
              <a:t>(</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sk_model</a:t>
            </a:r>
            <a:r>
              <a:rPr b="1" lang="en" sz="900">
                <a:solidFill>
                  <a:srgbClr val="EE11FF"/>
                </a:solidFill>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model</a:t>
            </a:r>
            <a:r>
              <a:rPr lang="en" sz="900">
                <a:highlight>
                  <a:schemeClr val="lt2"/>
                </a:highlight>
                <a:latin typeface="Roboto Mono"/>
                <a:ea typeface="Roboto Mono"/>
                <a:cs typeface="Roboto Mono"/>
                <a:sym typeface="Roboto Mono"/>
              </a:rPr>
              <a:t>,</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artifact_path</a:t>
            </a:r>
            <a:r>
              <a:rPr b="1" lang="en" sz="900">
                <a:solidFill>
                  <a:srgbClr val="EE11FF"/>
                </a:solidFill>
                <a:highlight>
                  <a:schemeClr val="lt2"/>
                </a:highlight>
                <a:latin typeface="Roboto Mono"/>
                <a:ea typeface="Roboto Mono"/>
                <a:cs typeface="Roboto Mono"/>
                <a:sym typeface="Roboto Mono"/>
              </a:rPr>
              <a:t>=</a:t>
            </a:r>
            <a:r>
              <a:rPr lang="en" sz="900">
                <a:solidFill>
                  <a:srgbClr val="A01010"/>
                </a:solidFill>
                <a:highlight>
                  <a:schemeClr val="lt2"/>
                </a:highlight>
                <a:latin typeface="Roboto Mono"/>
                <a:ea typeface="Roboto Mono"/>
                <a:cs typeface="Roboto Mono"/>
                <a:sym typeface="Roboto Mono"/>
              </a:rPr>
              <a:t>"tuned_temperature_forecaster"</a:t>
            </a:r>
            <a:r>
              <a:rPr lang="en" sz="900">
                <a:highlight>
                  <a:schemeClr val="lt2"/>
                </a:highlight>
                <a:latin typeface="Roboto Mono"/>
                <a:ea typeface="Roboto Mono"/>
                <a:cs typeface="Roboto Mono"/>
                <a:sym typeface="Roboto Mono"/>
              </a:rPr>
              <a:t>,</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input_example</a:t>
            </a:r>
            <a:r>
              <a:rPr b="1" lang="en" sz="900">
                <a:solidFill>
                  <a:srgbClr val="EE11FF"/>
                </a:solidFill>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pd</a:t>
            </a:r>
            <a:r>
              <a:rPr lang="en" sz="900">
                <a:highlight>
                  <a:schemeClr val="lt2"/>
                </a:highlight>
                <a:latin typeface="Roboto Mono"/>
                <a:ea typeface="Roboto Mono"/>
                <a:cs typeface="Roboto Mono"/>
                <a:sym typeface="Roboto Mono"/>
              </a:rPr>
              <a:t>.</a:t>
            </a:r>
            <a:r>
              <a:rPr lang="en" sz="900">
                <a:solidFill>
                  <a:srgbClr val="572000"/>
                </a:solidFill>
                <a:highlight>
                  <a:schemeClr val="lt2"/>
                </a:highlight>
                <a:latin typeface="Roboto Mono"/>
                <a:ea typeface="Roboto Mono"/>
                <a:cs typeface="Roboto Mono"/>
                <a:sym typeface="Roboto Mono"/>
              </a:rPr>
              <a:t>DataFrame</a:t>
            </a:r>
            <a:r>
              <a:rPr lang="en" sz="900">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X_test</a:t>
            </a:r>
            <a:r>
              <a:rPr lang="en" sz="900">
                <a:highlight>
                  <a:schemeClr val="lt2"/>
                </a:highlight>
                <a:latin typeface="Roboto Mono"/>
                <a:ea typeface="Roboto Mono"/>
                <a:cs typeface="Roboto Mono"/>
                <a:sym typeface="Roboto Mono"/>
              </a:rPr>
              <a:t>[:</a:t>
            </a:r>
            <a:r>
              <a:rPr lang="en" sz="900">
                <a:solidFill>
                  <a:srgbClr val="3000A0"/>
                </a:solidFill>
                <a:highlight>
                  <a:schemeClr val="lt2"/>
                </a:highlight>
                <a:latin typeface="Roboto Mono"/>
                <a:ea typeface="Roboto Mono"/>
                <a:cs typeface="Roboto Mono"/>
                <a:sym typeface="Roboto Mono"/>
              </a:rPr>
              <a:t>min</a:t>
            </a:r>
            <a:r>
              <a:rPr lang="en" sz="900">
                <a:highlight>
                  <a:schemeClr val="lt2"/>
                </a:highlight>
                <a:latin typeface="Roboto Mono"/>
                <a:ea typeface="Roboto Mono"/>
                <a:cs typeface="Roboto Mono"/>
                <a:sym typeface="Roboto Mono"/>
              </a:rPr>
              <a:t>(</a:t>
            </a:r>
            <a:r>
              <a:rPr lang="en" sz="900">
                <a:solidFill>
                  <a:srgbClr val="106040"/>
                </a:solidFill>
                <a:highlight>
                  <a:schemeClr val="lt2"/>
                </a:highlight>
                <a:latin typeface="Roboto Mono"/>
                <a:ea typeface="Roboto Mono"/>
                <a:cs typeface="Roboto Mono"/>
                <a:sym typeface="Roboto Mono"/>
              </a:rPr>
              <a:t>5</a:t>
            </a:r>
            <a:r>
              <a:rPr lang="en" sz="900">
                <a:highlight>
                  <a:schemeClr val="lt2"/>
                </a:highlight>
                <a:latin typeface="Roboto Mono"/>
                <a:ea typeface="Roboto Mono"/>
                <a:cs typeface="Roboto Mono"/>
                <a:sym typeface="Roboto Mono"/>
              </a:rPr>
              <a:t>, </a:t>
            </a:r>
            <a:r>
              <a:rPr lang="en" sz="900">
                <a:solidFill>
                  <a:srgbClr val="3000A0"/>
                </a:solidFill>
                <a:highlight>
                  <a:schemeClr val="lt2"/>
                </a:highlight>
                <a:latin typeface="Roboto Mono"/>
                <a:ea typeface="Roboto Mono"/>
                <a:cs typeface="Roboto Mono"/>
                <a:sym typeface="Roboto Mono"/>
              </a:rPr>
              <a:t>len</a:t>
            </a:r>
            <a:r>
              <a:rPr lang="en" sz="900">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X_test</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columns</a:t>
            </a:r>
            <a:r>
              <a:rPr b="1" lang="en" sz="900">
                <a:solidFill>
                  <a:srgbClr val="EE11FF"/>
                </a:solidFill>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feature_names</a:t>
            </a:r>
            <a:r>
              <a:rPr lang="en" sz="900">
                <a:highlight>
                  <a:schemeClr val="lt2"/>
                </a:highlight>
                <a:latin typeface="Roboto Mono"/>
                <a:ea typeface="Roboto Mono"/>
                <a:cs typeface="Roboto Mono"/>
                <a:sym typeface="Roboto Mono"/>
              </a:rPr>
              <a:t>),</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registered_model_name</a:t>
            </a:r>
            <a:r>
              <a:rPr b="1" lang="en" sz="900">
                <a:solidFill>
                  <a:srgbClr val="EE11FF"/>
                </a:solidFill>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registered_model_name</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highlight>
                  <a:schemeClr val="lt2"/>
                </a:highlight>
                <a:latin typeface="Roboto Mono"/>
                <a:ea typeface="Roboto Mono"/>
                <a:cs typeface="Roboto Mono"/>
                <a:sym typeface="Roboto Mono"/>
              </a:rPr>
              <a:t>        )</a:t>
            </a:r>
            <a:endParaRPr sz="900">
              <a:highlight>
                <a:schemeClr val="lt2"/>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b="1" sz="1100">
              <a:solidFill>
                <a:srgbClr val="595959"/>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595959"/>
              </a:solidFill>
              <a:latin typeface="Courier New"/>
              <a:ea typeface="Courier New"/>
              <a:cs typeface="Courier New"/>
              <a:sym typeface="Courier New"/>
            </a:endParaRPr>
          </a:p>
        </p:txBody>
      </p:sp>
      <p:sp>
        <p:nvSpPr>
          <p:cNvPr id="246" name="Google Shape;246;p37"/>
          <p:cNvSpPr txBox="1"/>
          <p:nvPr/>
        </p:nvSpPr>
        <p:spPr>
          <a:xfrm>
            <a:off x="4913550" y="2624250"/>
            <a:ext cx="3690600" cy="21876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Courier New"/>
                <a:ea typeface="Courier New"/>
                <a:cs typeface="Courier New"/>
                <a:sym typeface="Courier New"/>
              </a:rPr>
              <a:t>Option 2: Register an existing model from a run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1AB1CD"/>
                </a:solidFill>
                <a:latin typeface="Roboto Mono"/>
                <a:ea typeface="Roboto Mono"/>
                <a:cs typeface="Roboto Mono"/>
                <a:sym typeface="Roboto Mono"/>
              </a:rPr>
              <a:t>result</a:t>
            </a:r>
            <a:r>
              <a:rPr lang="en" sz="1000">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a:t>
            </a:r>
            <a:r>
              <a:rPr lang="en" sz="1000">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mlflow</a:t>
            </a:r>
            <a:r>
              <a:rPr lang="en" sz="1000">
                <a:latin typeface="Roboto Mono"/>
                <a:ea typeface="Roboto Mono"/>
                <a:cs typeface="Roboto Mono"/>
                <a:sym typeface="Roboto Mono"/>
              </a:rPr>
              <a:t>.</a:t>
            </a:r>
            <a:r>
              <a:rPr lang="en" sz="1000">
                <a:solidFill>
                  <a:srgbClr val="572000"/>
                </a:solidFill>
                <a:latin typeface="Roboto Mono"/>
                <a:ea typeface="Roboto Mono"/>
                <a:cs typeface="Roboto Mono"/>
                <a:sym typeface="Roboto Mono"/>
              </a:rPr>
              <a:t>register_model</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457200" lvl="0" marL="0" rtl="0" algn="l">
              <a:spcBef>
                <a:spcPts val="0"/>
              </a:spcBef>
              <a:spcAft>
                <a:spcPts val="0"/>
              </a:spcAft>
              <a:buNone/>
            </a:pPr>
            <a:r>
              <a:rPr lang="en" sz="1000">
                <a:solidFill>
                  <a:srgbClr val="A01010"/>
                </a:solidFill>
                <a:latin typeface="Roboto Mono"/>
                <a:ea typeface="Roboto Mono"/>
                <a:cs typeface="Roboto Mono"/>
                <a:sym typeface="Roboto Mono"/>
              </a:rPr>
              <a:t>"runs:/d16076a3ec534311817565e6527539c0/model"</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457200" lvl="0" marL="0" rtl="0" algn="l">
              <a:spcBef>
                <a:spcPts val="0"/>
              </a:spcBef>
              <a:spcAft>
                <a:spcPts val="0"/>
              </a:spcAft>
              <a:buNone/>
            </a:pPr>
            <a:r>
              <a:rPr lang="en" sz="1000">
                <a:solidFill>
                  <a:srgbClr val="A01010"/>
                </a:solidFill>
                <a:latin typeface="Roboto Mono"/>
                <a:ea typeface="Roboto Mono"/>
                <a:cs typeface="Roboto Mono"/>
                <a:sym typeface="Roboto Mono"/>
              </a:rPr>
              <a:t>"</a:t>
            </a:r>
            <a:r>
              <a:rPr lang="en" sz="1000">
                <a:solidFill>
                  <a:srgbClr val="A01010"/>
                </a:solidFill>
                <a:highlight>
                  <a:schemeClr val="lt2"/>
                </a:highlight>
                <a:latin typeface="Roboto Mono"/>
                <a:ea typeface="Roboto Mono"/>
                <a:cs typeface="Roboto Mono"/>
                <a:sym typeface="Roboto Mono"/>
              </a:rPr>
              <a:t>registered_model_name</a:t>
            </a:r>
            <a:r>
              <a:rPr lang="en" sz="1000">
                <a:solidFill>
                  <a:srgbClr val="A01010"/>
                </a:solidFill>
                <a:latin typeface="Roboto Mono"/>
                <a:ea typeface="Roboto Mono"/>
                <a:cs typeface="Roboto Mono"/>
                <a:sym typeface="Roboto Mono"/>
              </a:rPr>
              <a:t>"</a:t>
            </a:r>
            <a:endParaRPr sz="1000">
              <a:latin typeface="Roboto Mono"/>
              <a:ea typeface="Roboto Mono"/>
              <a:cs typeface="Roboto Mono"/>
              <a:sym typeface="Roboto Mono"/>
            </a:endParaRPr>
          </a:p>
          <a:p>
            <a:pPr indent="457200" lvl="0" marL="0" rtl="0" algn="l">
              <a:spcBef>
                <a:spcPts val="0"/>
              </a:spcBef>
              <a:spcAft>
                <a:spcPts val="0"/>
              </a:spcAft>
              <a:buNone/>
            </a:pPr>
            <a:r>
              <a:t/>
            </a:r>
            <a:endParaRPr sz="1000">
              <a:latin typeface="Roboto Mono"/>
              <a:ea typeface="Roboto Mono"/>
              <a:cs typeface="Roboto Mono"/>
              <a:sym typeface="Roboto Mono"/>
            </a:endParaRPr>
          </a:p>
          <a:p>
            <a:pPr indent="0" lvl="0" marL="0" rtl="0" algn="l">
              <a:spcBef>
                <a:spcPts val="0"/>
              </a:spcBef>
              <a:spcAft>
                <a:spcPts val="0"/>
              </a:spcAft>
              <a:buNone/>
            </a:pPr>
            <a:r>
              <a:rPr lang="en" sz="1000">
                <a:latin typeface="Roboto Mono"/>
                <a:ea typeface="Roboto Mono"/>
                <a:cs typeface="Roboto Mono"/>
                <a:sym typeface="Roboto Mono"/>
              </a:rPr>
              <a:t>	</a:t>
            </a:r>
            <a:r>
              <a:rPr lang="en" sz="1000">
                <a:highlight>
                  <a:schemeClr val="lt2"/>
                </a:highlight>
                <a:latin typeface="Roboto Mono"/>
                <a:ea typeface="Roboto Mono"/>
                <a:cs typeface="Roboto Mono"/>
                <a:sym typeface="Roboto Mono"/>
              </a:rPr>
              <a:t>)</a:t>
            </a:r>
            <a:endParaRPr sz="1000">
              <a:latin typeface="Roboto Mono"/>
              <a:ea typeface="Roboto Mono"/>
              <a:cs typeface="Roboto Mono"/>
              <a:sym typeface="Roboto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52" name="Google Shape;252;p38"/>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.3.1</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The Model Registry UI</a:t>
            </a:r>
            <a:endParaRPr i="1">
              <a:solidFill>
                <a:schemeClr val="dk1"/>
              </a:solidFill>
              <a:latin typeface="Lora"/>
              <a:ea typeface="Lora"/>
              <a:cs typeface="Lora"/>
              <a:sym typeface="Lora"/>
            </a:endParaRPr>
          </a:p>
        </p:txBody>
      </p:sp>
      <p:sp>
        <p:nvSpPr>
          <p:cNvPr id="253" name="Google Shape;253;p38"/>
          <p:cNvSpPr txBox="1"/>
          <p:nvPr/>
        </p:nvSpPr>
        <p:spPr>
          <a:xfrm>
            <a:off x="727725" y="1011425"/>
            <a:ext cx="7880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Lora"/>
                <a:ea typeface="Lora"/>
                <a:cs typeface="Lora"/>
                <a:sym typeface="Lora"/>
              </a:rPr>
              <a:t>The Model Registry UI provides a central place to view and manage all your registered models, their versions, and their current stage.</a:t>
            </a:r>
            <a:endParaRPr sz="1200">
              <a:latin typeface="Lora"/>
              <a:ea typeface="Lora"/>
              <a:cs typeface="Lora"/>
              <a:sym typeface="Lora"/>
            </a:endParaRPr>
          </a:p>
        </p:txBody>
      </p:sp>
      <p:pic>
        <p:nvPicPr>
          <p:cNvPr id="254" name="Google Shape;254;p38"/>
          <p:cNvPicPr preferRelativeResize="0"/>
          <p:nvPr/>
        </p:nvPicPr>
        <p:blipFill>
          <a:blip r:embed="rId3">
            <a:alphaModFix/>
          </a:blip>
          <a:stretch>
            <a:fillRect/>
          </a:stretch>
        </p:blipFill>
        <p:spPr>
          <a:xfrm>
            <a:off x="729375" y="1641725"/>
            <a:ext cx="8128499" cy="3083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60" name="Google Shape;260;p39"/>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.3.2</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Stages transition</a:t>
            </a:r>
            <a:endParaRPr i="1">
              <a:solidFill>
                <a:schemeClr val="dk1"/>
              </a:solidFill>
              <a:latin typeface="Lora"/>
              <a:ea typeface="Lora"/>
              <a:cs typeface="Lora"/>
              <a:sym typeface="Lora"/>
            </a:endParaRPr>
          </a:p>
        </p:txBody>
      </p:sp>
      <p:sp>
        <p:nvSpPr>
          <p:cNvPr id="261" name="Google Shape;261;p39"/>
          <p:cNvSpPr txBox="1"/>
          <p:nvPr/>
        </p:nvSpPr>
        <p:spPr>
          <a:xfrm>
            <a:off x="727725" y="1011425"/>
            <a:ext cx="7880400" cy="328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Lora"/>
                <a:ea typeface="Lora"/>
                <a:cs typeface="Lora"/>
                <a:sym typeface="Lora"/>
              </a:rPr>
              <a:t>The Model Registry allows you to manage the lifecycle of your models:</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Versioning:</a:t>
            </a:r>
            <a:r>
              <a:rPr lang="en" sz="1200">
                <a:solidFill>
                  <a:schemeClr val="dk1"/>
                </a:solidFill>
                <a:latin typeface="Lora"/>
                <a:ea typeface="Lora"/>
                <a:cs typeface="Lora"/>
                <a:sym typeface="Lora"/>
              </a:rPr>
              <a:t> Automatically creates a new version for each newly registered model.</a:t>
            </a:r>
            <a:endParaRPr sz="1200">
              <a:solidFill>
                <a:schemeClr val="dk1"/>
              </a:solidFill>
              <a:latin typeface="Lora"/>
              <a:ea typeface="Lora"/>
              <a:cs typeface="Lora"/>
              <a:sym typeface="Lora"/>
            </a:endParaRPr>
          </a:p>
          <a:p>
            <a:pPr indent="-311150" lvl="0" marL="457200" rtl="0" algn="l">
              <a:lnSpc>
                <a:spcPct val="150000"/>
              </a:lnSpc>
              <a:spcBef>
                <a:spcPts val="0"/>
              </a:spcBef>
              <a:spcAft>
                <a:spcPts val="0"/>
              </a:spcAft>
              <a:buClr>
                <a:schemeClr val="dk1"/>
              </a:buClr>
              <a:buSzPts val="1300"/>
              <a:buFont typeface="Lora"/>
              <a:buChar char="●"/>
            </a:pPr>
            <a:r>
              <a:rPr b="1" lang="en" sz="1200">
                <a:solidFill>
                  <a:schemeClr val="dk1"/>
                </a:solidFill>
                <a:latin typeface="Lora"/>
                <a:ea typeface="Lora"/>
                <a:cs typeface="Lora"/>
                <a:sym typeface="Lora"/>
              </a:rPr>
              <a:t>Annotations:</a:t>
            </a:r>
            <a:r>
              <a:rPr lang="en" sz="1200">
                <a:solidFill>
                  <a:schemeClr val="dk1"/>
                </a:solidFill>
                <a:latin typeface="Lora"/>
                <a:ea typeface="Lora"/>
                <a:cs typeface="Lora"/>
                <a:sym typeface="Lora"/>
              </a:rPr>
              <a:t> Add descriptions and tags to your models for better organization</a:t>
            </a:r>
            <a:endParaRPr sz="13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Stage Transitions:</a:t>
            </a:r>
            <a:r>
              <a:rPr lang="en" sz="1200">
                <a:solidFill>
                  <a:schemeClr val="dk1"/>
                </a:solidFill>
                <a:latin typeface="Lora"/>
                <a:ea typeface="Lora"/>
                <a:cs typeface="Lora"/>
                <a:sym typeface="Lora"/>
              </a:rPr>
              <a:t> Move model versions between stages like </a:t>
            </a:r>
            <a:r>
              <a:rPr b="1" lang="en" sz="1200">
                <a:solidFill>
                  <a:schemeClr val="dk1"/>
                </a:solidFill>
                <a:latin typeface="Lora"/>
                <a:ea typeface="Lora"/>
                <a:cs typeface="Lora"/>
                <a:sym typeface="Lora"/>
              </a:rPr>
              <a:t>None,</a:t>
            </a:r>
            <a:r>
              <a:rPr lang="en" sz="1200">
                <a:solidFill>
                  <a:schemeClr val="dk1"/>
                </a:solidFill>
                <a:latin typeface="Lora"/>
                <a:ea typeface="Lora"/>
                <a:cs typeface="Lora"/>
                <a:sym typeface="Lora"/>
              </a:rPr>
              <a:t> </a:t>
            </a:r>
            <a:r>
              <a:rPr b="1" lang="en" sz="1200">
                <a:solidFill>
                  <a:schemeClr val="dk1"/>
                </a:solidFill>
                <a:latin typeface="Lora"/>
                <a:ea typeface="Lora"/>
                <a:cs typeface="Lora"/>
                <a:sym typeface="Lora"/>
              </a:rPr>
              <a:t>Staging</a:t>
            </a:r>
            <a:r>
              <a:rPr lang="en" sz="1200">
                <a:solidFill>
                  <a:schemeClr val="dk1"/>
                </a:solidFill>
                <a:latin typeface="Lora"/>
                <a:ea typeface="Lora"/>
                <a:cs typeface="Lora"/>
                <a:sym typeface="Lora"/>
              </a:rPr>
              <a:t>, </a:t>
            </a:r>
            <a:r>
              <a:rPr b="1" lang="en" sz="1200">
                <a:solidFill>
                  <a:schemeClr val="dk1"/>
                </a:solidFill>
                <a:latin typeface="Lora"/>
                <a:ea typeface="Lora"/>
                <a:cs typeface="Lora"/>
                <a:sym typeface="Lora"/>
              </a:rPr>
              <a:t>Production</a:t>
            </a:r>
            <a:r>
              <a:rPr lang="en" sz="1200">
                <a:solidFill>
                  <a:schemeClr val="dk1"/>
                </a:solidFill>
                <a:latin typeface="Lora"/>
                <a:ea typeface="Lora"/>
                <a:cs typeface="Lora"/>
                <a:sym typeface="Lora"/>
              </a:rPr>
              <a:t>, and </a:t>
            </a:r>
            <a:r>
              <a:rPr b="1" lang="en" sz="1200">
                <a:solidFill>
                  <a:schemeClr val="dk1"/>
                </a:solidFill>
                <a:latin typeface="Lora"/>
                <a:ea typeface="Lora"/>
                <a:cs typeface="Lora"/>
                <a:sym typeface="Lora"/>
              </a:rPr>
              <a:t>Archived</a:t>
            </a:r>
            <a:r>
              <a:rPr lang="en" sz="1200">
                <a:solidFill>
                  <a:schemeClr val="dk1"/>
                </a:solidFill>
                <a:latin typeface="Lora"/>
                <a:ea typeface="Lora"/>
                <a:cs typeface="Lora"/>
                <a:sym typeface="Lora"/>
              </a:rPr>
              <a:t>. </a:t>
            </a:r>
            <a:r>
              <a:rPr lang="en" sz="1200">
                <a:solidFill>
                  <a:schemeClr val="dk1"/>
                </a:solidFill>
                <a:latin typeface="Lora"/>
                <a:ea typeface="Lora"/>
                <a:cs typeface="Lora"/>
                <a:sym typeface="Lora"/>
              </a:rPr>
              <a:t>These stage transitions can be done manually in the UI or automated through code</a:t>
            </a:r>
            <a:endParaRPr sz="1200">
              <a:solidFill>
                <a:schemeClr val="dk1"/>
              </a:solidFill>
              <a:latin typeface="Lora"/>
              <a:ea typeface="Lora"/>
              <a:cs typeface="Lora"/>
              <a:sym typeface="Lora"/>
            </a:endParaRPr>
          </a:p>
          <a:p>
            <a:pPr indent="0" lvl="0" marL="0" rtl="0" algn="l">
              <a:lnSpc>
                <a:spcPct val="150000"/>
              </a:lnSpc>
              <a:spcBef>
                <a:spcPts val="1200"/>
              </a:spcBef>
              <a:spcAft>
                <a:spcPts val="0"/>
              </a:spcAft>
              <a:buNone/>
            </a:pPr>
            <a:r>
              <a:rPr lang="en" sz="1200">
                <a:solidFill>
                  <a:schemeClr val="dk1"/>
                </a:solidFill>
                <a:latin typeface="Lora"/>
                <a:ea typeface="Lora"/>
                <a:cs typeface="Lora"/>
                <a:sym typeface="Lora"/>
              </a:rPr>
              <a:t>Explanation:</a:t>
            </a:r>
            <a:endParaRPr sz="1200">
              <a:solidFill>
                <a:schemeClr val="dk1"/>
              </a:solidFill>
              <a:latin typeface="Lora"/>
              <a:ea typeface="Lora"/>
              <a:cs typeface="Lora"/>
              <a:sym typeface="Lora"/>
            </a:endParaRPr>
          </a:p>
          <a:p>
            <a:pPr indent="-304800" lvl="0" marL="457200" rtl="0" algn="l">
              <a:lnSpc>
                <a:spcPct val="150000"/>
              </a:lnSpc>
              <a:spcBef>
                <a:spcPts val="1200"/>
              </a:spcBef>
              <a:spcAft>
                <a:spcPts val="0"/>
              </a:spcAft>
              <a:buClr>
                <a:schemeClr val="dk1"/>
              </a:buClr>
              <a:buSzPts val="1200"/>
              <a:buChar char="●"/>
            </a:pPr>
            <a:r>
              <a:rPr b="1" lang="en" sz="1200">
                <a:solidFill>
                  <a:schemeClr val="dk1"/>
                </a:solidFill>
                <a:latin typeface="Lora"/>
                <a:ea typeface="Lora"/>
                <a:cs typeface="Lora"/>
                <a:sym typeface="Lora"/>
              </a:rPr>
              <a:t>None:</a:t>
            </a:r>
            <a:r>
              <a:rPr lang="en" sz="1200">
                <a:solidFill>
                  <a:schemeClr val="dk1"/>
                </a:solidFill>
                <a:latin typeface="Lora"/>
                <a:ea typeface="Lora"/>
                <a:cs typeface="Lora"/>
                <a:sym typeface="Lora"/>
              </a:rPr>
              <a:t> Default initial stage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Staging:</a:t>
            </a:r>
            <a:r>
              <a:rPr lang="en" sz="1200">
                <a:solidFill>
                  <a:schemeClr val="dk1"/>
                </a:solidFill>
                <a:latin typeface="Lora"/>
                <a:ea typeface="Lora"/>
                <a:cs typeface="Lora"/>
                <a:sym typeface="Lora"/>
              </a:rPr>
              <a:t> Version is under testing/validation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Production:</a:t>
            </a:r>
            <a:r>
              <a:rPr lang="en" sz="1200">
                <a:solidFill>
                  <a:schemeClr val="dk1"/>
                </a:solidFill>
                <a:latin typeface="Lora"/>
                <a:ea typeface="Lora"/>
                <a:cs typeface="Lora"/>
                <a:sym typeface="Lora"/>
              </a:rPr>
              <a:t> Version is currently deployed and serving traffic</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latin typeface="Lora"/>
                <a:ea typeface="Lora"/>
                <a:cs typeface="Lora"/>
                <a:sym typeface="Lora"/>
              </a:rPr>
              <a:t>Archived:</a:t>
            </a:r>
            <a:r>
              <a:rPr lang="en" sz="1200">
                <a:solidFill>
                  <a:schemeClr val="dk1"/>
                </a:solidFill>
                <a:latin typeface="Lora"/>
                <a:ea typeface="Lora"/>
                <a:cs typeface="Lora"/>
                <a:sym typeface="Lora"/>
              </a:rPr>
              <a:t> Version is no longer in use</a:t>
            </a:r>
            <a:endParaRPr sz="1300">
              <a:solidFill>
                <a:schemeClr val="dk1"/>
              </a:solidFill>
              <a:latin typeface="Lora"/>
              <a:ea typeface="Lora"/>
              <a:cs typeface="Lora"/>
              <a:sym typeface="Lor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67" name="Google Shape;267;p40"/>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.3.2</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Stages transition</a:t>
            </a:r>
            <a:endParaRPr>
              <a:solidFill>
                <a:schemeClr val="dk1"/>
              </a:solidFill>
              <a:latin typeface="Lora"/>
              <a:ea typeface="Lora"/>
              <a:cs typeface="Lora"/>
              <a:sym typeface="Lora"/>
            </a:endParaRPr>
          </a:p>
        </p:txBody>
      </p:sp>
      <p:sp>
        <p:nvSpPr>
          <p:cNvPr id="268" name="Google Shape;268;p40"/>
          <p:cNvSpPr txBox="1"/>
          <p:nvPr/>
        </p:nvSpPr>
        <p:spPr>
          <a:xfrm>
            <a:off x="710616" y="1011425"/>
            <a:ext cx="7265100" cy="340500"/>
          </a:xfrm>
          <a:prstGeom prst="rect">
            <a:avLst/>
          </a:prstGeom>
          <a:noFill/>
          <a:ln>
            <a:noFill/>
          </a:ln>
        </p:spPr>
        <p:txBody>
          <a:bodyPr anchorCtr="0" anchor="t" bIns="84300" lIns="84300" spcFirstLastPara="1" rIns="84300" wrap="square" tIns="84300">
            <a:spAutoFit/>
          </a:bodyPr>
          <a:lstStyle/>
          <a:p>
            <a:pPr indent="0" lvl="0" marL="0" rtl="0" algn="l">
              <a:lnSpc>
                <a:spcPct val="115000"/>
              </a:lnSpc>
              <a:spcBef>
                <a:spcPts val="1106"/>
              </a:spcBef>
              <a:spcAft>
                <a:spcPts val="1106"/>
              </a:spcAft>
              <a:buClr>
                <a:schemeClr val="dk1"/>
              </a:buClr>
              <a:buSzPts val="1014"/>
              <a:buFont typeface="Arial"/>
              <a:buNone/>
            </a:pPr>
            <a:r>
              <a:rPr lang="en" sz="1106">
                <a:solidFill>
                  <a:schemeClr val="dk1"/>
                </a:solidFill>
                <a:latin typeface="Lora"/>
                <a:ea typeface="Lora"/>
                <a:cs typeface="Lora"/>
                <a:sym typeface="Lora"/>
              </a:rPr>
              <a:t>The Model Registry allows you to manage the lifecycle of your models:</a:t>
            </a:r>
            <a:endParaRPr sz="1198">
              <a:latin typeface="Lora"/>
              <a:ea typeface="Lora"/>
              <a:cs typeface="Lora"/>
              <a:sym typeface="Lora"/>
            </a:endParaRPr>
          </a:p>
        </p:txBody>
      </p:sp>
      <p:pic>
        <p:nvPicPr>
          <p:cNvPr id="269" name="Google Shape;269;p40"/>
          <p:cNvPicPr preferRelativeResize="0"/>
          <p:nvPr/>
        </p:nvPicPr>
        <p:blipFill>
          <a:blip r:embed="rId3">
            <a:alphaModFix/>
          </a:blip>
          <a:stretch>
            <a:fillRect/>
          </a:stretch>
        </p:blipFill>
        <p:spPr>
          <a:xfrm>
            <a:off x="824525" y="1381425"/>
            <a:ext cx="2807801" cy="1936349"/>
          </a:xfrm>
          <a:prstGeom prst="rect">
            <a:avLst/>
          </a:prstGeom>
          <a:noFill/>
          <a:ln>
            <a:noFill/>
          </a:ln>
        </p:spPr>
      </p:pic>
      <p:pic>
        <p:nvPicPr>
          <p:cNvPr id="270" name="Google Shape;270;p40"/>
          <p:cNvPicPr preferRelativeResize="0"/>
          <p:nvPr/>
        </p:nvPicPr>
        <p:blipFill>
          <a:blip r:embed="rId4">
            <a:alphaModFix/>
          </a:blip>
          <a:stretch>
            <a:fillRect/>
          </a:stretch>
        </p:blipFill>
        <p:spPr>
          <a:xfrm>
            <a:off x="3765573" y="1351925"/>
            <a:ext cx="3005275" cy="1936350"/>
          </a:xfrm>
          <a:prstGeom prst="rect">
            <a:avLst/>
          </a:prstGeom>
          <a:noFill/>
          <a:ln>
            <a:noFill/>
          </a:ln>
        </p:spPr>
      </p:pic>
      <p:sp>
        <p:nvSpPr>
          <p:cNvPr id="271" name="Google Shape;271;p40"/>
          <p:cNvSpPr txBox="1"/>
          <p:nvPr/>
        </p:nvSpPr>
        <p:spPr>
          <a:xfrm>
            <a:off x="508675" y="3712675"/>
            <a:ext cx="8128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DD1144"/>
                </a:solidFill>
                <a:latin typeface="Lora"/>
                <a:ea typeface="Lora"/>
                <a:cs typeface="Lora"/>
                <a:sym typeface="Lora"/>
              </a:rPr>
              <a:t>With our model now managed and promoted, we're ready for the final step: putting it to use.</a:t>
            </a:r>
            <a:endParaRPr i="1" sz="1200">
              <a:solidFill>
                <a:srgbClr val="DD1144"/>
              </a:solidFill>
              <a:latin typeface="Lora"/>
              <a:ea typeface="Lora"/>
              <a:cs typeface="Lora"/>
              <a:sym typeface="Lor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1"/>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77" name="Google Shape;277;p41"/>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.4</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 Model Serving &amp; Inference</a:t>
            </a:r>
            <a:endParaRPr>
              <a:solidFill>
                <a:schemeClr val="dk1"/>
              </a:solidFill>
              <a:latin typeface="Lora"/>
              <a:ea typeface="Lora"/>
              <a:cs typeface="Lora"/>
              <a:sym typeface="Lora"/>
            </a:endParaRPr>
          </a:p>
        </p:txBody>
      </p:sp>
      <p:sp>
        <p:nvSpPr>
          <p:cNvPr id="278" name="Google Shape;278;p41"/>
          <p:cNvSpPr txBox="1"/>
          <p:nvPr/>
        </p:nvSpPr>
        <p:spPr>
          <a:xfrm>
            <a:off x="656400" y="1097250"/>
            <a:ext cx="7831200" cy="73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200">
                <a:solidFill>
                  <a:schemeClr val="dk1"/>
                </a:solidFill>
                <a:highlight>
                  <a:schemeClr val="lt1"/>
                </a:highlight>
                <a:latin typeface="Lora"/>
                <a:ea typeface="Lora"/>
                <a:cs typeface="Lora"/>
                <a:sym typeface="Lora"/>
              </a:rPr>
              <a:t>After training your machine learning model and confirming it works well, the next step is to deploy it. Deployment can be tricky, but MLflow makes it easier by providing tools to deploy models to local setups or cloud services.</a:t>
            </a:r>
            <a:endParaRPr sz="1200">
              <a:solidFill>
                <a:schemeClr val="dk1"/>
              </a:solidFill>
              <a:highlight>
                <a:schemeClr val="lt1"/>
              </a:highlight>
              <a:latin typeface="Lora"/>
              <a:ea typeface="Lora"/>
              <a:cs typeface="Lora"/>
              <a:sym typeface="Lora"/>
            </a:endParaRPr>
          </a:p>
        </p:txBody>
      </p:sp>
      <p:pic>
        <p:nvPicPr>
          <p:cNvPr id="279" name="Google Shape;279;p41"/>
          <p:cNvPicPr preferRelativeResize="0"/>
          <p:nvPr/>
        </p:nvPicPr>
        <p:blipFill>
          <a:blip r:embed="rId3">
            <a:alphaModFix/>
          </a:blip>
          <a:stretch>
            <a:fillRect/>
          </a:stretch>
        </p:blipFill>
        <p:spPr>
          <a:xfrm>
            <a:off x="1447800" y="1836150"/>
            <a:ext cx="6111026" cy="3002551"/>
          </a:xfrm>
          <a:prstGeom prst="rect">
            <a:avLst/>
          </a:prstGeom>
          <a:noFill/>
          <a:ln>
            <a:noFill/>
          </a:ln>
        </p:spPr>
      </p:pic>
      <p:sp>
        <p:nvSpPr>
          <p:cNvPr id="280" name="Google Shape;280;p41"/>
          <p:cNvSpPr txBox="1"/>
          <p:nvPr/>
        </p:nvSpPr>
        <p:spPr>
          <a:xfrm>
            <a:off x="7736025" y="2559275"/>
            <a:ext cx="8880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Lora"/>
                <a:ea typeface="Lora"/>
                <a:cs typeface="Lora"/>
                <a:sym typeface="Lora"/>
                <a:hlinkClick r:id="rId4"/>
              </a:rPr>
              <a:t>source</a:t>
            </a:r>
            <a:endParaRPr sz="1200">
              <a:solidFill>
                <a:schemeClr val="dk2"/>
              </a:solidFill>
              <a:latin typeface="Lora"/>
              <a:ea typeface="Lora"/>
              <a:cs typeface="Lora"/>
              <a:sym typeface="Lor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86" name="Google Shape;286;p42"/>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.4.1</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Using a Model from the Registry</a:t>
            </a:r>
            <a:endParaRPr>
              <a:solidFill>
                <a:schemeClr val="dk1"/>
              </a:solidFill>
              <a:latin typeface="Lora"/>
              <a:ea typeface="Lora"/>
              <a:cs typeface="Lora"/>
              <a:sym typeface="Lora"/>
            </a:endParaRPr>
          </a:p>
        </p:txBody>
      </p:sp>
      <p:sp>
        <p:nvSpPr>
          <p:cNvPr id="287" name="Google Shape;287;p42"/>
          <p:cNvSpPr txBox="1"/>
          <p:nvPr/>
        </p:nvSpPr>
        <p:spPr>
          <a:xfrm>
            <a:off x="779100" y="1038175"/>
            <a:ext cx="7585800" cy="35175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os</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mlflow</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en" sz="1000">
                <a:solidFill>
                  <a:srgbClr val="700080"/>
                </a:solidFill>
                <a:highlight>
                  <a:schemeClr val="lt2"/>
                </a:highlight>
                <a:latin typeface="Roboto Mono"/>
                <a:ea typeface="Roboto Mono"/>
                <a:cs typeface="Roboto Mono"/>
                <a:sym typeface="Roboto Mono"/>
              </a:rPr>
              <a:t>import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pandas</a:t>
            </a:r>
            <a:r>
              <a:rPr lang="en" sz="1000">
                <a:highlight>
                  <a:schemeClr val="lt2"/>
                </a:highlight>
                <a:latin typeface="Roboto Mono"/>
                <a:ea typeface="Roboto Mono"/>
                <a:cs typeface="Roboto Mono"/>
                <a:sym typeface="Roboto Mono"/>
              </a:rPr>
              <a:t> </a:t>
            </a:r>
            <a:r>
              <a:rPr b="1" lang="en" sz="1000">
                <a:solidFill>
                  <a:srgbClr val="700080"/>
                </a:solidFill>
                <a:highlight>
                  <a:schemeClr val="lt2"/>
                </a:highlight>
                <a:latin typeface="Roboto Mono"/>
                <a:ea typeface="Roboto Mono"/>
                <a:cs typeface="Roboto Mono"/>
                <a:sym typeface="Roboto Mono"/>
              </a:rPr>
              <a:t>as</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pd</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MODEL_NAME</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"tuned-temp-forecaster"</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MODEL_STAGE</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"Production"</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Construct an absolute path to the database file.</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SCRIPT_DIR</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os</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path</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dirname</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os</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path</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abspath</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__file__</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DB_PATH</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os</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path</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join</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SCRIPT_DIR</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"mlflow_local_tracking.db"</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Construct the URI to load the model from the registry</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model_uri</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f"models:/</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MODEL_NAME</a:t>
            </a:r>
            <a:r>
              <a:rPr lang="en" sz="1000">
                <a:highlight>
                  <a:schemeClr val="lt2"/>
                </a:highlight>
                <a:latin typeface="Roboto Mono"/>
                <a:ea typeface="Roboto Mono"/>
                <a:cs typeface="Roboto Mono"/>
                <a:sym typeface="Roboto Mono"/>
              </a:rPr>
              <a:t>}</a:t>
            </a:r>
            <a:r>
              <a:rPr lang="en" sz="1000">
                <a:solidFill>
                  <a:srgbClr val="A01010"/>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MODEL_STAGE</a:t>
            </a:r>
            <a:r>
              <a:rPr lang="en" sz="1000">
                <a:highlight>
                  <a:schemeClr val="lt2"/>
                </a:highlight>
                <a:latin typeface="Roboto Mono"/>
                <a:ea typeface="Roboto Mono"/>
                <a:cs typeface="Roboto Mono"/>
                <a:sym typeface="Roboto Mono"/>
              </a:rPr>
              <a:t>}</a:t>
            </a:r>
            <a:r>
              <a:rPr lang="en" sz="1000">
                <a:solidFill>
                  <a:srgbClr val="A01010"/>
                </a:solidFill>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Set up MLflow Tracking</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mlflow</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set_tracking_uri</a:t>
            </a:r>
            <a:r>
              <a:rPr lang="en" sz="1000">
                <a:highlight>
                  <a:schemeClr val="lt2"/>
                </a:highlight>
                <a:latin typeface="Roboto Mono"/>
                <a:ea typeface="Roboto Mono"/>
                <a:cs typeface="Roboto Mono"/>
                <a:sym typeface="Roboto Mono"/>
              </a:rPr>
              <a:t>(</a:t>
            </a:r>
            <a:r>
              <a:rPr lang="en" sz="1000">
                <a:solidFill>
                  <a:srgbClr val="A01010"/>
                </a:solidFill>
                <a:highlight>
                  <a:schemeClr val="lt2"/>
                </a:highlight>
                <a:latin typeface="Roboto Mono"/>
                <a:ea typeface="Roboto Mono"/>
                <a:cs typeface="Roboto Mono"/>
                <a:sym typeface="Roboto Mono"/>
              </a:rPr>
              <a:t>f"sqlite:///</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os</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path</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abspath</a:t>
            </a:r>
            <a:r>
              <a:rPr lang="en" sz="1000">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DB_PATH</a:t>
            </a:r>
            <a:r>
              <a:rPr lang="en" sz="1000">
                <a:highlight>
                  <a:schemeClr val="lt2"/>
                </a:highlight>
                <a:latin typeface="Roboto Mono"/>
                <a:ea typeface="Roboto Mono"/>
                <a:cs typeface="Roboto Mono"/>
                <a:sym typeface="Roboto Mono"/>
              </a:rPr>
              <a:t>)}</a:t>
            </a:r>
            <a:r>
              <a:rPr lang="en" sz="1000">
                <a:solidFill>
                  <a:srgbClr val="A01010"/>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None/>
            </a:pPr>
            <a:r>
              <a:t/>
            </a:r>
            <a:endParaRPr sz="900">
              <a:solidFill>
                <a:schemeClr val="dk1"/>
              </a:solidFill>
              <a:highlight>
                <a:schemeClr val="lt2"/>
              </a:highlight>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293" name="Google Shape;293;p43"/>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.4.1</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 Using a Model from the Registry</a:t>
            </a:r>
            <a:endParaRPr>
              <a:solidFill>
                <a:schemeClr val="dk1"/>
              </a:solidFill>
              <a:latin typeface="Lora"/>
              <a:ea typeface="Lora"/>
              <a:cs typeface="Lora"/>
              <a:sym typeface="Lora"/>
            </a:endParaRPr>
          </a:p>
        </p:txBody>
      </p:sp>
      <p:sp>
        <p:nvSpPr>
          <p:cNvPr id="294" name="Google Shape;294;p43"/>
          <p:cNvSpPr txBox="1"/>
          <p:nvPr/>
        </p:nvSpPr>
        <p:spPr>
          <a:xfrm>
            <a:off x="825050" y="1097250"/>
            <a:ext cx="7585800" cy="29313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Prepare Input Data</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input_data</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pd</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DataFrame</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data</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r>
              <a:rPr lang="en" sz="1000">
                <a:solidFill>
                  <a:srgbClr val="A01010"/>
                </a:solidFill>
                <a:highlight>
                  <a:schemeClr val="lt2"/>
                </a:highlight>
                <a:latin typeface="Roboto Mono"/>
                <a:ea typeface="Roboto Mono"/>
                <a:cs typeface="Roboto Mono"/>
                <a:sym typeface="Roboto Mono"/>
              </a:rPr>
              <a:t>"t2m_celsius_lag1"</a:t>
            </a:r>
            <a:r>
              <a:rPr lang="en" sz="1000">
                <a:highlight>
                  <a:schemeClr val="lt2"/>
                </a:highlight>
                <a:latin typeface="Roboto Mono"/>
                <a:ea typeface="Roboto Mono"/>
                <a:cs typeface="Roboto Mono"/>
                <a:sym typeface="Roboto Mono"/>
              </a:rPr>
              <a:t>: [</a:t>
            </a:r>
            <a:r>
              <a:rPr lang="en" sz="1000">
                <a:solidFill>
                  <a:srgbClr val="106040"/>
                </a:solidFill>
                <a:highlight>
                  <a:schemeClr val="lt2"/>
                </a:highlight>
                <a:latin typeface="Roboto Mono"/>
                <a:ea typeface="Roboto Mono"/>
                <a:cs typeface="Roboto Mono"/>
                <a:sym typeface="Roboto Mono"/>
              </a:rPr>
              <a:t>5.0</a:t>
            </a:r>
            <a:r>
              <a:rPr lang="en" sz="1000">
                <a:highlight>
                  <a:schemeClr val="lt2"/>
                </a:highlight>
                <a:latin typeface="Roboto Mono"/>
                <a:ea typeface="Roboto Mono"/>
                <a:cs typeface="Roboto Mono"/>
                <a:sym typeface="Roboto Mono"/>
              </a:rPr>
              <a:t>, </a:t>
            </a:r>
            <a:r>
              <a:rPr lang="en" sz="1000">
                <a:solidFill>
                  <a:srgbClr val="106040"/>
                </a:solidFill>
                <a:highlight>
                  <a:schemeClr val="lt2"/>
                </a:highlight>
                <a:latin typeface="Roboto Mono"/>
                <a:ea typeface="Roboto Mono"/>
                <a:cs typeface="Roboto Mono"/>
                <a:sym typeface="Roboto Mono"/>
              </a:rPr>
              <a:t>10.0</a:t>
            </a:r>
            <a:r>
              <a:rPr lang="en" sz="1000">
                <a:highlight>
                  <a:schemeClr val="lt2"/>
                </a:highlight>
                <a:latin typeface="Roboto Mono"/>
                <a:ea typeface="Roboto Mono"/>
                <a:cs typeface="Roboto Mono"/>
                <a:sym typeface="Roboto Mono"/>
              </a:rPr>
              <a:t>, </a:t>
            </a:r>
            <a:r>
              <a:rPr lang="en" sz="1000">
                <a:solidFill>
                  <a:srgbClr val="106040"/>
                </a:solidFill>
                <a:highlight>
                  <a:schemeClr val="lt2"/>
                </a:highlight>
                <a:latin typeface="Roboto Mono"/>
                <a:ea typeface="Roboto Mono"/>
                <a:cs typeface="Roboto Mono"/>
                <a:sym typeface="Roboto Mono"/>
              </a:rPr>
              <a:t>15.5</a:t>
            </a:r>
            <a:r>
              <a:rPr lang="en" sz="1000">
                <a:highlight>
                  <a:schemeClr val="lt2"/>
                </a:highlight>
                <a:latin typeface="Roboto Mono"/>
                <a:ea typeface="Roboto Mono"/>
                <a:cs typeface="Roboto Mono"/>
                <a:sym typeface="Roboto Mono"/>
              </a:rPr>
              <a:t>, </a:t>
            </a:r>
            <a:r>
              <a:rPr lang="en" sz="1000">
                <a:solidFill>
                  <a:srgbClr val="106040"/>
                </a:solidFill>
                <a:highlight>
                  <a:schemeClr val="lt2"/>
                </a:highlight>
                <a:latin typeface="Roboto Mono"/>
                <a:ea typeface="Roboto Mono"/>
                <a:cs typeface="Roboto Mono"/>
                <a:sym typeface="Roboto Mono"/>
              </a:rPr>
              <a:t>20.2</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1000">
                <a:solidFill>
                  <a:srgbClr val="A05000"/>
                </a:solidFill>
                <a:highlight>
                  <a:schemeClr val="lt2"/>
                </a:highlight>
                <a:latin typeface="Roboto Mono"/>
                <a:ea typeface="Roboto Mono"/>
                <a:cs typeface="Roboto Mono"/>
                <a:sym typeface="Roboto Mono"/>
              </a:rPr>
              <a:t># Run Prediction</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solidFill>
                  <a:srgbClr val="1AB1CD"/>
                </a:solidFill>
                <a:highlight>
                  <a:schemeClr val="lt2"/>
                </a:highlight>
                <a:latin typeface="Roboto Mono"/>
                <a:ea typeface="Roboto Mono"/>
                <a:cs typeface="Roboto Mono"/>
                <a:sym typeface="Roboto Mono"/>
              </a:rPr>
              <a:t>results</a:t>
            </a:r>
            <a:r>
              <a:rPr lang="en" sz="1000">
                <a:highlight>
                  <a:schemeClr val="lt2"/>
                </a:highlight>
                <a:latin typeface="Roboto Mono"/>
                <a:ea typeface="Roboto Mono"/>
                <a:cs typeface="Roboto Mono"/>
                <a:sym typeface="Roboto Mono"/>
              </a:rPr>
              <a:t> </a:t>
            </a:r>
            <a:r>
              <a:rPr b="1" lang="en" sz="1000">
                <a:solidFill>
                  <a:srgbClr val="EE11FF"/>
                </a:solidFill>
                <a:highlight>
                  <a:schemeClr val="lt2"/>
                </a:highlight>
                <a:latin typeface="Roboto Mono"/>
                <a:ea typeface="Roboto Mono"/>
                <a:cs typeface="Roboto Mono"/>
                <a:sym typeface="Roboto Mono"/>
              </a:rPr>
              <a:t>=</a:t>
            </a: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mlflow</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models</a:t>
            </a:r>
            <a:r>
              <a:rPr lang="en" sz="1000">
                <a:highlight>
                  <a:schemeClr val="lt2"/>
                </a:highlight>
                <a:latin typeface="Roboto Mono"/>
                <a:ea typeface="Roboto Mono"/>
                <a:cs typeface="Roboto Mono"/>
                <a:sym typeface="Roboto Mono"/>
              </a:rPr>
              <a:t>.</a:t>
            </a:r>
            <a:r>
              <a:rPr lang="en" sz="1000">
                <a:solidFill>
                  <a:srgbClr val="572000"/>
                </a:solidFill>
                <a:highlight>
                  <a:schemeClr val="lt2"/>
                </a:highlight>
                <a:latin typeface="Roboto Mono"/>
                <a:ea typeface="Roboto Mono"/>
                <a:cs typeface="Roboto Mono"/>
                <a:sym typeface="Roboto Mono"/>
              </a:rPr>
              <a:t>predict</a:t>
            </a:r>
            <a:r>
              <a:rPr lang="en" sz="1000">
                <a:highlight>
                  <a:schemeClr val="lt2"/>
                </a:highlight>
                <a:latin typeface="Roboto Mono"/>
                <a:ea typeface="Roboto Mono"/>
                <a:cs typeface="Roboto Mono"/>
                <a:sym typeface="Roboto Mono"/>
              </a:rPr>
              <a:t>(</a:t>
            </a:r>
            <a:endParaRPr i="1" sz="1000">
              <a:solidFill>
                <a:srgbClr val="A05000"/>
              </a:solidFill>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model_uri</a:t>
            </a:r>
            <a:r>
              <a:rPr b="1" lang="en" sz="1000">
                <a:solidFill>
                  <a:srgbClr val="EE11FF"/>
                </a:solidFill>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model_uri</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input_data</a:t>
            </a:r>
            <a:r>
              <a:rPr b="1" lang="en" sz="1000">
                <a:solidFill>
                  <a:srgbClr val="EE11FF"/>
                </a:solidFill>
                <a:highlight>
                  <a:schemeClr val="lt2"/>
                </a:highlight>
                <a:latin typeface="Roboto Mono"/>
                <a:ea typeface="Roboto Mono"/>
                <a:cs typeface="Roboto Mono"/>
                <a:sym typeface="Roboto Mono"/>
              </a:rPr>
              <a:t>=</a:t>
            </a:r>
            <a:r>
              <a:rPr lang="en" sz="1000">
                <a:solidFill>
                  <a:srgbClr val="1AB1CD"/>
                </a:solidFill>
                <a:highlight>
                  <a:schemeClr val="lt2"/>
                </a:highlight>
                <a:latin typeface="Roboto Mono"/>
                <a:ea typeface="Roboto Mono"/>
                <a:cs typeface="Roboto Mono"/>
                <a:sym typeface="Roboto Mono"/>
              </a:rPr>
              <a:t>input_data</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    </a:t>
            </a:r>
            <a:r>
              <a:rPr lang="en" sz="1000">
                <a:solidFill>
                  <a:srgbClr val="1AB1CD"/>
                </a:solidFill>
                <a:highlight>
                  <a:schemeClr val="lt2"/>
                </a:highlight>
                <a:latin typeface="Roboto Mono"/>
                <a:ea typeface="Roboto Mono"/>
                <a:cs typeface="Roboto Mono"/>
                <a:sym typeface="Roboto Mono"/>
              </a:rPr>
              <a:t>env_manager</a:t>
            </a:r>
            <a:r>
              <a:rPr b="1" lang="en" sz="1000">
                <a:solidFill>
                  <a:srgbClr val="EE11FF"/>
                </a:solidFill>
                <a:highlight>
                  <a:schemeClr val="lt2"/>
                </a:highlight>
                <a:latin typeface="Roboto Mono"/>
                <a:ea typeface="Roboto Mono"/>
                <a:cs typeface="Roboto Mono"/>
                <a:sym typeface="Roboto Mono"/>
              </a:rPr>
              <a:t>=</a:t>
            </a:r>
            <a:r>
              <a:rPr lang="en" sz="1000">
                <a:solidFill>
                  <a:srgbClr val="A01010"/>
                </a:solidFill>
                <a:highlight>
                  <a:schemeClr val="lt2"/>
                </a:highlight>
                <a:latin typeface="Roboto Mono"/>
                <a:ea typeface="Roboto Mono"/>
                <a:cs typeface="Roboto Mono"/>
                <a:sym typeface="Roboto Mono"/>
              </a:rPr>
              <a:t>"local"</a:t>
            </a: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1000">
                <a:highlight>
                  <a:schemeClr val="lt2"/>
                </a:highlight>
                <a:latin typeface="Roboto Mono"/>
                <a:ea typeface="Roboto Mono"/>
                <a:cs typeface="Roboto Mono"/>
                <a:sym typeface="Roboto Mono"/>
              </a:rPr>
              <a:t>)</a:t>
            </a:r>
            <a:endParaRPr sz="1000">
              <a:highlight>
                <a:schemeClr val="lt2"/>
              </a:highlight>
              <a:latin typeface="Roboto Mono"/>
              <a:ea typeface="Roboto Mono"/>
              <a:cs typeface="Roboto Mono"/>
              <a:sym typeface="Roboto Mono"/>
            </a:endParaRPr>
          </a:p>
          <a:p>
            <a:pPr indent="0" lvl="0" marL="0" rtl="0" algn="l">
              <a:spcBef>
                <a:spcPts val="0"/>
              </a:spcBef>
              <a:spcAft>
                <a:spcPts val="0"/>
              </a:spcAft>
              <a:buNone/>
            </a:pPr>
            <a:r>
              <a:t/>
            </a:r>
            <a:endParaRPr sz="900">
              <a:solidFill>
                <a:schemeClr val="dk1"/>
              </a:solidFill>
              <a:highlight>
                <a:schemeClr val="lt2"/>
              </a:highlight>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300" name="Google Shape;300;p44"/>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.4.2</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Serving Your Model</a:t>
            </a:r>
            <a:endParaRPr>
              <a:solidFill>
                <a:schemeClr val="dk1"/>
              </a:solidFill>
              <a:latin typeface="Lora"/>
              <a:ea typeface="Lora"/>
              <a:cs typeface="Lora"/>
              <a:sym typeface="Lora"/>
            </a:endParaRPr>
          </a:p>
        </p:txBody>
      </p:sp>
      <p:sp>
        <p:nvSpPr>
          <p:cNvPr id="301" name="Google Shape;301;p44"/>
          <p:cNvSpPr txBox="1"/>
          <p:nvPr/>
        </p:nvSpPr>
        <p:spPr>
          <a:xfrm>
            <a:off x="656400" y="1097250"/>
            <a:ext cx="78312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highlight>
                  <a:schemeClr val="lt1"/>
                </a:highlight>
                <a:latin typeface="Lora"/>
                <a:ea typeface="Lora"/>
                <a:cs typeface="Lora"/>
                <a:sym typeface="Lora"/>
              </a:rPr>
              <a:t>MLflow provides simple, built-in commands to serve your model for testing or simple use cases. This command starts a local server that listens on the specified port and serves your model.</a:t>
            </a:r>
            <a:endParaRPr sz="1200">
              <a:solidFill>
                <a:schemeClr val="dk1"/>
              </a:solidFill>
              <a:highlight>
                <a:schemeClr val="lt1"/>
              </a:highlight>
              <a:latin typeface="Lora"/>
              <a:ea typeface="Lora"/>
              <a:cs typeface="Lora"/>
              <a:sym typeface="Lora"/>
            </a:endParaRPr>
          </a:p>
        </p:txBody>
      </p:sp>
      <p:sp>
        <p:nvSpPr>
          <p:cNvPr id="302" name="Google Shape;302;p44"/>
          <p:cNvSpPr txBox="1"/>
          <p:nvPr/>
        </p:nvSpPr>
        <p:spPr>
          <a:xfrm>
            <a:off x="674573" y="1635575"/>
            <a:ext cx="7831200" cy="31617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900">
                <a:solidFill>
                  <a:srgbClr val="505050"/>
                </a:solidFill>
                <a:highlight>
                  <a:schemeClr val="lt2"/>
                </a:highlight>
                <a:latin typeface="Roboto Mono"/>
                <a:ea typeface="Roboto Mono"/>
                <a:cs typeface="Roboto Mono"/>
                <a:sym typeface="Roboto Mono"/>
              </a:rPr>
              <a:t>#!/bin/bash</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900">
                <a:solidFill>
                  <a:srgbClr val="A05000"/>
                </a:solidFill>
                <a:highlight>
                  <a:schemeClr val="lt2"/>
                </a:highlight>
                <a:latin typeface="Roboto Mono"/>
                <a:ea typeface="Roboto Mono"/>
                <a:cs typeface="Roboto Mono"/>
                <a:sym typeface="Roboto Mono"/>
              </a:rPr>
              <a:t># This script serves the production-ready ML model using the MLflow model server</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en" sz="900">
                <a:solidFill>
                  <a:srgbClr val="700080"/>
                </a:solidFill>
                <a:highlight>
                  <a:schemeClr val="lt2"/>
                </a:highlight>
                <a:latin typeface="Roboto Mono"/>
                <a:ea typeface="Roboto Mono"/>
                <a:cs typeface="Roboto Mono"/>
                <a:sym typeface="Roboto Mono"/>
              </a:rPr>
              <a:t>set</a:t>
            </a:r>
            <a:r>
              <a:rPr lang="en" sz="900">
                <a:highlight>
                  <a:schemeClr val="lt2"/>
                </a:highlight>
                <a:latin typeface="Roboto Mono"/>
                <a:ea typeface="Roboto Mono"/>
                <a:cs typeface="Roboto Mono"/>
                <a:sym typeface="Roboto Mono"/>
              </a:rPr>
              <a:t> </a:t>
            </a:r>
            <a:r>
              <a:rPr lang="en" sz="900">
                <a:solidFill>
                  <a:srgbClr val="0000C0"/>
                </a:solidFill>
                <a:highlight>
                  <a:schemeClr val="lt2"/>
                </a:highlight>
                <a:latin typeface="Roboto Mono"/>
                <a:ea typeface="Roboto Mono"/>
                <a:cs typeface="Roboto Mono"/>
                <a:sym typeface="Roboto Mono"/>
              </a:rPr>
              <a:t>-e</a:t>
            </a:r>
            <a:r>
              <a:rPr lang="en" sz="900">
                <a:highlight>
                  <a:schemeClr val="lt2"/>
                </a:highlight>
                <a:latin typeface="Roboto Mono"/>
                <a:ea typeface="Roboto Mono"/>
                <a:cs typeface="Roboto Mono"/>
                <a:sym typeface="Roboto Mono"/>
              </a:rPr>
              <a:t> </a:t>
            </a:r>
            <a:r>
              <a:rPr i="1" lang="en" sz="900">
                <a:solidFill>
                  <a:srgbClr val="A05000"/>
                </a:solidFill>
                <a:highlight>
                  <a:schemeClr val="lt2"/>
                </a:highlight>
                <a:latin typeface="Roboto Mono"/>
                <a:ea typeface="Roboto Mono"/>
                <a:cs typeface="Roboto Mono"/>
                <a:sym typeface="Roboto Mono"/>
              </a:rPr>
              <a:t># Stop the script if any command fails</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900">
                <a:solidFill>
                  <a:srgbClr val="A05000"/>
                </a:solidFill>
                <a:highlight>
                  <a:schemeClr val="lt2"/>
                </a:highlight>
                <a:latin typeface="Roboto Mono"/>
                <a:ea typeface="Roboto Mono"/>
                <a:cs typeface="Roboto Mono"/>
                <a:sym typeface="Roboto Mono"/>
              </a:rPr>
              <a:t># Model and environment details</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solidFill>
                  <a:srgbClr val="0000F0"/>
                </a:solidFill>
                <a:highlight>
                  <a:schemeClr val="lt2"/>
                </a:highlight>
                <a:latin typeface="Roboto Mono"/>
                <a:ea typeface="Roboto Mono"/>
                <a:cs typeface="Roboto Mono"/>
                <a:sym typeface="Roboto Mono"/>
              </a:rPr>
              <a:t>MODEL_NAME</a:t>
            </a:r>
            <a:r>
              <a:rPr b="1" lang="en" sz="900">
                <a:solidFill>
                  <a:srgbClr val="EE11FF"/>
                </a:solidFill>
                <a:highlight>
                  <a:schemeClr val="lt2"/>
                </a:highlight>
                <a:latin typeface="Roboto Mono"/>
                <a:ea typeface="Roboto Mono"/>
                <a:cs typeface="Roboto Mono"/>
                <a:sym typeface="Roboto Mono"/>
              </a:rPr>
              <a:t>=</a:t>
            </a:r>
            <a:r>
              <a:rPr lang="en" sz="900">
                <a:solidFill>
                  <a:srgbClr val="A01010"/>
                </a:solidFill>
                <a:highlight>
                  <a:schemeClr val="lt2"/>
                </a:highlight>
                <a:latin typeface="Roboto Mono"/>
                <a:ea typeface="Roboto Mono"/>
                <a:cs typeface="Roboto Mono"/>
                <a:sym typeface="Roboto Mono"/>
              </a:rPr>
              <a:t>"tuned-temp-forecaster"</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solidFill>
                  <a:srgbClr val="0000F0"/>
                </a:solidFill>
                <a:highlight>
                  <a:schemeClr val="lt2"/>
                </a:highlight>
                <a:latin typeface="Roboto Mono"/>
                <a:ea typeface="Roboto Mono"/>
                <a:cs typeface="Roboto Mono"/>
                <a:sym typeface="Roboto Mono"/>
              </a:rPr>
              <a:t>MODEL_STAGE</a:t>
            </a:r>
            <a:r>
              <a:rPr b="1" lang="en" sz="900">
                <a:solidFill>
                  <a:srgbClr val="EE11FF"/>
                </a:solidFill>
                <a:highlight>
                  <a:schemeClr val="lt2"/>
                </a:highlight>
                <a:latin typeface="Roboto Mono"/>
                <a:ea typeface="Roboto Mono"/>
                <a:cs typeface="Roboto Mono"/>
                <a:sym typeface="Roboto Mono"/>
              </a:rPr>
              <a:t>=</a:t>
            </a:r>
            <a:r>
              <a:rPr lang="en" sz="900">
                <a:solidFill>
                  <a:srgbClr val="A01010"/>
                </a:solidFill>
                <a:highlight>
                  <a:schemeClr val="lt2"/>
                </a:highlight>
                <a:latin typeface="Roboto Mono"/>
                <a:ea typeface="Roboto Mono"/>
                <a:cs typeface="Roboto Mono"/>
                <a:sym typeface="Roboto Mono"/>
              </a:rPr>
              <a:t>"Production"</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solidFill>
                  <a:srgbClr val="0000F0"/>
                </a:solidFill>
                <a:highlight>
                  <a:schemeClr val="lt2"/>
                </a:highlight>
                <a:latin typeface="Roboto Mono"/>
                <a:ea typeface="Roboto Mono"/>
                <a:cs typeface="Roboto Mono"/>
                <a:sym typeface="Roboto Mono"/>
              </a:rPr>
              <a:t>MLFLOW_PORT</a:t>
            </a:r>
            <a:r>
              <a:rPr b="1" lang="en" sz="900">
                <a:solidFill>
                  <a:srgbClr val="EE11FF"/>
                </a:solidFill>
                <a:highlight>
                  <a:schemeClr val="lt2"/>
                </a:highlight>
                <a:latin typeface="Roboto Mono"/>
                <a:ea typeface="Roboto Mono"/>
                <a:cs typeface="Roboto Mono"/>
                <a:sym typeface="Roboto Mono"/>
              </a:rPr>
              <a:t>=</a:t>
            </a:r>
            <a:r>
              <a:rPr lang="en" sz="900">
                <a:solidFill>
                  <a:srgbClr val="106040"/>
                </a:solidFill>
                <a:highlight>
                  <a:schemeClr val="lt2"/>
                </a:highlight>
                <a:latin typeface="Roboto Mono"/>
                <a:ea typeface="Roboto Mono"/>
                <a:cs typeface="Roboto Mono"/>
                <a:sym typeface="Roboto Mono"/>
              </a:rPr>
              <a:t>5002</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900">
                <a:solidFill>
                  <a:srgbClr val="A05000"/>
                </a:solidFill>
                <a:highlight>
                  <a:schemeClr val="lt2"/>
                </a:highlight>
                <a:latin typeface="Roboto Mono"/>
                <a:ea typeface="Roboto Mono"/>
                <a:cs typeface="Roboto Mono"/>
                <a:sym typeface="Roboto Mono"/>
              </a:rPr>
              <a:t># Construct the path to the database</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en" sz="900">
                <a:solidFill>
                  <a:srgbClr val="700080"/>
                </a:solidFill>
                <a:highlight>
                  <a:schemeClr val="lt2"/>
                </a:highlight>
                <a:latin typeface="Roboto Mono"/>
                <a:ea typeface="Roboto Mono"/>
                <a:cs typeface="Roboto Mono"/>
                <a:sym typeface="Roboto Mono"/>
              </a:rPr>
              <a:t>DB_PATH="/workspaces/AIMS_course/mlflow_local_tracking.db"</a:t>
            </a:r>
            <a:endParaRPr sz="1050">
              <a:solidFill>
                <a:schemeClr val="dk1"/>
              </a:solidFill>
              <a:highlight>
                <a:schemeClr val="lt2"/>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sz="900">
              <a:solidFill>
                <a:srgbClr val="0000F0"/>
              </a:solidFill>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900">
                <a:solidFill>
                  <a:srgbClr val="A05000"/>
                </a:solidFill>
                <a:highlight>
                  <a:schemeClr val="lt2"/>
                </a:highlight>
                <a:latin typeface="Roboto Mono"/>
                <a:ea typeface="Roboto Mono"/>
                <a:cs typeface="Roboto Mono"/>
                <a:sym typeface="Roboto Mono"/>
              </a:rPr>
              <a:t># Set the MLFLOW_TRACKING_URI for the mlflow command</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en" sz="900">
                <a:solidFill>
                  <a:srgbClr val="700080"/>
                </a:solidFill>
                <a:highlight>
                  <a:schemeClr val="lt2"/>
                </a:highlight>
                <a:latin typeface="Roboto Mono"/>
                <a:ea typeface="Roboto Mono"/>
                <a:cs typeface="Roboto Mono"/>
                <a:sym typeface="Roboto Mono"/>
              </a:rPr>
              <a:t>export</a:t>
            </a:r>
            <a:r>
              <a:rPr lang="en" sz="900">
                <a:highlight>
                  <a:schemeClr val="lt2"/>
                </a:highlight>
                <a:latin typeface="Roboto Mono"/>
                <a:ea typeface="Roboto Mono"/>
                <a:cs typeface="Roboto Mono"/>
                <a:sym typeface="Roboto Mono"/>
              </a:rPr>
              <a:t> </a:t>
            </a:r>
            <a:r>
              <a:rPr lang="en" sz="900">
                <a:solidFill>
                  <a:srgbClr val="0000F0"/>
                </a:solidFill>
                <a:highlight>
                  <a:schemeClr val="lt2"/>
                </a:highlight>
                <a:latin typeface="Roboto Mono"/>
                <a:ea typeface="Roboto Mono"/>
                <a:cs typeface="Roboto Mono"/>
                <a:sym typeface="Roboto Mono"/>
              </a:rPr>
              <a:t>MLFLOW_TRACKING_URI</a:t>
            </a:r>
            <a:r>
              <a:rPr b="1" lang="en" sz="900">
                <a:solidFill>
                  <a:srgbClr val="EE11FF"/>
                </a:solidFill>
                <a:highlight>
                  <a:schemeClr val="lt2"/>
                </a:highlight>
                <a:latin typeface="Roboto Mono"/>
                <a:ea typeface="Roboto Mono"/>
                <a:cs typeface="Roboto Mono"/>
                <a:sym typeface="Roboto Mono"/>
              </a:rPr>
              <a:t>=</a:t>
            </a:r>
            <a:r>
              <a:rPr lang="en" sz="900">
                <a:solidFill>
                  <a:srgbClr val="A01010"/>
                </a:solidFill>
                <a:highlight>
                  <a:schemeClr val="lt2"/>
                </a:highlight>
                <a:latin typeface="Roboto Mono"/>
                <a:ea typeface="Roboto Mono"/>
                <a:cs typeface="Roboto Mono"/>
                <a:sym typeface="Roboto Mono"/>
              </a:rPr>
              <a:t>"sqlite:///</a:t>
            </a:r>
            <a:r>
              <a:rPr lang="en" sz="900">
                <a:solidFill>
                  <a:srgbClr val="0000F0"/>
                </a:solidFill>
                <a:highlight>
                  <a:schemeClr val="lt2"/>
                </a:highlight>
                <a:latin typeface="Roboto Mono"/>
                <a:ea typeface="Roboto Mono"/>
                <a:cs typeface="Roboto Mono"/>
                <a:sym typeface="Roboto Mono"/>
              </a:rPr>
              <a:t>$DB_PATH</a:t>
            </a:r>
            <a:r>
              <a:rPr lang="en" sz="900">
                <a:solidFill>
                  <a:srgbClr val="A01010"/>
                </a:solidFill>
                <a:highlight>
                  <a:schemeClr val="lt2"/>
                </a:highlight>
                <a:latin typeface="Roboto Mono"/>
                <a:ea typeface="Roboto Mono"/>
                <a:cs typeface="Roboto Mono"/>
                <a:sym typeface="Roboto Mono"/>
              </a:rPr>
              <a:t>"</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900">
                <a:solidFill>
                  <a:srgbClr val="A05000"/>
                </a:solidFill>
                <a:highlight>
                  <a:schemeClr val="lt2"/>
                </a:highlight>
                <a:latin typeface="Roboto Mono"/>
                <a:ea typeface="Roboto Mono"/>
                <a:cs typeface="Roboto Mono"/>
                <a:sym typeface="Roboto Mono"/>
              </a:rPr>
              <a:t># The --env-manager=local flag tells MLflow to use the current virtual environment</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highlight>
                  <a:srgbClr val="FFA657"/>
                </a:highlight>
                <a:latin typeface="Roboto Mono"/>
                <a:ea typeface="Roboto Mono"/>
                <a:cs typeface="Roboto Mono"/>
                <a:sym typeface="Roboto Mono"/>
              </a:rPr>
              <a:t>mlflow models serve </a:t>
            </a:r>
            <a:r>
              <a:rPr lang="en" sz="900">
                <a:solidFill>
                  <a:srgbClr val="0000C0"/>
                </a:solidFill>
                <a:highlight>
                  <a:srgbClr val="FFA657"/>
                </a:highlight>
                <a:latin typeface="Roboto Mono"/>
                <a:ea typeface="Roboto Mono"/>
                <a:cs typeface="Roboto Mono"/>
                <a:sym typeface="Roboto Mono"/>
              </a:rPr>
              <a:t>-m</a:t>
            </a:r>
            <a:r>
              <a:rPr lang="en" sz="900">
                <a:highlight>
                  <a:srgbClr val="FFA657"/>
                </a:highlight>
                <a:latin typeface="Roboto Mono"/>
                <a:ea typeface="Roboto Mono"/>
                <a:cs typeface="Roboto Mono"/>
                <a:sym typeface="Roboto Mono"/>
              </a:rPr>
              <a:t> </a:t>
            </a:r>
            <a:r>
              <a:rPr lang="en" sz="900">
                <a:solidFill>
                  <a:srgbClr val="A01010"/>
                </a:solidFill>
                <a:highlight>
                  <a:srgbClr val="FFA657"/>
                </a:highlight>
                <a:latin typeface="Roboto Mono"/>
                <a:ea typeface="Roboto Mono"/>
                <a:cs typeface="Roboto Mono"/>
                <a:sym typeface="Roboto Mono"/>
              </a:rPr>
              <a:t>"models:/</a:t>
            </a:r>
            <a:r>
              <a:rPr lang="en" sz="900">
                <a:solidFill>
                  <a:srgbClr val="0000F0"/>
                </a:solidFill>
                <a:highlight>
                  <a:srgbClr val="FFA657"/>
                </a:highlight>
                <a:latin typeface="Roboto Mono"/>
                <a:ea typeface="Roboto Mono"/>
                <a:cs typeface="Roboto Mono"/>
                <a:sym typeface="Roboto Mono"/>
              </a:rPr>
              <a:t>$MODEL_NAME</a:t>
            </a:r>
            <a:r>
              <a:rPr lang="en" sz="900">
                <a:solidFill>
                  <a:srgbClr val="A01010"/>
                </a:solidFill>
                <a:highlight>
                  <a:srgbClr val="FFA657"/>
                </a:highlight>
                <a:latin typeface="Roboto Mono"/>
                <a:ea typeface="Roboto Mono"/>
                <a:cs typeface="Roboto Mono"/>
                <a:sym typeface="Roboto Mono"/>
              </a:rPr>
              <a:t>/</a:t>
            </a:r>
            <a:r>
              <a:rPr lang="en" sz="900">
                <a:solidFill>
                  <a:srgbClr val="0000F0"/>
                </a:solidFill>
                <a:highlight>
                  <a:srgbClr val="FFA657"/>
                </a:highlight>
                <a:latin typeface="Roboto Mono"/>
                <a:ea typeface="Roboto Mono"/>
                <a:cs typeface="Roboto Mono"/>
                <a:sym typeface="Roboto Mono"/>
              </a:rPr>
              <a:t>$MODEL_STAGE</a:t>
            </a:r>
            <a:r>
              <a:rPr lang="en" sz="900">
                <a:solidFill>
                  <a:srgbClr val="A01010"/>
                </a:solidFill>
                <a:highlight>
                  <a:srgbClr val="FFA657"/>
                </a:highlight>
                <a:latin typeface="Roboto Mono"/>
                <a:ea typeface="Roboto Mono"/>
                <a:cs typeface="Roboto Mono"/>
                <a:sym typeface="Roboto Mono"/>
              </a:rPr>
              <a:t>"</a:t>
            </a:r>
            <a:r>
              <a:rPr lang="en" sz="900">
                <a:highlight>
                  <a:srgbClr val="FFA657"/>
                </a:highlight>
                <a:latin typeface="Roboto Mono"/>
                <a:ea typeface="Roboto Mono"/>
                <a:cs typeface="Roboto Mono"/>
                <a:sym typeface="Roboto Mono"/>
              </a:rPr>
              <a:t> </a:t>
            </a:r>
            <a:r>
              <a:rPr lang="en" sz="900">
                <a:solidFill>
                  <a:srgbClr val="0000C0"/>
                </a:solidFill>
                <a:highlight>
                  <a:srgbClr val="FFA657"/>
                </a:highlight>
                <a:latin typeface="Roboto Mono"/>
                <a:ea typeface="Roboto Mono"/>
                <a:cs typeface="Roboto Mono"/>
                <a:sym typeface="Roboto Mono"/>
              </a:rPr>
              <a:t>--port</a:t>
            </a:r>
            <a:r>
              <a:rPr lang="en" sz="900">
                <a:highlight>
                  <a:srgbClr val="FFA657"/>
                </a:highlight>
                <a:latin typeface="Roboto Mono"/>
                <a:ea typeface="Roboto Mono"/>
                <a:cs typeface="Roboto Mono"/>
                <a:sym typeface="Roboto Mono"/>
              </a:rPr>
              <a:t> </a:t>
            </a:r>
            <a:r>
              <a:rPr lang="en" sz="900">
                <a:solidFill>
                  <a:srgbClr val="A01010"/>
                </a:solidFill>
                <a:highlight>
                  <a:srgbClr val="FFA657"/>
                </a:highlight>
                <a:latin typeface="Roboto Mono"/>
                <a:ea typeface="Roboto Mono"/>
                <a:cs typeface="Roboto Mono"/>
                <a:sym typeface="Roboto Mono"/>
              </a:rPr>
              <a:t>"</a:t>
            </a:r>
            <a:r>
              <a:rPr lang="en" sz="900">
                <a:solidFill>
                  <a:srgbClr val="0000F0"/>
                </a:solidFill>
                <a:highlight>
                  <a:srgbClr val="FFA657"/>
                </a:highlight>
                <a:latin typeface="Roboto Mono"/>
                <a:ea typeface="Roboto Mono"/>
                <a:cs typeface="Roboto Mono"/>
                <a:sym typeface="Roboto Mono"/>
              </a:rPr>
              <a:t>$MLFLOW_PORT</a:t>
            </a:r>
            <a:r>
              <a:rPr lang="en" sz="900">
                <a:solidFill>
                  <a:srgbClr val="A01010"/>
                </a:solidFill>
                <a:highlight>
                  <a:srgbClr val="FFA657"/>
                </a:highlight>
                <a:latin typeface="Roboto Mono"/>
                <a:ea typeface="Roboto Mono"/>
                <a:cs typeface="Roboto Mono"/>
                <a:sym typeface="Roboto Mono"/>
              </a:rPr>
              <a:t>"</a:t>
            </a:r>
            <a:r>
              <a:rPr lang="en" sz="900">
                <a:highlight>
                  <a:srgbClr val="FFA657"/>
                </a:highlight>
                <a:latin typeface="Roboto Mono"/>
                <a:ea typeface="Roboto Mono"/>
                <a:cs typeface="Roboto Mono"/>
                <a:sym typeface="Roboto Mono"/>
              </a:rPr>
              <a:t>  </a:t>
            </a:r>
            <a:r>
              <a:rPr lang="en" sz="900">
                <a:solidFill>
                  <a:srgbClr val="0000C0"/>
                </a:solidFill>
                <a:highlight>
                  <a:srgbClr val="FFA657"/>
                </a:highlight>
                <a:latin typeface="Roboto Mono"/>
                <a:ea typeface="Roboto Mono"/>
                <a:cs typeface="Roboto Mono"/>
                <a:sym typeface="Roboto Mono"/>
              </a:rPr>
              <a:t>--env-manager</a:t>
            </a:r>
            <a:r>
              <a:rPr b="1" lang="en" sz="900">
                <a:solidFill>
                  <a:srgbClr val="EE11FF"/>
                </a:solidFill>
                <a:highlight>
                  <a:srgbClr val="FFA657"/>
                </a:highlight>
                <a:latin typeface="Roboto Mono"/>
                <a:ea typeface="Roboto Mono"/>
                <a:cs typeface="Roboto Mono"/>
                <a:sym typeface="Roboto Mono"/>
              </a:rPr>
              <a:t>=</a:t>
            </a:r>
            <a:r>
              <a:rPr lang="en" sz="900">
                <a:highlight>
                  <a:srgbClr val="FFA657"/>
                </a:highlight>
                <a:latin typeface="Roboto Mono"/>
                <a:ea typeface="Roboto Mono"/>
                <a:cs typeface="Roboto Mono"/>
                <a:sym typeface="Roboto Mono"/>
              </a:rPr>
              <a:t>local</a:t>
            </a:r>
            <a:endParaRPr sz="900">
              <a:highlight>
                <a:srgbClr val="FFA657"/>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900">
              <a:highlight>
                <a:schemeClr val="lt2"/>
              </a:highlight>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308" name="Google Shape;308;p45"/>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.4.2</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Serving Your Model</a:t>
            </a:r>
            <a:endParaRPr>
              <a:solidFill>
                <a:schemeClr val="dk1"/>
              </a:solidFill>
              <a:latin typeface="Lora"/>
              <a:ea typeface="Lora"/>
              <a:cs typeface="Lora"/>
              <a:sym typeface="Lora"/>
            </a:endParaRPr>
          </a:p>
        </p:txBody>
      </p:sp>
      <p:sp>
        <p:nvSpPr>
          <p:cNvPr id="309" name="Google Shape;309;p45"/>
          <p:cNvSpPr txBox="1"/>
          <p:nvPr/>
        </p:nvSpPr>
        <p:spPr>
          <a:xfrm>
            <a:off x="656400" y="1097250"/>
            <a:ext cx="78312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highlight>
                  <a:schemeClr val="lt1"/>
                </a:highlight>
                <a:latin typeface="Lora"/>
                <a:ea typeface="Lora"/>
                <a:cs typeface="Lora"/>
                <a:sym typeface="Lora"/>
              </a:rPr>
              <a:t>Here is how you can test your deployed model. Open a new terminal and run the following command</a:t>
            </a:r>
            <a:endParaRPr sz="1200">
              <a:solidFill>
                <a:schemeClr val="dk1"/>
              </a:solidFill>
              <a:highlight>
                <a:schemeClr val="lt1"/>
              </a:highlight>
              <a:latin typeface="Lora"/>
              <a:ea typeface="Lora"/>
              <a:cs typeface="Lora"/>
              <a:sym typeface="Lora"/>
            </a:endParaRPr>
          </a:p>
        </p:txBody>
      </p:sp>
      <p:sp>
        <p:nvSpPr>
          <p:cNvPr id="310" name="Google Shape;310;p45"/>
          <p:cNvSpPr txBox="1"/>
          <p:nvPr/>
        </p:nvSpPr>
        <p:spPr>
          <a:xfrm>
            <a:off x="779100" y="1635575"/>
            <a:ext cx="7585800" cy="5304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900">
                <a:solidFill>
                  <a:schemeClr val="dk1"/>
                </a:solidFill>
                <a:highlight>
                  <a:schemeClr val="lt2"/>
                </a:highlight>
                <a:latin typeface="Courier New"/>
                <a:ea typeface="Courier New"/>
                <a:cs typeface="Courier New"/>
                <a:sym typeface="Courier New"/>
              </a:rPr>
              <a:t>curl -X POST -H "Content-Type:application/json" --data '{"dataframe_split": {"columns": ["t2m_celsius_lag1"], "data": [[12.5]]}}' http://127.0.0.1:5002/invocations</a:t>
            </a:r>
            <a:endParaRPr sz="900">
              <a:solidFill>
                <a:schemeClr val="dk1"/>
              </a:solidFill>
              <a:highlight>
                <a:srgbClr val="FFA657"/>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highlight>
                <a:schemeClr val="lt2"/>
              </a:highlight>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2"/>
              </a:solidFill>
              <a:latin typeface="Courier New"/>
              <a:ea typeface="Courier New"/>
              <a:cs typeface="Courier New"/>
              <a:sym typeface="Courier New"/>
            </a:endParaRPr>
          </a:p>
        </p:txBody>
      </p:sp>
      <p:sp>
        <p:nvSpPr>
          <p:cNvPr id="311" name="Google Shape;311;p45"/>
          <p:cNvSpPr txBox="1"/>
          <p:nvPr/>
        </p:nvSpPr>
        <p:spPr>
          <a:xfrm>
            <a:off x="643425" y="2165975"/>
            <a:ext cx="7844100" cy="2285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lang="en" sz="1100">
                <a:solidFill>
                  <a:schemeClr val="dk1"/>
                </a:solidFill>
                <a:latin typeface="Lora"/>
                <a:ea typeface="Lora"/>
                <a:cs typeface="Lora"/>
                <a:sym typeface="Lora"/>
              </a:rPr>
              <a:t>Let's break down that command so it's clear what's happening:</a:t>
            </a:r>
            <a:endParaRPr sz="1100">
              <a:solidFill>
                <a:schemeClr val="dk1"/>
              </a:solidFill>
              <a:latin typeface="Lora"/>
              <a:ea typeface="Lora"/>
              <a:cs typeface="Lora"/>
              <a:sym typeface="Lora"/>
            </a:endParaRPr>
          </a:p>
          <a:p>
            <a:pPr indent="-298450" lvl="0" marL="457200" rtl="0" algn="just">
              <a:lnSpc>
                <a:spcPct val="150000"/>
              </a:lnSpc>
              <a:spcBef>
                <a:spcPts val="1200"/>
              </a:spcBef>
              <a:spcAft>
                <a:spcPts val="0"/>
              </a:spcAft>
              <a:buClr>
                <a:schemeClr val="dk1"/>
              </a:buClr>
              <a:buSzPts val="1100"/>
              <a:buChar char="●"/>
            </a:pPr>
            <a:r>
              <a:rPr b="1" lang="en" sz="1100">
                <a:solidFill>
                  <a:schemeClr val="dk1"/>
                </a:solidFill>
                <a:latin typeface="Lora"/>
                <a:ea typeface="Lora"/>
                <a:cs typeface="Lora"/>
                <a:sym typeface="Lora"/>
              </a:rPr>
              <a:t>curl -X POST</a:t>
            </a:r>
            <a:r>
              <a:rPr lang="en" sz="1100">
                <a:solidFill>
                  <a:schemeClr val="dk1"/>
                </a:solidFill>
                <a:latin typeface="Lora"/>
                <a:ea typeface="Lora"/>
                <a:cs typeface="Lora"/>
                <a:sym typeface="Lora"/>
              </a:rPr>
              <a:t>: This tells curl to send a POST request, which is standard for submitting data to an API.</a:t>
            </a:r>
            <a:endParaRPr sz="1100">
              <a:solidFill>
                <a:schemeClr val="dk1"/>
              </a:solidFill>
              <a:latin typeface="Lora"/>
              <a:ea typeface="Lora"/>
              <a:cs typeface="Lora"/>
              <a:sym typeface="Lora"/>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-H "Content-Type:application/json"</a:t>
            </a:r>
            <a:r>
              <a:rPr lang="en" sz="1100">
                <a:solidFill>
                  <a:schemeClr val="dk1"/>
                </a:solidFill>
                <a:latin typeface="Lora"/>
                <a:ea typeface="Lora"/>
                <a:cs typeface="Lora"/>
                <a:sym typeface="Lora"/>
              </a:rPr>
              <a:t>: This header tells the server that you are sending data in JSON format.</a:t>
            </a:r>
            <a:endParaRPr sz="1100">
              <a:solidFill>
                <a:schemeClr val="dk1"/>
              </a:solidFill>
              <a:latin typeface="Lora"/>
              <a:ea typeface="Lora"/>
              <a:cs typeface="Lora"/>
              <a:sym typeface="Lora"/>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--data '...'</a:t>
            </a:r>
            <a:r>
              <a:rPr lang="en" sz="1100">
                <a:solidFill>
                  <a:schemeClr val="dk1"/>
                </a:solidFill>
                <a:latin typeface="Lora"/>
                <a:ea typeface="Lora"/>
                <a:cs typeface="Lora"/>
                <a:sym typeface="Lora"/>
              </a:rPr>
              <a:t>: This is the actual data payload. MLflow's server expects this specific dataframe_split format for scikit-learn models:</a:t>
            </a:r>
            <a:endParaRPr sz="1100">
              <a:solidFill>
                <a:schemeClr val="dk1"/>
              </a:solidFill>
              <a:latin typeface="Lora"/>
              <a:ea typeface="Lora"/>
              <a:cs typeface="Lora"/>
              <a:sym typeface="Lora"/>
            </a:endParaRPr>
          </a:p>
          <a:p>
            <a:pPr indent="-298450" lvl="1" marL="914400" rtl="0" algn="just">
              <a:lnSpc>
                <a:spcPct val="150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"columns"</a:t>
            </a:r>
            <a:r>
              <a:rPr lang="en" sz="1100">
                <a:solidFill>
                  <a:schemeClr val="dk1"/>
                </a:solidFill>
                <a:latin typeface="Lora"/>
                <a:ea typeface="Lora"/>
                <a:cs typeface="Lora"/>
                <a:sym typeface="Lora"/>
              </a:rPr>
              <a:t>: ["t2m_celsius_lag1"]: This specifies the feature name the model was trained on</a:t>
            </a:r>
            <a:endParaRPr sz="1100">
              <a:solidFill>
                <a:schemeClr val="dk1"/>
              </a:solidFill>
              <a:latin typeface="Lora"/>
              <a:ea typeface="Lora"/>
              <a:cs typeface="Lora"/>
              <a:sym typeface="Lora"/>
            </a:endParaRPr>
          </a:p>
          <a:p>
            <a:pPr indent="-298450" lvl="1" marL="914400" rtl="0" algn="just">
              <a:lnSpc>
                <a:spcPct val="150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"data"</a:t>
            </a:r>
            <a:r>
              <a:rPr lang="en" sz="1100">
                <a:solidFill>
                  <a:schemeClr val="dk1"/>
                </a:solidFill>
                <a:latin typeface="Lora"/>
                <a:ea typeface="Lora"/>
                <a:cs typeface="Lora"/>
                <a:sym typeface="Lora"/>
              </a:rPr>
              <a:t>: [[12.5]]: This is a sample input value for the lagged temperature. </a:t>
            </a:r>
            <a:endParaRPr sz="1100">
              <a:solidFill>
                <a:schemeClr val="dk1"/>
              </a:solidFill>
              <a:latin typeface="Lora"/>
              <a:ea typeface="Lora"/>
              <a:cs typeface="Lora"/>
              <a:sym typeface="Lora"/>
            </a:endParaRPr>
          </a:p>
          <a:p>
            <a:pPr indent="-298450" lvl="0" marL="457200" rtl="0" algn="just">
              <a:lnSpc>
                <a:spcPct val="150000"/>
              </a:lnSpc>
              <a:spcBef>
                <a:spcPts val="0"/>
              </a:spcBef>
              <a:spcAft>
                <a:spcPts val="0"/>
              </a:spcAft>
              <a:buClr>
                <a:schemeClr val="dk1"/>
              </a:buClr>
              <a:buSzPts val="1100"/>
              <a:buChar char="●"/>
            </a:pPr>
            <a:r>
              <a:rPr b="1" lang="en" sz="1100">
                <a:solidFill>
                  <a:schemeClr val="dk1"/>
                </a:solidFill>
                <a:latin typeface="Lora"/>
                <a:ea typeface="Lora"/>
                <a:cs typeface="Lora"/>
                <a:sym typeface="Lora"/>
              </a:rPr>
              <a:t>http://127.0.0.1:5002/invocations</a:t>
            </a:r>
            <a:r>
              <a:rPr lang="en" sz="1100">
                <a:solidFill>
                  <a:schemeClr val="dk1"/>
                </a:solidFill>
                <a:latin typeface="Lora"/>
                <a:ea typeface="Lora"/>
                <a:cs typeface="Lora"/>
                <a:sym typeface="Lora"/>
              </a:rPr>
              <a:t>: This is the full URL to the prediction endpoint on the server you just started</a:t>
            </a:r>
            <a:endParaRPr sz="1100">
              <a:solidFill>
                <a:schemeClr val="dk1"/>
              </a:solidFill>
              <a:latin typeface="Lora"/>
              <a:ea typeface="Lora"/>
              <a:cs typeface="Lora"/>
              <a:sym typeface="Lor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4</a:t>
            </a:r>
            <a:r>
              <a:rPr lang="en" sz="2400">
                <a:latin typeface="Lora"/>
                <a:ea typeface="Lora"/>
                <a:cs typeface="Lora"/>
                <a:sym typeface="Lora"/>
              </a:rPr>
              <a:t>. </a:t>
            </a:r>
            <a:r>
              <a:rPr lang="en" sz="2400">
                <a:solidFill>
                  <a:schemeClr val="dk1"/>
                </a:solidFill>
                <a:latin typeface="Lora"/>
                <a:ea typeface="Lora"/>
                <a:cs typeface="Lora"/>
                <a:sym typeface="Lora"/>
              </a:rPr>
              <a:t>Managing the ML Lifecycle with MLflow</a:t>
            </a:r>
            <a:endParaRPr sz="2400">
              <a:solidFill>
                <a:schemeClr val="dk1"/>
              </a:solidFill>
              <a:latin typeface="Lora"/>
              <a:ea typeface="Lora"/>
              <a:cs typeface="Lora"/>
              <a:sym typeface="Lora"/>
            </a:endParaRPr>
          </a:p>
        </p:txBody>
      </p:sp>
      <p:sp>
        <p:nvSpPr>
          <p:cNvPr id="317" name="Google Shape;317;p46"/>
          <p:cNvSpPr txBox="1"/>
          <p:nvPr/>
        </p:nvSpPr>
        <p:spPr>
          <a:xfrm>
            <a:off x="612900" y="697050"/>
            <a:ext cx="74034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solidFill>
                  <a:schemeClr val="dk1"/>
                </a:solidFill>
                <a:latin typeface="Lora"/>
                <a:ea typeface="Lora"/>
                <a:cs typeface="Lora"/>
                <a:sym typeface="Lora"/>
              </a:rPr>
              <a:t>4</a:t>
            </a:r>
            <a:r>
              <a:rPr lang="en">
                <a:solidFill>
                  <a:schemeClr val="dk1"/>
                </a:solidFill>
                <a:latin typeface="Lora"/>
                <a:ea typeface="Lora"/>
                <a:cs typeface="Lora"/>
                <a:sym typeface="Lora"/>
              </a:rPr>
              <a:t>.4.2</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 </a:t>
            </a:r>
            <a:r>
              <a:rPr lang="en">
                <a:solidFill>
                  <a:schemeClr val="dk1"/>
                </a:solidFill>
                <a:latin typeface="Lora"/>
                <a:ea typeface="Lora"/>
                <a:cs typeface="Lora"/>
                <a:sym typeface="Lora"/>
              </a:rPr>
              <a:t>Serving Your Model</a:t>
            </a:r>
            <a:r>
              <a:rPr lang="en">
                <a:solidFill>
                  <a:schemeClr val="dk1"/>
                </a:solidFill>
                <a:latin typeface="Lora"/>
                <a:ea typeface="Lora"/>
                <a:cs typeface="Lora"/>
                <a:sym typeface="Lora"/>
              </a:rPr>
              <a:t> as a gradio app</a:t>
            </a:r>
            <a:endParaRPr>
              <a:solidFill>
                <a:schemeClr val="dk1"/>
              </a:solidFill>
              <a:latin typeface="Lora"/>
              <a:ea typeface="Lora"/>
              <a:cs typeface="Lora"/>
              <a:sym typeface="Lora"/>
            </a:endParaRPr>
          </a:p>
        </p:txBody>
      </p:sp>
      <p:sp>
        <p:nvSpPr>
          <p:cNvPr id="318" name="Google Shape;318;p46"/>
          <p:cNvSpPr txBox="1"/>
          <p:nvPr/>
        </p:nvSpPr>
        <p:spPr>
          <a:xfrm>
            <a:off x="643425" y="1181400"/>
            <a:ext cx="7585800" cy="32910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900">
                <a:solidFill>
                  <a:srgbClr val="700080"/>
                </a:solidFill>
                <a:highlight>
                  <a:schemeClr val="lt2"/>
                </a:highlight>
                <a:latin typeface="Roboto Mono"/>
                <a:ea typeface="Roboto Mono"/>
                <a:cs typeface="Roboto Mono"/>
                <a:sym typeface="Roboto Mono"/>
              </a:rPr>
              <a:t>import</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os</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en" sz="900">
                <a:solidFill>
                  <a:srgbClr val="700080"/>
                </a:solidFill>
                <a:highlight>
                  <a:schemeClr val="lt2"/>
                </a:highlight>
                <a:latin typeface="Roboto Mono"/>
                <a:ea typeface="Roboto Mono"/>
                <a:cs typeface="Roboto Mono"/>
                <a:sym typeface="Roboto Mono"/>
              </a:rPr>
              <a:t>import</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gradio</a:t>
            </a:r>
            <a:r>
              <a:rPr lang="en" sz="900">
                <a:highlight>
                  <a:schemeClr val="lt2"/>
                </a:highlight>
                <a:latin typeface="Roboto Mono"/>
                <a:ea typeface="Roboto Mono"/>
                <a:cs typeface="Roboto Mono"/>
                <a:sym typeface="Roboto Mono"/>
              </a:rPr>
              <a:t> </a:t>
            </a:r>
            <a:r>
              <a:rPr b="1" lang="en" sz="900">
                <a:solidFill>
                  <a:srgbClr val="700080"/>
                </a:solidFill>
                <a:highlight>
                  <a:schemeClr val="lt2"/>
                </a:highlight>
                <a:latin typeface="Roboto Mono"/>
                <a:ea typeface="Roboto Mono"/>
                <a:cs typeface="Roboto Mono"/>
                <a:sym typeface="Roboto Mono"/>
              </a:rPr>
              <a:t>as</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gr</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en" sz="900">
                <a:solidFill>
                  <a:srgbClr val="700080"/>
                </a:solidFill>
                <a:highlight>
                  <a:schemeClr val="lt2"/>
                </a:highlight>
                <a:latin typeface="Roboto Mono"/>
                <a:ea typeface="Roboto Mono"/>
                <a:cs typeface="Roboto Mono"/>
                <a:sym typeface="Roboto Mono"/>
              </a:rPr>
              <a:t>import</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mlflow</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en" sz="900">
                <a:solidFill>
                  <a:srgbClr val="700080"/>
                </a:solidFill>
                <a:highlight>
                  <a:schemeClr val="lt2"/>
                </a:highlight>
                <a:latin typeface="Roboto Mono"/>
                <a:ea typeface="Roboto Mono"/>
                <a:cs typeface="Roboto Mono"/>
                <a:sym typeface="Roboto Mono"/>
              </a:rPr>
              <a:t>import</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pandas</a:t>
            </a:r>
            <a:r>
              <a:rPr lang="en" sz="900">
                <a:highlight>
                  <a:schemeClr val="lt2"/>
                </a:highlight>
                <a:latin typeface="Roboto Mono"/>
                <a:ea typeface="Roboto Mono"/>
                <a:cs typeface="Roboto Mono"/>
                <a:sym typeface="Roboto Mono"/>
              </a:rPr>
              <a:t> </a:t>
            </a:r>
            <a:r>
              <a:rPr b="1" lang="en" sz="900">
                <a:solidFill>
                  <a:srgbClr val="700080"/>
                </a:solidFill>
                <a:highlight>
                  <a:schemeClr val="lt2"/>
                </a:highlight>
                <a:latin typeface="Roboto Mono"/>
                <a:ea typeface="Roboto Mono"/>
                <a:cs typeface="Roboto Mono"/>
                <a:sym typeface="Roboto Mono"/>
              </a:rPr>
              <a:t>as</a:t>
            </a:r>
            <a:r>
              <a:rPr lang="en" sz="900">
                <a:highlight>
                  <a:schemeClr val="lt2"/>
                </a:highlight>
                <a:latin typeface="Roboto Mono"/>
                <a:ea typeface="Roboto Mono"/>
                <a:cs typeface="Roboto Mono"/>
                <a:sym typeface="Roboto Mono"/>
              </a:rPr>
              <a:t> </a:t>
            </a:r>
            <a:r>
              <a:rPr lang="en" sz="900">
                <a:solidFill>
                  <a:srgbClr val="1AB1CD"/>
                </a:solidFill>
                <a:highlight>
                  <a:schemeClr val="lt2"/>
                </a:highlight>
                <a:latin typeface="Roboto Mono"/>
                <a:ea typeface="Roboto Mono"/>
                <a:cs typeface="Roboto Mono"/>
                <a:sym typeface="Roboto Mono"/>
              </a:rPr>
              <a:t>pd</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900">
                <a:solidFill>
                  <a:srgbClr val="A05000"/>
                </a:solidFill>
                <a:highlight>
                  <a:schemeClr val="lt2"/>
                </a:highlight>
                <a:latin typeface="Roboto Mono"/>
                <a:ea typeface="Roboto Mono"/>
                <a:cs typeface="Roboto Mono"/>
                <a:sym typeface="Roboto Mono"/>
              </a:rPr>
              <a:t># Configuration</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solidFill>
                  <a:srgbClr val="1AB1CD"/>
                </a:solidFill>
                <a:highlight>
                  <a:schemeClr val="lt2"/>
                </a:highlight>
                <a:latin typeface="Roboto Mono"/>
                <a:ea typeface="Roboto Mono"/>
                <a:cs typeface="Roboto Mono"/>
                <a:sym typeface="Roboto Mono"/>
              </a:rPr>
              <a:t>MODEL_NAME</a:t>
            </a:r>
            <a:r>
              <a:rPr lang="en" sz="900">
                <a:highlight>
                  <a:schemeClr val="lt2"/>
                </a:highlight>
                <a:latin typeface="Roboto Mono"/>
                <a:ea typeface="Roboto Mono"/>
                <a:cs typeface="Roboto Mono"/>
                <a:sym typeface="Roboto Mono"/>
              </a:rPr>
              <a:t> </a:t>
            </a:r>
            <a:r>
              <a:rPr b="1" lang="en" sz="900">
                <a:solidFill>
                  <a:srgbClr val="EE11FF"/>
                </a:solidFill>
                <a:highlight>
                  <a:schemeClr val="lt2"/>
                </a:highlight>
                <a:latin typeface="Roboto Mono"/>
                <a:ea typeface="Roboto Mono"/>
                <a:cs typeface="Roboto Mono"/>
                <a:sym typeface="Roboto Mono"/>
              </a:rPr>
              <a:t>=</a:t>
            </a:r>
            <a:r>
              <a:rPr lang="en" sz="900">
                <a:highlight>
                  <a:schemeClr val="lt2"/>
                </a:highlight>
                <a:latin typeface="Roboto Mono"/>
                <a:ea typeface="Roboto Mono"/>
                <a:cs typeface="Roboto Mono"/>
                <a:sym typeface="Roboto Mono"/>
              </a:rPr>
              <a:t> </a:t>
            </a:r>
            <a:r>
              <a:rPr lang="en" sz="900">
                <a:solidFill>
                  <a:srgbClr val="A01010"/>
                </a:solidFill>
                <a:highlight>
                  <a:schemeClr val="lt2"/>
                </a:highlight>
                <a:latin typeface="Roboto Mono"/>
                <a:ea typeface="Roboto Mono"/>
                <a:cs typeface="Roboto Mono"/>
                <a:sym typeface="Roboto Mono"/>
              </a:rPr>
              <a:t>"tuned-temp-forecaster"</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solidFill>
                  <a:srgbClr val="1AB1CD"/>
                </a:solidFill>
                <a:highlight>
                  <a:schemeClr val="lt2"/>
                </a:highlight>
                <a:latin typeface="Roboto Mono"/>
                <a:ea typeface="Roboto Mono"/>
                <a:cs typeface="Roboto Mono"/>
                <a:sym typeface="Roboto Mono"/>
              </a:rPr>
              <a:t>MODEL_STAGE</a:t>
            </a:r>
            <a:r>
              <a:rPr lang="en" sz="900">
                <a:highlight>
                  <a:schemeClr val="lt2"/>
                </a:highlight>
                <a:latin typeface="Roboto Mono"/>
                <a:ea typeface="Roboto Mono"/>
                <a:cs typeface="Roboto Mono"/>
                <a:sym typeface="Roboto Mono"/>
              </a:rPr>
              <a:t> </a:t>
            </a:r>
            <a:r>
              <a:rPr b="1" lang="en" sz="900">
                <a:solidFill>
                  <a:srgbClr val="EE11FF"/>
                </a:solidFill>
                <a:highlight>
                  <a:schemeClr val="lt2"/>
                </a:highlight>
                <a:latin typeface="Roboto Mono"/>
                <a:ea typeface="Roboto Mono"/>
                <a:cs typeface="Roboto Mono"/>
                <a:sym typeface="Roboto Mono"/>
              </a:rPr>
              <a:t>=</a:t>
            </a:r>
            <a:r>
              <a:rPr lang="en" sz="900">
                <a:highlight>
                  <a:schemeClr val="lt2"/>
                </a:highlight>
                <a:latin typeface="Roboto Mono"/>
                <a:ea typeface="Roboto Mono"/>
                <a:cs typeface="Roboto Mono"/>
                <a:sym typeface="Roboto Mono"/>
              </a:rPr>
              <a:t> </a:t>
            </a:r>
            <a:r>
              <a:rPr lang="en" sz="900">
                <a:solidFill>
                  <a:srgbClr val="A01010"/>
                </a:solidFill>
                <a:highlight>
                  <a:schemeClr val="lt2"/>
                </a:highlight>
                <a:latin typeface="Roboto Mono"/>
                <a:ea typeface="Roboto Mono"/>
                <a:cs typeface="Roboto Mono"/>
                <a:sym typeface="Roboto Mono"/>
              </a:rPr>
              <a:t>"Production"</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900">
                <a:solidFill>
                  <a:srgbClr val="A05000"/>
                </a:solidFill>
                <a:highlight>
                  <a:schemeClr val="lt2"/>
                </a:highlight>
                <a:latin typeface="Roboto Mono"/>
                <a:ea typeface="Roboto Mono"/>
                <a:cs typeface="Roboto Mono"/>
                <a:sym typeface="Roboto Mono"/>
              </a:rPr>
              <a:t># Construct an absolute path to the database file.</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en" sz="900">
                <a:solidFill>
                  <a:srgbClr val="700080"/>
                </a:solidFill>
                <a:highlight>
                  <a:schemeClr val="lt2"/>
                </a:highlight>
                <a:latin typeface="Roboto Mono"/>
                <a:ea typeface="Roboto Mono"/>
                <a:cs typeface="Roboto Mono"/>
                <a:sym typeface="Roboto Mono"/>
              </a:rPr>
              <a:t>DB_PATH="/workspaces/AIMS_course/mlflow_local_tracking.db"</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900">
                <a:solidFill>
                  <a:srgbClr val="A05000"/>
                </a:solidFill>
                <a:highlight>
                  <a:schemeClr val="lt2"/>
                </a:highlight>
                <a:latin typeface="Roboto Mono"/>
                <a:ea typeface="Roboto Mono"/>
                <a:cs typeface="Roboto Mono"/>
                <a:sym typeface="Roboto Mono"/>
              </a:rPr>
              <a:t># Set the tracking URI to find the local MLflow database</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solidFill>
                  <a:srgbClr val="1AB1CD"/>
                </a:solidFill>
                <a:highlight>
                  <a:schemeClr val="lt2"/>
                </a:highlight>
                <a:latin typeface="Roboto Mono"/>
                <a:ea typeface="Roboto Mono"/>
                <a:cs typeface="Roboto Mono"/>
                <a:sym typeface="Roboto Mono"/>
              </a:rPr>
              <a:t>mlflow</a:t>
            </a:r>
            <a:r>
              <a:rPr lang="en" sz="900">
                <a:highlight>
                  <a:schemeClr val="lt2"/>
                </a:highlight>
                <a:latin typeface="Roboto Mono"/>
                <a:ea typeface="Roboto Mono"/>
                <a:cs typeface="Roboto Mono"/>
                <a:sym typeface="Roboto Mono"/>
              </a:rPr>
              <a:t>.</a:t>
            </a:r>
            <a:r>
              <a:rPr lang="en" sz="900">
                <a:solidFill>
                  <a:srgbClr val="572000"/>
                </a:solidFill>
                <a:highlight>
                  <a:schemeClr val="lt2"/>
                </a:highlight>
                <a:latin typeface="Roboto Mono"/>
                <a:ea typeface="Roboto Mono"/>
                <a:cs typeface="Roboto Mono"/>
                <a:sym typeface="Roboto Mono"/>
              </a:rPr>
              <a:t>set_tracking_uri</a:t>
            </a:r>
            <a:r>
              <a:rPr lang="en" sz="900">
                <a:highlight>
                  <a:schemeClr val="lt2"/>
                </a:highlight>
                <a:latin typeface="Roboto Mono"/>
                <a:ea typeface="Roboto Mono"/>
                <a:cs typeface="Roboto Mono"/>
                <a:sym typeface="Roboto Mono"/>
              </a:rPr>
              <a:t>(</a:t>
            </a:r>
            <a:r>
              <a:rPr lang="en" sz="900">
                <a:solidFill>
                  <a:srgbClr val="A01010"/>
                </a:solidFill>
                <a:highlight>
                  <a:schemeClr val="lt2"/>
                </a:highlight>
                <a:latin typeface="Roboto Mono"/>
                <a:ea typeface="Roboto Mono"/>
                <a:cs typeface="Roboto Mono"/>
                <a:sym typeface="Roboto Mono"/>
              </a:rPr>
              <a:t>f"sqlite:///</a:t>
            </a:r>
            <a:r>
              <a:rPr lang="en" sz="900">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os</a:t>
            </a:r>
            <a:r>
              <a:rPr lang="en" sz="900">
                <a:highlight>
                  <a:schemeClr val="lt2"/>
                </a:highlight>
                <a:latin typeface="Roboto Mono"/>
                <a:ea typeface="Roboto Mono"/>
                <a:cs typeface="Roboto Mono"/>
                <a:sym typeface="Roboto Mono"/>
              </a:rPr>
              <a:t>.</a:t>
            </a:r>
            <a:r>
              <a:rPr lang="en" sz="900">
                <a:solidFill>
                  <a:srgbClr val="572000"/>
                </a:solidFill>
                <a:highlight>
                  <a:schemeClr val="lt2"/>
                </a:highlight>
                <a:latin typeface="Roboto Mono"/>
                <a:ea typeface="Roboto Mono"/>
                <a:cs typeface="Roboto Mono"/>
                <a:sym typeface="Roboto Mono"/>
              </a:rPr>
              <a:t>path</a:t>
            </a:r>
            <a:r>
              <a:rPr lang="en" sz="900">
                <a:highlight>
                  <a:schemeClr val="lt2"/>
                </a:highlight>
                <a:latin typeface="Roboto Mono"/>
                <a:ea typeface="Roboto Mono"/>
                <a:cs typeface="Roboto Mono"/>
                <a:sym typeface="Roboto Mono"/>
              </a:rPr>
              <a:t>.</a:t>
            </a:r>
            <a:r>
              <a:rPr lang="en" sz="900">
                <a:solidFill>
                  <a:srgbClr val="572000"/>
                </a:solidFill>
                <a:highlight>
                  <a:schemeClr val="lt2"/>
                </a:highlight>
                <a:latin typeface="Roboto Mono"/>
                <a:ea typeface="Roboto Mono"/>
                <a:cs typeface="Roboto Mono"/>
                <a:sym typeface="Roboto Mono"/>
              </a:rPr>
              <a:t>abspath</a:t>
            </a:r>
            <a:r>
              <a:rPr lang="en" sz="900">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DB_PATH</a:t>
            </a:r>
            <a:r>
              <a:rPr lang="en" sz="900">
                <a:highlight>
                  <a:schemeClr val="lt2"/>
                </a:highlight>
                <a:latin typeface="Roboto Mono"/>
                <a:ea typeface="Roboto Mono"/>
                <a:cs typeface="Roboto Mono"/>
                <a:sym typeface="Roboto Mono"/>
              </a:rPr>
              <a:t>)}</a:t>
            </a:r>
            <a:r>
              <a:rPr lang="en" sz="900">
                <a:solidFill>
                  <a:srgbClr val="A01010"/>
                </a:solidFill>
                <a:highlight>
                  <a:schemeClr val="lt2"/>
                </a:highlight>
                <a:latin typeface="Roboto Mono"/>
                <a:ea typeface="Roboto Mono"/>
                <a:cs typeface="Roboto Mono"/>
                <a:sym typeface="Roboto Mono"/>
              </a:rPr>
              <a:t>"</a:t>
            </a:r>
            <a:r>
              <a:rPr lang="en" sz="900">
                <a:highlight>
                  <a:schemeClr val="lt2"/>
                </a:highlight>
                <a:latin typeface="Roboto Mono"/>
                <a:ea typeface="Roboto Mono"/>
                <a:cs typeface="Roboto Mono"/>
                <a:sym typeface="Roboto Mono"/>
              </a:rPr>
              <a:t>)</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en" sz="900">
                <a:solidFill>
                  <a:srgbClr val="A05000"/>
                </a:solidFill>
                <a:highlight>
                  <a:schemeClr val="lt2"/>
                </a:highlight>
                <a:latin typeface="Roboto Mono"/>
                <a:ea typeface="Roboto Mono"/>
                <a:cs typeface="Roboto Mono"/>
                <a:sym typeface="Roboto Mono"/>
              </a:rPr>
              <a:t># Construct the model URI for the registry</a:t>
            </a:r>
            <a:endParaRPr sz="900">
              <a:highlight>
                <a:schemeClr val="lt2"/>
              </a:highlight>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en" sz="900">
                <a:solidFill>
                  <a:srgbClr val="1AB1CD"/>
                </a:solidFill>
                <a:highlight>
                  <a:schemeClr val="lt2"/>
                </a:highlight>
                <a:latin typeface="Roboto Mono"/>
                <a:ea typeface="Roboto Mono"/>
                <a:cs typeface="Roboto Mono"/>
                <a:sym typeface="Roboto Mono"/>
              </a:rPr>
              <a:t>model_uri</a:t>
            </a:r>
            <a:r>
              <a:rPr lang="en" sz="900">
                <a:highlight>
                  <a:schemeClr val="lt2"/>
                </a:highlight>
                <a:latin typeface="Roboto Mono"/>
                <a:ea typeface="Roboto Mono"/>
                <a:cs typeface="Roboto Mono"/>
                <a:sym typeface="Roboto Mono"/>
              </a:rPr>
              <a:t> </a:t>
            </a:r>
            <a:r>
              <a:rPr b="1" lang="en" sz="900">
                <a:solidFill>
                  <a:srgbClr val="EE11FF"/>
                </a:solidFill>
                <a:highlight>
                  <a:schemeClr val="lt2"/>
                </a:highlight>
                <a:latin typeface="Roboto Mono"/>
                <a:ea typeface="Roboto Mono"/>
                <a:cs typeface="Roboto Mono"/>
                <a:sym typeface="Roboto Mono"/>
              </a:rPr>
              <a:t>=</a:t>
            </a:r>
            <a:r>
              <a:rPr lang="en" sz="900">
                <a:highlight>
                  <a:schemeClr val="lt2"/>
                </a:highlight>
                <a:latin typeface="Roboto Mono"/>
                <a:ea typeface="Roboto Mono"/>
                <a:cs typeface="Roboto Mono"/>
                <a:sym typeface="Roboto Mono"/>
              </a:rPr>
              <a:t> </a:t>
            </a:r>
            <a:r>
              <a:rPr lang="en" sz="900">
                <a:solidFill>
                  <a:srgbClr val="A01010"/>
                </a:solidFill>
                <a:highlight>
                  <a:schemeClr val="lt2"/>
                </a:highlight>
                <a:latin typeface="Roboto Mono"/>
                <a:ea typeface="Roboto Mono"/>
                <a:cs typeface="Roboto Mono"/>
                <a:sym typeface="Roboto Mono"/>
              </a:rPr>
              <a:t>f"models:/</a:t>
            </a:r>
            <a:r>
              <a:rPr lang="en" sz="900">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MODEL_NAME</a:t>
            </a:r>
            <a:r>
              <a:rPr lang="en" sz="900">
                <a:highlight>
                  <a:schemeClr val="lt2"/>
                </a:highlight>
                <a:latin typeface="Roboto Mono"/>
                <a:ea typeface="Roboto Mono"/>
                <a:cs typeface="Roboto Mono"/>
                <a:sym typeface="Roboto Mono"/>
              </a:rPr>
              <a:t>}</a:t>
            </a:r>
            <a:r>
              <a:rPr lang="en" sz="900">
                <a:solidFill>
                  <a:srgbClr val="A01010"/>
                </a:solidFill>
                <a:highlight>
                  <a:schemeClr val="lt2"/>
                </a:highlight>
                <a:latin typeface="Roboto Mono"/>
                <a:ea typeface="Roboto Mono"/>
                <a:cs typeface="Roboto Mono"/>
                <a:sym typeface="Roboto Mono"/>
              </a:rPr>
              <a:t>/</a:t>
            </a:r>
            <a:r>
              <a:rPr lang="en" sz="900">
                <a:highlight>
                  <a:schemeClr val="lt2"/>
                </a:highlight>
                <a:latin typeface="Roboto Mono"/>
                <a:ea typeface="Roboto Mono"/>
                <a:cs typeface="Roboto Mono"/>
                <a:sym typeface="Roboto Mono"/>
              </a:rPr>
              <a:t>{</a:t>
            </a:r>
            <a:r>
              <a:rPr lang="en" sz="900">
                <a:solidFill>
                  <a:srgbClr val="1AB1CD"/>
                </a:solidFill>
                <a:highlight>
                  <a:schemeClr val="lt2"/>
                </a:highlight>
                <a:latin typeface="Roboto Mono"/>
                <a:ea typeface="Roboto Mono"/>
                <a:cs typeface="Roboto Mono"/>
                <a:sym typeface="Roboto Mono"/>
              </a:rPr>
              <a:t>MODEL_STAGE</a:t>
            </a:r>
            <a:r>
              <a:rPr lang="en" sz="900">
                <a:highlight>
                  <a:schemeClr val="lt2"/>
                </a:highlight>
                <a:latin typeface="Roboto Mono"/>
                <a:ea typeface="Roboto Mono"/>
                <a:cs typeface="Roboto Mono"/>
                <a:sym typeface="Roboto Mono"/>
              </a:rPr>
              <a:t>}</a:t>
            </a:r>
            <a:r>
              <a:rPr lang="en" sz="900">
                <a:solidFill>
                  <a:srgbClr val="A01010"/>
                </a:solidFill>
                <a:highlight>
                  <a:schemeClr val="lt2"/>
                </a:highlight>
                <a:latin typeface="Roboto Mono"/>
                <a:ea typeface="Roboto Mono"/>
                <a:cs typeface="Roboto Mono"/>
                <a:sym typeface="Roboto Mono"/>
              </a:rPr>
              <a:t>"</a:t>
            </a:r>
            <a:endParaRPr sz="900">
              <a:solidFill>
                <a:srgbClr val="A01010"/>
              </a:solidFill>
              <a:highlight>
                <a:schemeClr val="lt2"/>
              </a:highlight>
              <a:latin typeface="Roboto Mono"/>
              <a:ea typeface="Roboto Mono"/>
              <a:cs typeface="Roboto Mono"/>
              <a:sym typeface="Roboto Mono"/>
            </a:endParaRPr>
          </a:p>
        </p:txBody>
      </p:sp>
      <p:sp>
        <p:nvSpPr>
          <p:cNvPr id="319" name="Google Shape;319;p46"/>
          <p:cNvSpPr txBox="1"/>
          <p:nvPr/>
        </p:nvSpPr>
        <p:spPr>
          <a:xfrm>
            <a:off x="2706775" y="4556550"/>
            <a:ext cx="11895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highlight>
                  <a:schemeClr val="lt1"/>
                </a:highlight>
                <a:latin typeface="Lora"/>
                <a:ea typeface="Lora"/>
                <a:cs typeface="Lora"/>
                <a:sym typeface="Lora"/>
              </a:rPr>
              <a:t>full code </a:t>
            </a:r>
            <a:r>
              <a:rPr lang="en" sz="1200" u="sng">
                <a:solidFill>
                  <a:schemeClr val="hlink"/>
                </a:solidFill>
                <a:highlight>
                  <a:schemeClr val="lt1"/>
                </a:highlight>
                <a:latin typeface="Lora"/>
                <a:ea typeface="Lora"/>
                <a:cs typeface="Lora"/>
                <a:sym typeface="Lora"/>
                <a:hlinkClick r:id="rId3"/>
              </a:rPr>
              <a:t>here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5</a:t>
            </a:r>
            <a:r>
              <a:rPr lang="en" sz="2400">
                <a:latin typeface="Lora"/>
                <a:ea typeface="Lora"/>
                <a:cs typeface="Lora"/>
                <a:sym typeface="Lora"/>
              </a:rPr>
              <a:t>. </a:t>
            </a:r>
            <a:r>
              <a:rPr lang="en" sz="2400">
                <a:solidFill>
                  <a:schemeClr val="dk1"/>
                </a:solidFill>
                <a:latin typeface="Lora"/>
                <a:ea typeface="Lora"/>
                <a:cs typeface="Lora"/>
                <a:sym typeface="Lora"/>
              </a:rPr>
              <a:t>Putting It All Together</a:t>
            </a:r>
            <a:endParaRPr sz="2400">
              <a:solidFill>
                <a:schemeClr val="dk1"/>
              </a:solidFill>
              <a:latin typeface="Lora"/>
              <a:ea typeface="Lora"/>
              <a:cs typeface="Lora"/>
              <a:sym typeface="Lora"/>
            </a:endParaRPr>
          </a:p>
        </p:txBody>
      </p:sp>
      <p:sp>
        <p:nvSpPr>
          <p:cNvPr id="325" name="Google Shape;325;p47"/>
          <p:cNvSpPr txBox="1"/>
          <p:nvPr/>
        </p:nvSpPr>
        <p:spPr>
          <a:xfrm>
            <a:off x="733200" y="752400"/>
            <a:ext cx="6394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ora"/>
                <a:ea typeface="Lora"/>
                <a:cs typeface="Lora"/>
                <a:sym typeface="Lora"/>
              </a:rPr>
              <a:t>You can use an orchestrator like dagster to automate this entire end-to-end workflow. Check the full code from our </a:t>
            </a:r>
            <a:r>
              <a:rPr lang="en" sz="1200" u="sng">
                <a:solidFill>
                  <a:schemeClr val="hlink"/>
                </a:solidFill>
                <a:latin typeface="Lora"/>
                <a:ea typeface="Lora"/>
                <a:cs typeface="Lora"/>
                <a:sym typeface="Lora"/>
                <a:hlinkClick r:id="rId3"/>
              </a:rPr>
              <a:t>repo</a:t>
            </a:r>
            <a:endParaRPr sz="1500">
              <a:latin typeface="Lora"/>
              <a:ea typeface="Lora"/>
              <a:cs typeface="Lora"/>
              <a:sym typeface="Lora"/>
            </a:endParaRPr>
          </a:p>
        </p:txBody>
      </p:sp>
      <p:pic>
        <p:nvPicPr>
          <p:cNvPr id="326" name="Google Shape;326;p47"/>
          <p:cNvPicPr preferRelativeResize="0"/>
          <p:nvPr/>
        </p:nvPicPr>
        <p:blipFill>
          <a:blip r:embed="rId4">
            <a:alphaModFix/>
          </a:blip>
          <a:stretch>
            <a:fillRect/>
          </a:stretch>
        </p:blipFill>
        <p:spPr>
          <a:xfrm>
            <a:off x="685800" y="1460801"/>
            <a:ext cx="8048701" cy="3122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8"/>
          <p:cNvSpPr txBox="1"/>
          <p:nvPr/>
        </p:nvSpPr>
        <p:spPr>
          <a:xfrm>
            <a:off x="612896" y="243588"/>
            <a:ext cx="8128500" cy="34722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14. Conclusion &amp; Key Takeaways</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332" name="Google Shape;332;p48"/>
          <p:cNvSpPr txBox="1"/>
          <p:nvPr/>
        </p:nvSpPr>
        <p:spPr>
          <a:xfrm>
            <a:off x="486900" y="700975"/>
            <a:ext cx="7896600" cy="1200600"/>
          </a:xfrm>
          <a:prstGeom prst="rect">
            <a:avLst/>
          </a:prstGeom>
          <a:noFill/>
          <a:ln>
            <a:noFill/>
          </a:ln>
        </p:spPr>
        <p:txBody>
          <a:bodyPr anchorCtr="0" anchor="t" bIns="91425" lIns="91425" spcFirstLastPara="1" rIns="91425" wrap="square" tIns="91425">
            <a:spAutoFit/>
          </a:bodyPr>
          <a:lstStyle/>
          <a:p>
            <a:pPr indent="-304800" lvl="0" marL="457200" rtl="0" algn="just">
              <a:lnSpc>
                <a:spcPct val="150000"/>
              </a:lnSpc>
              <a:spcBef>
                <a:spcPts val="1200"/>
              </a:spcBef>
              <a:spcAft>
                <a:spcPts val="0"/>
              </a:spcAft>
              <a:buClr>
                <a:schemeClr val="dk1"/>
              </a:buClr>
              <a:buSzPts val="1200"/>
              <a:buFont typeface="Lora"/>
              <a:buChar char="●"/>
            </a:pPr>
            <a:r>
              <a:rPr lang="en" sz="1200">
                <a:solidFill>
                  <a:schemeClr val="dk1"/>
                </a:solidFill>
                <a:latin typeface="Lora"/>
                <a:ea typeface="Lora"/>
                <a:cs typeface="Lora"/>
                <a:sym typeface="Lora"/>
              </a:rPr>
              <a:t>MLflow provides a comprehensive, open-source platform for managing the end-to-end machine learning lifecycle</a:t>
            </a:r>
            <a:endParaRPr sz="1200">
              <a:solidFill>
                <a:schemeClr val="dk1"/>
              </a:solidFill>
              <a:latin typeface="Lora"/>
              <a:ea typeface="Lora"/>
              <a:cs typeface="Lora"/>
              <a:sym typeface="Lora"/>
            </a:endParaRPr>
          </a:p>
          <a:p>
            <a:pPr indent="-304800" lvl="0" marL="457200" rtl="0" algn="just">
              <a:lnSpc>
                <a:spcPct val="150000"/>
              </a:lnSpc>
              <a:spcBef>
                <a:spcPts val="0"/>
              </a:spcBef>
              <a:spcAft>
                <a:spcPts val="0"/>
              </a:spcAft>
              <a:buClr>
                <a:schemeClr val="dk1"/>
              </a:buClr>
              <a:buSzPts val="1200"/>
              <a:buFont typeface="Lora"/>
              <a:buChar char="●"/>
            </a:pPr>
            <a:r>
              <a:rPr lang="en" sz="1200">
                <a:solidFill>
                  <a:schemeClr val="dk1"/>
                </a:solidFill>
                <a:latin typeface="Lora"/>
                <a:ea typeface="Lora"/>
                <a:cs typeface="Lora"/>
                <a:sym typeface="Lora"/>
              </a:rPr>
              <a:t>By using MLflow with an orchestrator like Dagster, you can automate your ML workflows and accelerate the delivery of high-quality machine learning models</a:t>
            </a:r>
            <a:endParaRPr sz="1200">
              <a:solidFill>
                <a:schemeClr val="dk1"/>
              </a:solidFill>
              <a:latin typeface="Lora"/>
              <a:ea typeface="Lora"/>
              <a:cs typeface="Lora"/>
              <a:sym typeface="Lor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9"/>
          <p:cNvSpPr txBox="1"/>
          <p:nvPr/>
        </p:nvSpPr>
        <p:spPr>
          <a:xfrm>
            <a:off x="612896" y="243588"/>
            <a:ext cx="8128500" cy="4506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Q&amp;A</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t/>
            </a:r>
            <a:endParaRPr sz="2400">
              <a:latin typeface="Lora"/>
              <a:ea typeface="Lora"/>
              <a:cs typeface="Lora"/>
              <a:sym typeface="Lora"/>
            </a:endParaRPr>
          </a:p>
        </p:txBody>
      </p:sp>
      <p:sp>
        <p:nvSpPr>
          <p:cNvPr id="338" name="Google Shape;338;p49"/>
          <p:cNvSpPr txBox="1"/>
          <p:nvPr/>
        </p:nvSpPr>
        <p:spPr>
          <a:xfrm>
            <a:off x="486900" y="700975"/>
            <a:ext cx="7896600" cy="26781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chemeClr val="dk1"/>
              </a:buClr>
              <a:buSzPts val="1100"/>
              <a:buChar char="●"/>
            </a:pPr>
            <a:r>
              <a:rPr lang="en" sz="1100">
                <a:solidFill>
                  <a:schemeClr val="dk1"/>
                </a:solidFill>
              </a:rPr>
              <a:t>"Questions?"</a:t>
            </a:r>
            <a:endParaRPr sz="1100">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b="1" sz="1100">
              <a:solidFill>
                <a:schemeClr val="dk1"/>
              </a:solidFill>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a:p>
            <a:pPr indent="0" lvl="0" marL="0" rtl="0" algn="l">
              <a:lnSpc>
                <a:spcPct val="150000"/>
              </a:lnSpc>
              <a:spcBef>
                <a:spcPts val="0"/>
              </a:spcBef>
              <a:spcAft>
                <a:spcPts val="0"/>
              </a:spcAft>
              <a:buNone/>
            </a:pPr>
            <a:r>
              <a:t/>
            </a:r>
            <a:endParaRPr sz="1200">
              <a:solidFill>
                <a:schemeClr val="dk1"/>
              </a:solidFill>
              <a:latin typeface="Lora"/>
              <a:ea typeface="Lora"/>
              <a:cs typeface="Lora"/>
              <a:sym typeface="Lor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