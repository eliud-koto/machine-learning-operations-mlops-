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Lora"/>
      <p:regular r:id="rId36"/>
      <p:bold r:id="rId37"/>
      <p:italic r:id="rId38"/>
      <p:boldItalic r:id="rId39"/>
    </p:embeddedFont>
    <p:embeddedFont>
      <p:font typeface="Roboto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regular.fntdata"/><Relationship Id="rId20" Type="http://schemas.openxmlformats.org/officeDocument/2006/relationships/slide" Target="slides/slide15.xml"/><Relationship Id="rId42" Type="http://schemas.openxmlformats.org/officeDocument/2006/relationships/font" Target="fonts/RobotoMono-italic.fntdata"/><Relationship Id="rId41" Type="http://schemas.openxmlformats.org/officeDocument/2006/relationships/font" Target="fonts/RobotoMono-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RobotoMon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Lora-bold.fntdata"/><Relationship Id="rId14" Type="http://schemas.openxmlformats.org/officeDocument/2006/relationships/slide" Target="slides/slide9.xml"/><Relationship Id="rId36" Type="http://schemas.openxmlformats.org/officeDocument/2006/relationships/font" Target="fonts/Lora-regular.fntdata"/><Relationship Id="rId17" Type="http://schemas.openxmlformats.org/officeDocument/2006/relationships/slide" Target="slides/slide12.xml"/><Relationship Id="rId39" Type="http://schemas.openxmlformats.org/officeDocument/2006/relationships/font" Target="fonts/Lora-boldItalic.fntdata"/><Relationship Id="rId16" Type="http://schemas.openxmlformats.org/officeDocument/2006/relationships/slide" Target="slides/slide11.xml"/><Relationship Id="rId38" Type="http://schemas.openxmlformats.org/officeDocument/2006/relationships/font" Target="fonts/Lora-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6f1bff79e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g36f1bff79e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7150314f4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 name="Google Shape;60;g37150314f4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7150314f40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g37150314f40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667610437_0_3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g34667610437_0_3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565db8a51c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 name="Google Shape;87;g3565db8a51c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a52b8b1e4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4a52b8b1e4_0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51a0d05fca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g351a0d05fca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51a0d05fca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351a0d05fca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a52b8b1e4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g34a52b8b1e4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4a52b8b1e4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g34a52b8b1e4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56079cda6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g356079cda6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4a52b8b1e4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g34a52b8b1e4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a52b8b1e4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g34a52b8b1e4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a52b8b1e4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g34a52b8b1e4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4babc02eab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g34babc02eab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1a0d05fc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g351a0d05fc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565db8a51c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g3565db8a51c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4a52b8b1e4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g34a52b8b1e4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4babc02ea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g34babc02ea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4babc02eab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g34babc02eab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4a52b8b1e4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g34a52b8b1e4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4a52b8b1e4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34a52b8b1e4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4a52b8b1e4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34a52b8b1e4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51a0d05fca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g351a0d05fca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4a52b8b1e4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g34a52b8b1e4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4a52b8b1e4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g34a52b8b1e4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4a52b8b1e4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g34a52b8b1e4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4a52b8b1e4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34a52b8b1e4_0_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4a52b8b1e4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g34a52b8b1e4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Lora"/>
              <a:buNone/>
              <a:defRPr sz="2800">
                <a:solidFill>
                  <a:schemeClr val="dk1"/>
                </a:solidFill>
                <a:latin typeface="Lora"/>
                <a:ea typeface="Lora"/>
                <a:cs typeface="Lora"/>
                <a:sym typeface="Lora"/>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ora"/>
              <a:buChar char="●"/>
              <a:defRPr sz="1800">
                <a:solidFill>
                  <a:schemeClr val="dk2"/>
                </a:solidFill>
                <a:latin typeface="Lora"/>
                <a:ea typeface="Lora"/>
                <a:cs typeface="Lora"/>
                <a:sym typeface="Lora"/>
              </a:defRPr>
            </a:lvl1pPr>
            <a:lvl2pPr indent="-317500" lvl="1" marL="914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2pPr>
            <a:lvl3pPr indent="-317500" lvl="2" marL="1371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3pPr>
            <a:lvl4pPr indent="-317500" lvl="3" marL="1828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4pPr>
            <a:lvl5pPr indent="-317500" lvl="4" marL="22860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5pPr>
            <a:lvl6pPr indent="-317500" lvl="5" marL="27432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6pPr>
            <a:lvl7pPr indent="-317500" lvl="6" marL="3200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7pPr>
            <a:lvl8pPr indent="-317500" lvl="7" marL="3657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8pPr>
            <a:lvl9pPr indent="-317500" lvl="8" marL="4114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7692148" y="4782312"/>
            <a:ext cx="1188720" cy="297180"/>
          </a:xfrm>
          <a:prstGeom prst="rect">
            <a:avLst/>
          </a:prstGeom>
          <a:noFill/>
          <a:ln>
            <a:noFill/>
          </a:ln>
        </p:spPr>
      </p:pic>
      <p:pic>
        <p:nvPicPr>
          <p:cNvPr id="10" name="Google Shape;10;p1"/>
          <p:cNvPicPr preferRelativeResize="0"/>
          <p:nvPr/>
        </p:nvPicPr>
        <p:blipFill>
          <a:blip r:embed="rId2">
            <a:alphaModFix/>
          </a:blip>
          <a:stretch>
            <a:fillRect/>
          </a:stretch>
        </p:blipFill>
        <p:spPr>
          <a:xfrm>
            <a:off x="154577" y="4779825"/>
            <a:ext cx="1188721" cy="23774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hyperlink" Target="https://hub.docker.com/search?type=imag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hyperlink" Target="https://github.com/Ishangoai/AIMS_course/blob/development/Dockerfil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hyperlink" Target="https://github.com/Ishangoai/AIMS_course/blob/development/src/students/example/api/main.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1</a:t>
            </a:r>
            <a:endParaRPr i="0" sz="700" u="none" cap="none" strike="noStrike">
              <a:solidFill>
                <a:srgbClr val="000000"/>
              </a:solidFill>
              <a:latin typeface="Lora"/>
              <a:ea typeface="Lora"/>
              <a:cs typeface="Lora"/>
              <a:sym typeface="Lora"/>
            </a:endParaRPr>
          </a:p>
        </p:txBody>
      </p:sp>
      <p:sp>
        <p:nvSpPr>
          <p:cNvPr id="57" name="Google Shape;57;p13"/>
          <p:cNvSpPr txBox="1"/>
          <p:nvPr/>
        </p:nvSpPr>
        <p:spPr>
          <a:xfrm>
            <a:off x="486900" y="700975"/>
            <a:ext cx="7896600" cy="9234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Please </a:t>
            </a:r>
            <a:r>
              <a:rPr lang="en" sz="1200">
                <a:solidFill>
                  <a:schemeClr val="dk1"/>
                </a:solidFill>
                <a:latin typeface="Lora"/>
                <a:ea typeface="Lora"/>
                <a:cs typeface="Lora"/>
                <a:sym typeface="Lora"/>
              </a:rPr>
              <a:t>receive</a:t>
            </a:r>
            <a:r>
              <a:rPr lang="en" sz="1200">
                <a:solidFill>
                  <a:schemeClr val="dk1"/>
                </a:solidFill>
                <a:latin typeface="Lora"/>
                <a:ea typeface="Lora"/>
                <a:cs typeface="Lora"/>
                <a:sym typeface="Lora"/>
              </a:rPr>
              <a:t> the quiz handout from Cyrille, Oliver, Vincent, Jan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Complete the quiz in silence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Hand the quiz back</a:t>
            </a:r>
            <a:endParaRPr sz="1200">
              <a:solidFill>
                <a:schemeClr val="dk1"/>
              </a:solidFill>
              <a:latin typeface="Lora"/>
              <a:ea typeface="Lora"/>
              <a:cs typeface="Lora"/>
              <a:sym typeface="L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a:t>
            </a:r>
            <a:r>
              <a:rPr lang="en" sz="2400">
                <a:latin typeface="Lora"/>
                <a:ea typeface="Lora"/>
                <a:cs typeface="Lora"/>
                <a:sym typeface="Lora"/>
              </a:rPr>
              <a:t>1</a:t>
            </a:r>
            <a:endParaRPr i="0" sz="700" u="none" cap="none" strike="noStrike">
              <a:solidFill>
                <a:srgbClr val="000000"/>
              </a:solidFill>
              <a:latin typeface="Lora"/>
              <a:ea typeface="Lora"/>
              <a:cs typeface="Lora"/>
              <a:sym typeface="Lora"/>
            </a:endParaRPr>
          </a:p>
        </p:txBody>
      </p:sp>
      <p:sp>
        <p:nvSpPr>
          <p:cNvPr id="63" name="Google Shape;63;p14"/>
          <p:cNvSpPr txBox="1"/>
          <p:nvPr/>
        </p:nvSpPr>
        <p:spPr>
          <a:xfrm>
            <a:off x="486900" y="929575"/>
            <a:ext cx="3923700" cy="28167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What is Oliver's favourite animal? </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Cats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Dogs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Dolphins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Rats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What is Vincent's nickname?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Terminator</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Mr API</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Chicken Man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The Bulldozer </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How important are mathematics skills in this course?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Essential </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High</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Medium</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Almost irrelevant </a:t>
            </a:r>
            <a:endParaRPr sz="1000">
              <a:solidFill>
                <a:schemeClr val="dk1"/>
              </a:solidFill>
              <a:latin typeface="Lora"/>
              <a:ea typeface="Lora"/>
              <a:cs typeface="Lora"/>
              <a:sym typeface="Lora"/>
            </a:endParaRPr>
          </a:p>
        </p:txBody>
      </p:sp>
      <p:sp>
        <p:nvSpPr>
          <p:cNvPr id="64" name="Google Shape;64;p14"/>
          <p:cNvSpPr txBox="1"/>
          <p:nvPr/>
        </p:nvSpPr>
        <p:spPr>
          <a:xfrm>
            <a:off x="4830300" y="929575"/>
            <a:ext cx="3923700" cy="29937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chemeClr val="dk1"/>
              </a:buClr>
              <a:buSzPts val="1000"/>
              <a:buFont typeface="Lora"/>
              <a:buAutoNum type="arabicPeriod" startAt="4"/>
            </a:pPr>
            <a:r>
              <a:rPr lang="en" sz="1000">
                <a:solidFill>
                  <a:schemeClr val="dk1"/>
                </a:solidFill>
                <a:latin typeface="Lora"/>
                <a:ea typeface="Lora"/>
                <a:cs typeface="Lora"/>
                <a:sym typeface="Lora"/>
              </a:rPr>
              <a:t>Where will you do your coding in this course?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VS Code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Cursor</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Pycharm</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VS Code within Github Codespaces  </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startAt="4"/>
            </a:pPr>
            <a:r>
              <a:rPr lang="en" sz="1000">
                <a:solidFill>
                  <a:schemeClr val="dk1"/>
                </a:solidFill>
                <a:latin typeface="Lora"/>
                <a:ea typeface="Lora"/>
                <a:cs typeface="Lora"/>
                <a:sym typeface="Lora"/>
              </a:rPr>
              <a:t>All apps you build will be deployed where?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Google Cloud Run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AWS App Runner</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Google Artifact Registry</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Locally on AIMS servers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startAt="4"/>
            </a:pPr>
            <a:r>
              <a:rPr lang="en" sz="1000">
                <a:solidFill>
                  <a:schemeClr val="dk1"/>
                </a:solidFill>
                <a:latin typeface="Lora"/>
                <a:ea typeface="Lora"/>
                <a:cs typeface="Lora"/>
                <a:sym typeface="Lora"/>
              </a:rPr>
              <a:t>What is the term used to  describe Infrastructure Provisioning, when </a:t>
            </a:r>
            <a:r>
              <a:rPr lang="en" sz="1000">
                <a:solidFill>
                  <a:schemeClr val="dk1"/>
                </a:solidFill>
                <a:latin typeface="Lora"/>
                <a:ea typeface="Lora"/>
                <a:cs typeface="Lora"/>
                <a:sym typeface="Lora"/>
              </a:rPr>
              <a:t>it's</a:t>
            </a:r>
            <a:r>
              <a:rPr lang="en" sz="1000">
                <a:solidFill>
                  <a:schemeClr val="dk1"/>
                </a:solidFill>
                <a:latin typeface="Lora"/>
                <a:ea typeface="Lora"/>
                <a:cs typeface="Lora"/>
                <a:sym typeface="Lora"/>
              </a:rPr>
              <a:t> done in a manual way?</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MLOps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IaC (</a:t>
            </a:r>
            <a:r>
              <a:rPr lang="en" sz="1000">
                <a:solidFill>
                  <a:schemeClr val="dk1"/>
                </a:solidFill>
                <a:latin typeface="Lora"/>
                <a:ea typeface="Lora"/>
                <a:cs typeface="Lora"/>
                <a:sym typeface="Lora"/>
              </a:rPr>
              <a:t>Infrastructure</a:t>
            </a:r>
            <a:r>
              <a:rPr lang="en" sz="1000">
                <a:solidFill>
                  <a:schemeClr val="dk1"/>
                </a:solidFill>
                <a:latin typeface="Lora"/>
                <a:ea typeface="Lora"/>
                <a:cs typeface="Lora"/>
                <a:sym typeface="Lora"/>
              </a:rPr>
              <a:t> as Code)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ClickOps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SaaS (Software as a Service)</a:t>
            </a:r>
            <a:endParaRPr sz="1000">
              <a:solidFill>
                <a:schemeClr val="dk1"/>
              </a:solidFill>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1 (Answers)</a:t>
            </a:r>
            <a:endParaRPr i="0" sz="700" u="none" cap="none" strike="noStrike">
              <a:solidFill>
                <a:srgbClr val="000000"/>
              </a:solidFill>
              <a:latin typeface="Lora"/>
              <a:ea typeface="Lora"/>
              <a:cs typeface="Lora"/>
              <a:sym typeface="Lora"/>
            </a:endParaRPr>
          </a:p>
        </p:txBody>
      </p:sp>
      <p:sp>
        <p:nvSpPr>
          <p:cNvPr id="70" name="Google Shape;70;p15"/>
          <p:cNvSpPr txBox="1"/>
          <p:nvPr/>
        </p:nvSpPr>
        <p:spPr>
          <a:xfrm>
            <a:off x="486900" y="853375"/>
            <a:ext cx="3923700" cy="28167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What is Oliver's favourite animal? </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Cats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Dogs</a:t>
            </a:r>
            <a:endParaRPr b="1"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Dolphins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Rats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What is Vincent's nickname?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Terminator</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Mr API</a:t>
            </a:r>
            <a:endParaRPr b="1"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Chicken Man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Bulldozer </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How important are mathematics skills in this course?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Essential </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High</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Medium</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Almost irrelevant </a:t>
            </a:r>
            <a:endParaRPr b="1" sz="1000">
              <a:solidFill>
                <a:schemeClr val="dk1"/>
              </a:solidFill>
              <a:latin typeface="Lora"/>
              <a:ea typeface="Lora"/>
              <a:cs typeface="Lora"/>
              <a:sym typeface="Lora"/>
            </a:endParaRPr>
          </a:p>
        </p:txBody>
      </p:sp>
      <p:sp>
        <p:nvSpPr>
          <p:cNvPr id="71" name="Google Shape;71;p15"/>
          <p:cNvSpPr txBox="1"/>
          <p:nvPr/>
        </p:nvSpPr>
        <p:spPr>
          <a:xfrm>
            <a:off x="4677900" y="853375"/>
            <a:ext cx="3923700" cy="29937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chemeClr val="dk1"/>
              </a:buClr>
              <a:buSzPts val="1000"/>
              <a:buFont typeface="Lora"/>
              <a:buAutoNum type="arabicPeriod" startAt="4"/>
            </a:pPr>
            <a:r>
              <a:rPr lang="en" sz="1000">
                <a:solidFill>
                  <a:schemeClr val="dk1"/>
                </a:solidFill>
                <a:latin typeface="Lora"/>
                <a:ea typeface="Lora"/>
                <a:cs typeface="Lora"/>
                <a:sym typeface="Lora"/>
              </a:rPr>
              <a:t>Where will you do your coding in this course?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VS Code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Cursor</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Pycharm</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VS Code within Github Codespaces  </a:t>
            </a:r>
            <a:endParaRPr b="1"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startAt="4"/>
            </a:pPr>
            <a:r>
              <a:rPr lang="en" sz="1000">
                <a:solidFill>
                  <a:schemeClr val="dk1"/>
                </a:solidFill>
                <a:latin typeface="Lora"/>
                <a:ea typeface="Lora"/>
                <a:cs typeface="Lora"/>
                <a:sym typeface="Lora"/>
              </a:rPr>
              <a:t>All apps you build will be deployed where?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Google Cloud Run</a:t>
            </a:r>
            <a:endParaRPr b="1"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AWS App Runner</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Google Artifact Registry</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Locally on AIMS servers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startAt="4"/>
            </a:pPr>
            <a:r>
              <a:rPr lang="en" sz="1000">
                <a:solidFill>
                  <a:schemeClr val="dk1"/>
                </a:solidFill>
                <a:latin typeface="Lora"/>
                <a:ea typeface="Lora"/>
                <a:cs typeface="Lora"/>
                <a:sym typeface="Lora"/>
              </a:rPr>
              <a:t>What is the term used to  describe Infrastructure Provisioning, when it's done in a manual way?</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MLOps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IaC (Infrastructure as Code)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ClickOps</a:t>
            </a:r>
            <a:endParaRPr b="1"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SaaS (Software as a Service)</a:t>
            </a:r>
            <a:endParaRPr sz="1000">
              <a:solidFill>
                <a:schemeClr val="dk1"/>
              </a:solidFill>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125" y="575250"/>
            <a:ext cx="9144000" cy="20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700">
                <a:solidFill>
                  <a:schemeClr val="dk2"/>
                </a:solidFill>
                <a:latin typeface="Lora"/>
                <a:ea typeface="Lora"/>
                <a:cs typeface="Lora"/>
                <a:sym typeface="Lora"/>
              </a:rPr>
              <a:t>Designing and Deploying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end-to-end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Production Grade ML Applications</a:t>
            </a:r>
            <a:endParaRPr sz="3700">
              <a:solidFill>
                <a:schemeClr val="dk2"/>
              </a:solidFill>
              <a:latin typeface="Lora"/>
              <a:ea typeface="Lora"/>
              <a:cs typeface="Lora"/>
              <a:sym typeface="Lora"/>
            </a:endParaRPr>
          </a:p>
          <a:p>
            <a:pPr indent="0" lvl="0" marL="0" rtl="0" algn="ctr">
              <a:spcBef>
                <a:spcPts val="0"/>
              </a:spcBef>
              <a:spcAft>
                <a:spcPts val="0"/>
              </a:spcAft>
              <a:buNone/>
            </a:pPr>
            <a:r>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2400">
                <a:solidFill>
                  <a:schemeClr val="dk2"/>
                </a:solidFill>
                <a:latin typeface="Lora"/>
                <a:ea typeface="Lora"/>
                <a:cs typeface="Lora"/>
                <a:sym typeface="Lora"/>
              </a:rPr>
              <a:t> </a:t>
            </a:r>
            <a:r>
              <a:rPr lang="en" sz="2400">
                <a:solidFill>
                  <a:schemeClr val="dk2"/>
                </a:solidFill>
                <a:latin typeface="Lora"/>
                <a:ea typeface="Lora"/>
                <a:cs typeface="Lora"/>
                <a:sym typeface="Lora"/>
              </a:rPr>
              <a:t>Lecture 2</a:t>
            </a:r>
            <a:r>
              <a:rPr lang="en" sz="2400">
                <a:solidFill>
                  <a:schemeClr val="dk2"/>
                </a:solidFill>
                <a:latin typeface="Lora"/>
                <a:ea typeface="Lora"/>
                <a:cs typeface="Lora"/>
                <a:sym typeface="Lora"/>
              </a:rPr>
              <a:t>: Containers; R</a:t>
            </a:r>
            <a:r>
              <a:rPr lang="en" sz="2400">
                <a:solidFill>
                  <a:schemeClr val="dk2"/>
                </a:solidFill>
                <a:latin typeface="Lora"/>
                <a:ea typeface="Lora"/>
                <a:cs typeface="Lora"/>
                <a:sym typeface="Lora"/>
              </a:rPr>
              <a:t>ESTful APIs; &amp; Microservices</a:t>
            </a:r>
            <a:endParaRPr sz="2400">
              <a:solidFill>
                <a:schemeClr val="dk2"/>
              </a:solidFill>
              <a:latin typeface="Lora"/>
              <a:ea typeface="Lora"/>
              <a:cs typeface="Lora"/>
              <a:sym typeface="Lora"/>
            </a:endParaRPr>
          </a:p>
        </p:txBody>
      </p:sp>
      <p:sp>
        <p:nvSpPr>
          <p:cNvPr id="77" name="Google Shape;77;p16"/>
          <p:cNvSpPr txBox="1"/>
          <p:nvPr/>
        </p:nvSpPr>
        <p:spPr>
          <a:xfrm>
            <a:off x="-117" y="3838750"/>
            <a:ext cx="9144000" cy="800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October 2025</a:t>
            </a:r>
            <a:endParaRPr sz="1600">
              <a:solidFill>
                <a:schemeClr val="dk2"/>
              </a:solidFill>
              <a:latin typeface="Lora"/>
              <a:ea typeface="Lora"/>
              <a:cs typeface="Lora"/>
              <a:sym typeface="Lora"/>
            </a:endParaRPr>
          </a:p>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Oliver Angélil  &amp; </a:t>
            </a:r>
            <a:r>
              <a:rPr lang="en" sz="1600">
                <a:solidFill>
                  <a:schemeClr val="dk2"/>
                </a:solidFill>
                <a:latin typeface="Lora"/>
                <a:ea typeface="Lora"/>
                <a:cs typeface="Lora"/>
                <a:sym typeface="Lora"/>
              </a:rPr>
              <a:t>Vincent Frimpong</a:t>
            </a:r>
            <a:endParaRPr sz="1600">
              <a:solidFill>
                <a:schemeClr val="dk2"/>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i="0" lang="en" sz="2400" u="none" cap="none" strike="noStrike">
                <a:solidFill>
                  <a:srgbClr val="000000"/>
                </a:solidFill>
                <a:latin typeface="Lora"/>
                <a:ea typeface="Lora"/>
                <a:cs typeface="Lora"/>
                <a:sym typeface="Lora"/>
              </a:rPr>
              <a:t>Contents of this lecture</a:t>
            </a:r>
            <a:endParaRPr i="0" sz="700" u="none" cap="none" strike="noStrike">
              <a:solidFill>
                <a:srgbClr val="000000"/>
              </a:solidFill>
              <a:latin typeface="Lora"/>
              <a:ea typeface="Lora"/>
              <a:cs typeface="Lora"/>
              <a:sym typeface="Lora"/>
            </a:endParaRPr>
          </a:p>
        </p:txBody>
      </p:sp>
      <p:sp>
        <p:nvSpPr>
          <p:cNvPr id="83" name="Google Shape;83;p17"/>
          <p:cNvSpPr txBox="1"/>
          <p:nvPr/>
        </p:nvSpPr>
        <p:spPr>
          <a:xfrm>
            <a:off x="486900" y="700975"/>
            <a:ext cx="7896600" cy="25860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Containers (Introduction &amp; Docker) </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RESTful APIs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OpenAPI</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FastAPI</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Microservices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The Synergy: How they all work together</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Example Architecture Diagram</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Conclusion &amp; Key Takeaways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Q &amp; A</a:t>
            </a:r>
            <a:endParaRPr sz="1200">
              <a:solidFill>
                <a:schemeClr val="dk1"/>
              </a:solidFill>
              <a:latin typeface="Lora"/>
              <a:ea typeface="Lora"/>
              <a:cs typeface="Lora"/>
              <a:sym typeface="Lora"/>
            </a:endParaRPr>
          </a:p>
        </p:txBody>
      </p:sp>
      <p:sp>
        <p:nvSpPr>
          <p:cNvPr id="84" name="Google Shape;84;p17"/>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Oliver</a:t>
            </a:r>
            <a:endParaRPr sz="1200">
              <a:solidFill>
                <a:schemeClr val="dk2"/>
              </a:solidFill>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This lecture in one diagram</a:t>
            </a:r>
            <a:endParaRPr i="0" sz="700" u="none" cap="none" strike="noStrike">
              <a:solidFill>
                <a:srgbClr val="000000"/>
              </a:solidFill>
              <a:latin typeface="Lora"/>
              <a:ea typeface="Lora"/>
              <a:cs typeface="Lora"/>
              <a:sym typeface="Lora"/>
            </a:endParaRPr>
          </a:p>
        </p:txBody>
      </p:sp>
      <p:pic>
        <p:nvPicPr>
          <p:cNvPr id="90" name="Google Shape;90;p18"/>
          <p:cNvPicPr preferRelativeResize="0"/>
          <p:nvPr/>
        </p:nvPicPr>
        <p:blipFill>
          <a:blip r:embed="rId3">
            <a:alphaModFix/>
          </a:blip>
          <a:stretch>
            <a:fillRect/>
          </a:stretch>
        </p:blipFill>
        <p:spPr>
          <a:xfrm>
            <a:off x="152400" y="841675"/>
            <a:ext cx="8327502" cy="3425200"/>
          </a:xfrm>
          <a:prstGeom prst="rect">
            <a:avLst/>
          </a:prstGeom>
          <a:noFill/>
          <a:ln>
            <a:noFill/>
          </a:ln>
        </p:spPr>
      </p:pic>
      <p:sp>
        <p:nvSpPr>
          <p:cNvPr id="91" name="Google Shape;91;p18"/>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Oliver</a:t>
            </a:r>
            <a:endParaRPr sz="1200">
              <a:solidFill>
                <a:schemeClr val="dk2"/>
              </a:solidFill>
              <a:latin typeface="Lora"/>
              <a:ea typeface="Lora"/>
              <a:cs typeface="Lora"/>
              <a:sym typeface="L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 Containers: Introduction</a:t>
            </a:r>
            <a:endParaRPr sz="2400">
              <a:latin typeface="Lora"/>
              <a:ea typeface="Lora"/>
              <a:cs typeface="Lora"/>
              <a:sym typeface="Lora"/>
            </a:endParaRPr>
          </a:p>
        </p:txBody>
      </p:sp>
      <p:sp>
        <p:nvSpPr>
          <p:cNvPr id="97" name="Google Shape;97;p19"/>
          <p:cNvSpPr txBox="1"/>
          <p:nvPr/>
        </p:nvSpPr>
        <p:spPr>
          <a:xfrm>
            <a:off x="486900" y="700975"/>
            <a:ext cx="7896600" cy="3724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200">
                <a:solidFill>
                  <a:schemeClr val="dk1"/>
                </a:solidFill>
                <a:latin typeface="Lora"/>
                <a:ea typeface="Lora"/>
                <a:cs typeface="Lora"/>
                <a:sym typeface="Lora"/>
              </a:rPr>
              <a:t>Developer: </a:t>
            </a:r>
            <a:r>
              <a:rPr i="1" lang="en" sz="1200">
                <a:solidFill>
                  <a:schemeClr val="dk1"/>
                </a:solidFill>
                <a:latin typeface="Lora"/>
                <a:ea typeface="Lora"/>
                <a:cs typeface="Lora"/>
                <a:sym typeface="Lora"/>
              </a:rPr>
              <a:t>"Hey, I just finished the new feature. It works perfectly on my machine!"</a:t>
            </a:r>
            <a:endParaRPr i="1"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b="1" lang="en" sz="1200">
                <a:solidFill>
                  <a:schemeClr val="dk1"/>
                </a:solidFill>
                <a:latin typeface="Lora"/>
                <a:ea typeface="Lora"/>
                <a:cs typeface="Lora"/>
                <a:sym typeface="Lora"/>
              </a:rPr>
              <a:t>Tester: </a:t>
            </a:r>
            <a:r>
              <a:rPr i="1" lang="en" sz="1200">
                <a:solidFill>
                  <a:schemeClr val="dk1"/>
                </a:solidFill>
                <a:latin typeface="Lora"/>
                <a:ea typeface="Lora"/>
                <a:cs typeface="Lora"/>
                <a:sym typeface="Lora"/>
              </a:rPr>
              <a:t>“Great! Let’s deploy it and see how it goes.”</a:t>
            </a:r>
            <a:endParaRPr i="1"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[Later]</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b="1" lang="en" sz="1200">
                <a:solidFill>
                  <a:schemeClr val="dk1"/>
                </a:solidFill>
                <a:latin typeface="Lora"/>
                <a:ea typeface="Lora"/>
                <a:cs typeface="Lora"/>
                <a:sym typeface="Lora"/>
              </a:rPr>
              <a:t>Tester:</a:t>
            </a:r>
            <a:r>
              <a:rPr lang="en" sz="1200">
                <a:solidFill>
                  <a:schemeClr val="dk1"/>
                </a:solidFill>
                <a:latin typeface="Lora"/>
                <a:ea typeface="Lora"/>
                <a:cs typeface="Lora"/>
                <a:sym typeface="Lora"/>
              </a:rPr>
              <a:t> </a:t>
            </a:r>
            <a:r>
              <a:rPr i="1" lang="en" sz="1200">
                <a:solidFill>
                  <a:schemeClr val="dk1"/>
                </a:solidFill>
                <a:latin typeface="Lora"/>
                <a:ea typeface="Lora"/>
                <a:cs typeface="Lora"/>
                <a:sym typeface="Lora"/>
              </a:rPr>
              <a:t>“Uh, the application is failing. It’s throwing errors everywhere.”</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b="1" lang="en" sz="1200">
                <a:solidFill>
                  <a:schemeClr val="dk1"/>
                </a:solidFill>
                <a:latin typeface="Lora"/>
                <a:ea typeface="Lora"/>
                <a:cs typeface="Lora"/>
                <a:sym typeface="Lora"/>
              </a:rPr>
              <a:t>Developer:</a:t>
            </a:r>
            <a:r>
              <a:rPr i="1" lang="en" sz="1200">
                <a:solidFill>
                  <a:schemeClr val="dk1"/>
                </a:solidFill>
                <a:latin typeface="Lora"/>
                <a:ea typeface="Lora"/>
                <a:cs typeface="Lora"/>
                <a:sym typeface="Lora"/>
              </a:rPr>
              <a:t> “That’s strange. It worked fine here. Did you try turning your computer off and on again?”</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b="1" lang="en" sz="1200">
                <a:solidFill>
                  <a:schemeClr val="dk1"/>
                </a:solidFill>
                <a:latin typeface="Lora"/>
                <a:ea typeface="Lora"/>
                <a:cs typeface="Lora"/>
                <a:sym typeface="Lora"/>
              </a:rPr>
              <a:t>Tester:</a:t>
            </a:r>
            <a:r>
              <a:rPr lang="en" sz="1200">
                <a:solidFill>
                  <a:schemeClr val="dk1"/>
                </a:solidFill>
                <a:latin typeface="Lora"/>
                <a:ea typeface="Lora"/>
                <a:cs typeface="Lora"/>
                <a:sym typeface="Lora"/>
              </a:rPr>
              <a:t> </a:t>
            </a:r>
            <a:r>
              <a:rPr i="1" lang="en" sz="1200">
                <a:solidFill>
                  <a:schemeClr val="dk1"/>
                </a:solidFill>
                <a:latin typeface="Lora"/>
                <a:ea typeface="Lora"/>
                <a:cs typeface="Lora"/>
                <a:sym typeface="Lora"/>
              </a:rPr>
              <a:t>“Yes, and it’s missing some dependencies and there are version conflicts. It’s like it’s a completely different environment!”</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b="1" lang="en" sz="1200">
                <a:solidFill>
                  <a:schemeClr val="dk1"/>
                </a:solidFill>
                <a:latin typeface="Lora"/>
                <a:ea typeface="Lora"/>
                <a:cs typeface="Lora"/>
                <a:sym typeface="Lora"/>
              </a:rPr>
              <a:t>Developer:</a:t>
            </a:r>
            <a:r>
              <a:rPr lang="en" sz="1200">
                <a:solidFill>
                  <a:schemeClr val="dk1"/>
                </a:solidFill>
                <a:latin typeface="Lora"/>
                <a:ea typeface="Lora"/>
                <a:cs typeface="Lora"/>
                <a:sym typeface="Lora"/>
              </a:rPr>
              <a:t> </a:t>
            </a:r>
            <a:r>
              <a:rPr i="1" lang="en" sz="1200">
                <a:solidFill>
                  <a:schemeClr val="dk1"/>
                </a:solidFill>
                <a:latin typeface="Lora"/>
                <a:ea typeface="Lora"/>
                <a:cs typeface="Lora"/>
                <a:sym typeface="Lora"/>
              </a:rPr>
              <a:t>“Well, it works on my machine!”</a:t>
            </a:r>
            <a:endParaRPr i="1"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lang="en" sz="2000">
                <a:solidFill>
                  <a:schemeClr val="dk2"/>
                </a:solidFill>
                <a:latin typeface="Lora"/>
                <a:ea typeface="Lora"/>
                <a:cs typeface="Lora"/>
                <a:sym typeface="Lora"/>
              </a:rPr>
              <a:t>Problem -&gt; </a:t>
            </a:r>
            <a:r>
              <a:rPr i="1" lang="en" sz="2000">
                <a:solidFill>
                  <a:schemeClr val="dk2"/>
                </a:solidFill>
                <a:latin typeface="Lora"/>
                <a:ea typeface="Lora"/>
                <a:cs typeface="Lora"/>
                <a:sym typeface="Lora"/>
              </a:rPr>
              <a:t>"Well, it works on my machine"</a:t>
            </a:r>
            <a:endParaRPr i="1" sz="2000">
              <a:solidFill>
                <a:schemeClr val="dk2"/>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lang="en" sz="2000">
                <a:solidFill>
                  <a:schemeClr val="dk2"/>
                </a:solidFill>
                <a:latin typeface="Lora"/>
                <a:ea typeface="Lora"/>
                <a:cs typeface="Lora"/>
                <a:sym typeface="Lora"/>
              </a:rPr>
              <a:t>Solution -&gt; Containers</a:t>
            </a:r>
            <a:endParaRPr sz="2000">
              <a:solidFill>
                <a:schemeClr val="dk2"/>
              </a:solidFill>
              <a:latin typeface="Lora"/>
              <a:ea typeface="Lora"/>
              <a:cs typeface="Lora"/>
              <a:sym typeface="Lora"/>
            </a:endParaRPr>
          </a:p>
        </p:txBody>
      </p:sp>
      <p:sp>
        <p:nvSpPr>
          <p:cNvPr id="98" name="Google Shape;98;p19"/>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Oliver</a:t>
            </a:r>
            <a:endParaRPr sz="1200">
              <a:solidFill>
                <a:schemeClr val="dk2"/>
              </a:solidFill>
              <a:latin typeface="Lora"/>
              <a:ea typeface="Lora"/>
              <a:cs typeface="Lora"/>
              <a:sym typeface="Lo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 Containers: What is a Container?</a:t>
            </a:r>
            <a:endParaRPr sz="2400">
              <a:latin typeface="Lora"/>
              <a:ea typeface="Lora"/>
              <a:cs typeface="Lora"/>
              <a:sym typeface="Lora"/>
            </a:endParaRPr>
          </a:p>
        </p:txBody>
      </p:sp>
      <p:sp>
        <p:nvSpPr>
          <p:cNvPr id="104" name="Google Shape;104;p20"/>
          <p:cNvSpPr txBox="1"/>
          <p:nvPr/>
        </p:nvSpPr>
        <p:spPr>
          <a:xfrm>
            <a:off x="486900" y="700975"/>
            <a:ext cx="78966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Lora"/>
                <a:ea typeface="Lora"/>
                <a:cs typeface="Lora"/>
                <a:sym typeface="Lora"/>
              </a:rPr>
              <a:t>A container packages up code and all its dependencies so the application runs quickly and reliably from one computing environment to another. </a:t>
            </a:r>
            <a:endParaRPr i="1"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Examples of popular docker container images: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mysql</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postgres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nginx</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python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node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php</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In other words, any software can be packaged into a container! It is like a virtual  machine but much lighter. It </a:t>
            </a:r>
            <a:r>
              <a:rPr lang="en" sz="1200">
                <a:solidFill>
                  <a:schemeClr val="dk1"/>
                </a:solidFill>
                <a:latin typeface="Lora"/>
                <a:ea typeface="Lora"/>
                <a:cs typeface="Lora"/>
                <a:sym typeface="Lora"/>
              </a:rPr>
              <a:t>does not</a:t>
            </a:r>
            <a:r>
              <a:rPr lang="en" sz="1200">
                <a:solidFill>
                  <a:schemeClr val="dk1"/>
                </a:solidFill>
                <a:latin typeface="Lora"/>
                <a:ea typeface="Lora"/>
                <a:cs typeface="Lora"/>
                <a:sym typeface="Lora"/>
              </a:rPr>
              <a:t> virtualize the entire operating system, just the </a:t>
            </a:r>
            <a:r>
              <a:rPr lang="en" sz="1200">
                <a:solidFill>
                  <a:schemeClr val="dk1"/>
                </a:solidFill>
                <a:latin typeface="Lora"/>
                <a:ea typeface="Lora"/>
                <a:cs typeface="Lora"/>
                <a:sym typeface="Lora"/>
              </a:rPr>
              <a:t>software</a:t>
            </a:r>
            <a:r>
              <a:rPr lang="en" sz="1200">
                <a:solidFill>
                  <a:schemeClr val="dk1"/>
                </a:solidFill>
                <a:latin typeface="Lora"/>
                <a:ea typeface="Lora"/>
                <a:cs typeface="Lora"/>
                <a:sym typeface="Lora"/>
              </a:rPr>
              <a:t> layers above the OS.</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See </a:t>
            </a:r>
            <a:r>
              <a:rPr lang="en" sz="1200" u="sng">
                <a:solidFill>
                  <a:schemeClr val="hlink"/>
                </a:solidFill>
                <a:latin typeface="Lora"/>
                <a:ea typeface="Lora"/>
                <a:cs typeface="Lora"/>
                <a:sym typeface="Lora"/>
                <a:hlinkClick r:id="rId3"/>
              </a:rPr>
              <a:t>dockerhub</a:t>
            </a:r>
            <a:r>
              <a:rPr lang="en" sz="1200">
                <a:solidFill>
                  <a:schemeClr val="dk1"/>
                </a:solidFill>
                <a:latin typeface="Lora"/>
                <a:ea typeface="Lora"/>
                <a:cs typeface="Lora"/>
                <a:sym typeface="Lora"/>
              </a:rPr>
              <a:t> for more examples of container images</a:t>
            </a:r>
            <a:endParaRPr sz="1200">
              <a:solidFill>
                <a:schemeClr val="dk1"/>
              </a:solidFill>
              <a:latin typeface="Lora"/>
              <a:ea typeface="Lora"/>
              <a:cs typeface="Lora"/>
              <a:sym typeface="Lora"/>
            </a:endParaRPr>
          </a:p>
        </p:txBody>
      </p:sp>
      <p:sp>
        <p:nvSpPr>
          <p:cNvPr id="105" name="Google Shape;105;p20"/>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Oliver</a:t>
            </a:r>
            <a:endParaRPr sz="1200">
              <a:solidFill>
                <a:schemeClr val="dk2"/>
              </a:solidFill>
              <a:latin typeface="Lora"/>
              <a:ea typeface="Lora"/>
              <a:cs typeface="Lora"/>
              <a:sym typeface="Lo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 Containers: Docker</a:t>
            </a:r>
            <a:endParaRPr sz="2400">
              <a:latin typeface="Lora"/>
              <a:ea typeface="Lora"/>
              <a:cs typeface="Lora"/>
              <a:sym typeface="Lora"/>
            </a:endParaRPr>
          </a:p>
        </p:txBody>
      </p:sp>
      <p:sp>
        <p:nvSpPr>
          <p:cNvPr id="111" name="Google Shape;111;p21"/>
          <p:cNvSpPr txBox="1"/>
          <p:nvPr/>
        </p:nvSpPr>
        <p:spPr>
          <a:xfrm>
            <a:off x="486900" y="700975"/>
            <a:ext cx="7896600" cy="9234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Platform for developing, shipping, and running applications using containerization.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Packages application code with all its dependencies (libraries, runtime, tools) into a container.</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Contrast with Virtual Machines:</a:t>
            </a:r>
            <a:endParaRPr sz="1200">
              <a:solidFill>
                <a:schemeClr val="dk1"/>
              </a:solidFill>
              <a:latin typeface="Lora"/>
              <a:ea typeface="Lora"/>
              <a:cs typeface="Lora"/>
              <a:sym typeface="Lora"/>
            </a:endParaRPr>
          </a:p>
        </p:txBody>
      </p:sp>
      <p:pic>
        <p:nvPicPr>
          <p:cNvPr id="112" name="Google Shape;112;p21"/>
          <p:cNvPicPr preferRelativeResize="0"/>
          <p:nvPr/>
        </p:nvPicPr>
        <p:blipFill>
          <a:blip r:embed="rId3">
            <a:alphaModFix/>
          </a:blip>
          <a:stretch>
            <a:fillRect/>
          </a:stretch>
        </p:blipFill>
        <p:spPr>
          <a:xfrm>
            <a:off x="612900" y="1776775"/>
            <a:ext cx="8128502" cy="2883624"/>
          </a:xfrm>
          <a:prstGeom prst="rect">
            <a:avLst/>
          </a:prstGeom>
          <a:noFill/>
          <a:ln>
            <a:noFill/>
          </a:ln>
        </p:spPr>
      </p:pic>
      <p:sp>
        <p:nvSpPr>
          <p:cNvPr id="113" name="Google Shape;113;p21"/>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Oliver</a:t>
            </a:r>
            <a:endParaRPr sz="1200">
              <a:solidFill>
                <a:schemeClr val="dk2"/>
              </a:solidFill>
              <a:latin typeface="Lora"/>
              <a:ea typeface="Lora"/>
              <a:cs typeface="Lora"/>
              <a:sym typeface="Lo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nvSpPr>
        <p:spPr>
          <a:xfrm>
            <a:off x="612896" y="243588"/>
            <a:ext cx="8128500" cy="34722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 Containers: Docker Benefits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119" name="Google Shape;119;p22"/>
          <p:cNvSpPr txBox="1"/>
          <p:nvPr/>
        </p:nvSpPr>
        <p:spPr>
          <a:xfrm>
            <a:off x="486900" y="700975"/>
            <a:ext cx="7896600" cy="3417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Consistency:</a:t>
            </a:r>
            <a:r>
              <a:rPr lang="en" sz="1200">
                <a:solidFill>
                  <a:schemeClr val="dk1"/>
                </a:solidFill>
                <a:latin typeface="Lora"/>
                <a:ea typeface="Lora"/>
                <a:cs typeface="Lora"/>
                <a:sym typeface="Lora"/>
              </a:rPr>
              <a:t> "Works on my machine" problem solved. Same environment from dev to production.</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Isolation:</a:t>
            </a:r>
            <a:r>
              <a:rPr lang="en" sz="1200">
                <a:solidFill>
                  <a:schemeClr val="dk1"/>
                </a:solidFill>
                <a:latin typeface="Lora"/>
                <a:ea typeface="Lora"/>
                <a:cs typeface="Lora"/>
                <a:sym typeface="Lora"/>
              </a:rPr>
              <a:t> Containers run isolated from each other and the host OS (can have multiple on one OS)</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Resource Efficiency: </a:t>
            </a:r>
            <a:r>
              <a:rPr lang="en" sz="1200">
                <a:solidFill>
                  <a:schemeClr val="dk1"/>
                </a:solidFill>
                <a:latin typeface="Lora"/>
                <a:ea typeface="Lora"/>
                <a:cs typeface="Lora"/>
                <a:sym typeface="Lora"/>
              </a:rPr>
              <a:t>Lighter weight than VMs (faster start, less overhead).</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Portability:</a:t>
            </a:r>
            <a:r>
              <a:rPr lang="en" sz="1200">
                <a:solidFill>
                  <a:schemeClr val="dk1"/>
                </a:solidFill>
                <a:latin typeface="Lora"/>
                <a:ea typeface="Lora"/>
                <a:cs typeface="Lora"/>
                <a:sym typeface="Lora"/>
              </a:rPr>
              <a:t> Run anywhere Docker is installed (local, cloud, data center).</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Rapid Deployment:</a:t>
            </a:r>
            <a:r>
              <a:rPr lang="en" sz="1200">
                <a:solidFill>
                  <a:schemeClr val="dk1"/>
                </a:solidFill>
                <a:latin typeface="Lora"/>
                <a:ea typeface="Lora"/>
                <a:cs typeface="Lora"/>
                <a:sym typeface="Lora"/>
              </a:rPr>
              <a:t> Spin up/down containers quickly.</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Simplification:</a:t>
            </a:r>
            <a:r>
              <a:rPr lang="en" sz="1200">
                <a:solidFill>
                  <a:schemeClr val="dk1"/>
                </a:solidFill>
                <a:latin typeface="Lora"/>
                <a:ea typeface="Lora"/>
                <a:cs typeface="Lora"/>
                <a:sym typeface="Lora"/>
              </a:rPr>
              <a:t> Simplifies Dependency Management.</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p:txBody>
      </p:sp>
      <p:sp>
        <p:nvSpPr>
          <p:cNvPr id="120" name="Google Shape;120;p22"/>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Oliver</a:t>
            </a:r>
            <a:endParaRPr sz="1200">
              <a:solidFill>
                <a:schemeClr val="dk2"/>
              </a:solidFill>
              <a:latin typeface="Lora"/>
              <a:ea typeface="Lora"/>
              <a:cs typeface="Lora"/>
              <a:sym typeface="Lo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nvSpPr>
        <p:spPr>
          <a:xfrm>
            <a:off x="612896" y="243588"/>
            <a:ext cx="8128500" cy="34722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 Containers: Key Components of </a:t>
            </a:r>
            <a:r>
              <a:rPr lang="en" sz="2400">
                <a:latin typeface="Lora"/>
                <a:ea typeface="Lora"/>
                <a:cs typeface="Lora"/>
                <a:sym typeface="Lora"/>
              </a:rPr>
              <a:t>Docker</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126" name="Google Shape;126;p23"/>
          <p:cNvSpPr txBox="1"/>
          <p:nvPr/>
        </p:nvSpPr>
        <p:spPr>
          <a:xfrm>
            <a:off x="486900" y="700975"/>
            <a:ext cx="7896600" cy="3417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Container Image:</a:t>
            </a:r>
            <a:r>
              <a:rPr lang="en" sz="1200">
                <a:solidFill>
                  <a:schemeClr val="dk1"/>
                </a:solidFill>
                <a:latin typeface="Lora"/>
                <a:ea typeface="Lora"/>
                <a:cs typeface="Lora"/>
                <a:sym typeface="Lora"/>
              </a:rPr>
              <a:t> Read-only file containing application code and dependencies (</a:t>
            </a:r>
            <a:r>
              <a:rPr i="1" lang="en" sz="1200">
                <a:solidFill>
                  <a:schemeClr val="dk1"/>
                </a:solidFill>
                <a:latin typeface="Lora"/>
                <a:ea typeface="Lora"/>
                <a:cs typeface="Lora"/>
                <a:sym typeface="Lora"/>
              </a:rPr>
              <a:t>docker build)</a:t>
            </a:r>
            <a:endParaRPr i="1"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Container:</a:t>
            </a:r>
            <a:r>
              <a:rPr lang="en" sz="1200">
                <a:solidFill>
                  <a:schemeClr val="dk1"/>
                </a:solidFill>
                <a:latin typeface="Lora"/>
                <a:ea typeface="Lora"/>
                <a:cs typeface="Lora"/>
                <a:sym typeface="Lora"/>
              </a:rPr>
              <a:t> Runnable instance of an image (</a:t>
            </a:r>
            <a:r>
              <a:rPr i="1" lang="en" sz="1200">
                <a:solidFill>
                  <a:schemeClr val="dk1"/>
                </a:solidFill>
                <a:latin typeface="Lora"/>
                <a:ea typeface="Lora"/>
                <a:cs typeface="Lora"/>
                <a:sym typeface="Lora"/>
              </a:rPr>
              <a:t>docker run</a:t>
            </a:r>
            <a:r>
              <a:rPr lang="en" sz="1200">
                <a:solidFill>
                  <a:schemeClr val="dk1"/>
                </a:solidFill>
                <a:latin typeface="Lora"/>
                <a:ea typeface="Lora"/>
                <a:cs typeface="Lora"/>
                <a:sym typeface="Lora"/>
              </a:rPr>
              <a:t>)</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Dockerfile:</a:t>
            </a:r>
            <a:r>
              <a:rPr lang="en" sz="1200">
                <a:solidFill>
                  <a:schemeClr val="dk1"/>
                </a:solidFill>
                <a:latin typeface="Lora"/>
                <a:ea typeface="Lora"/>
                <a:cs typeface="Lora"/>
                <a:sym typeface="Lora"/>
              </a:rPr>
              <a:t> Text file with instructions to build a Docker image.</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Registry (e.g., Docker Hub; Google Artifact Registry):</a:t>
            </a:r>
            <a:r>
              <a:rPr lang="en" sz="1200">
                <a:solidFill>
                  <a:schemeClr val="dk1"/>
                </a:solidFill>
                <a:latin typeface="Lora"/>
                <a:ea typeface="Lora"/>
                <a:cs typeface="Lora"/>
                <a:sym typeface="Lora"/>
              </a:rPr>
              <a:t> Storage and distribution for Docker images.</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Docker Compose (optional):</a:t>
            </a:r>
            <a:r>
              <a:rPr lang="en" sz="1200">
                <a:solidFill>
                  <a:schemeClr val="dk1"/>
                </a:solidFill>
                <a:latin typeface="Lora"/>
                <a:ea typeface="Lora"/>
                <a:cs typeface="Lora"/>
                <a:sym typeface="Lora"/>
              </a:rPr>
              <a:t> File for defining and running multi-container Docker applications.</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p:txBody>
      </p:sp>
      <p:sp>
        <p:nvSpPr>
          <p:cNvPr id="127" name="Google Shape;127;p23"/>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Oliver</a:t>
            </a:r>
            <a:endParaRPr sz="1200">
              <a:solidFill>
                <a:schemeClr val="dk2"/>
              </a:solidFill>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nvSpPr>
        <p:spPr>
          <a:xfrm>
            <a:off x="612896" y="243588"/>
            <a:ext cx="8128500" cy="6711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 Containers: </a:t>
            </a:r>
            <a:r>
              <a:rPr lang="en" sz="2400">
                <a:latin typeface="Lora"/>
                <a:ea typeface="Lora"/>
                <a:cs typeface="Lora"/>
                <a:sym typeface="Lora"/>
              </a:rPr>
              <a:t>Dockerfile</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1000">
                <a:latin typeface="Lora"/>
                <a:ea typeface="Lora"/>
                <a:cs typeface="Lora"/>
                <a:sym typeface="Lora"/>
              </a:rPr>
              <a:t>See complete github file </a:t>
            </a:r>
            <a:r>
              <a:rPr lang="en" sz="1000" u="sng">
                <a:solidFill>
                  <a:schemeClr val="hlink"/>
                </a:solidFill>
                <a:latin typeface="Lora"/>
                <a:ea typeface="Lora"/>
                <a:cs typeface="Lora"/>
                <a:sym typeface="Lora"/>
                <a:hlinkClick r:id="rId3"/>
              </a:rPr>
              <a:t>here</a:t>
            </a:r>
            <a:r>
              <a:rPr lang="en" sz="1000">
                <a:latin typeface="Lora"/>
                <a:ea typeface="Lora"/>
                <a:cs typeface="Lora"/>
                <a:sym typeface="Lora"/>
              </a:rPr>
              <a:t> </a:t>
            </a:r>
            <a:endParaRPr sz="1000">
              <a:latin typeface="Lora"/>
              <a:ea typeface="Lora"/>
              <a:cs typeface="Lora"/>
              <a:sym typeface="Lora"/>
            </a:endParaRPr>
          </a:p>
        </p:txBody>
      </p:sp>
      <p:sp>
        <p:nvSpPr>
          <p:cNvPr id="133" name="Google Shape;133;p24"/>
          <p:cNvSpPr txBox="1"/>
          <p:nvPr/>
        </p:nvSpPr>
        <p:spPr>
          <a:xfrm>
            <a:off x="563100" y="1005775"/>
            <a:ext cx="6474900" cy="3540300"/>
          </a:xfrm>
          <a:prstGeom prst="rect">
            <a:avLst/>
          </a:prstGeom>
          <a:solidFill>
            <a:schemeClr val="lt2"/>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n" sz="1000">
                <a:solidFill>
                  <a:schemeClr val="dk2"/>
                </a:solidFill>
                <a:latin typeface="Courier New"/>
                <a:ea typeface="Courier New"/>
                <a:cs typeface="Courier New"/>
                <a:sym typeface="Courier New"/>
              </a:rPr>
              <a:t># specify the base image for the build.</a:t>
            </a:r>
            <a:br>
              <a:rPr lang="en" sz="1000">
                <a:solidFill>
                  <a:schemeClr val="dk2"/>
                </a:solidFill>
                <a:latin typeface="Courier New"/>
                <a:ea typeface="Courier New"/>
                <a:cs typeface="Courier New"/>
                <a:sym typeface="Courier New"/>
              </a:rPr>
            </a:br>
            <a:r>
              <a:rPr lang="en" sz="1100">
                <a:solidFill>
                  <a:schemeClr val="dk2"/>
                </a:solidFill>
                <a:latin typeface="Courier New"/>
                <a:ea typeface="Courier New"/>
                <a:cs typeface="Courier New"/>
                <a:sym typeface="Courier New"/>
              </a:rPr>
              <a:t>FROM python:3.12.9-slim</a:t>
            </a:r>
            <a:br>
              <a:rPr lang="en" sz="1100">
                <a:solidFill>
                  <a:schemeClr val="dk2"/>
                </a:solidFill>
                <a:latin typeface="Courier New"/>
                <a:ea typeface="Courier New"/>
                <a:cs typeface="Courier New"/>
                <a:sym typeface="Courier New"/>
              </a:rPr>
            </a:b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 copy the uv and uvx executables from the uv image </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 into the /bin/ directory of the current image</a:t>
            </a:r>
            <a:br>
              <a:rPr lang="en" sz="1100">
                <a:solidFill>
                  <a:schemeClr val="dk2"/>
                </a:solidFill>
                <a:latin typeface="Courier New"/>
                <a:ea typeface="Courier New"/>
                <a:cs typeface="Courier New"/>
                <a:sym typeface="Courier New"/>
              </a:rPr>
            </a:br>
            <a:r>
              <a:rPr lang="en" sz="1100">
                <a:solidFill>
                  <a:schemeClr val="dk2"/>
                </a:solidFill>
                <a:latin typeface="Courier New"/>
                <a:ea typeface="Courier New"/>
                <a:cs typeface="Courier New"/>
                <a:sym typeface="Courier New"/>
              </a:rPr>
              <a:t>COPY --from=ghcr.io/astral-sh/uv:latest /uv /uvx /bin/</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 sets the working directory inside the container to /app</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WORKDIR /app</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 copies all files and directories from the build context into the app</a:t>
            </a: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COPY . .</a:t>
            </a:r>
            <a:br>
              <a:rPr lang="en" sz="1100">
                <a:solidFill>
                  <a:schemeClr val="dk2"/>
                </a:solidFill>
                <a:latin typeface="Courier New"/>
                <a:ea typeface="Courier New"/>
                <a:cs typeface="Courier New"/>
                <a:sym typeface="Courier New"/>
              </a:rPr>
            </a:br>
            <a:endParaRPr sz="11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 this command will install the project packages listed in pyproject.toml</a:t>
            </a:r>
            <a:br>
              <a:rPr lang="en" sz="1100">
                <a:solidFill>
                  <a:schemeClr val="dk2"/>
                </a:solidFill>
                <a:latin typeface="Courier New"/>
                <a:ea typeface="Courier New"/>
                <a:cs typeface="Courier New"/>
                <a:sym typeface="Courier New"/>
              </a:rPr>
            </a:br>
            <a:r>
              <a:rPr lang="en" sz="1100">
                <a:solidFill>
                  <a:schemeClr val="dk2"/>
                </a:solidFill>
                <a:latin typeface="Courier New"/>
                <a:ea typeface="Courier New"/>
                <a:cs typeface="Courier New"/>
                <a:sym typeface="Courier New"/>
              </a:rPr>
              <a:t>RUN uv sync --frozen</a:t>
            </a:r>
            <a:br>
              <a:rPr b="1" lang="en" sz="1100">
                <a:solidFill>
                  <a:schemeClr val="dk1"/>
                </a:solidFill>
                <a:latin typeface="Lora"/>
                <a:ea typeface="Lora"/>
                <a:cs typeface="Lora"/>
                <a:sym typeface="Lora"/>
              </a:rPr>
            </a:br>
            <a:endParaRPr b="1" sz="1100">
              <a:solidFill>
                <a:schemeClr val="dk1"/>
              </a:solidFill>
              <a:latin typeface="Lora"/>
              <a:ea typeface="Lora"/>
              <a:cs typeface="Lora"/>
              <a:sym typeface="Lora"/>
            </a:endParaRPr>
          </a:p>
          <a:p>
            <a:pPr indent="0" lvl="0" marL="0" rtl="0" algn="l">
              <a:spcBef>
                <a:spcPts val="0"/>
              </a:spcBef>
              <a:spcAft>
                <a:spcPts val="0"/>
              </a:spcAft>
              <a:buNone/>
            </a:pPr>
            <a:r>
              <a:rPr lang="en" sz="1100">
                <a:solidFill>
                  <a:schemeClr val="dk2"/>
                </a:solidFill>
                <a:latin typeface="Courier New"/>
                <a:ea typeface="Courier New"/>
                <a:cs typeface="Courier New"/>
                <a:sym typeface="Courier New"/>
              </a:rPr>
              <a:t># Expose the port your application uses</a:t>
            </a:r>
            <a:br>
              <a:rPr b="1" lang="en" sz="1100">
                <a:solidFill>
                  <a:schemeClr val="dk1"/>
                </a:solidFill>
                <a:latin typeface="Lora"/>
                <a:ea typeface="Lora"/>
                <a:cs typeface="Lora"/>
                <a:sym typeface="Lora"/>
              </a:rPr>
            </a:br>
            <a:r>
              <a:rPr lang="en" sz="1100">
                <a:solidFill>
                  <a:schemeClr val="dk2"/>
                </a:solidFill>
                <a:latin typeface="Courier New"/>
                <a:ea typeface="Courier New"/>
                <a:cs typeface="Courier New"/>
                <a:sym typeface="Courier New"/>
              </a:rPr>
              <a:t>EXPOSE 8080</a:t>
            </a:r>
            <a:br>
              <a:rPr lang="en" sz="1100">
                <a:solidFill>
                  <a:schemeClr val="dk2"/>
                </a:solidFill>
                <a:latin typeface="Courier New"/>
                <a:ea typeface="Courier New"/>
                <a:cs typeface="Courier New"/>
                <a:sym typeface="Courier New"/>
              </a:rPr>
            </a:br>
            <a:br>
              <a:rPr lang="en" sz="1100">
                <a:solidFill>
                  <a:schemeClr val="dk1"/>
                </a:solidFill>
                <a:latin typeface="Lora"/>
                <a:ea typeface="Lora"/>
                <a:cs typeface="Lora"/>
                <a:sym typeface="Lora"/>
              </a:rPr>
            </a:br>
            <a:r>
              <a:rPr lang="en" sz="1100">
                <a:solidFill>
                  <a:schemeClr val="dk2"/>
                </a:solidFill>
                <a:latin typeface="Courier New"/>
                <a:ea typeface="Courier New"/>
                <a:cs typeface="Courier New"/>
                <a:sym typeface="Courier New"/>
              </a:rPr>
              <a:t># Use the entrypoint script to select the API</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rPr lang="en" sz="1100">
                <a:solidFill>
                  <a:schemeClr val="dk2"/>
                </a:solidFill>
                <a:latin typeface="Courier New"/>
                <a:ea typeface="Courier New"/>
                <a:cs typeface="Courier New"/>
                <a:sym typeface="Courier New"/>
              </a:rPr>
              <a:t>ENTRYPOINT ["/app/entrypoint.sh"]</a:t>
            </a:r>
            <a:endParaRPr sz="1100">
              <a:solidFill>
                <a:schemeClr val="dk2"/>
              </a:solidFill>
              <a:latin typeface="Courier New"/>
              <a:ea typeface="Courier New"/>
              <a:cs typeface="Courier New"/>
              <a:sym typeface="Courier New"/>
            </a:endParaRPr>
          </a:p>
        </p:txBody>
      </p:sp>
      <p:sp>
        <p:nvSpPr>
          <p:cNvPr id="134" name="Google Shape;134;p24"/>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Oliver</a:t>
            </a:r>
            <a:endParaRPr sz="1200">
              <a:solidFill>
                <a:schemeClr val="dk2"/>
              </a:solidFill>
              <a:latin typeface="Lora"/>
              <a:ea typeface="Lora"/>
              <a:cs typeface="Lora"/>
              <a:sym typeface="Lo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RESTful APIs: What is an API? What is REST?</a:t>
            </a:r>
            <a:endParaRPr sz="2400">
              <a:latin typeface="Lora"/>
              <a:ea typeface="Lora"/>
              <a:cs typeface="Lora"/>
              <a:sym typeface="Lora"/>
            </a:endParaRPr>
          </a:p>
        </p:txBody>
      </p:sp>
      <p:sp>
        <p:nvSpPr>
          <p:cNvPr id="140" name="Google Shape;140;p25"/>
          <p:cNvSpPr txBox="1"/>
          <p:nvPr/>
        </p:nvSpPr>
        <p:spPr>
          <a:xfrm>
            <a:off x="486900" y="700975"/>
            <a:ext cx="7896600" cy="1116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b="1" lang="en" sz="1100">
                <a:solidFill>
                  <a:schemeClr val="dk1"/>
                </a:solidFill>
                <a:latin typeface="Lora"/>
                <a:ea typeface="Lora"/>
                <a:cs typeface="Lora"/>
                <a:sym typeface="Lora"/>
              </a:rPr>
              <a:t>API (Application Programming Interface):</a:t>
            </a:r>
            <a:r>
              <a:rPr lang="en" sz="1100">
                <a:solidFill>
                  <a:schemeClr val="dk1"/>
                </a:solidFill>
                <a:latin typeface="Lora"/>
                <a:ea typeface="Lora"/>
                <a:cs typeface="Lora"/>
                <a:sym typeface="Lora"/>
              </a:rPr>
              <a:t> A contract defining how software components interact.</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100">
                <a:solidFill>
                  <a:schemeClr val="dk1"/>
                </a:solidFill>
                <a:latin typeface="Lora"/>
                <a:ea typeface="Lora"/>
                <a:cs typeface="Lora"/>
                <a:sym typeface="Lora"/>
              </a:rPr>
              <a:t>REST (REpresentational State Transfer): </a:t>
            </a:r>
            <a:r>
              <a:rPr lang="en" sz="1100">
                <a:solidFill>
                  <a:schemeClr val="dk1"/>
                </a:solidFill>
                <a:latin typeface="Lora"/>
                <a:ea typeface="Lora"/>
                <a:cs typeface="Lora"/>
                <a:sym typeface="Lora"/>
              </a:rPr>
              <a:t>A set of rules/standards for how to build a specific type of API.</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100">
                <a:solidFill>
                  <a:schemeClr val="dk1"/>
                </a:solidFill>
                <a:latin typeface="Lora"/>
                <a:ea typeface="Lora"/>
                <a:cs typeface="Lora"/>
                <a:sym typeface="Lora"/>
              </a:rPr>
              <a:t>A Restaurant </a:t>
            </a:r>
            <a:r>
              <a:rPr b="1" lang="en" sz="1100">
                <a:solidFill>
                  <a:schemeClr val="dk1"/>
                </a:solidFill>
                <a:latin typeface="Lora"/>
                <a:ea typeface="Lora"/>
                <a:cs typeface="Lora"/>
                <a:sym typeface="Lora"/>
              </a:rPr>
              <a:t>Analogy:</a:t>
            </a:r>
            <a:r>
              <a:rPr lang="en" sz="1100">
                <a:solidFill>
                  <a:schemeClr val="dk1"/>
                </a:solidFill>
                <a:latin typeface="Lora"/>
                <a:ea typeface="Lora"/>
                <a:cs typeface="Lora"/>
                <a:sym typeface="Lora"/>
              </a:rPr>
              <a:t> Like a menu in a restaurant (API) and the standard way waiters take orders (REST principles) — because waiters have many ways of taking orders: memorize; write-down; use an iPad; etc.</a:t>
            </a:r>
            <a:endParaRPr sz="1200">
              <a:solidFill>
                <a:schemeClr val="dk1"/>
              </a:solidFill>
              <a:latin typeface="Lora"/>
              <a:ea typeface="Lora"/>
              <a:cs typeface="Lora"/>
              <a:sym typeface="Lora"/>
            </a:endParaRPr>
          </a:p>
        </p:txBody>
      </p:sp>
      <p:pic>
        <p:nvPicPr>
          <p:cNvPr id="141" name="Google Shape;141;p25"/>
          <p:cNvPicPr preferRelativeResize="0"/>
          <p:nvPr/>
        </p:nvPicPr>
        <p:blipFill>
          <a:blip r:embed="rId3">
            <a:alphaModFix/>
          </a:blip>
          <a:stretch>
            <a:fillRect/>
          </a:stretch>
        </p:blipFill>
        <p:spPr>
          <a:xfrm>
            <a:off x="399737" y="1933888"/>
            <a:ext cx="8344525" cy="2723401"/>
          </a:xfrm>
          <a:prstGeom prst="rect">
            <a:avLst/>
          </a:prstGeom>
          <a:noFill/>
          <a:ln>
            <a:noFill/>
          </a:ln>
        </p:spPr>
      </p:pic>
      <p:sp>
        <p:nvSpPr>
          <p:cNvPr id="142" name="Google Shape;142;p25"/>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nvSpPr>
        <p:spPr>
          <a:xfrm>
            <a:off x="612896" y="243588"/>
            <a:ext cx="8128500" cy="34722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a:t>
            </a:r>
            <a:r>
              <a:rPr lang="en" sz="2400">
                <a:solidFill>
                  <a:schemeClr val="dk1"/>
                </a:solidFill>
                <a:latin typeface="Lora"/>
                <a:ea typeface="Lora"/>
                <a:cs typeface="Lora"/>
                <a:sym typeface="Lora"/>
              </a:rPr>
              <a:t>R</a:t>
            </a:r>
            <a:r>
              <a:rPr lang="en" sz="2400">
                <a:solidFill>
                  <a:schemeClr val="dk1"/>
                </a:solidFill>
                <a:latin typeface="Lora"/>
                <a:ea typeface="Lora"/>
                <a:cs typeface="Lora"/>
                <a:sym typeface="Lora"/>
              </a:rPr>
              <a:t>ESTful APIs</a:t>
            </a:r>
            <a:r>
              <a:rPr lang="en" sz="2400">
                <a:solidFill>
                  <a:schemeClr val="dk1"/>
                </a:solidFill>
                <a:latin typeface="Lora"/>
                <a:ea typeface="Lora"/>
                <a:cs typeface="Lora"/>
                <a:sym typeface="Lora"/>
              </a:rPr>
              <a:t>: </a:t>
            </a:r>
            <a:r>
              <a:rPr lang="en" sz="2400">
                <a:latin typeface="Lora"/>
                <a:ea typeface="Lora"/>
                <a:cs typeface="Lora"/>
                <a:sym typeface="Lora"/>
              </a:rPr>
              <a:t>Key Principles/Concepts of REST</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148" name="Google Shape;148;p26"/>
          <p:cNvSpPr txBox="1"/>
          <p:nvPr/>
        </p:nvSpPr>
        <p:spPr>
          <a:xfrm>
            <a:off x="486900" y="700975"/>
            <a:ext cx="7896600" cy="3447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Resources:</a:t>
            </a:r>
            <a:r>
              <a:rPr lang="en" sz="1200">
                <a:solidFill>
                  <a:schemeClr val="dk1"/>
                </a:solidFill>
                <a:latin typeface="Lora"/>
                <a:ea typeface="Lora"/>
                <a:cs typeface="Lora"/>
                <a:sym typeface="Lora"/>
              </a:rPr>
              <a:t> Everything is a resource (e.g., </a:t>
            </a:r>
            <a:r>
              <a:rPr lang="en" sz="1200">
                <a:solidFill>
                  <a:srgbClr val="188038"/>
                </a:solidFill>
                <a:latin typeface="Lora"/>
                <a:ea typeface="Lora"/>
                <a:cs typeface="Lora"/>
                <a:sym typeface="Lora"/>
              </a:rPr>
              <a:t>/users</a:t>
            </a:r>
            <a:r>
              <a:rPr lang="en" sz="1200">
                <a:solidFill>
                  <a:schemeClr val="dk1"/>
                </a:solidFill>
                <a:latin typeface="Lora"/>
                <a:ea typeface="Lora"/>
                <a:cs typeface="Lora"/>
                <a:sym typeface="Lora"/>
              </a:rPr>
              <a:t>, </a:t>
            </a:r>
            <a:r>
              <a:rPr lang="en" sz="1200">
                <a:solidFill>
                  <a:srgbClr val="188038"/>
                </a:solidFill>
                <a:latin typeface="Lora"/>
                <a:ea typeface="Lora"/>
                <a:cs typeface="Lora"/>
                <a:sym typeface="Lora"/>
              </a:rPr>
              <a:t>/orders/123</a:t>
            </a:r>
            <a:r>
              <a:rPr lang="en" sz="1200">
                <a:solidFill>
                  <a:schemeClr val="dk1"/>
                </a:solidFill>
                <a:latin typeface="Lora"/>
                <a:ea typeface="Lora"/>
                <a:cs typeface="Lora"/>
                <a:sym typeface="Lora"/>
              </a:rPr>
              <a:t>). Identified by</a:t>
            </a:r>
            <a:r>
              <a:rPr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Uniform Resource Identifiers (URIs).</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Standard HTTP Methods:</a:t>
            </a:r>
            <a:endParaRPr b="1"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Char char="●"/>
            </a:pPr>
            <a:r>
              <a:rPr lang="en" sz="1200">
                <a:solidFill>
                  <a:srgbClr val="188038"/>
                </a:solidFill>
                <a:latin typeface="Lora"/>
                <a:ea typeface="Lora"/>
                <a:cs typeface="Lora"/>
                <a:sym typeface="Lora"/>
              </a:rPr>
              <a:t>GET</a:t>
            </a:r>
            <a:r>
              <a:rPr lang="en" sz="1200">
                <a:solidFill>
                  <a:schemeClr val="dk1"/>
                </a:solidFill>
                <a:latin typeface="Lora"/>
                <a:ea typeface="Lora"/>
                <a:cs typeface="Lora"/>
                <a:sym typeface="Lora"/>
              </a:rPr>
              <a:t>: Retrieve data.</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lang="en" sz="1200">
                <a:solidFill>
                  <a:srgbClr val="188038"/>
                </a:solidFill>
                <a:latin typeface="Lora"/>
                <a:ea typeface="Lora"/>
                <a:cs typeface="Lora"/>
                <a:sym typeface="Lora"/>
              </a:rPr>
              <a:t>POST</a:t>
            </a:r>
            <a:r>
              <a:rPr lang="en" sz="1200">
                <a:solidFill>
                  <a:schemeClr val="dk1"/>
                </a:solidFill>
                <a:latin typeface="Lora"/>
                <a:ea typeface="Lora"/>
                <a:cs typeface="Lora"/>
                <a:sym typeface="Lora"/>
              </a:rPr>
              <a:t>: Send data to a server to insert a resource.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lang="en" sz="1200">
                <a:solidFill>
                  <a:srgbClr val="188038"/>
                </a:solidFill>
                <a:latin typeface="Lora"/>
                <a:ea typeface="Lora"/>
                <a:cs typeface="Lora"/>
                <a:sym typeface="Lora"/>
              </a:rPr>
              <a:t>PUT</a:t>
            </a:r>
            <a:r>
              <a:rPr lang="en" sz="1200">
                <a:solidFill>
                  <a:schemeClr val="dk1"/>
                </a:solidFill>
                <a:latin typeface="Lora"/>
                <a:ea typeface="Lora"/>
                <a:cs typeface="Lora"/>
                <a:sym typeface="Lora"/>
              </a:rPr>
              <a:t>: Send data to a server to insert/update a resource (idempotent; when you know the URL)</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lang="en" sz="1200">
                <a:solidFill>
                  <a:srgbClr val="188038"/>
                </a:solidFill>
                <a:latin typeface="Lora"/>
                <a:ea typeface="Lora"/>
                <a:cs typeface="Lora"/>
                <a:sym typeface="Lora"/>
              </a:rPr>
              <a:t>DELETE</a:t>
            </a:r>
            <a:r>
              <a:rPr lang="en" sz="1200">
                <a:solidFill>
                  <a:schemeClr val="dk1"/>
                </a:solidFill>
                <a:latin typeface="Lora"/>
                <a:ea typeface="Lora"/>
                <a:cs typeface="Lora"/>
                <a:sym typeface="Lora"/>
              </a:rPr>
              <a:t>: Remove data.</a:t>
            </a:r>
            <a:endParaRPr sz="1200">
              <a:solidFill>
                <a:schemeClr val="dk1"/>
              </a:solidFill>
              <a:latin typeface="Lora"/>
              <a:ea typeface="Lora"/>
              <a:cs typeface="Lora"/>
              <a:sym typeface="Lora"/>
            </a:endParaRPr>
          </a:p>
          <a:p>
            <a:pPr indent="0" lvl="0" marL="0" rtl="0" algn="l">
              <a:lnSpc>
                <a:spcPct val="150000"/>
              </a:lnSpc>
              <a:spcBef>
                <a:spcPts val="1200"/>
              </a:spcBef>
              <a:spcAft>
                <a:spcPts val="0"/>
              </a:spcAft>
              <a:buClr>
                <a:schemeClr val="dk1"/>
              </a:buClr>
              <a:buSzPts val="1100"/>
              <a:buFont typeface="Arial"/>
              <a:buNone/>
            </a:pPr>
            <a:r>
              <a:rPr b="1" lang="en" sz="1200">
                <a:solidFill>
                  <a:schemeClr val="dk1"/>
                </a:solidFill>
                <a:latin typeface="Lora"/>
                <a:ea typeface="Lora"/>
                <a:cs typeface="Lora"/>
                <a:sym typeface="Lora"/>
              </a:rPr>
              <a:t>Representations:</a:t>
            </a:r>
            <a:r>
              <a:rPr lang="en" sz="1200">
                <a:solidFill>
                  <a:schemeClr val="dk1"/>
                </a:solidFill>
                <a:latin typeface="Lora"/>
                <a:ea typeface="Lora"/>
                <a:cs typeface="Lora"/>
                <a:sym typeface="Lora"/>
              </a:rPr>
              <a:t> Data format (e.g., JSON, HTML, XML). JSON is most popular</a:t>
            </a:r>
            <a:r>
              <a:rPr lang="en" sz="1200">
                <a:solidFill>
                  <a:schemeClr val="dk1"/>
                </a:solidFill>
                <a:latin typeface="Lora"/>
                <a:ea typeface="Lora"/>
                <a:cs typeface="Lora"/>
                <a:sym typeface="Lora"/>
              </a:rPr>
              <a:t>.</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Stateless Communication:</a:t>
            </a:r>
            <a:r>
              <a:rPr lang="en" sz="1200">
                <a:solidFill>
                  <a:schemeClr val="dk1"/>
                </a:solidFill>
                <a:latin typeface="Lora"/>
                <a:ea typeface="Lora"/>
                <a:cs typeface="Lora"/>
                <a:sym typeface="Lora"/>
              </a:rPr>
              <a:t> Server holds no client state between requests (each request is separate and unconnected).</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Lora"/>
                <a:ea typeface="Lora"/>
                <a:cs typeface="Lora"/>
                <a:sym typeface="Lora"/>
              </a:rPr>
              <a:t>Uniform Interface:</a:t>
            </a:r>
            <a:r>
              <a:rPr lang="en" sz="1200">
                <a:solidFill>
                  <a:schemeClr val="dk1"/>
                </a:solidFill>
                <a:latin typeface="Lora"/>
                <a:ea typeface="Lora"/>
                <a:cs typeface="Lora"/>
                <a:sym typeface="Lora"/>
              </a:rPr>
              <a:t> Consistent way of interacting with resources.</a:t>
            </a:r>
            <a:endParaRPr sz="1200">
              <a:solidFill>
                <a:schemeClr val="dk1"/>
              </a:solidFill>
              <a:latin typeface="Lora"/>
              <a:ea typeface="Lora"/>
              <a:cs typeface="Lora"/>
              <a:sym typeface="Lora"/>
            </a:endParaRPr>
          </a:p>
        </p:txBody>
      </p:sp>
      <p:sp>
        <p:nvSpPr>
          <p:cNvPr id="149" name="Google Shape;149;p26"/>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 RESTful APIs: Benefits</a:t>
            </a:r>
            <a:endParaRPr sz="2400">
              <a:latin typeface="Lora"/>
              <a:ea typeface="Lora"/>
              <a:cs typeface="Lora"/>
              <a:sym typeface="Lora"/>
            </a:endParaRPr>
          </a:p>
        </p:txBody>
      </p:sp>
      <p:sp>
        <p:nvSpPr>
          <p:cNvPr id="155" name="Google Shape;155;p27"/>
          <p:cNvSpPr txBox="1"/>
          <p:nvPr/>
        </p:nvSpPr>
        <p:spPr>
          <a:xfrm>
            <a:off x="563100" y="700975"/>
            <a:ext cx="7896600" cy="2862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200">
                <a:solidFill>
                  <a:schemeClr val="dk1"/>
                </a:solidFill>
                <a:latin typeface="Lora"/>
                <a:ea typeface="Lora"/>
                <a:cs typeface="Lora"/>
                <a:sym typeface="Lora"/>
              </a:rPr>
              <a:t>Simplicity &amp; Standardization:</a:t>
            </a:r>
            <a:r>
              <a:rPr lang="en" sz="1200">
                <a:solidFill>
                  <a:schemeClr val="dk1"/>
                </a:solidFill>
                <a:latin typeface="Lora"/>
                <a:ea typeface="Lora"/>
                <a:cs typeface="Lora"/>
                <a:sym typeface="Lora"/>
              </a:rPr>
              <a:t> Built on standard HTTP methods (GET, POST, PUT, DELETE).</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b="1" lang="en" sz="1200">
                <a:solidFill>
                  <a:schemeClr val="dk1"/>
                </a:solidFill>
                <a:latin typeface="Lora"/>
                <a:ea typeface="Lora"/>
                <a:cs typeface="Lora"/>
                <a:sym typeface="Lora"/>
              </a:rPr>
              <a:t>Statelessness:</a:t>
            </a:r>
            <a:r>
              <a:rPr lang="en" sz="1200">
                <a:solidFill>
                  <a:schemeClr val="dk1"/>
                </a:solidFill>
                <a:latin typeface="Lora"/>
                <a:ea typeface="Lora"/>
                <a:cs typeface="Lora"/>
                <a:sym typeface="Lora"/>
              </a:rPr>
              <a:t> No client information is stored between get requests and each request is separate and unconnected.</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b="1" lang="en" sz="1200">
                <a:solidFill>
                  <a:schemeClr val="dk1"/>
                </a:solidFill>
                <a:latin typeface="Lora"/>
                <a:ea typeface="Lora"/>
                <a:cs typeface="Lora"/>
                <a:sym typeface="Lora"/>
              </a:rPr>
              <a:t>Performance:</a:t>
            </a:r>
            <a:r>
              <a:rPr lang="en" sz="1200">
                <a:solidFill>
                  <a:schemeClr val="dk1"/>
                </a:solidFill>
                <a:latin typeface="Lora"/>
                <a:ea typeface="Lora"/>
                <a:cs typeface="Lora"/>
                <a:sym typeface="Lora"/>
              </a:rPr>
              <a:t> Can leverage HTTP caching mechanisms. Caching is easily supported. Clients or intermediate proxies can store these responses, reducing the need to contact the server repeatedly for the same data</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b="1" lang="en" sz="1200">
                <a:solidFill>
                  <a:schemeClr val="dk1"/>
                </a:solidFill>
                <a:latin typeface="Lora"/>
                <a:ea typeface="Lora"/>
                <a:cs typeface="Lora"/>
                <a:sym typeface="Lora"/>
              </a:rPr>
              <a:t>Decoupling:</a:t>
            </a:r>
            <a:r>
              <a:rPr lang="en" sz="1200">
                <a:solidFill>
                  <a:schemeClr val="dk1"/>
                </a:solidFill>
                <a:latin typeface="Lora"/>
                <a:ea typeface="Lora"/>
                <a:cs typeface="Lora"/>
                <a:sym typeface="Lora"/>
              </a:rPr>
              <a:t> The separation between the client and the server is a core principle. The client only needs to know the URI of the resource.</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rPr b="1" lang="en" sz="1200">
                <a:solidFill>
                  <a:schemeClr val="dk1"/>
                </a:solidFill>
                <a:latin typeface="Lora"/>
                <a:ea typeface="Lora"/>
                <a:cs typeface="Lora"/>
                <a:sym typeface="Lora"/>
              </a:rPr>
              <a:t>Interoperability: </a:t>
            </a:r>
            <a:r>
              <a:rPr lang="en" sz="1200">
                <a:solidFill>
                  <a:schemeClr val="dk1"/>
                </a:solidFill>
                <a:latin typeface="Lora"/>
                <a:ea typeface="Lora"/>
                <a:cs typeface="Lora"/>
                <a:sym typeface="Lora"/>
              </a:rPr>
              <a:t>Because REST relies on standard protocols (HTTP) and common data formats (like JSON, XML), clients and servers can be implemented in different programming languages and run on different platforms and operating systems, yet still communicate effectively.</a:t>
            </a:r>
            <a:endParaRPr sz="1200">
              <a:solidFill>
                <a:schemeClr val="dk1"/>
              </a:solidFill>
              <a:latin typeface="Lora"/>
              <a:ea typeface="Lora"/>
              <a:cs typeface="Lora"/>
              <a:sym typeface="Lora"/>
            </a:endParaRPr>
          </a:p>
        </p:txBody>
      </p:sp>
      <p:sp>
        <p:nvSpPr>
          <p:cNvPr id="156" name="Google Shape;156;p27"/>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nvSpPr>
        <p:spPr>
          <a:xfrm>
            <a:off x="612896" y="243588"/>
            <a:ext cx="8128500" cy="2401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400"/>
              <a:buFont typeface="Arial"/>
              <a:buNone/>
            </a:pPr>
            <a:r>
              <a:rPr lang="en" sz="2400">
                <a:latin typeface="Lora"/>
                <a:ea typeface="Lora"/>
                <a:cs typeface="Lora"/>
                <a:sym typeface="Lora"/>
              </a:rPr>
              <a:t>3. OpenAPI: What is OpenAPI?</a:t>
            </a:r>
            <a:endParaRPr sz="2400">
              <a:latin typeface="Lora"/>
              <a:ea typeface="Lora"/>
              <a:cs typeface="Lora"/>
              <a:sym typeface="Lora"/>
            </a:endParaRPr>
          </a:p>
          <a:p>
            <a:pPr indent="-304800" lvl="0" marL="457200" rtl="0" algn="l">
              <a:lnSpc>
                <a:spcPct val="150000"/>
              </a:lnSpc>
              <a:spcBef>
                <a:spcPts val="0"/>
              </a:spcBef>
              <a:spcAft>
                <a:spcPts val="0"/>
              </a:spcAft>
              <a:buSzPts val="1200"/>
              <a:buFont typeface="Lora"/>
              <a:buChar char="●"/>
            </a:pPr>
            <a:r>
              <a:rPr b="1" lang="en" sz="1200">
                <a:latin typeface="Lora"/>
                <a:ea typeface="Lora"/>
                <a:cs typeface="Lora"/>
                <a:sym typeface="Lora"/>
              </a:rPr>
              <a:t>Standard Specification:</a:t>
            </a:r>
            <a:r>
              <a:rPr lang="en" sz="1200">
                <a:latin typeface="Lora"/>
                <a:ea typeface="Lora"/>
                <a:cs typeface="Lora"/>
                <a:sym typeface="Lora"/>
              </a:rPr>
              <a:t> A widely adopted, open standard for defining and describing RESTful APIs.</a:t>
            </a:r>
            <a:endParaRPr sz="1200">
              <a:latin typeface="Lora"/>
              <a:ea typeface="Lora"/>
              <a:cs typeface="Lora"/>
              <a:sym typeface="Lora"/>
            </a:endParaRPr>
          </a:p>
          <a:p>
            <a:pPr indent="-304800" lvl="0" marL="457200" rtl="0" algn="l">
              <a:lnSpc>
                <a:spcPct val="150000"/>
              </a:lnSpc>
              <a:spcBef>
                <a:spcPts val="0"/>
              </a:spcBef>
              <a:spcAft>
                <a:spcPts val="0"/>
              </a:spcAft>
              <a:buSzPts val="1200"/>
              <a:buFont typeface="Lora"/>
              <a:buChar char="●"/>
            </a:pPr>
            <a:r>
              <a:rPr b="1" lang="en" sz="1200">
                <a:latin typeface="Lora"/>
                <a:ea typeface="Lora"/>
                <a:cs typeface="Lora"/>
                <a:sym typeface="Lora"/>
              </a:rPr>
              <a:t>Language-Agnostic:</a:t>
            </a:r>
            <a:r>
              <a:rPr lang="en" sz="1200">
                <a:latin typeface="Lora"/>
                <a:ea typeface="Lora"/>
                <a:cs typeface="Lora"/>
                <a:sym typeface="Lora"/>
              </a:rPr>
              <a:t> Describes the API's structure and capabilities regardless of the programming language used to build it (e.g. FastAPI with Python; Laravel with PHP; NestJS with TypeScript)</a:t>
            </a:r>
            <a:endParaRPr sz="1200">
              <a:latin typeface="Lora"/>
              <a:ea typeface="Lora"/>
              <a:cs typeface="Lora"/>
              <a:sym typeface="Lora"/>
            </a:endParaRPr>
          </a:p>
          <a:p>
            <a:pPr indent="-304800" lvl="0" marL="457200" rtl="0" algn="l">
              <a:lnSpc>
                <a:spcPct val="150000"/>
              </a:lnSpc>
              <a:spcBef>
                <a:spcPts val="0"/>
              </a:spcBef>
              <a:spcAft>
                <a:spcPts val="0"/>
              </a:spcAft>
              <a:buSzPts val="1200"/>
              <a:buFont typeface="Lora"/>
              <a:buChar char="●"/>
            </a:pPr>
            <a:r>
              <a:rPr b="1" lang="en" sz="1200">
                <a:latin typeface="Lora"/>
                <a:ea typeface="Lora"/>
                <a:cs typeface="Lora"/>
                <a:sym typeface="Lora"/>
              </a:rPr>
              <a:t>Defines API Contract: </a:t>
            </a:r>
            <a:r>
              <a:rPr lang="en" sz="1200">
                <a:latin typeface="Lora"/>
                <a:ea typeface="Lora"/>
                <a:cs typeface="Lora"/>
                <a:sym typeface="Lora"/>
              </a:rPr>
              <a:t>Clearly outlines available endpoints, operations (GET, POST, PUT, DELETE), parameters, request/response formats, authentication methods, and other essential details.</a:t>
            </a:r>
            <a:endParaRPr sz="1200">
              <a:latin typeface="Lora"/>
              <a:ea typeface="Lora"/>
              <a:cs typeface="Lora"/>
              <a:sym typeface="Lora"/>
            </a:endParaRPr>
          </a:p>
          <a:p>
            <a:pPr indent="-304800" lvl="0" marL="457200" rtl="0" algn="l">
              <a:lnSpc>
                <a:spcPct val="150000"/>
              </a:lnSpc>
              <a:spcBef>
                <a:spcPts val="0"/>
              </a:spcBef>
              <a:spcAft>
                <a:spcPts val="0"/>
              </a:spcAft>
              <a:buSzPts val="1200"/>
              <a:buFont typeface="Lora"/>
              <a:buChar char="●"/>
            </a:pPr>
            <a:r>
              <a:rPr b="1" lang="en" sz="1200">
                <a:solidFill>
                  <a:schemeClr val="dk1"/>
                </a:solidFill>
                <a:latin typeface="Lora"/>
                <a:ea typeface="Lora"/>
                <a:cs typeface="Lora"/>
                <a:sym typeface="Lora"/>
              </a:rPr>
              <a:t>Machine &amp; Human Readable:</a:t>
            </a:r>
            <a:r>
              <a:rPr lang="en" sz="1200">
                <a:solidFill>
                  <a:schemeClr val="dk1"/>
                </a:solidFill>
                <a:latin typeface="Lora"/>
                <a:ea typeface="Lora"/>
                <a:cs typeface="Lora"/>
                <a:sym typeface="Lora"/>
              </a:rPr>
              <a:t> Written in formats (JSON or YAML) easily understood by both computers and developers.</a:t>
            </a:r>
            <a:endParaRPr sz="1200">
              <a:latin typeface="Lora"/>
              <a:ea typeface="Lora"/>
              <a:cs typeface="Lora"/>
              <a:sym typeface="Lora"/>
            </a:endParaRPr>
          </a:p>
        </p:txBody>
      </p:sp>
      <p:sp>
        <p:nvSpPr>
          <p:cNvPr id="162" name="Google Shape;162;p28"/>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9"/>
          <p:cNvSpPr txBox="1"/>
          <p:nvPr/>
        </p:nvSpPr>
        <p:spPr>
          <a:xfrm>
            <a:off x="612896" y="243588"/>
            <a:ext cx="8128500" cy="822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400"/>
              <a:buFont typeface="Arial"/>
              <a:buNone/>
            </a:pPr>
            <a:r>
              <a:rPr lang="en" sz="2400">
                <a:latin typeface="Lora"/>
                <a:ea typeface="Lora"/>
                <a:cs typeface="Lora"/>
                <a:sym typeface="Lora"/>
              </a:rPr>
              <a:t>3</a:t>
            </a:r>
            <a:r>
              <a:rPr lang="en" sz="2400">
                <a:latin typeface="Lora"/>
                <a:ea typeface="Lora"/>
                <a:cs typeface="Lora"/>
                <a:sym typeface="Lora"/>
              </a:rPr>
              <a:t>. OpenAPI: What is OpenAPI?</a:t>
            </a:r>
            <a:br>
              <a:rPr lang="en" sz="1200">
                <a:solidFill>
                  <a:schemeClr val="dk1"/>
                </a:solidFill>
                <a:latin typeface="Lora"/>
                <a:ea typeface="Lora"/>
                <a:cs typeface="Lora"/>
                <a:sym typeface="Lora"/>
              </a:rPr>
            </a:br>
            <a:endParaRPr sz="12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200">
                <a:latin typeface="Lora"/>
                <a:ea typeface="Lora"/>
                <a:cs typeface="Lora"/>
                <a:sym typeface="Lora"/>
              </a:rPr>
              <a:t>Specification in OpenAPI JSON is used to generate such an HTML page:</a:t>
            </a:r>
            <a:endParaRPr sz="1200">
              <a:latin typeface="Lora"/>
              <a:ea typeface="Lora"/>
              <a:cs typeface="Lora"/>
              <a:sym typeface="Lora"/>
            </a:endParaRPr>
          </a:p>
        </p:txBody>
      </p:sp>
      <p:pic>
        <p:nvPicPr>
          <p:cNvPr id="168" name="Google Shape;168;p29"/>
          <p:cNvPicPr preferRelativeResize="0"/>
          <p:nvPr/>
        </p:nvPicPr>
        <p:blipFill>
          <a:blip r:embed="rId3">
            <a:alphaModFix/>
          </a:blip>
          <a:stretch>
            <a:fillRect/>
          </a:stretch>
        </p:blipFill>
        <p:spPr>
          <a:xfrm>
            <a:off x="609600" y="1217999"/>
            <a:ext cx="7609252" cy="3369900"/>
          </a:xfrm>
          <a:prstGeom prst="rect">
            <a:avLst/>
          </a:prstGeom>
          <a:noFill/>
          <a:ln>
            <a:noFill/>
          </a:ln>
        </p:spPr>
      </p:pic>
      <p:sp>
        <p:nvSpPr>
          <p:cNvPr id="169" name="Google Shape;169;p29"/>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nvSpPr>
        <p:spPr>
          <a:xfrm>
            <a:off x="612900" y="243600"/>
            <a:ext cx="8420400" cy="1246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FastAPI: W</a:t>
            </a:r>
            <a:r>
              <a:rPr lang="en" sz="2400">
                <a:latin typeface="Lora"/>
                <a:ea typeface="Lora"/>
                <a:cs typeface="Lora"/>
                <a:sym typeface="Lora"/>
              </a:rPr>
              <a:t>hat is </a:t>
            </a:r>
            <a:r>
              <a:rPr lang="en" sz="2400">
                <a:latin typeface="Lora"/>
                <a:ea typeface="Lora"/>
                <a:cs typeface="Lora"/>
                <a:sym typeface="Lora"/>
              </a:rPr>
              <a:t>Fast</a:t>
            </a:r>
            <a:r>
              <a:rPr lang="en" sz="2400">
                <a:latin typeface="Lora"/>
                <a:ea typeface="Lora"/>
                <a:cs typeface="Lora"/>
                <a:sym typeface="Lora"/>
              </a:rPr>
              <a:t>API</a:t>
            </a:r>
            <a:r>
              <a:rPr lang="en" sz="2400">
                <a:latin typeface="Lora"/>
                <a:ea typeface="Lora"/>
                <a:cs typeface="Lora"/>
                <a:sym typeface="Lora"/>
              </a:rPr>
              <a:t>?</a:t>
            </a:r>
            <a:br>
              <a:rPr lang="en" sz="1200">
                <a:solidFill>
                  <a:schemeClr val="dk1"/>
                </a:solidFill>
                <a:latin typeface="Lora"/>
                <a:ea typeface="Lora"/>
                <a:cs typeface="Lora"/>
                <a:sym typeface="Lora"/>
              </a:rPr>
            </a:br>
            <a:endParaRPr sz="1200">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sz="1200">
                <a:latin typeface="Lora"/>
                <a:ea typeface="Lora"/>
                <a:cs typeface="Lora"/>
                <a:sym typeface="Lora"/>
              </a:rPr>
              <a:t>A modern, fast (high-performance), web framework for building APIs with Python, that follows the OpenAPI standard</a:t>
            </a:r>
            <a:endParaRPr sz="1200">
              <a:latin typeface="Lora"/>
              <a:ea typeface="Lora"/>
              <a:cs typeface="Lora"/>
              <a:sym typeface="Lora"/>
            </a:endParaRPr>
          </a:p>
          <a:p>
            <a:pPr indent="0" lvl="0" marL="0" rtl="0" algn="l">
              <a:lnSpc>
                <a:spcPct val="115000"/>
              </a:lnSpc>
              <a:spcBef>
                <a:spcPts val="0"/>
              </a:spcBef>
              <a:spcAft>
                <a:spcPts val="0"/>
              </a:spcAft>
              <a:buNone/>
            </a:pPr>
            <a:r>
              <a:t/>
            </a:r>
            <a:endParaRPr sz="1200">
              <a:latin typeface="Lora"/>
              <a:ea typeface="Lora"/>
              <a:cs typeface="Lora"/>
              <a:sym typeface="Lora"/>
            </a:endParaRPr>
          </a:p>
          <a:p>
            <a:pPr indent="0" lvl="0" marL="0" rtl="0" algn="l">
              <a:lnSpc>
                <a:spcPct val="115000"/>
              </a:lnSpc>
              <a:spcBef>
                <a:spcPts val="0"/>
              </a:spcBef>
              <a:spcAft>
                <a:spcPts val="0"/>
              </a:spcAft>
              <a:buNone/>
            </a:pPr>
            <a:r>
              <a:rPr lang="en" sz="1200">
                <a:latin typeface="Lora"/>
                <a:ea typeface="Lora"/>
                <a:cs typeface="Lora"/>
                <a:sym typeface="Lora"/>
              </a:rPr>
              <a:t>How to build an API in Python (see complete github file </a:t>
            </a:r>
            <a:r>
              <a:rPr lang="en" sz="1200" u="sng">
                <a:solidFill>
                  <a:schemeClr val="hlink"/>
                </a:solidFill>
                <a:latin typeface="Lora"/>
                <a:ea typeface="Lora"/>
                <a:cs typeface="Lora"/>
                <a:sym typeface="Lora"/>
                <a:hlinkClick r:id="rId3"/>
              </a:rPr>
              <a:t>here</a:t>
            </a:r>
            <a:r>
              <a:rPr lang="en" sz="1200">
                <a:latin typeface="Lora"/>
                <a:ea typeface="Lora"/>
                <a:cs typeface="Lora"/>
                <a:sym typeface="Lora"/>
              </a:rPr>
              <a:t>):</a:t>
            </a:r>
            <a:endParaRPr sz="1200">
              <a:latin typeface="Lora"/>
              <a:ea typeface="Lora"/>
              <a:cs typeface="Lora"/>
              <a:sym typeface="Lora"/>
            </a:endParaRPr>
          </a:p>
        </p:txBody>
      </p:sp>
      <p:sp>
        <p:nvSpPr>
          <p:cNvPr id="175" name="Google Shape;175;p30"/>
          <p:cNvSpPr txBox="1"/>
          <p:nvPr/>
        </p:nvSpPr>
        <p:spPr>
          <a:xfrm>
            <a:off x="563100" y="1561575"/>
            <a:ext cx="8113800" cy="2232000"/>
          </a:xfrm>
          <a:prstGeom prst="rect">
            <a:avLst/>
          </a:prstGeom>
          <a:solidFill>
            <a:schemeClr val="lt2"/>
          </a:solidFill>
          <a:ln>
            <a:noFill/>
          </a:ln>
        </p:spPr>
        <p:txBody>
          <a:bodyPr anchorCtr="0" anchor="t" bIns="0" lIns="91425" spcFirstLastPara="1" rIns="91425" wrap="square" tIns="0">
            <a:noAutofit/>
          </a:bodyPr>
          <a:lstStyle/>
          <a:p>
            <a:pPr indent="0" lvl="0" marL="0" rtl="0" algn="l">
              <a:lnSpc>
                <a:spcPct val="150000"/>
              </a:lnSpc>
              <a:spcBef>
                <a:spcPts val="0"/>
              </a:spcBef>
              <a:spcAft>
                <a:spcPts val="0"/>
              </a:spcAft>
              <a:buNone/>
            </a:pPr>
            <a:r>
              <a:rPr b="1" lang="en" sz="1000">
                <a:solidFill>
                  <a:srgbClr val="700080"/>
                </a:solidFill>
                <a:latin typeface="Roboto Mono"/>
                <a:ea typeface="Roboto Mono"/>
                <a:cs typeface="Roboto Mono"/>
                <a:sym typeface="Roboto Mono"/>
              </a:rPr>
              <a:t>from</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fastapi</a:t>
            </a:r>
            <a:r>
              <a:rPr lang="en" sz="1000">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import</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FastAPI</a:t>
            </a:r>
            <a:endParaRPr sz="1000">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i="1" lang="en" sz="1000">
                <a:solidFill>
                  <a:srgbClr val="A05000"/>
                </a:solidFill>
                <a:latin typeface="Roboto Mono"/>
                <a:ea typeface="Roboto Mono"/>
                <a:cs typeface="Roboto Mono"/>
                <a:sym typeface="Roboto Mono"/>
              </a:rPr>
              <a:t># Create an instance of the FastAPI class - the main point of interaction to create for your API.</a:t>
            </a:r>
            <a:endParaRPr sz="1000">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000">
                <a:solidFill>
                  <a:srgbClr val="1AB1CD"/>
                </a:solidFill>
                <a:latin typeface="Roboto Mono"/>
                <a:ea typeface="Roboto Mono"/>
                <a:cs typeface="Roboto Mono"/>
                <a:sym typeface="Roboto Mono"/>
              </a:rPr>
              <a:t>app</a:t>
            </a:r>
            <a:r>
              <a:rPr lang="en" sz="1000">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FastAPI</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i="1" lang="en" sz="1000">
                <a:solidFill>
                  <a:srgbClr val="A05000"/>
                </a:solidFill>
                <a:latin typeface="Roboto Mono"/>
                <a:ea typeface="Roboto Mono"/>
                <a:cs typeface="Roboto Mono"/>
                <a:sym typeface="Roboto Mono"/>
              </a:rPr>
              <a:t># Define a path operation decorator</a:t>
            </a:r>
            <a:endParaRPr sz="1000">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i="1" lang="en" sz="1000">
                <a:solidFill>
                  <a:srgbClr val="A05000"/>
                </a:solidFill>
                <a:latin typeface="Roboto Mono"/>
                <a:ea typeface="Roboto Mono"/>
                <a:cs typeface="Roboto Mono"/>
                <a:sym typeface="Roboto Mono"/>
              </a:rPr>
              <a:t># This tells FastAPI that the function below is in charge of handling a GET requests that go to path "/"</a:t>
            </a:r>
            <a:endParaRPr sz="1000">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000">
                <a:solidFill>
                  <a:srgbClr val="505050"/>
                </a:solidFill>
                <a:latin typeface="Roboto Mono"/>
                <a:ea typeface="Roboto Mono"/>
                <a:cs typeface="Roboto Mono"/>
                <a:sym typeface="Roboto Mono"/>
              </a:rPr>
              <a:t>@app</a:t>
            </a:r>
            <a:r>
              <a:rPr lang="en" sz="1000">
                <a:latin typeface="Roboto Mono"/>
                <a:ea typeface="Roboto Mono"/>
                <a:cs typeface="Roboto Mono"/>
                <a:sym typeface="Roboto Mono"/>
              </a:rPr>
              <a:t>.</a:t>
            </a:r>
            <a:r>
              <a:rPr lang="en" sz="1000">
                <a:solidFill>
                  <a:srgbClr val="572000"/>
                </a:solidFill>
                <a:latin typeface="Roboto Mono"/>
                <a:ea typeface="Roboto Mono"/>
                <a:cs typeface="Roboto Mono"/>
                <a:sym typeface="Roboto Mono"/>
              </a:rPr>
              <a:t>get</a:t>
            </a:r>
            <a:r>
              <a:rPr lang="en" sz="1000">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b="1" lang="en" sz="1000">
                <a:solidFill>
                  <a:srgbClr val="700080"/>
                </a:solidFill>
                <a:latin typeface="Roboto Mono"/>
                <a:ea typeface="Roboto Mono"/>
                <a:cs typeface="Roboto Mono"/>
                <a:sym typeface="Roboto Mono"/>
              </a:rPr>
              <a:t>async</a:t>
            </a:r>
            <a:r>
              <a:rPr lang="en" sz="1000">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def</a:t>
            </a:r>
            <a:r>
              <a:rPr lang="en" sz="1000">
                <a:latin typeface="Roboto Mono"/>
                <a:ea typeface="Roboto Mono"/>
                <a:cs typeface="Roboto Mono"/>
                <a:sym typeface="Roboto Mono"/>
              </a:rPr>
              <a:t> </a:t>
            </a:r>
            <a:r>
              <a:rPr lang="en" sz="1000">
                <a:solidFill>
                  <a:srgbClr val="0000F0"/>
                </a:solidFill>
                <a:latin typeface="Roboto Mono"/>
                <a:ea typeface="Roboto Mono"/>
                <a:cs typeface="Roboto Mono"/>
                <a:sym typeface="Roboto Mono"/>
              </a:rPr>
              <a:t>read_root</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50000"/>
              </a:lnSpc>
              <a:spcBef>
                <a:spcPts val="0"/>
              </a:spcBef>
              <a:spcAft>
                <a:spcPts val="0"/>
              </a:spcAft>
              <a:buNone/>
            </a:pPr>
            <a:r>
              <a:rPr lang="en" sz="1000">
                <a:latin typeface="Roboto Mono"/>
                <a:ea typeface="Roboto Mono"/>
                <a:cs typeface="Roboto Mono"/>
                <a:sym typeface="Roboto Mono"/>
              </a:rPr>
              <a:t>   </a:t>
            </a:r>
            <a:r>
              <a:rPr b="1" lang="en" sz="1000">
                <a:solidFill>
                  <a:srgbClr val="700080"/>
                </a:solidFill>
                <a:latin typeface="Roboto Mono"/>
                <a:ea typeface="Roboto Mono"/>
                <a:cs typeface="Roboto Mono"/>
                <a:sym typeface="Roboto Mono"/>
              </a:rPr>
              <a:t>return</a:t>
            </a:r>
            <a:r>
              <a:rPr lang="en" sz="1000">
                <a:latin typeface="Roboto Mono"/>
                <a:ea typeface="Roboto Mono"/>
                <a:cs typeface="Roboto Mono"/>
                <a:sym typeface="Roboto Mono"/>
              </a:rPr>
              <a:t> {</a:t>
            </a:r>
            <a:r>
              <a:rPr lang="en" sz="1000">
                <a:solidFill>
                  <a:srgbClr val="A01010"/>
                </a:solidFill>
                <a:latin typeface="Roboto Mono"/>
                <a:ea typeface="Roboto Mono"/>
                <a:cs typeface="Roboto Mono"/>
                <a:sym typeface="Roboto Mono"/>
              </a:rPr>
              <a:t>"Hello"</a:t>
            </a:r>
            <a:r>
              <a:rPr lang="en" sz="1000">
                <a:latin typeface="Roboto Mono"/>
                <a:ea typeface="Roboto Mono"/>
                <a:cs typeface="Roboto Mono"/>
                <a:sym typeface="Roboto Mono"/>
              </a:rPr>
              <a:t>: </a:t>
            </a:r>
            <a:r>
              <a:rPr lang="en" sz="1000">
                <a:solidFill>
                  <a:srgbClr val="A01010"/>
                </a:solidFill>
                <a:latin typeface="Roboto Mono"/>
                <a:ea typeface="Roboto Mono"/>
                <a:cs typeface="Roboto Mono"/>
                <a:sym typeface="Roboto Mono"/>
              </a:rPr>
              <a:t>"World"</a:t>
            </a:r>
            <a:r>
              <a:rPr lang="en" sz="1000">
                <a:latin typeface="Roboto Mono"/>
                <a:ea typeface="Roboto Mono"/>
                <a:cs typeface="Roboto Mono"/>
                <a:sym typeface="Roboto Mono"/>
              </a:rPr>
              <a:t>}  </a:t>
            </a:r>
            <a:r>
              <a:rPr i="1" lang="en" sz="1000">
                <a:solidFill>
                  <a:srgbClr val="A05000"/>
                </a:solidFill>
                <a:latin typeface="Roboto Mono"/>
                <a:ea typeface="Roboto Mono"/>
                <a:cs typeface="Roboto Mono"/>
                <a:sym typeface="Roboto Mono"/>
              </a:rPr>
              <a:t># </a:t>
            </a:r>
            <a:r>
              <a:rPr i="1" lang="en" sz="1000">
                <a:solidFill>
                  <a:srgbClr val="A05000"/>
                </a:solidFill>
                <a:latin typeface="Roboto Mono"/>
                <a:ea typeface="Roboto Mono"/>
                <a:cs typeface="Roboto Mono"/>
                <a:sym typeface="Roboto Mono"/>
              </a:rPr>
              <a:t>This is the root endpoint of the API. It returns a simple JSON response.</a:t>
            </a:r>
            <a:endParaRPr i="1" sz="1100">
              <a:solidFill>
                <a:srgbClr val="A05000"/>
              </a:solidFill>
              <a:latin typeface="Roboto Mono"/>
              <a:ea typeface="Roboto Mono"/>
              <a:cs typeface="Roboto Mono"/>
              <a:sym typeface="Roboto Mono"/>
            </a:endParaRPr>
          </a:p>
        </p:txBody>
      </p:sp>
      <p:sp>
        <p:nvSpPr>
          <p:cNvPr id="176" name="Google Shape;176;p30"/>
          <p:cNvSpPr txBox="1"/>
          <p:nvPr/>
        </p:nvSpPr>
        <p:spPr>
          <a:xfrm>
            <a:off x="582075" y="4154387"/>
            <a:ext cx="71736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Lora"/>
                <a:ea typeface="Lora"/>
                <a:cs typeface="Lora"/>
                <a:sym typeface="Lora"/>
              </a:rPr>
              <a:t>Run the app in github codespaces terminal: </a:t>
            </a:r>
            <a:r>
              <a:rPr lang="en" sz="1000">
                <a:solidFill>
                  <a:schemeClr val="dk2"/>
                </a:solidFill>
                <a:latin typeface="Courier New"/>
                <a:ea typeface="Courier New"/>
                <a:cs typeface="Courier New"/>
                <a:sym typeface="Courier New"/>
              </a:rPr>
              <a:t>fastapi dev path/to/file.py</a:t>
            </a:r>
            <a:endParaRPr sz="1800">
              <a:solidFill>
                <a:schemeClr val="dk2"/>
              </a:solidFill>
              <a:latin typeface="Lora"/>
              <a:ea typeface="Lora"/>
              <a:cs typeface="Lora"/>
              <a:sym typeface="Lora"/>
            </a:endParaRPr>
          </a:p>
        </p:txBody>
      </p:sp>
      <p:sp>
        <p:nvSpPr>
          <p:cNvPr id="177" name="Google Shape;177;p30"/>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nvSpPr>
        <p:spPr>
          <a:xfrm>
            <a:off x="536700" y="243600"/>
            <a:ext cx="8531100" cy="369300"/>
          </a:xfrm>
          <a:prstGeom prst="rect">
            <a:avLst/>
          </a:prstGeom>
          <a:noFill/>
          <a:ln>
            <a:noFill/>
          </a:ln>
        </p:spPr>
        <p:txBody>
          <a:bodyPr anchorCtr="0" anchor="t" bIns="0" lIns="0" spcFirstLastPara="1" rIns="0" wrap="square" tIns="0">
            <a:spAutoFit/>
          </a:bodyPr>
          <a:lstStyle/>
          <a:p>
            <a:pPr indent="0" lvl="0" marL="0" marR="0" rtl="0" algn="ctr">
              <a:lnSpc>
                <a:spcPct val="139979"/>
              </a:lnSpc>
              <a:spcBef>
                <a:spcPts val="0"/>
              </a:spcBef>
              <a:spcAft>
                <a:spcPts val="0"/>
              </a:spcAft>
              <a:buClr>
                <a:srgbClr val="000000"/>
              </a:buClr>
              <a:buSzPts val="2400"/>
              <a:buFont typeface="Arial"/>
              <a:buNone/>
            </a:pPr>
            <a:r>
              <a:rPr lang="en" sz="2400">
                <a:latin typeface="Lora"/>
                <a:ea typeface="Lora"/>
                <a:cs typeface="Lora"/>
                <a:sym typeface="Lora"/>
              </a:rPr>
              <a:t>5. Microservices: Traditional Restaurant versus Food Court</a:t>
            </a:r>
            <a:endParaRPr sz="2400">
              <a:latin typeface="Lora"/>
              <a:ea typeface="Lora"/>
              <a:cs typeface="Lora"/>
              <a:sym typeface="Lora"/>
            </a:endParaRPr>
          </a:p>
        </p:txBody>
      </p:sp>
      <p:sp>
        <p:nvSpPr>
          <p:cNvPr id="183" name="Google Shape;183;p31"/>
          <p:cNvSpPr txBox="1"/>
          <p:nvPr/>
        </p:nvSpPr>
        <p:spPr>
          <a:xfrm>
            <a:off x="146650" y="769575"/>
            <a:ext cx="2619900" cy="36558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chemeClr val="dk2"/>
              </a:buClr>
              <a:buSzPts val="1100"/>
              <a:buFont typeface="Lora"/>
              <a:buChar char="●"/>
            </a:pPr>
            <a:r>
              <a:rPr lang="en" sz="1100">
                <a:solidFill>
                  <a:schemeClr val="dk2"/>
                </a:solidFill>
                <a:latin typeface="Lora"/>
                <a:ea typeface="Lora"/>
                <a:cs typeface="Lora"/>
                <a:sym typeface="Lora"/>
              </a:rPr>
              <a:t>Kitchen is a single large unit: all chefs work in the same space must coordinate closely</a:t>
            </a:r>
            <a:endParaRPr sz="1100">
              <a:solidFill>
                <a:schemeClr val="dk2"/>
              </a:solidFill>
              <a:latin typeface="Lora"/>
              <a:ea typeface="Lora"/>
              <a:cs typeface="Lora"/>
              <a:sym typeface="Lora"/>
            </a:endParaRPr>
          </a:p>
          <a:p>
            <a:pPr indent="-298450" lvl="0" marL="457200" rtl="0" algn="l">
              <a:lnSpc>
                <a:spcPct val="150000"/>
              </a:lnSpc>
              <a:spcBef>
                <a:spcPts val="0"/>
              </a:spcBef>
              <a:spcAft>
                <a:spcPts val="0"/>
              </a:spcAft>
              <a:buClr>
                <a:schemeClr val="dk2"/>
              </a:buClr>
              <a:buSzPts val="1100"/>
              <a:buFont typeface="Lora"/>
              <a:buChar char="●"/>
            </a:pPr>
            <a:r>
              <a:rPr lang="en" sz="1100">
                <a:solidFill>
                  <a:schemeClr val="dk2"/>
                </a:solidFill>
                <a:latin typeface="Lora"/>
                <a:ea typeface="Lora"/>
                <a:cs typeface="Lora"/>
                <a:sym typeface="Lora"/>
              </a:rPr>
              <a:t>If grill station or oven breaks, entire kitchen is slowed down</a:t>
            </a:r>
            <a:endParaRPr sz="1100">
              <a:solidFill>
                <a:schemeClr val="dk2"/>
              </a:solidFill>
              <a:latin typeface="Lora"/>
              <a:ea typeface="Lora"/>
              <a:cs typeface="Lora"/>
              <a:sym typeface="Lora"/>
            </a:endParaRPr>
          </a:p>
          <a:p>
            <a:pPr indent="-298450" lvl="0" marL="457200" rtl="0" algn="l">
              <a:lnSpc>
                <a:spcPct val="150000"/>
              </a:lnSpc>
              <a:spcBef>
                <a:spcPts val="0"/>
              </a:spcBef>
              <a:spcAft>
                <a:spcPts val="0"/>
              </a:spcAft>
              <a:buClr>
                <a:schemeClr val="dk2"/>
              </a:buClr>
              <a:buSzPts val="1100"/>
              <a:buFont typeface="Lora"/>
              <a:buChar char="●"/>
            </a:pPr>
            <a:r>
              <a:rPr lang="en" sz="1100">
                <a:solidFill>
                  <a:schemeClr val="dk2"/>
                </a:solidFill>
                <a:latin typeface="Lora"/>
                <a:ea typeface="Lora"/>
                <a:cs typeface="Lora"/>
                <a:sym typeface="Lora"/>
              </a:rPr>
              <a:t>Adding a new type of cuisine (e.g. sushi) is difficult because it requires changing the layout of the </a:t>
            </a:r>
            <a:r>
              <a:rPr lang="en" sz="1100">
                <a:solidFill>
                  <a:schemeClr val="dk2"/>
                </a:solidFill>
                <a:latin typeface="Lora"/>
                <a:ea typeface="Lora"/>
                <a:cs typeface="Lora"/>
                <a:sym typeface="Lora"/>
              </a:rPr>
              <a:t>restaurant</a:t>
            </a:r>
            <a:endParaRPr sz="1100">
              <a:solidFill>
                <a:schemeClr val="dk2"/>
              </a:solidFill>
              <a:latin typeface="Lora"/>
              <a:ea typeface="Lora"/>
              <a:cs typeface="Lora"/>
              <a:sym typeface="Lora"/>
            </a:endParaRPr>
          </a:p>
          <a:p>
            <a:pPr indent="-298450" lvl="0" marL="457200" rtl="0" algn="l">
              <a:lnSpc>
                <a:spcPct val="150000"/>
              </a:lnSpc>
              <a:spcBef>
                <a:spcPts val="0"/>
              </a:spcBef>
              <a:spcAft>
                <a:spcPts val="0"/>
              </a:spcAft>
              <a:buClr>
                <a:schemeClr val="dk2"/>
              </a:buClr>
              <a:buSzPts val="1100"/>
              <a:buFont typeface="Lora"/>
              <a:buChar char="●"/>
            </a:pPr>
            <a:r>
              <a:rPr lang="en" sz="1100">
                <a:solidFill>
                  <a:schemeClr val="dk2"/>
                </a:solidFill>
                <a:latin typeface="Lora"/>
                <a:ea typeface="Lora"/>
                <a:cs typeface="Lora"/>
                <a:sym typeface="Lora"/>
              </a:rPr>
              <a:t>Scaling means building a much bigger kitchen and hiring more staff for all roles, even if only the appetizer station is busy.</a:t>
            </a:r>
            <a:endParaRPr sz="1100">
              <a:solidFill>
                <a:schemeClr val="dk2"/>
              </a:solidFill>
              <a:latin typeface="Lora"/>
              <a:ea typeface="Lora"/>
              <a:cs typeface="Lora"/>
              <a:sym typeface="Lora"/>
            </a:endParaRPr>
          </a:p>
        </p:txBody>
      </p:sp>
      <p:sp>
        <p:nvSpPr>
          <p:cNvPr id="184" name="Google Shape;184;p31"/>
          <p:cNvSpPr txBox="1"/>
          <p:nvPr/>
        </p:nvSpPr>
        <p:spPr>
          <a:xfrm>
            <a:off x="6506300" y="845775"/>
            <a:ext cx="2578200" cy="39096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chemeClr val="dk2"/>
              </a:buClr>
              <a:buSzPts val="1100"/>
              <a:buFont typeface="Lora"/>
              <a:buChar char="●"/>
            </a:pPr>
            <a:r>
              <a:rPr lang="en" sz="1100">
                <a:solidFill>
                  <a:schemeClr val="dk2"/>
                </a:solidFill>
                <a:latin typeface="Lora"/>
                <a:ea typeface="Lora"/>
                <a:cs typeface="Lora"/>
                <a:sym typeface="Lora"/>
              </a:rPr>
              <a:t>Each stall is a microservice with a specific business capability.</a:t>
            </a:r>
            <a:endParaRPr sz="1100">
              <a:solidFill>
                <a:schemeClr val="dk2"/>
              </a:solidFill>
              <a:latin typeface="Lora"/>
              <a:ea typeface="Lora"/>
              <a:cs typeface="Lora"/>
              <a:sym typeface="Lora"/>
            </a:endParaRPr>
          </a:p>
          <a:p>
            <a:pPr indent="-298450" lvl="0" marL="457200" rtl="0" algn="l">
              <a:lnSpc>
                <a:spcPct val="150000"/>
              </a:lnSpc>
              <a:spcBef>
                <a:spcPts val="0"/>
              </a:spcBef>
              <a:spcAft>
                <a:spcPts val="0"/>
              </a:spcAft>
              <a:buClr>
                <a:schemeClr val="dk2"/>
              </a:buClr>
              <a:buSzPts val="1100"/>
              <a:buFont typeface="Lora"/>
              <a:buChar char="●"/>
            </a:pPr>
            <a:r>
              <a:rPr lang="en" sz="1100">
                <a:solidFill>
                  <a:schemeClr val="dk2"/>
                </a:solidFill>
                <a:latin typeface="Lora"/>
                <a:ea typeface="Lora"/>
                <a:cs typeface="Lora"/>
                <a:sym typeface="Lora"/>
              </a:rPr>
              <a:t>The pizza stall has its own staff, ovens, and ingredients</a:t>
            </a:r>
            <a:endParaRPr sz="1100">
              <a:solidFill>
                <a:schemeClr val="dk2"/>
              </a:solidFill>
              <a:latin typeface="Lora"/>
              <a:ea typeface="Lora"/>
              <a:cs typeface="Lora"/>
              <a:sym typeface="Lora"/>
            </a:endParaRPr>
          </a:p>
          <a:p>
            <a:pPr indent="-298450" lvl="0" marL="457200" rtl="0" algn="l">
              <a:lnSpc>
                <a:spcPct val="150000"/>
              </a:lnSpc>
              <a:spcBef>
                <a:spcPts val="0"/>
              </a:spcBef>
              <a:spcAft>
                <a:spcPts val="0"/>
              </a:spcAft>
              <a:buClr>
                <a:schemeClr val="dk2"/>
              </a:buClr>
              <a:buSzPts val="1100"/>
              <a:buFont typeface="Lora"/>
              <a:buChar char="●"/>
            </a:pPr>
            <a:r>
              <a:rPr lang="en" sz="1100">
                <a:solidFill>
                  <a:schemeClr val="dk2"/>
                </a:solidFill>
                <a:latin typeface="Lora"/>
                <a:ea typeface="Lora"/>
                <a:cs typeface="Lora"/>
                <a:sym typeface="Lora"/>
              </a:rPr>
              <a:t>Customers interact with each stall via its counter.</a:t>
            </a:r>
            <a:endParaRPr sz="1100">
              <a:solidFill>
                <a:schemeClr val="dk2"/>
              </a:solidFill>
              <a:latin typeface="Lora"/>
              <a:ea typeface="Lora"/>
              <a:cs typeface="Lora"/>
              <a:sym typeface="Lora"/>
            </a:endParaRPr>
          </a:p>
          <a:p>
            <a:pPr indent="-298450" lvl="0" marL="457200" rtl="0" algn="l">
              <a:lnSpc>
                <a:spcPct val="150000"/>
              </a:lnSpc>
              <a:spcBef>
                <a:spcPts val="0"/>
              </a:spcBef>
              <a:spcAft>
                <a:spcPts val="0"/>
              </a:spcAft>
              <a:buClr>
                <a:schemeClr val="dk2"/>
              </a:buClr>
              <a:buSzPts val="1100"/>
              <a:buFont typeface="Lora"/>
              <a:buChar char="●"/>
            </a:pPr>
            <a:r>
              <a:rPr lang="en" sz="1100">
                <a:solidFill>
                  <a:schemeClr val="dk2"/>
                </a:solidFill>
                <a:latin typeface="Lora"/>
                <a:ea typeface="Lora"/>
                <a:cs typeface="Lora"/>
                <a:sym typeface="Lora"/>
              </a:rPr>
              <a:t>If the pizza stall gets very busy, you can add more pizza ovens or staff just to that stall (independent scaling)</a:t>
            </a:r>
            <a:endParaRPr sz="1100">
              <a:solidFill>
                <a:schemeClr val="dk2"/>
              </a:solidFill>
              <a:latin typeface="Lora"/>
              <a:ea typeface="Lora"/>
              <a:cs typeface="Lora"/>
              <a:sym typeface="Lora"/>
            </a:endParaRPr>
          </a:p>
          <a:p>
            <a:pPr indent="-298450" lvl="0" marL="457200" rtl="0" algn="l">
              <a:lnSpc>
                <a:spcPct val="150000"/>
              </a:lnSpc>
              <a:spcBef>
                <a:spcPts val="0"/>
              </a:spcBef>
              <a:spcAft>
                <a:spcPts val="0"/>
              </a:spcAft>
              <a:buClr>
                <a:schemeClr val="dk2"/>
              </a:buClr>
              <a:buSzPts val="1100"/>
              <a:buFont typeface="Lora"/>
              <a:buChar char="●"/>
            </a:pPr>
            <a:r>
              <a:rPr lang="en" sz="1100">
                <a:solidFill>
                  <a:schemeClr val="dk2"/>
                </a:solidFill>
                <a:latin typeface="Lora"/>
                <a:ea typeface="Lora"/>
                <a:cs typeface="Lora"/>
                <a:sym typeface="Lora"/>
              </a:rPr>
              <a:t>If the taco stall closes for the day (service failure), customers can still get pizza and sushi (fault isolation)</a:t>
            </a:r>
            <a:endParaRPr sz="1100">
              <a:solidFill>
                <a:schemeClr val="dk2"/>
              </a:solidFill>
              <a:latin typeface="Lora"/>
              <a:ea typeface="Lora"/>
              <a:cs typeface="Lora"/>
              <a:sym typeface="Lora"/>
            </a:endParaRPr>
          </a:p>
        </p:txBody>
      </p:sp>
      <p:pic>
        <p:nvPicPr>
          <p:cNvPr id="185" name="Google Shape;185;p31"/>
          <p:cNvPicPr preferRelativeResize="0"/>
          <p:nvPr/>
        </p:nvPicPr>
        <p:blipFill>
          <a:blip r:embed="rId3">
            <a:alphaModFix/>
          </a:blip>
          <a:stretch>
            <a:fillRect/>
          </a:stretch>
        </p:blipFill>
        <p:spPr>
          <a:xfrm>
            <a:off x="2766550" y="1053888"/>
            <a:ext cx="3866328" cy="3318537"/>
          </a:xfrm>
          <a:prstGeom prst="rect">
            <a:avLst/>
          </a:prstGeom>
          <a:noFill/>
          <a:ln>
            <a:noFill/>
          </a:ln>
        </p:spPr>
      </p:pic>
      <p:sp>
        <p:nvSpPr>
          <p:cNvPr id="186" name="Google Shape;186;p31"/>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2"/>
          <p:cNvSpPr txBox="1"/>
          <p:nvPr/>
        </p:nvSpPr>
        <p:spPr>
          <a:xfrm>
            <a:off x="765300" y="243600"/>
            <a:ext cx="91440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Microservices: Restaurant analogy to Monoliths  </a:t>
            </a:r>
            <a:endParaRPr sz="2400">
              <a:latin typeface="Lora"/>
              <a:ea typeface="Lora"/>
              <a:cs typeface="Lora"/>
              <a:sym typeface="Lora"/>
            </a:endParaRPr>
          </a:p>
        </p:txBody>
      </p:sp>
      <p:sp>
        <p:nvSpPr>
          <p:cNvPr id="192" name="Google Shape;192;p32"/>
          <p:cNvSpPr txBox="1"/>
          <p:nvPr/>
        </p:nvSpPr>
        <p:spPr>
          <a:xfrm>
            <a:off x="654250" y="872975"/>
            <a:ext cx="7427400" cy="31401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2"/>
              </a:buClr>
              <a:buSzPts val="1200"/>
              <a:buFont typeface="Lora"/>
              <a:buChar char="●"/>
            </a:pPr>
            <a:r>
              <a:rPr b="1" lang="en" sz="1200">
                <a:solidFill>
                  <a:schemeClr val="dk2"/>
                </a:solidFill>
                <a:latin typeface="Lora"/>
                <a:ea typeface="Lora"/>
                <a:cs typeface="Lora"/>
                <a:sym typeface="Lora"/>
              </a:rPr>
              <a:t>The single large kitchen</a:t>
            </a:r>
            <a:r>
              <a:rPr lang="en" sz="1200">
                <a:solidFill>
                  <a:schemeClr val="dk2"/>
                </a:solidFill>
                <a:latin typeface="Lora"/>
                <a:ea typeface="Lora"/>
                <a:cs typeface="Lora"/>
                <a:sym typeface="Lora"/>
              </a:rPr>
              <a:t> → single codebase and single deployable unit</a:t>
            </a:r>
            <a:endParaRPr sz="1200">
              <a:solidFill>
                <a:schemeClr val="dk2"/>
              </a:solidFill>
              <a:latin typeface="Lora"/>
              <a:ea typeface="Lora"/>
              <a:cs typeface="Lora"/>
              <a:sym typeface="Lora"/>
            </a:endParaRPr>
          </a:p>
          <a:p>
            <a:pPr indent="-304800" lvl="0" marL="457200" rtl="0" algn="l">
              <a:lnSpc>
                <a:spcPct val="150000"/>
              </a:lnSpc>
              <a:spcBef>
                <a:spcPts val="0"/>
              </a:spcBef>
              <a:spcAft>
                <a:spcPts val="0"/>
              </a:spcAft>
              <a:buClr>
                <a:schemeClr val="dk2"/>
              </a:buClr>
              <a:buSzPts val="1200"/>
              <a:buFont typeface="Lora"/>
              <a:buChar char="●"/>
            </a:pPr>
            <a:r>
              <a:rPr b="1" lang="en" sz="1200">
                <a:solidFill>
                  <a:schemeClr val="dk2"/>
                </a:solidFill>
                <a:latin typeface="Lora"/>
                <a:ea typeface="Lora"/>
                <a:cs typeface="Lora"/>
                <a:sym typeface="Lora"/>
              </a:rPr>
              <a:t>All functions (prep, grill, bake) happening together</a:t>
            </a:r>
            <a:r>
              <a:rPr lang="en" sz="1200">
                <a:solidFill>
                  <a:schemeClr val="dk2"/>
                </a:solidFill>
                <a:latin typeface="Lora"/>
                <a:ea typeface="Lora"/>
                <a:cs typeface="Lora"/>
                <a:sym typeface="Lora"/>
              </a:rPr>
              <a:t> → represents how different modules often share memory and resources directly.</a:t>
            </a:r>
            <a:endParaRPr sz="1200">
              <a:solidFill>
                <a:schemeClr val="dk2"/>
              </a:solidFill>
              <a:latin typeface="Lora"/>
              <a:ea typeface="Lora"/>
              <a:cs typeface="Lora"/>
              <a:sym typeface="Lora"/>
            </a:endParaRPr>
          </a:p>
          <a:p>
            <a:pPr indent="-304800" lvl="0" marL="457200" rtl="0" algn="l">
              <a:lnSpc>
                <a:spcPct val="150000"/>
              </a:lnSpc>
              <a:spcBef>
                <a:spcPts val="0"/>
              </a:spcBef>
              <a:spcAft>
                <a:spcPts val="0"/>
              </a:spcAft>
              <a:buClr>
                <a:schemeClr val="dk2"/>
              </a:buClr>
              <a:buSzPts val="1200"/>
              <a:buFont typeface="Lora"/>
              <a:buChar char="●"/>
            </a:pPr>
            <a:r>
              <a:rPr b="1" lang="en" sz="1200">
                <a:solidFill>
                  <a:schemeClr val="dk2"/>
                </a:solidFill>
                <a:latin typeface="Lora"/>
                <a:ea typeface="Lora"/>
                <a:cs typeface="Lora"/>
                <a:sym typeface="Lora"/>
              </a:rPr>
              <a:t>Critical equipment failure halts the kitchen</a:t>
            </a:r>
            <a:r>
              <a:rPr lang="en" sz="1200">
                <a:solidFill>
                  <a:schemeClr val="dk2"/>
                </a:solidFill>
                <a:latin typeface="Lora"/>
                <a:ea typeface="Lora"/>
                <a:cs typeface="Lora"/>
                <a:sym typeface="Lora"/>
              </a:rPr>
              <a:t> → illustrates the concept of a single point of failure. A severe bug, memory leak, or resource exhaustion in one component can potentially crash the entire application</a:t>
            </a:r>
            <a:endParaRPr sz="1200">
              <a:solidFill>
                <a:schemeClr val="dk2"/>
              </a:solidFill>
              <a:latin typeface="Lora"/>
              <a:ea typeface="Lora"/>
              <a:cs typeface="Lora"/>
              <a:sym typeface="Lora"/>
            </a:endParaRPr>
          </a:p>
          <a:p>
            <a:pPr indent="-304800" lvl="0" marL="457200" rtl="0" algn="l">
              <a:lnSpc>
                <a:spcPct val="150000"/>
              </a:lnSpc>
              <a:spcBef>
                <a:spcPts val="0"/>
              </a:spcBef>
              <a:spcAft>
                <a:spcPts val="0"/>
              </a:spcAft>
              <a:buClr>
                <a:schemeClr val="dk2"/>
              </a:buClr>
              <a:buSzPts val="1200"/>
              <a:buFont typeface="Lora"/>
              <a:buChar char="●"/>
            </a:pPr>
            <a:r>
              <a:rPr b="1" lang="en" sz="1200">
                <a:solidFill>
                  <a:schemeClr val="dk2"/>
                </a:solidFill>
                <a:latin typeface="Lora"/>
                <a:ea typeface="Lora"/>
                <a:cs typeface="Lora"/>
                <a:sym typeface="Lora"/>
              </a:rPr>
              <a:t>Changing the menu requires kitchen adjustments</a:t>
            </a:r>
            <a:r>
              <a:rPr lang="en" sz="1200">
                <a:solidFill>
                  <a:schemeClr val="dk2"/>
                </a:solidFill>
                <a:latin typeface="Lora"/>
                <a:ea typeface="Lora"/>
                <a:cs typeface="Lora"/>
                <a:sym typeface="Lora"/>
              </a:rPr>
              <a:t> → This corresponds to deployment. Any code change, requires rebuilding, retesting, and redeploying the entire application.</a:t>
            </a:r>
            <a:endParaRPr sz="1200">
              <a:solidFill>
                <a:schemeClr val="dk2"/>
              </a:solidFill>
              <a:latin typeface="Lora"/>
              <a:ea typeface="Lora"/>
              <a:cs typeface="Lora"/>
              <a:sym typeface="Lora"/>
            </a:endParaRPr>
          </a:p>
          <a:p>
            <a:pPr indent="-304800" lvl="0" marL="457200" rtl="0" algn="l">
              <a:lnSpc>
                <a:spcPct val="150000"/>
              </a:lnSpc>
              <a:spcBef>
                <a:spcPts val="0"/>
              </a:spcBef>
              <a:spcAft>
                <a:spcPts val="0"/>
              </a:spcAft>
              <a:buClr>
                <a:schemeClr val="dk2"/>
              </a:buClr>
              <a:buSzPts val="1200"/>
              <a:buFont typeface="Lora"/>
              <a:buChar char="●"/>
            </a:pPr>
            <a:r>
              <a:rPr b="1" lang="en" sz="1200">
                <a:solidFill>
                  <a:schemeClr val="dk2"/>
                </a:solidFill>
                <a:latin typeface="Lora"/>
                <a:ea typeface="Lora"/>
                <a:cs typeface="Lora"/>
                <a:sym typeface="Lora"/>
              </a:rPr>
              <a:t>Scaling requires a bigger kitchen</a:t>
            </a:r>
            <a:r>
              <a:rPr lang="en" sz="1200">
                <a:solidFill>
                  <a:schemeClr val="dk2"/>
                </a:solidFill>
                <a:latin typeface="Lora"/>
                <a:ea typeface="Lora"/>
                <a:cs typeface="Lora"/>
                <a:sym typeface="Lora"/>
              </a:rPr>
              <a:t> → If one feature (e.g., product search) becomes a bottleneck, you typically have to deploy more instances of the entire application, consuming resources for all the other features as well, even if they aren't under heavy load.</a:t>
            </a:r>
            <a:endParaRPr sz="1200">
              <a:solidFill>
                <a:schemeClr val="dk2"/>
              </a:solidFill>
              <a:latin typeface="Lora"/>
              <a:ea typeface="Lora"/>
              <a:cs typeface="Lora"/>
              <a:sym typeface="Lora"/>
            </a:endParaRPr>
          </a:p>
        </p:txBody>
      </p:sp>
      <p:sp>
        <p:nvSpPr>
          <p:cNvPr id="193" name="Google Shape;193;p32"/>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3"/>
          <p:cNvSpPr txBox="1"/>
          <p:nvPr/>
        </p:nvSpPr>
        <p:spPr>
          <a:xfrm>
            <a:off x="8414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F</a:t>
            </a:r>
            <a:r>
              <a:rPr lang="en" sz="2400">
                <a:latin typeface="Lora"/>
                <a:ea typeface="Lora"/>
                <a:cs typeface="Lora"/>
                <a:sym typeface="Lora"/>
              </a:rPr>
              <a:t>ood court analogy to Microservices  </a:t>
            </a:r>
            <a:endParaRPr sz="2400">
              <a:latin typeface="Lora"/>
              <a:ea typeface="Lora"/>
              <a:cs typeface="Lora"/>
              <a:sym typeface="Lora"/>
            </a:endParaRPr>
          </a:p>
        </p:txBody>
      </p:sp>
      <p:sp>
        <p:nvSpPr>
          <p:cNvPr id="199" name="Google Shape;199;p33"/>
          <p:cNvSpPr txBox="1"/>
          <p:nvPr/>
        </p:nvSpPr>
        <p:spPr>
          <a:xfrm>
            <a:off x="654250" y="872975"/>
            <a:ext cx="7622400" cy="36942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2"/>
              </a:buClr>
              <a:buSzPts val="1200"/>
              <a:buFont typeface="Lora"/>
              <a:buChar char="●"/>
            </a:pPr>
            <a:r>
              <a:rPr b="1" lang="en" sz="1200">
                <a:solidFill>
                  <a:schemeClr val="dk2"/>
                </a:solidFill>
                <a:latin typeface="Lora"/>
                <a:ea typeface="Lora"/>
                <a:cs typeface="Lora"/>
                <a:sym typeface="Lora"/>
              </a:rPr>
              <a:t>Independent, specialized stalls (pizza, tacos, etc) </a:t>
            </a:r>
            <a:r>
              <a:rPr lang="en" sz="1200">
                <a:solidFill>
                  <a:schemeClr val="dk2"/>
                </a:solidFill>
                <a:latin typeface="Lora"/>
                <a:ea typeface="Lora"/>
                <a:cs typeface="Lora"/>
                <a:sym typeface="Lora"/>
              </a:rPr>
              <a:t>→</a:t>
            </a:r>
            <a:r>
              <a:rPr b="1" lang="en" sz="1200">
                <a:solidFill>
                  <a:schemeClr val="dk2"/>
                </a:solidFill>
                <a:latin typeface="Lora"/>
                <a:ea typeface="Lora"/>
                <a:cs typeface="Lora"/>
                <a:sym typeface="Lora"/>
              </a:rPr>
              <a:t> </a:t>
            </a:r>
            <a:r>
              <a:rPr lang="en" sz="1200">
                <a:solidFill>
                  <a:schemeClr val="dk2"/>
                </a:solidFill>
                <a:latin typeface="Lora"/>
                <a:ea typeface="Lora"/>
                <a:cs typeface="Lora"/>
                <a:sym typeface="Lora"/>
              </a:rPr>
              <a:t>Each microservice is focused on a specific business capability (e.g. payment service, inventory service, etc) and is a separate deployable unit</a:t>
            </a:r>
            <a:endParaRPr sz="1200">
              <a:solidFill>
                <a:schemeClr val="dk2"/>
              </a:solidFill>
              <a:latin typeface="Lora"/>
              <a:ea typeface="Lora"/>
              <a:cs typeface="Lora"/>
              <a:sym typeface="Lora"/>
            </a:endParaRPr>
          </a:p>
          <a:p>
            <a:pPr indent="-304800" lvl="0" marL="457200" rtl="0" algn="l">
              <a:lnSpc>
                <a:spcPct val="150000"/>
              </a:lnSpc>
              <a:spcBef>
                <a:spcPts val="0"/>
              </a:spcBef>
              <a:spcAft>
                <a:spcPts val="0"/>
              </a:spcAft>
              <a:buClr>
                <a:schemeClr val="dk2"/>
              </a:buClr>
              <a:buSzPts val="1200"/>
              <a:buFont typeface="Lora"/>
              <a:buChar char="●"/>
            </a:pPr>
            <a:r>
              <a:rPr b="1" lang="en" sz="1200">
                <a:solidFill>
                  <a:schemeClr val="dk2"/>
                </a:solidFill>
                <a:latin typeface="Lora"/>
                <a:ea typeface="Lora"/>
                <a:cs typeface="Lora"/>
                <a:sym typeface="Lora"/>
              </a:rPr>
              <a:t>Stalls Operate Independently </a:t>
            </a:r>
            <a:r>
              <a:rPr lang="en" sz="1200">
                <a:solidFill>
                  <a:schemeClr val="dk2"/>
                </a:solidFill>
                <a:latin typeface="Lora"/>
                <a:ea typeface="Lora"/>
                <a:cs typeface="Lora"/>
                <a:sym typeface="Lora"/>
              </a:rPr>
              <a:t>→</a:t>
            </a:r>
            <a:r>
              <a:rPr b="1" lang="en" sz="1200">
                <a:solidFill>
                  <a:schemeClr val="dk2"/>
                </a:solidFill>
                <a:latin typeface="Lora"/>
                <a:ea typeface="Lora"/>
                <a:cs typeface="Lora"/>
                <a:sym typeface="Lora"/>
              </a:rPr>
              <a:t> </a:t>
            </a:r>
            <a:r>
              <a:rPr lang="en" sz="1200">
                <a:solidFill>
                  <a:schemeClr val="dk2"/>
                </a:solidFill>
                <a:latin typeface="Lora"/>
                <a:ea typeface="Lora"/>
                <a:cs typeface="Lora"/>
                <a:sym typeface="Lora"/>
              </a:rPr>
              <a:t>Illustrates loose coupling. The Pizza service doesn't need to know the implementation details of the Taco service. They communicate through interfaces (APIs)</a:t>
            </a:r>
            <a:endParaRPr sz="1200">
              <a:solidFill>
                <a:schemeClr val="dk2"/>
              </a:solidFill>
              <a:latin typeface="Lora"/>
              <a:ea typeface="Lora"/>
              <a:cs typeface="Lora"/>
              <a:sym typeface="Lora"/>
            </a:endParaRPr>
          </a:p>
          <a:p>
            <a:pPr indent="-304800" lvl="0" marL="457200" rtl="0" algn="l">
              <a:lnSpc>
                <a:spcPct val="150000"/>
              </a:lnSpc>
              <a:spcBef>
                <a:spcPts val="0"/>
              </a:spcBef>
              <a:spcAft>
                <a:spcPts val="0"/>
              </a:spcAft>
              <a:buClr>
                <a:schemeClr val="dk2"/>
              </a:buClr>
              <a:buSzPts val="1200"/>
              <a:buFont typeface="Lora"/>
              <a:buChar char="●"/>
            </a:pPr>
            <a:r>
              <a:rPr b="1" lang="en" sz="1200">
                <a:solidFill>
                  <a:schemeClr val="dk2"/>
                </a:solidFill>
                <a:latin typeface="Lora"/>
                <a:ea typeface="Lora"/>
                <a:cs typeface="Lora"/>
                <a:sym typeface="Lora"/>
              </a:rPr>
              <a:t>Scaling just the busy stall (e.g., add pizza ovens) </a:t>
            </a:r>
            <a:r>
              <a:rPr lang="en" sz="1200">
                <a:solidFill>
                  <a:schemeClr val="dk2"/>
                </a:solidFill>
                <a:latin typeface="Lora"/>
                <a:ea typeface="Lora"/>
                <a:cs typeface="Lora"/>
                <a:sym typeface="Lora"/>
              </a:rPr>
              <a:t>→ Represents independent scaling. If the Inventory Service is under </a:t>
            </a:r>
            <a:r>
              <a:rPr lang="en" sz="1200">
                <a:solidFill>
                  <a:schemeClr val="dk2"/>
                </a:solidFill>
                <a:latin typeface="Lora"/>
                <a:ea typeface="Lora"/>
                <a:cs typeface="Lora"/>
                <a:sym typeface="Lora"/>
              </a:rPr>
              <a:t>heavy </a:t>
            </a:r>
            <a:r>
              <a:rPr lang="en" sz="1200">
                <a:solidFill>
                  <a:schemeClr val="dk2"/>
                </a:solidFill>
                <a:latin typeface="Lora"/>
                <a:ea typeface="Lora"/>
                <a:cs typeface="Lora"/>
                <a:sym typeface="Lora"/>
              </a:rPr>
              <a:t>load, you can deploy more instances of just the Inventory Service without scaling the others</a:t>
            </a:r>
            <a:endParaRPr sz="1200">
              <a:solidFill>
                <a:schemeClr val="dk2"/>
              </a:solidFill>
              <a:latin typeface="Lora"/>
              <a:ea typeface="Lora"/>
              <a:cs typeface="Lora"/>
              <a:sym typeface="Lora"/>
            </a:endParaRPr>
          </a:p>
          <a:p>
            <a:pPr indent="-304800" lvl="0" marL="457200" rtl="0" algn="l">
              <a:lnSpc>
                <a:spcPct val="150000"/>
              </a:lnSpc>
              <a:spcBef>
                <a:spcPts val="0"/>
              </a:spcBef>
              <a:spcAft>
                <a:spcPts val="0"/>
              </a:spcAft>
              <a:buClr>
                <a:schemeClr val="dk2"/>
              </a:buClr>
              <a:buSzPts val="1200"/>
              <a:buFont typeface="Lora"/>
              <a:buChar char="●"/>
            </a:pPr>
            <a:r>
              <a:rPr b="1" lang="en" sz="1200">
                <a:solidFill>
                  <a:schemeClr val="dk2"/>
                </a:solidFill>
                <a:latin typeface="Lora"/>
                <a:ea typeface="Lora"/>
                <a:cs typeface="Lora"/>
                <a:sym typeface="Lora"/>
              </a:rPr>
              <a:t>Updating/Adding a stall independently </a:t>
            </a:r>
            <a:r>
              <a:rPr lang="en" sz="1200">
                <a:solidFill>
                  <a:schemeClr val="dk2"/>
                </a:solidFill>
                <a:latin typeface="Lora"/>
                <a:ea typeface="Lora"/>
                <a:cs typeface="Lora"/>
                <a:sym typeface="Lora"/>
              </a:rPr>
              <a:t>→</a:t>
            </a:r>
            <a:r>
              <a:rPr b="1" lang="en" sz="1200">
                <a:solidFill>
                  <a:schemeClr val="dk2"/>
                </a:solidFill>
                <a:latin typeface="Lora"/>
                <a:ea typeface="Lora"/>
                <a:cs typeface="Lora"/>
                <a:sym typeface="Lora"/>
              </a:rPr>
              <a:t> </a:t>
            </a:r>
            <a:r>
              <a:rPr lang="en" sz="1200">
                <a:solidFill>
                  <a:schemeClr val="dk2"/>
                </a:solidFill>
                <a:latin typeface="Lora"/>
                <a:ea typeface="Lora"/>
                <a:cs typeface="Lora"/>
                <a:sym typeface="Lora"/>
              </a:rPr>
              <a:t>Corresponds to independent deployment. A new version of the Notification Service can be deployed on its own schedule without requiring the redeployment of other services</a:t>
            </a:r>
            <a:endParaRPr sz="1200">
              <a:solidFill>
                <a:schemeClr val="dk2"/>
              </a:solidFill>
              <a:latin typeface="Lora"/>
              <a:ea typeface="Lora"/>
              <a:cs typeface="Lora"/>
              <a:sym typeface="Lora"/>
            </a:endParaRPr>
          </a:p>
          <a:p>
            <a:pPr indent="-304800" lvl="0" marL="457200" rtl="0" algn="l">
              <a:lnSpc>
                <a:spcPct val="150000"/>
              </a:lnSpc>
              <a:spcBef>
                <a:spcPts val="0"/>
              </a:spcBef>
              <a:spcAft>
                <a:spcPts val="0"/>
              </a:spcAft>
              <a:buClr>
                <a:schemeClr val="dk2"/>
              </a:buClr>
              <a:buSzPts val="1200"/>
              <a:buFont typeface="Lora"/>
              <a:buChar char="●"/>
            </a:pPr>
            <a:r>
              <a:rPr b="1" lang="en" sz="1200">
                <a:solidFill>
                  <a:schemeClr val="dk2"/>
                </a:solidFill>
                <a:latin typeface="Lora"/>
                <a:ea typeface="Lora"/>
                <a:cs typeface="Lora"/>
                <a:sym typeface="Lora"/>
              </a:rPr>
              <a:t>One stall closing doesn't close the food court </a:t>
            </a:r>
            <a:r>
              <a:rPr lang="en" sz="1200">
                <a:solidFill>
                  <a:schemeClr val="dk2"/>
                </a:solidFill>
                <a:latin typeface="Lora"/>
                <a:ea typeface="Lora"/>
                <a:cs typeface="Lora"/>
                <a:sym typeface="Lora"/>
              </a:rPr>
              <a:t>→</a:t>
            </a:r>
            <a:r>
              <a:rPr b="1" lang="en" sz="1200">
                <a:solidFill>
                  <a:schemeClr val="dk2"/>
                </a:solidFill>
                <a:latin typeface="Lora"/>
                <a:ea typeface="Lora"/>
                <a:cs typeface="Lora"/>
                <a:sym typeface="Lora"/>
              </a:rPr>
              <a:t> </a:t>
            </a:r>
            <a:r>
              <a:rPr lang="en" sz="1200">
                <a:solidFill>
                  <a:schemeClr val="dk2"/>
                </a:solidFill>
                <a:latin typeface="Lora"/>
                <a:ea typeface="Lora"/>
                <a:cs typeface="Lora"/>
                <a:sym typeface="Lora"/>
              </a:rPr>
              <a:t>This illustrates fault isolation. If the Notification Service fails, users might still be able to manage inventory and process payments; the entire system doesn't necessarily go down</a:t>
            </a:r>
            <a:endParaRPr sz="1200">
              <a:solidFill>
                <a:schemeClr val="dk2"/>
              </a:solidFill>
              <a:latin typeface="Lora"/>
              <a:ea typeface="Lora"/>
              <a:cs typeface="Lora"/>
              <a:sym typeface="Lora"/>
            </a:endParaRPr>
          </a:p>
        </p:txBody>
      </p:sp>
      <p:sp>
        <p:nvSpPr>
          <p:cNvPr id="200" name="Google Shape;200;p33"/>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nvSpPr>
        <p:spPr>
          <a:xfrm>
            <a:off x="612896" y="243588"/>
            <a:ext cx="8128500" cy="1403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What are Microservices?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206" name="Google Shape;206;p34"/>
          <p:cNvSpPr txBox="1"/>
          <p:nvPr/>
        </p:nvSpPr>
        <p:spPr>
          <a:xfrm>
            <a:off x="379475" y="555450"/>
            <a:ext cx="8467200" cy="12006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An architectural style structuring an application as a collection of </a:t>
            </a:r>
            <a:r>
              <a:rPr lang="en" sz="1200">
                <a:solidFill>
                  <a:schemeClr val="dk1"/>
                </a:solidFill>
                <a:latin typeface="Lora"/>
                <a:ea typeface="Lora"/>
                <a:cs typeface="Lora"/>
                <a:sym typeface="Lora"/>
              </a:rPr>
              <a:t>loosely</a:t>
            </a:r>
            <a:r>
              <a:rPr lang="en" sz="1200">
                <a:solidFill>
                  <a:schemeClr val="dk1"/>
                </a:solidFill>
                <a:latin typeface="Lora"/>
                <a:ea typeface="Lora"/>
                <a:cs typeface="Lora"/>
                <a:sym typeface="Lora"/>
              </a:rPr>
              <a:t> coupled, </a:t>
            </a:r>
            <a:r>
              <a:rPr lang="en" sz="1200">
                <a:solidFill>
                  <a:schemeClr val="dk1"/>
                </a:solidFill>
                <a:latin typeface="Lora"/>
                <a:ea typeface="Lora"/>
                <a:cs typeface="Lora"/>
                <a:sym typeface="Lora"/>
              </a:rPr>
              <a:t>independently</a:t>
            </a:r>
            <a:r>
              <a:rPr lang="en" sz="1200">
                <a:solidFill>
                  <a:schemeClr val="dk1"/>
                </a:solidFill>
                <a:latin typeface="Lora"/>
                <a:ea typeface="Lora"/>
                <a:cs typeface="Lora"/>
                <a:sym typeface="Lora"/>
              </a:rPr>
              <a:t> deployable services (e.g. docker containers).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Each service modeled around specific b</a:t>
            </a:r>
            <a:r>
              <a:rPr lang="en" sz="1200">
                <a:solidFill>
                  <a:schemeClr val="dk1"/>
                </a:solidFill>
                <a:latin typeface="Lora"/>
                <a:ea typeface="Lora"/>
                <a:cs typeface="Lora"/>
                <a:sym typeface="Lora"/>
              </a:rPr>
              <a:t>usiness functions (each service is often owned by a single small team).</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Independently developed (</a:t>
            </a:r>
            <a:r>
              <a:rPr lang="en" sz="1200">
                <a:solidFill>
                  <a:schemeClr val="dk1"/>
                </a:solidFill>
                <a:latin typeface="Lora"/>
                <a:ea typeface="Lora"/>
                <a:cs typeface="Lora"/>
                <a:sym typeface="Lora"/>
              </a:rPr>
              <a:t>decentralized governance, technology diversity), </a:t>
            </a:r>
            <a:r>
              <a:rPr lang="en" sz="1200">
                <a:solidFill>
                  <a:schemeClr val="dk1"/>
                </a:solidFill>
                <a:latin typeface="Lora"/>
                <a:ea typeface="Lora"/>
                <a:cs typeface="Lora"/>
                <a:sym typeface="Lora"/>
              </a:rPr>
              <a:t>deployed, and scaled </a:t>
            </a:r>
            <a:endParaRPr sz="1200">
              <a:solidFill>
                <a:schemeClr val="dk1"/>
              </a:solidFill>
              <a:latin typeface="Lora"/>
              <a:ea typeface="Lora"/>
              <a:cs typeface="Lora"/>
              <a:sym typeface="Lora"/>
            </a:endParaRPr>
          </a:p>
        </p:txBody>
      </p:sp>
      <p:pic>
        <p:nvPicPr>
          <p:cNvPr id="207" name="Google Shape;207;p34"/>
          <p:cNvPicPr preferRelativeResize="0"/>
          <p:nvPr/>
        </p:nvPicPr>
        <p:blipFill>
          <a:blip r:embed="rId3">
            <a:alphaModFix/>
          </a:blip>
          <a:stretch>
            <a:fillRect/>
          </a:stretch>
        </p:blipFill>
        <p:spPr>
          <a:xfrm>
            <a:off x="1454675" y="1755375"/>
            <a:ext cx="6474450" cy="3009624"/>
          </a:xfrm>
          <a:prstGeom prst="rect">
            <a:avLst/>
          </a:prstGeom>
          <a:noFill/>
          <a:ln>
            <a:noFill/>
          </a:ln>
        </p:spPr>
      </p:pic>
      <p:sp>
        <p:nvSpPr>
          <p:cNvPr id="208" name="Google Shape;208;p34"/>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nvSpPr>
        <p:spPr>
          <a:xfrm>
            <a:off x="612896" y="243588"/>
            <a:ext cx="8128500" cy="1403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Microservices: Benefits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pic>
        <p:nvPicPr>
          <p:cNvPr id="214" name="Google Shape;214;p35"/>
          <p:cNvPicPr preferRelativeResize="0"/>
          <p:nvPr/>
        </p:nvPicPr>
        <p:blipFill>
          <a:blip r:embed="rId3">
            <a:alphaModFix/>
          </a:blip>
          <a:stretch>
            <a:fillRect/>
          </a:stretch>
        </p:blipFill>
        <p:spPr>
          <a:xfrm>
            <a:off x="990600" y="692351"/>
            <a:ext cx="6933276" cy="4021475"/>
          </a:xfrm>
          <a:prstGeom prst="rect">
            <a:avLst/>
          </a:prstGeom>
          <a:noFill/>
          <a:ln>
            <a:noFill/>
          </a:ln>
        </p:spPr>
      </p:pic>
      <p:sp>
        <p:nvSpPr>
          <p:cNvPr id="215" name="Google Shape;215;p35"/>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nvSpPr>
        <p:spPr>
          <a:xfrm>
            <a:off x="612896" y="243588"/>
            <a:ext cx="8128500" cy="1403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Microservices: Drawbacks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pic>
        <p:nvPicPr>
          <p:cNvPr id="221" name="Google Shape;221;p36"/>
          <p:cNvPicPr preferRelativeResize="0"/>
          <p:nvPr/>
        </p:nvPicPr>
        <p:blipFill>
          <a:blip r:embed="rId3">
            <a:alphaModFix/>
          </a:blip>
          <a:stretch>
            <a:fillRect/>
          </a:stretch>
        </p:blipFill>
        <p:spPr>
          <a:xfrm>
            <a:off x="1066800" y="667750"/>
            <a:ext cx="6832977" cy="4094749"/>
          </a:xfrm>
          <a:prstGeom prst="rect">
            <a:avLst/>
          </a:prstGeom>
          <a:noFill/>
          <a:ln>
            <a:noFill/>
          </a:ln>
        </p:spPr>
      </p:pic>
      <p:sp>
        <p:nvSpPr>
          <p:cNvPr id="222" name="Google Shape;222;p36"/>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a:t>
            </a:r>
            <a:r>
              <a:rPr lang="en" sz="2400">
                <a:latin typeface="Lora"/>
                <a:ea typeface="Lora"/>
                <a:cs typeface="Lora"/>
                <a:sym typeface="Lora"/>
              </a:rPr>
              <a:t>. Microservices: Microservices or Monoliths?</a:t>
            </a:r>
            <a:endParaRPr sz="2400">
              <a:latin typeface="Lora"/>
              <a:ea typeface="Lora"/>
              <a:cs typeface="Lora"/>
              <a:sym typeface="Lora"/>
            </a:endParaRPr>
          </a:p>
        </p:txBody>
      </p:sp>
      <p:sp>
        <p:nvSpPr>
          <p:cNvPr id="228" name="Google Shape;228;p37"/>
          <p:cNvSpPr txBox="1"/>
          <p:nvPr/>
        </p:nvSpPr>
        <p:spPr>
          <a:xfrm>
            <a:off x="486900" y="929575"/>
            <a:ext cx="7896600" cy="34170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How choose between them? Start with a "monolith" in a docker container. Extend it to multiple services as the project grows, ensuring each service  tackles a specific problem. </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For example: </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Imagine your initial monolith handles user authentication, product catalog management, order processing, and payment gateway integration. </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As the application grows, you might observe that the order processing logic is becoming increasingly complex and requires independent scaling.</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Instead of rewriting the entire application, you can refactor the order processing </a:t>
            </a:r>
            <a:r>
              <a:rPr b="1" lang="en" sz="1200">
                <a:solidFill>
                  <a:schemeClr val="dk1"/>
                </a:solidFill>
                <a:latin typeface="Lora"/>
                <a:ea typeface="Lora"/>
                <a:cs typeface="Lora"/>
                <a:sym typeface="Lora"/>
              </a:rPr>
              <a:t>module into a separate service and package it in its own Docker container.</a:t>
            </a:r>
            <a:endParaRPr b="1"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The original monolith can then communicate with this new "Order Service" container via internal network calls (e.g., REST APIs, gRPC, or a message queue).</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and so on, until you have many Microservices</a:t>
            </a:r>
            <a:endParaRPr sz="1200">
              <a:solidFill>
                <a:schemeClr val="dk1"/>
              </a:solidFill>
              <a:latin typeface="Lora"/>
              <a:ea typeface="Lora"/>
              <a:cs typeface="Lora"/>
              <a:sym typeface="Lora"/>
            </a:endParaRPr>
          </a:p>
        </p:txBody>
      </p:sp>
      <p:sp>
        <p:nvSpPr>
          <p:cNvPr id="229" name="Google Shape;229;p37"/>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8"/>
          <p:cNvSpPr txBox="1"/>
          <p:nvPr/>
        </p:nvSpPr>
        <p:spPr>
          <a:xfrm>
            <a:off x="612896" y="243588"/>
            <a:ext cx="8128500" cy="4506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6. </a:t>
            </a:r>
            <a:r>
              <a:rPr lang="en" sz="2400">
                <a:latin typeface="Lora"/>
                <a:ea typeface="Lora"/>
                <a:cs typeface="Lora"/>
                <a:sym typeface="Lora"/>
              </a:rPr>
              <a:t>The Synergy: Docker in a Microservices World</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235" name="Google Shape;235;p38"/>
          <p:cNvSpPr txBox="1"/>
          <p:nvPr/>
        </p:nvSpPr>
        <p:spPr>
          <a:xfrm>
            <a:off x="486900" y="700975"/>
            <a:ext cx="7896600" cy="32787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Ideal for packaging </a:t>
            </a:r>
            <a:r>
              <a:rPr i="1" lang="en" sz="1200">
                <a:solidFill>
                  <a:schemeClr val="dk1"/>
                </a:solidFill>
                <a:latin typeface="Lora"/>
                <a:ea typeface="Lora"/>
                <a:cs typeface="Lora"/>
                <a:sym typeface="Lora"/>
              </a:rPr>
              <a:t>individual</a:t>
            </a:r>
            <a:r>
              <a:rPr lang="en" sz="1200">
                <a:solidFill>
                  <a:schemeClr val="dk1"/>
                </a:solidFill>
                <a:latin typeface="Lora"/>
                <a:ea typeface="Lora"/>
                <a:cs typeface="Lora"/>
                <a:sym typeface="Lora"/>
              </a:rPr>
              <a:t> microservices.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Each microservice runs in its own container..</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Ensures consistent runtime environment for each service, regardless of underlying infrastructure.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Simplifies deployment and scaling of services.</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p:txBody>
      </p:sp>
      <p:sp>
        <p:nvSpPr>
          <p:cNvPr id="236" name="Google Shape;236;p38"/>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9"/>
          <p:cNvSpPr txBox="1"/>
          <p:nvPr/>
        </p:nvSpPr>
        <p:spPr>
          <a:xfrm>
            <a:off x="612896" y="243588"/>
            <a:ext cx="8128500" cy="4506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 </a:t>
            </a:r>
            <a:r>
              <a:rPr lang="en" sz="2400">
                <a:latin typeface="Lora"/>
                <a:ea typeface="Lora"/>
                <a:cs typeface="Lora"/>
                <a:sym typeface="Lora"/>
              </a:rPr>
              <a:t>The Synergy: How They All Work Together</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242" name="Google Shape;242;p39"/>
          <p:cNvSpPr txBox="1"/>
          <p:nvPr/>
        </p:nvSpPr>
        <p:spPr>
          <a:xfrm>
            <a:off x="486900" y="700975"/>
            <a:ext cx="7896600" cy="3301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Microservices:</a:t>
            </a:r>
            <a:r>
              <a:rPr lang="en" sz="1200">
                <a:solidFill>
                  <a:schemeClr val="dk1"/>
                </a:solidFill>
                <a:latin typeface="Lora"/>
                <a:ea typeface="Lora"/>
                <a:cs typeface="Lora"/>
                <a:sym typeface="Lora"/>
              </a:rPr>
              <a:t> Define the application's </a:t>
            </a:r>
            <a:r>
              <a:rPr i="1" lang="en" sz="1200">
                <a:solidFill>
                  <a:schemeClr val="dk1"/>
                </a:solidFill>
                <a:latin typeface="Lora"/>
                <a:ea typeface="Lora"/>
                <a:cs typeface="Lora"/>
                <a:sym typeface="Lora"/>
              </a:rPr>
              <a:t>structure</a:t>
            </a:r>
            <a:r>
              <a:rPr lang="en" sz="1200">
                <a:solidFill>
                  <a:schemeClr val="dk1"/>
                </a:solidFill>
                <a:latin typeface="Lora"/>
                <a:ea typeface="Lora"/>
                <a:cs typeface="Lora"/>
                <a:sym typeface="Lora"/>
              </a:rPr>
              <a:t> (small, independent services).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RESTful APIs:</a:t>
            </a:r>
            <a:r>
              <a:rPr lang="en" sz="1200">
                <a:solidFill>
                  <a:schemeClr val="dk1"/>
                </a:solidFill>
                <a:latin typeface="Lora"/>
                <a:ea typeface="Lora"/>
                <a:cs typeface="Lora"/>
                <a:sym typeface="Lora"/>
              </a:rPr>
              <a:t> Define the </a:t>
            </a:r>
            <a:r>
              <a:rPr i="1" lang="en" sz="1200">
                <a:solidFill>
                  <a:schemeClr val="dk1"/>
                </a:solidFill>
                <a:latin typeface="Lora"/>
                <a:ea typeface="Lora"/>
                <a:cs typeface="Lora"/>
                <a:sym typeface="Lora"/>
              </a:rPr>
              <a:t>communication</a:t>
            </a:r>
            <a:r>
              <a:rPr lang="en" sz="1200">
                <a:solidFill>
                  <a:schemeClr val="dk1"/>
                </a:solidFill>
                <a:latin typeface="Lora"/>
                <a:ea typeface="Lora"/>
                <a:cs typeface="Lora"/>
                <a:sym typeface="Lora"/>
              </a:rPr>
              <a:t> mechanism between these services.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Docker:</a:t>
            </a:r>
            <a:r>
              <a:rPr lang="en" sz="1200">
                <a:solidFill>
                  <a:schemeClr val="dk1"/>
                </a:solidFill>
                <a:latin typeface="Lora"/>
                <a:ea typeface="Lora"/>
                <a:cs typeface="Lora"/>
                <a:sym typeface="Lora"/>
              </a:rPr>
              <a:t> Provides the </a:t>
            </a:r>
            <a:r>
              <a:rPr i="1" lang="en" sz="1200">
                <a:solidFill>
                  <a:schemeClr val="dk1"/>
                </a:solidFill>
                <a:latin typeface="Lora"/>
                <a:ea typeface="Lora"/>
                <a:cs typeface="Lora"/>
                <a:sym typeface="Lora"/>
              </a:rPr>
              <a:t>packaging and runtime environment</a:t>
            </a:r>
            <a:r>
              <a:rPr lang="en" sz="1200">
                <a:solidFill>
                  <a:schemeClr val="dk1"/>
                </a:solidFill>
                <a:latin typeface="Lora"/>
                <a:ea typeface="Lora"/>
                <a:cs typeface="Lora"/>
                <a:sym typeface="Lora"/>
              </a:rPr>
              <a:t> for each service.</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Lora"/>
                <a:ea typeface="Lora"/>
                <a:cs typeface="Lora"/>
                <a:sym typeface="Lora"/>
              </a:rPr>
              <a:t>Together they enable building modular, scalable, independently deployable applications.</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1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p:txBody>
      </p:sp>
      <p:sp>
        <p:nvSpPr>
          <p:cNvPr id="243" name="Google Shape;243;p39"/>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Vincent</a:t>
            </a:r>
            <a:endParaRPr sz="1200">
              <a:solidFill>
                <a:schemeClr val="dk2"/>
              </a:solidFill>
              <a:latin typeface="Lora"/>
              <a:ea typeface="Lora"/>
              <a:cs typeface="Lora"/>
              <a:sym typeface="Lor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0"/>
          <p:cNvSpPr txBox="1"/>
          <p:nvPr/>
        </p:nvSpPr>
        <p:spPr>
          <a:xfrm>
            <a:off x="612900" y="243589"/>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7</a:t>
            </a:r>
            <a:r>
              <a:rPr lang="en" sz="2400">
                <a:latin typeface="Lora"/>
                <a:ea typeface="Lora"/>
                <a:cs typeface="Lora"/>
                <a:sym typeface="Lora"/>
              </a:rPr>
              <a:t>. Example Architecture Diagram</a:t>
            </a:r>
            <a:endParaRPr sz="2400">
              <a:latin typeface="Lora"/>
              <a:ea typeface="Lora"/>
              <a:cs typeface="Lora"/>
              <a:sym typeface="Lora"/>
            </a:endParaRPr>
          </a:p>
        </p:txBody>
      </p:sp>
      <p:pic>
        <p:nvPicPr>
          <p:cNvPr id="249" name="Google Shape;249;p40"/>
          <p:cNvPicPr preferRelativeResize="0"/>
          <p:nvPr/>
        </p:nvPicPr>
        <p:blipFill>
          <a:blip r:embed="rId3">
            <a:alphaModFix/>
          </a:blip>
          <a:stretch>
            <a:fillRect/>
          </a:stretch>
        </p:blipFill>
        <p:spPr>
          <a:xfrm>
            <a:off x="873925" y="575689"/>
            <a:ext cx="6591365" cy="4225812"/>
          </a:xfrm>
          <a:prstGeom prst="rect">
            <a:avLst/>
          </a:prstGeom>
          <a:noFill/>
          <a:ln>
            <a:noFill/>
          </a:ln>
        </p:spPr>
      </p:pic>
      <p:sp>
        <p:nvSpPr>
          <p:cNvPr id="250" name="Google Shape;250;p40"/>
          <p:cNvSpPr txBox="1"/>
          <p:nvPr/>
        </p:nvSpPr>
        <p:spPr>
          <a:xfrm>
            <a:off x="794075" y="829775"/>
            <a:ext cx="3000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Modular, Scalable, and Independently Deployable Application</a:t>
            </a:r>
            <a:endParaRPr sz="1200">
              <a:solidFill>
                <a:schemeClr val="dk2"/>
              </a:solidFill>
              <a:latin typeface="Lora"/>
              <a:ea typeface="Lora"/>
              <a:cs typeface="Lora"/>
              <a:sym typeface="Lora"/>
            </a:endParaRPr>
          </a:p>
        </p:txBody>
      </p:sp>
      <p:sp>
        <p:nvSpPr>
          <p:cNvPr id="251" name="Google Shape;251;p40"/>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Oliver</a:t>
            </a:r>
            <a:endParaRPr sz="1200">
              <a:solidFill>
                <a:schemeClr val="dk2"/>
              </a:solidFill>
              <a:latin typeface="Lora"/>
              <a:ea typeface="Lora"/>
              <a:cs typeface="Lora"/>
              <a:sym typeface="Lora"/>
            </a:endParaRPr>
          </a:p>
        </p:txBody>
      </p:sp>
      <p:sp>
        <p:nvSpPr>
          <p:cNvPr id="252" name="Google Shape;252;p40"/>
          <p:cNvSpPr txBox="1"/>
          <p:nvPr/>
        </p:nvSpPr>
        <p:spPr>
          <a:xfrm>
            <a:off x="7539446" y="937568"/>
            <a:ext cx="149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Lora"/>
                <a:ea typeface="Lora"/>
                <a:cs typeface="Lora"/>
                <a:sym typeface="Lora"/>
              </a:rPr>
              <a:t>e.g. customer orders (creating orders, status tracking)</a:t>
            </a:r>
            <a:endParaRPr sz="800">
              <a:solidFill>
                <a:schemeClr val="dk2"/>
              </a:solidFill>
              <a:latin typeface="Lora"/>
              <a:ea typeface="Lora"/>
              <a:cs typeface="Lora"/>
              <a:sym typeface="Lora"/>
            </a:endParaRPr>
          </a:p>
        </p:txBody>
      </p:sp>
      <p:sp>
        <p:nvSpPr>
          <p:cNvPr id="253" name="Google Shape;253;p40"/>
          <p:cNvSpPr txBox="1"/>
          <p:nvPr/>
        </p:nvSpPr>
        <p:spPr>
          <a:xfrm>
            <a:off x="7555245" y="2294693"/>
            <a:ext cx="149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Lora"/>
                <a:ea typeface="Lora"/>
                <a:cs typeface="Lora"/>
                <a:sym typeface="Lora"/>
              </a:rPr>
              <a:t>e.g. product catalog (product name, description, price)</a:t>
            </a:r>
            <a:endParaRPr sz="800">
              <a:solidFill>
                <a:schemeClr val="dk2"/>
              </a:solidFill>
              <a:latin typeface="Lora"/>
              <a:ea typeface="Lora"/>
              <a:cs typeface="Lora"/>
              <a:sym typeface="Lora"/>
            </a:endParaRPr>
          </a:p>
        </p:txBody>
      </p:sp>
      <p:sp>
        <p:nvSpPr>
          <p:cNvPr id="254" name="Google Shape;254;p40"/>
          <p:cNvSpPr txBox="1"/>
          <p:nvPr/>
        </p:nvSpPr>
        <p:spPr>
          <a:xfrm>
            <a:off x="7555245" y="3775293"/>
            <a:ext cx="1497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Lora"/>
                <a:ea typeface="Lora"/>
                <a:cs typeface="Lora"/>
                <a:sym typeface="Lora"/>
              </a:rPr>
              <a:t>e.g. user </a:t>
            </a:r>
            <a:r>
              <a:rPr lang="en" sz="800">
                <a:solidFill>
                  <a:schemeClr val="dk2"/>
                </a:solidFill>
                <a:latin typeface="Lora"/>
                <a:ea typeface="Lora"/>
                <a:cs typeface="Lora"/>
                <a:sym typeface="Lora"/>
              </a:rPr>
              <a:t>authentication</a:t>
            </a:r>
            <a:r>
              <a:rPr lang="en" sz="800">
                <a:solidFill>
                  <a:schemeClr val="dk2"/>
                </a:solidFill>
                <a:latin typeface="Lora"/>
                <a:ea typeface="Lora"/>
                <a:cs typeface="Lora"/>
                <a:sym typeface="Lora"/>
              </a:rPr>
              <a:t> managing user accounts</a:t>
            </a:r>
            <a:endParaRPr sz="800">
              <a:solidFill>
                <a:schemeClr val="dk2"/>
              </a:solidFill>
              <a:latin typeface="Lora"/>
              <a:ea typeface="Lora"/>
              <a:cs typeface="Lora"/>
              <a:sym typeface="Lor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1"/>
          <p:cNvSpPr txBox="1"/>
          <p:nvPr/>
        </p:nvSpPr>
        <p:spPr>
          <a:xfrm>
            <a:off x="612896" y="243588"/>
            <a:ext cx="8128500" cy="4506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8</a:t>
            </a:r>
            <a:r>
              <a:rPr lang="en" sz="2400">
                <a:latin typeface="Lora"/>
                <a:ea typeface="Lora"/>
                <a:cs typeface="Lora"/>
                <a:sym typeface="Lora"/>
              </a:rPr>
              <a:t>. Conclusion &amp; Key Takeaways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260" name="Google Shape;260;p41"/>
          <p:cNvSpPr txBox="1"/>
          <p:nvPr/>
        </p:nvSpPr>
        <p:spPr>
          <a:xfrm>
            <a:off x="486900" y="700975"/>
            <a:ext cx="7896600" cy="34170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Containers (with Docker), </a:t>
            </a:r>
            <a:r>
              <a:rPr lang="en" sz="1200">
                <a:solidFill>
                  <a:schemeClr val="dk1"/>
                </a:solidFill>
                <a:latin typeface="Lora"/>
                <a:ea typeface="Lora"/>
                <a:cs typeface="Lora"/>
                <a:sym typeface="Lora"/>
              </a:rPr>
              <a:t>RESTful APIs, and Microservices are powerful tools for modern application development.</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They address challenges of monolithic architectures, promoting agility, scalability, and resilience.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Microservices structure</a:t>
            </a:r>
            <a:r>
              <a:rPr lang="en" sz="1200">
                <a:solidFill>
                  <a:schemeClr val="dk1"/>
                </a:solidFill>
                <a:latin typeface="Lora"/>
                <a:ea typeface="Lora"/>
                <a:cs typeface="Lora"/>
                <a:sym typeface="Lora"/>
              </a:rPr>
              <a:t> the app architecture; REST APIs enable communication; Docker packages and runs the services</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p:txBody>
      </p:sp>
      <p:sp>
        <p:nvSpPr>
          <p:cNvPr id="261" name="Google Shape;261;p41"/>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Lora"/>
                <a:ea typeface="Lora"/>
                <a:cs typeface="Lora"/>
                <a:sym typeface="Lora"/>
              </a:rPr>
              <a:t>Oliver</a:t>
            </a:r>
            <a:endParaRPr sz="1200">
              <a:solidFill>
                <a:schemeClr val="dk2"/>
              </a:solidFill>
              <a:latin typeface="Lora"/>
              <a:ea typeface="Lora"/>
              <a:cs typeface="Lora"/>
              <a:sym typeface="Lor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nvSpPr>
        <p:spPr>
          <a:xfrm>
            <a:off x="612896" y="243588"/>
            <a:ext cx="8128500" cy="4506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9. Q&amp;A</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267" name="Google Shape;267;p42"/>
          <p:cNvSpPr txBox="1"/>
          <p:nvPr/>
        </p:nvSpPr>
        <p:spPr>
          <a:xfrm>
            <a:off x="486900" y="700975"/>
            <a:ext cx="7896600" cy="2701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dk1"/>
                </a:solidFill>
                <a:latin typeface="Lora"/>
                <a:ea typeface="Lora"/>
                <a:cs typeface="Lora"/>
                <a:sym typeface="Lora"/>
              </a:rPr>
              <a:t>"Questions?"</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