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Lora"/>
      <p:regular r:id="rId36"/>
      <p:bold r:id="rId37"/>
      <p:italic r:id="rId38"/>
      <p:boldItalic r:id="rId39"/>
    </p:embeddedFont>
    <p:embeddedFont>
      <p:font typeface="Pacifico"/>
      <p:regular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84E578-B18C-44A3-8B0A-05DA80CFDB11}">
  <a:tblStyle styleId="{6884E578-B18C-44A3-8B0A-05DA80CFDB1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acifico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Lora-bold.fntdata"/><Relationship Id="rId14" Type="http://schemas.openxmlformats.org/officeDocument/2006/relationships/slide" Target="slides/slide8.xml"/><Relationship Id="rId36" Type="http://schemas.openxmlformats.org/officeDocument/2006/relationships/font" Target="fonts/Lora-regular.fntdata"/><Relationship Id="rId17" Type="http://schemas.openxmlformats.org/officeDocument/2006/relationships/slide" Target="slides/slide11.xml"/><Relationship Id="rId39" Type="http://schemas.openxmlformats.org/officeDocument/2006/relationships/font" Target="fonts/Lora-boldItalic.fntdata"/><Relationship Id="rId16" Type="http://schemas.openxmlformats.org/officeDocument/2006/relationships/slide" Target="slides/slide10.xml"/><Relationship Id="rId38" Type="http://schemas.openxmlformats.org/officeDocument/2006/relationships/font" Target="fonts/Lora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e5c1b1f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g37e5c1b1ff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33db9d2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733db9d2c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d6fa1e2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g37d6fa1e27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6704d62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76704d62b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6704d62b3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76704d62b3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4a3bf4667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Early NLP (1950s-2000s):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Rule-based systems: Handcrafted grammar rules and pattern matching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Statistical methods: Probabilistic models like n-grams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Shallow ML: Support Vector Machines, Naive Bayes classifiers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Neural NLP revolution (2010-2017):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Word embeddings (Word2Vec, GloVe)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Recurrent Neural Networks (RNNs, LSTMs, GRUs)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Limited context window and vanishing gradient problems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Transformer breakthrough (2017-present):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Attention mechanisms replace recurrence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Parallel processing of entire sequences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Self-attention enables global context understanding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Foundation for all modern LLMs (BERT, GPT, T5, etc.)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64a3bf4667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6704d62b3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2017: "Attention is All You Need" paper introduces the Transformer architecture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2018: BERT by Google - Bidirectional training revolutionizes NLP benchmarks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2018: GPT-1 by OpenAI - 117M parameters, initial generative transformer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2019: GPT-2 by OpenAI - 1.5B parameters, improved text generation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2020: GPT-3 by OpenAI - 175B parameters, few-shot learning capabilities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2022: ChatGPT release - Conversational interface to GPT models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2023: GPT-4 by OpenAI - Multimodal capabilities, improved reasoning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2023: Open-source models gain traction (Llama, Mistral, Falcon)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2023-2024: Specialized and domain-adapted models emerge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76704d62b3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c840c3456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7c840c345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c840c3456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7c840c3456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bf68cb7cc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8bf68cb7cc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c840c3456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7c840c3456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c840c3456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7c840c3456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6704d62b3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76704d62b3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76704d62b3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76704d62b3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7c840c3456_0_1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7c840c3456_0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b2fbd47c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9b2fbd47c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b2fbd47c6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9b2fbd47c6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b2fbd47c6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9b2fbd47c6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76704d62b3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76704d62b3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76704d62b3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76704d62b3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64a3bf4667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64a3bf4667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76704d62b3_0_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76704d62b3_0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7cb5ab377d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7cb5ab377d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8dd6120b80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8dd6120b80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8c0b36f3b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8c0b36f3b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76704d62b3_0_1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76704d62b3_0_1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9b2fbd47c6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9b2fbd47c6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64a3bf4667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64a3bf4667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ntent">
  <p:cSld name="Title and 2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503238" y="1517650"/>
            <a:ext cx="3960900" cy="29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–"/>
              <a:defRPr/>
            </a:lvl2pPr>
            <a:lvl3pPr indent="-31432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4679951" y="1517650"/>
            <a:ext cx="3960900" cy="29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–"/>
              <a:defRPr/>
            </a:lvl2pPr>
            <a:lvl3pPr indent="-31432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518928" y="4784763"/>
            <a:ext cx="6032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3"/>
          <p:cNvSpPr txBox="1"/>
          <p:nvPr>
            <p:ph type="title"/>
          </p:nvPr>
        </p:nvSpPr>
        <p:spPr>
          <a:xfrm>
            <a:off x="503238" y="56272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ora"/>
              <a:buNone/>
              <a:defRPr sz="2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ora"/>
              <a:buChar char="●"/>
              <a:defRPr sz="1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●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●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2148" y="4782312"/>
            <a:ext cx="1188720" cy="297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4577" y="4779825"/>
            <a:ext cx="1188721" cy="23774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Quiz on Lecture 11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86900" y="700975"/>
            <a:ext cx="7896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Please receive the quiz handout from Cyrille, Oliver, Vincent, Jan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Complete the quiz in silence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Hand the quiz back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Quiz on Lecture 11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191200" y="700975"/>
            <a:ext cx="47094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Which component in a compute node determines how much data can be loaded &amp; actively worked on at once?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memory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CPU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storage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cores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If table A has 8 rows, and table B has 6 rows, what is the time 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complexity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from a cartesian join? Assume non-distributed.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48 join operations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96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join operations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24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join operations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12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join operations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If table A has 8 rows, and table B has 6 rows,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what is the time complexity from a cartesian join across 2 nodes each with 4 threads (distributed)?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join operations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12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join operations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24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join operations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6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join operations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4830300" y="777175"/>
            <a:ext cx="40617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 startAt="4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is "big data" in the context of distributed computing?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More than 1 million rows of data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More than 1 billion rows of data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Anything too big to fit into memory on one node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More than 16GB of memory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 startAt="4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Why does Oliver love polars?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It's fast (written in rust)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Most data we work with are not "big data", so it's the ideal tool for the job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If data size grows (e.g. more than 16gb), can scale vertically (i.e. add more memory to VM)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all of the above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 startAt="4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Which two components in a compute node are most similar to each other?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memory &amp; storage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memory &amp; CPU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storage &amp; CPU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nigerian jollof rice &amp; spicy risotto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Quiz on Lecture 11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191200" y="700975"/>
            <a:ext cx="47094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Which component in a compute node 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determines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how much data can be loaded &amp; actively worked on at once?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memory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CPU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storage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cores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If table A has 8 rows, and table B has 6 rows, what is the time complexity from a cartesian join? Assume non-distributed.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48</a:t>
            </a: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join operations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96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join operations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24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join operations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12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join operations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If table A has 8 rows, and table B has 6 rows,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what is the time complexity from a cartesian join across 2 nodes each with 4 threads (distributed)?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join operations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12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join operations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24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join operations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6</a:t>
            </a: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join operations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830300" y="777175"/>
            <a:ext cx="40617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 startAt="4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is "big data" in the context of distributed computing?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More than 1 million rows of data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More than 1 billion rows of data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Anything too big to fit into memory on one node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More than 16GB of memory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 startAt="4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Why does Oliver love polars?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It's fast (written in rust)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Most data we work with are not "big data", so it's the ideal tool for the job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If data size grows (e.g. more than 16gb), can scale vertically (i.e. add more memory to VM)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all of the above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 startAt="4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Which two components in a compute node are most similar to each other?</a:t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memory &amp; storage</a:t>
            </a:r>
            <a:endParaRPr b="1" sz="1000">
              <a:solidFill>
                <a:schemeClr val="dk1"/>
              </a:solidFill>
              <a:highlight>
                <a:schemeClr val="lt1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memory &amp; CPU</a:t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storage &amp; CPU</a:t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nigerian jollof rice &amp; spicy risotto 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-125" y="575250"/>
            <a:ext cx="9144000" cy="20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Designing and Deploying </a:t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end-to-end </a:t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Production Grade ML Applications</a:t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" sz="24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Lecture </a:t>
            </a:r>
            <a:r>
              <a:rPr lang="en" sz="24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12: AI Agents</a:t>
            </a:r>
            <a:endParaRPr sz="24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-117" y="3838750"/>
            <a:ext cx="914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October 2025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Jan Ravnik &amp; Oliver Angélil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/>
        </p:nvSpPr>
        <p:spPr>
          <a:xfrm>
            <a:off x="486900" y="624775"/>
            <a:ext cx="78966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Lecture 12: 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Fundamentals of LLMs and Basic Chatbot Construction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Introduction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to LLMs: History, architecture and training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API calls and text completions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rompt engineering techniques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Structured output and function calling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Lecture 13: 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Advanced Techniques with LangChain and React Agents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is agentic AI?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LangChain modules for app development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React agents, reasoning and decision-making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Stateful agents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Lecture 14: 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Complex Systems and Swarm Intelligence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LangGraph for multi-agent systems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Swarm intelligence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Complex AI agents and collective behavior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605425" y="697275"/>
            <a:ext cx="5312700" cy="1361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4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Contents of </a:t>
            </a:r>
            <a:r>
              <a:rPr lang="en" sz="2400">
                <a:latin typeface="Lora"/>
                <a:ea typeface="Lora"/>
                <a:cs typeface="Lora"/>
                <a:sym typeface="Lora"/>
              </a:rPr>
              <a:t>three</a:t>
            </a:r>
            <a:r>
              <a:rPr i="0" lang="en" sz="24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" sz="2400">
                <a:latin typeface="Lora"/>
                <a:ea typeface="Lora"/>
                <a:cs typeface="Lora"/>
                <a:sym typeface="Lora"/>
              </a:rPr>
              <a:t>AI Agents Lectures: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6540275" y="1227325"/>
            <a:ext cx="129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this lecture</a:t>
            </a:r>
            <a:endParaRPr sz="1600">
              <a:solidFill>
                <a:srgbClr val="FF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9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Introduction to LLMs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443225" y="970100"/>
            <a:ext cx="6645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Large Language Models (LLMs): Neural network systems tasked with language modelling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Key characteristics: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Take text as input and output more text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Trained on trillions of tokens of text data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Capable of understanding and generating human language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Demonstrate emergent abilities not explicitly programmed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Exhibit few-shot and zero-shot learning capabilities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6500" y="1596475"/>
            <a:ext cx="2658174" cy="265817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/>
          <p:nvPr/>
        </p:nvSpPr>
        <p:spPr>
          <a:xfrm>
            <a:off x="874525" y="3282975"/>
            <a:ext cx="1028700" cy="844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Input (text)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2325275" y="3282975"/>
            <a:ext cx="1028700" cy="844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LLM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3776025" y="3282975"/>
            <a:ext cx="1028700" cy="844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Output (text)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103" name="Google Shape;103;p19"/>
          <p:cNvCxnSpPr>
            <a:stCxn id="100" idx="3"/>
            <a:endCxn id="101" idx="1"/>
          </p:cNvCxnSpPr>
          <p:nvPr/>
        </p:nvCxnSpPr>
        <p:spPr>
          <a:xfrm>
            <a:off x="1903225" y="3705075"/>
            <a:ext cx="42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9"/>
          <p:cNvCxnSpPr>
            <a:stCxn id="101" idx="3"/>
            <a:endCxn id="102" idx="1"/>
          </p:cNvCxnSpPr>
          <p:nvPr/>
        </p:nvCxnSpPr>
        <p:spPr>
          <a:xfrm>
            <a:off x="3353975" y="3705075"/>
            <a:ext cx="42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0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NLP to LLM Evolution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82175"/>
            <a:ext cx="9144000" cy="410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6971075" y="4333800"/>
            <a:ext cx="203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https://blog.dataiku.com/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1"/>
          <p:cNvPicPr preferRelativeResize="0"/>
          <p:nvPr/>
        </p:nvPicPr>
        <p:blipFill rotWithShape="1">
          <a:blip r:embed="rId3">
            <a:alphaModFix/>
          </a:blip>
          <a:srcRect b="0" l="0" r="19620" t="0"/>
          <a:stretch/>
        </p:blipFill>
        <p:spPr>
          <a:xfrm>
            <a:off x="1392275" y="0"/>
            <a:ext cx="6232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/>
          <p:nvPr/>
        </p:nvSpPr>
        <p:spPr>
          <a:xfrm>
            <a:off x="6492975" y="3277350"/>
            <a:ext cx="1426500" cy="128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0" name="Google Shape;120;p21"/>
          <p:cNvSpPr txBox="1"/>
          <p:nvPr>
            <p:ph type="title"/>
          </p:nvPr>
        </p:nvSpPr>
        <p:spPr>
          <a:xfrm>
            <a:off x="6803475" y="3340250"/>
            <a:ext cx="21879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Key Milestones </a:t>
            </a:r>
            <a:endParaRPr sz="22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in LLM </a:t>
            </a:r>
            <a:endParaRPr sz="22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Development</a:t>
            </a:r>
            <a:endParaRPr sz="2200"/>
          </a:p>
        </p:txBody>
      </p:sp>
      <p:sp>
        <p:nvSpPr>
          <p:cNvPr id="121" name="Google Shape;121;p21"/>
          <p:cNvSpPr txBox="1"/>
          <p:nvPr/>
        </p:nvSpPr>
        <p:spPr>
          <a:xfrm>
            <a:off x="3400725" y="4784775"/>
            <a:ext cx="417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https://admantium.com/blog/llm01_introduction_to_llms/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LLM Architecture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443225" y="1053322"/>
            <a:ext cx="1295400" cy="72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Input (Text)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2209125" y="1053322"/>
            <a:ext cx="1295400" cy="72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Token embeddings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3975025" y="1053322"/>
            <a:ext cx="1295400" cy="72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Do the magic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5740925" y="1053322"/>
            <a:ext cx="1295400" cy="72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Predict the next token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132" name="Google Shape;132;p22"/>
          <p:cNvCxnSpPr>
            <a:stCxn id="128" idx="3"/>
            <a:endCxn id="129" idx="1"/>
          </p:cNvCxnSpPr>
          <p:nvPr/>
        </p:nvCxnSpPr>
        <p:spPr>
          <a:xfrm>
            <a:off x="1738625" y="1415722"/>
            <a:ext cx="4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22"/>
          <p:cNvCxnSpPr>
            <a:stCxn id="129" idx="3"/>
            <a:endCxn id="130" idx="1"/>
          </p:cNvCxnSpPr>
          <p:nvPr/>
        </p:nvCxnSpPr>
        <p:spPr>
          <a:xfrm>
            <a:off x="3504525" y="1415722"/>
            <a:ext cx="4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22"/>
          <p:cNvCxnSpPr>
            <a:stCxn id="130" idx="3"/>
            <a:endCxn id="131" idx="1"/>
          </p:cNvCxnSpPr>
          <p:nvPr/>
        </p:nvCxnSpPr>
        <p:spPr>
          <a:xfrm>
            <a:off x="5270425" y="1415722"/>
            <a:ext cx="4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22"/>
          <p:cNvSpPr/>
          <p:nvPr/>
        </p:nvSpPr>
        <p:spPr>
          <a:xfrm>
            <a:off x="7506825" y="1053322"/>
            <a:ext cx="1295400" cy="72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Out</a:t>
            </a:r>
            <a:r>
              <a:rPr lang="en">
                <a:latin typeface="Lora"/>
                <a:ea typeface="Lora"/>
                <a:cs typeface="Lora"/>
                <a:sym typeface="Lora"/>
              </a:rPr>
              <a:t>put (Text)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136" name="Google Shape;136;p22"/>
          <p:cNvCxnSpPr>
            <a:stCxn id="131" idx="3"/>
            <a:endCxn id="135" idx="1"/>
          </p:cNvCxnSpPr>
          <p:nvPr/>
        </p:nvCxnSpPr>
        <p:spPr>
          <a:xfrm>
            <a:off x="7036325" y="1415722"/>
            <a:ext cx="4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" name="Google Shape;137;p22"/>
          <p:cNvSpPr/>
          <p:nvPr/>
        </p:nvSpPr>
        <p:spPr>
          <a:xfrm>
            <a:off x="959825" y="1974100"/>
            <a:ext cx="262200" cy="266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4440900" y="1974100"/>
            <a:ext cx="262200" cy="266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3897300" y="2279574"/>
            <a:ext cx="13494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Matrix operations (numbers!)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0" name="Google Shape;140;p22"/>
          <p:cNvSpPr/>
          <p:nvPr/>
        </p:nvSpPr>
        <p:spPr>
          <a:xfrm>
            <a:off x="8023425" y="1974100"/>
            <a:ext cx="262200" cy="266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1" name="Google Shape;141;p22"/>
          <p:cNvSpPr/>
          <p:nvPr/>
        </p:nvSpPr>
        <p:spPr>
          <a:xfrm>
            <a:off x="570425" y="2539374"/>
            <a:ext cx="1041000" cy="393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Cats are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2" name="Google Shape;142;p22"/>
          <p:cNvSpPr/>
          <p:nvPr/>
        </p:nvSpPr>
        <p:spPr>
          <a:xfrm>
            <a:off x="7634025" y="2539374"/>
            <a:ext cx="1041000" cy="393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cool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143" name="Google Shape;143;p22"/>
          <p:cNvCxnSpPr/>
          <p:nvPr/>
        </p:nvCxnSpPr>
        <p:spPr>
          <a:xfrm>
            <a:off x="1823375" y="2745249"/>
            <a:ext cx="30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22"/>
          <p:cNvCxnSpPr/>
          <p:nvPr/>
        </p:nvCxnSpPr>
        <p:spPr>
          <a:xfrm>
            <a:off x="7121075" y="2745249"/>
            <a:ext cx="30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22"/>
          <p:cNvCxnSpPr/>
          <p:nvPr/>
        </p:nvCxnSpPr>
        <p:spPr>
          <a:xfrm>
            <a:off x="3589275" y="2745249"/>
            <a:ext cx="30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22"/>
          <p:cNvCxnSpPr/>
          <p:nvPr/>
        </p:nvCxnSpPr>
        <p:spPr>
          <a:xfrm>
            <a:off x="5355175" y="2745249"/>
            <a:ext cx="30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" name="Google Shape;147;p22"/>
          <p:cNvSpPr/>
          <p:nvPr/>
        </p:nvSpPr>
        <p:spPr>
          <a:xfrm>
            <a:off x="2209125" y="2382847"/>
            <a:ext cx="1295400" cy="724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Text to numbers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5740875" y="2382847"/>
            <a:ext cx="1295400" cy="724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Numbers to text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2209125" y="3712372"/>
            <a:ext cx="1295400" cy="724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Word (token) embeddings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0" name="Google Shape;150;p22"/>
          <p:cNvSpPr/>
          <p:nvPr/>
        </p:nvSpPr>
        <p:spPr>
          <a:xfrm>
            <a:off x="2725725" y="3300450"/>
            <a:ext cx="262200" cy="266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4009900" y="3567150"/>
            <a:ext cx="4480200" cy="10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Token = some number of characters: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●"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Single letter, full word, punctuation…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●"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Tokens have different lengths and are based on what commonly appears on the text.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23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LLM Architecture - </a:t>
            </a:r>
            <a:r>
              <a:rPr lang="en" sz="2200"/>
              <a:t>Token embeddings</a:t>
            </a:r>
            <a:endParaRPr sz="2200"/>
          </a:p>
        </p:txBody>
      </p:sp>
      <p:sp>
        <p:nvSpPr>
          <p:cNvPr id="158" name="Google Shape;158;p23"/>
          <p:cNvSpPr/>
          <p:nvPr/>
        </p:nvSpPr>
        <p:spPr>
          <a:xfrm>
            <a:off x="503250" y="1638449"/>
            <a:ext cx="1041000" cy="393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Cats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2066375" y="1638450"/>
            <a:ext cx="2121000" cy="393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0.23, -0.78, … , 0.46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5591600" y="3620716"/>
            <a:ext cx="22518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King - Man + Woman = ?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1" name="Google Shape;161;p23"/>
          <p:cNvSpPr/>
          <p:nvPr/>
        </p:nvSpPr>
        <p:spPr>
          <a:xfrm>
            <a:off x="503250" y="2239949"/>
            <a:ext cx="1041000" cy="393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are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503250" y="2841449"/>
            <a:ext cx="1041000" cy="393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cool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2066375" y="2239950"/>
            <a:ext cx="2121000" cy="393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-</a:t>
            </a: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0.73, 0.34, … , 0.13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4" name="Google Shape;164;p23"/>
          <p:cNvSpPr/>
          <p:nvPr/>
        </p:nvSpPr>
        <p:spPr>
          <a:xfrm>
            <a:off x="2066375" y="2841450"/>
            <a:ext cx="2121000" cy="393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0.11, -0.25, … , -0.83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165" name="Google Shape;165;p23"/>
          <p:cNvCxnSpPr>
            <a:stCxn id="158" idx="3"/>
            <a:endCxn id="159" idx="1"/>
          </p:cNvCxnSpPr>
          <p:nvPr/>
        </p:nvCxnSpPr>
        <p:spPr>
          <a:xfrm>
            <a:off x="1544250" y="1835099"/>
            <a:ext cx="52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23"/>
          <p:cNvCxnSpPr>
            <a:stCxn id="161" idx="3"/>
            <a:endCxn id="163" idx="1"/>
          </p:cNvCxnSpPr>
          <p:nvPr/>
        </p:nvCxnSpPr>
        <p:spPr>
          <a:xfrm>
            <a:off x="1544250" y="2436599"/>
            <a:ext cx="52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3"/>
          <p:cNvCxnSpPr>
            <a:stCxn id="162" idx="3"/>
            <a:endCxn id="164" idx="1"/>
          </p:cNvCxnSpPr>
          <p:nvPr/>
        </p:nvCxnSpPr>
        <p:spPr>
          <a:xfrm>
            <a:off x="1544250" y="3038099"/>
            <a:ext cx="52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3"/>
          <p:cNvCxnSpPr/>
          <p:nvPr/>
        </p:nvCxnSpPr>
        <p:spPr>
          <a:xfrm rot="10800000">
            <a:off x="5613900" y="1461575"/>
            <a:ext cx="0" cy="179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23"/>
          <p:cNvCxnSpPr/>
          <p:nvPr/>
        </p:nvCxnSpPr>
        <p:spPr>
          <a:xfrm>
            <a:off x="5621600" y="3242850"/>
            <a:ext cx="234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23"/>
          <p:cNvSpPr/>
          <p:nvPr/>
        </p:nvSpPr>
        <p:spPr>
          <a:xfrm>
            <a:off x="5922350" y="2201800"/>
            <a:ext cx="100200" cy="10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1" name="Google Shape;171;p23"/>
          <p:cNvSpPr/>
          <p:nvPr/>
        </p:nvSpPr>
        <p:spPr>
          <a:xfrm>
            <a:off x="6743600" y="1877925"/>
            <a:ext cx="100200" cy="10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2" name="Google Shape;172;p23"/>
          <p:cNvSpPr/>
          <p:nvPr/>
        </p:nvSpPr>
        <p:spPr>
          <a:xfrm>
            <a:off x="6600950" y="2988388"/>
            <a:ext cx="100200" cy="10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3" name="Google Shape;173;p23"/>
          <p:cNvSpPr/>
          <p:nvPr/>
        </p:nvSpPr>
        <p:spPr>
          <a:xfrm>
            <a:off x="7422200" y="2664513"/>
            <a:ext cx="100200" cy="10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4" name="Google Shape;174;p23"/>
          <p:cNvSpPr txBox="1"/>
          <p:nvPr/>
        </p:nvSpPr>
        <p:spPr>
          <a:xfrm>
            <a:off x="5876082" y="1893380"/>
            <a:ext cx="586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King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6697332" y="1569505"/>
            <a:ext cx="7788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Queen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6" name="Google Shape;176;p23"/>
          <p:cNvSpPr txBox="1"/>
          <p:nvPr/>
        </p:nvSpPr>
        <p:spPr>
          <a:xfrm>
            <a:off x="6554682" y="2679855"/>
            <a:ext cx="586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Man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7375932" y="2355980"/>
            <a:ext cx="9138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Woman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178" name="Google Shape;178;p23"/>
          <p:cNvCxnSpPr/>
          <p:nvPr/>
        </p:nvCxnSpPr>
        <p:spPr>
          <a:xfrm flipH="1" rot="10800000">
            <a:off x="5629325" y="2232650"/>
            <a:ext cx="354600" cy="101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3"/>
          <p:cNvCxnSpPr/>
          <p:nvPr/>
        </p:nvCxnSpPr>
        <p:spPr>
          <a:xfrm flipH="1">
            <a:off x="5637025" y="3034625"/>
            <a:ext cx="1017900" cy="19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3"/>
          <p:cNvCxnSpPr/>
          <p:nvPr/>
        </p:nvCxnSpPr>
        <p:spPr>
          <a:xfrm flipH="1" rot="10800000">
            <a:off x="5621600" y="2718350"/>
            <a:ext cx="1850700" cy="53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4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LLM Architecture - Token embeddings</a:t>
            </a:r>
            <a:endParaRPr sz="2200"/>
          </a:p>
        </p:txBody>
      </p:sp>
      <p:sp>
        <p:nvSpPr>
          <p:cNvPr id="187" name="Google Shape;187;p24"/>
          <p:cNvSpPr/>
          <p:nvPr/>
        </p:nvSpPr>
        <p:spPr>
          <a:xfrm>
            <a:off x="503250" y="1638449"/>
            <a:ext cx="1041000" cy="393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Cats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8" name="Google Shape;188;p24"/>
          <p:cNvSpPr/>
          <p:nvPr/>
        </p:nvSpPr>
        <p:spPr>
          <a:xfrm>
            <a:off x="2066375" y="1638450"/>
            <a:ext cx="2121000" cy="393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0.23, -0.78, … , 0.46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9" name="Google Shape;189;p24"/>
          <p:cNvSpPr txBox="1"/>
          <p:nvPr/>
        </p:nvSpPr>
        <p:spPr>
          <a:xfrm>
            <a:off x="5591600" y="3620716"/>
            <a:ext cx="2807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King - Man + Woman = Queen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503250" y="2239949"/>
            <a:ext cx="1041000" cy="393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are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503250" y="2841449"/>
            <a:ext cx="1041000" cy="393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cool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2" name="Google Shape;192;p24"/>
          <p:cNvSpPr/>
          <p:nvPr/>
        </p:nvSpPr>
        <p:spPr>
          <a:xfrm>
            <a:off x="2066375" y="2239950"/>
            <a:ext cx="2121000" cy="393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-0.73, 0.34, … , 0.13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3" name="Google Shape;193;p24"/>
          <p:cNvSpPr/>
          <p:nvPr/>
        </p:nvSpPr>
        <p:spPr>
          <a:xfrm>
            <a:off x="2066375" y="2841450"/>
            <a:ext cx="2121000" cy="393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0.11, -0.25, … , -0.83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194" name="Google Shape;194;p24"/>
          <p:cNvCxnSpPr>
            <a:stCxn id="187" idx="3"/>
            <a:endCxn id="188" idx="1"/>
          </p:cNvCxnSpPr>
          <p:nvPr/>
        </p:nvCxnSpPr>
        <p:spPr>
          <a:xfrm>
            <a:off x="1544250" y="1835099"/>
            <a:ext cx="52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24"/>
          <p:cNvCxnSpPr>
            <a:stCxn id="190" idx="3"/>
            <a:endCxn id="192" idx="1"/>
          </p:cNvCxnSpPr>
          <p:nvPr/>
        </p:nvCxnSpPr>
        <p:spPr>
          <a:xfrm>
            <a:off x="1544250" y="2436599"/>
            <a:ext cx="52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24"/>
          <p:cNvCxnSpPr>
            <a:stCxn id="191" idx="3"/>
            <a:endCxn id="193" idx="1"/>
          </p:cNvCxnSpPr>
          <p:nvPr/>
        </p:nvCxnSpPr>
        <p:spPr>
          <a:xfrm>
            <a:off x="1544250" y="3038099"/>
            <a:ext cx="52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4"/>
          <p:cNvCxnSpPr/>
          <p:nvPr/>
        </p:nvCxnSpPr>
        <p:spPr>
          <a:xfrm rot="10800000">
            <a:off x="5613900" y="1461575"/>
            <a:ext cx="0" cy="179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24"/>
          <p:cNvCxnSpPr/>
          <p:nvPr/>
        </p:nvCxnSpPr>
        <p:spPr>
          <a:xfrm>
            <a:off x="5621600" y="3242850"/>
            <a:ext cx="234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" name="Google Shape;199;p24"/>
          <p:cNvSpPr/>
          <p:nvPr/>
        </p:nvSpPr>
        <p:spPr>
          <a:xfrm>
            <a:off x="5922350" y="2201800"/>
            <a:ext cx="100200" cy="10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6743600" y="1877925"/>
            <a:ext cx="100200" cy="10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6600950" y="2988388"/>
            <a:ext cx="100200" cy="10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7422200" y="2664513"/>
            <a:ext cx="100200" cy="10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5876082" y="1893380"/>
            <a:ext cx="586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King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4" name="Google Shape;204;p24"/>
          <p:cNvSpPr txBox="1"/>
          <p:nvPr/>
        </p:nvSpPr>
        <p:spPr>
          <a:xfrm>
            <a:off x="6697332" y="1569505"/>
            <a:ext cx="7788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Queen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5" name="Google Shape;205;p24"/>
          <p:cNvSpPr txBox="1"/>
          <p:nvPr/>
        </p:nvSpPr>
        <p:spPr>
          <a:xfrm>
            <a:off x="6554682" y="2679855"/>
            <a:ext cx="586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Man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6" name="Google Shape;206;p24"/>
          <p:cNvSpPr txBox="1"/>
          <p:nvPr/>
        </p:nvSpPr>
        <p:spPr>
          <a:xfrm>
            <a:off x="7375932" y="2355980"/>
            <a:ext cx="9138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Woman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207" name="Google Shape;207;p24"/>
          <p:cNvCxnSpPr/>
          <p:nvPr/>
        </p:nvCxnSpPr>
        <p:spPr>
          <a:xfrm flipH="1" rot="10800000">
            <a:off x="5629325" y="2232650"/>
            <a:ext cx="354600" cy="101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24"/>
          <p:cNvCxnSpPr/>
          <p:nvPr/>
        </p:nvCxnSpPr>
        <p:spPr>
          <a:xfrm flipH="1">
            <a:off x="4966025" y="2263475"/>
            <a:ext cx="1017900" cy="19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24"/>
          <p:cNvCxnSpPr/>
          <p:nvPr/>
        </p:nvCxnSpPr>
        <p:spPr>
          <a:xfrm flipH="1" rot="10800000">
            <a:off x="5621600" y="2718350"/>
            <a:ext cx="1850700" cy="53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25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LLM Architecture - Token embeddings</a:t>
            </a:r>
            <a:endParaRPr sz="2200"/>
          </a:p>
        </p:txBody>
      </p:sp>
      <p:sp>
        <p:nvSpPr>
          <p:cNvPr id="216" name="Google Shape;216;p25"/>
          <p:cNvSpPr/>
          <p:nvPr/>
        </p:nvSpPr>
        <p:spPr>
          <a:xfrm>
            <a:off x="503250" y="1638449"/>
            <a:ext cx="1041000" cy="393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Cats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2066375" y="1638450"/>
            <a:ext cx="2121000" cy="393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0.23, -0.78, … , 0.46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5591600" y="3620716"/>
            <a:ext cx="2807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King - Man + Woman = Queen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503250" y="2239949"/>
            <a:ext cx="1041000" cy="393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are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503250" y="2841449"/>
            <a:ext cx="1041000" cy="393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cool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2066375" y="2239950"/>
            <a:ext cx="2121000" cy="393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-0.73, 0.34, … , 0.13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2066375" y="2841450"/>
            <a:ext cx="2121000" cy="393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0.11, -0.25, … , -0.83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223" name="Google Shape;223;p25"/>
          <p:cNvCxnSpPr>
            <a:stCxn id="216" idx="3"/>
            <a:endCxn id="217" idx="1"/>
          </p:cNvCxnSpPr>
          <p:nvPr/>
        </p:nvCxnSpPr>
        <p:spPr>
          <a:xfrm>
            <a:off x="1544250" y="1835099"/>
            <a:ext cx="52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25"/>
          <p:cNvCxnSpPr>
            <a:stCxn id="219" idx="3"/>
            <a:endCxn id="221" idx="1"/>
          </p:cNvCxnSpPr>
          <p:nvPr/>
        </p:nvCxnSpPr>
        <p:spPr>
          <a:xfrm>
            <a:off x="1544250" y="2436599"/>
            <a:ext cx="52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25"/>
          <p:cNvCxnSpPr>
            <a:stCxn id="220" idx="3"/>
            <a:endCxn id="222" idx="1"/>
          </p:cNvCxnSpPr>
          <p:nvPr/>
        </p:nvCxnSpPr>
        <p:spPr>
          <a:xfrm>
            <a:off x="1544250" y="3038099"/>
            <a:ext cx="52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25"/>
          <p:cNvCxnSpPr/>
          <p:nvPr/>
        </p:nvCxnSpPr>
        <p:spPr>
          <a:xfrm rot="10800000">
            <a:off x="5613900" y="1461575"/>
            <a:ext cx="0" cy="179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25"/>
          <p:cNvCxnSpPr/>
          <p:nvPr/>
        </p:nvCxnSpPr>
        <p:spPr>
          <a:xfrm>
            <a:off x="5621600" y="3242850"/>
            <a:ext cx="234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8" name="Google Shape;228;p25"/>
          <p:cNvSpPr/>
          <p:nvPr/>
        </p:nvSpPr>
        <p:spPr>
          <a:xfrm>
            <a:off x="5922350" y="2201800"/>
            <a:ext cx="100200" cy="10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6743600" y="1877925"/>
            <a:ext cx="100200" cy="10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0" name="Google Shape;230;p25"/>
          <p:cNvSpPr/>
          <p:nvPr/>
        </p:nvSpPr>
        <p:spPr>
          <a:xfrm>
            <a:off x="6600950" y="2988388"/>
            <a:ext cx="100200" cy="10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1" name="Google Shape;231;p25"/>
          <p:cNvSpPr/>
          <p:nvPr/>
        </p:nvSpPr>
        <p:spPr>
          <a:xfrm>
            <a:off x="7422200" y="2664513"/>
            <a:ext cx="100200" cy="10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2" name="Google Shape;232;p25"/>
          <p:cNvSpPr txBox="1"/>
          <p:nvPr/>
        </p:nvSpPr>
        <p:spPr>
          <a:xfrm>
            <a:off x="5876082" y="1893380"/>
            <a:ext cx="586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King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3" name="Google Shape;233;p25"/>
          <p:cNvSpPr txBox="1"/>
          <p:nvPr/>
        </p:nvSpPr>
        <p:spPr>
          <a:xfrm>
            <a:off x="6697332" y="1569505"/>
            <a:ext cx="7788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Queen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6554682" y="2679855"/>
            <a:ext cx="586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Man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5" name="Google Shape;235;p25"/>
          <p:cNvSpPr txBox="1"/>
          <p:nvPr/>
        </p:nvSpPr>
        <p:spPr>
          <a:xfrm>
            <a:off x="7375932" y="2355980"/>
            <a:ext cx="9138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Woman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236" name="Google Shape;236;p25"/>
          <p:cNvCxnSpPr/>
          <p:nvPr/>
        </p:nvCxnSpPr>
        <p:spPr>
          <a:xfrm flipH="1" rot="10800000">
            <a:off x="5629325" y="2232650"/>
            <a:ext cx="354600" cy="101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25"/>
          <p:cNvCxnSpPr/>
          <p:nvPr/>
        </p:nvCxnSpPr>
        <p:spPr>
          <a:xfrm flipH="1">
            <a:off x="4966025" y="2263475"/>
            <a:ext cx="1017900" cy="19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25"/>
          <p:cNvCxnSpPr/>
          <p:nvPr/>
        </p:nvCxnSpPr>
        <p:spPr>
          <a:xfrm flipH="1" rot="10800000">
            <a:off x="4958314" y="1923916"/>
            <a:ext cx="1850700" cy="53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9" name="Google Shape;239;p25"/>
          <p:cNvSpPr txBox="1"/>
          <p:nvPr/>
        </p:nvSpPr>
        <p:spPr>
          <a:xfrm>
            <a:off x="5591600" y="4145091"/>
            <a:ext cx="2807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Doctor </a:t>
            </a: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- Man + Woman = ???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6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LLM Architecture - the magic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6" name="Google Shape;246;p26"/>
          <p:cNvSpPr txBox="1"/>
          <p:nvPr/>
        </p:nvSpPr>
        <p:spPr>
          <a:xfrm>
            <a:off x="443225" y="970100"/>
            <a:ext cx="8502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Historically: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RNNs, LSTMs - process words sequentially, forgetting long context.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LLM magic (transformers)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Positional encodings: Preserve sequence order information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Multi-head attention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Process relationships between tokens - process all tokens at the same time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Feed-forward networks: Transform representations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Layer normalization: Stabilize training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7" name="Google Shape;247;p26"/>
          <p:cNvSpPr/>
          <p:nvPr/>
        </p:nvSpPr>
        <p:spPr>
          <a:xfrm>
            <a:off x="392500" y="2984300"/>
            <a:ext cx="1295400" cy="72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Input (Text)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8" name="Google Shape;248;p26"/>
          <p:cNvSpPr/>
          <p:nvPr/>
        </p:nvSpPr>
        <p:spPr>
          <a:xfrm>
            <a:off x="2158400" y="2984300"/>
            <a:ext cx="1295400" cy="72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Token embeddings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9" name="Google Shape;249;p26"/>
          <p:cNvSpPr/>
          <p:nvPr/>
        </p:nvSpPr>
        <p:spPr>
          <a:xfrm>
            <a:off x="3924300" y="2984300"/>
            <a:ext cx="1295400" cy="72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Do the magic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0" name="Google Shape;250;p26"/>
          <p:cNvSpPr/>
          <p:nvPr/>
        </p:nvSpPr>
        <p:spPr>
          <a:xfrm>
            <a:off x="5690200" y="2984300"/>
            <a:ext cx="1295400" cy="72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Predict the next token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251" name="Google Shape;251;p26"/>
          <p:cNvCxnSpPr>
            <a:stCxn id="247" idx="3"/>
            <a:endCxn id="248" idx="1"/>
          </p:cNvCxnSpPr>
          <p:nvPr/>
        </p:nvCxnSpPr>
        <p:spPr>
          <a:xfrm>
            <a:off x="1687900" y="3346700"/>
            <a:ext cx="4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" name="Google Shape;252;p26"/>
          <p:cNvCxnSpPr>
            <a:stCxn id="248" idx="3"/>
            <a:endCxn id="249" idx="1"/>
          </p:cNvCxnSpPr>
          <p:nvPr/>
        </p:nvCxnSpPr>
        <p:spPr>
          <a:xfrm>
            <a:off x="3453800" y="3346700"/>
            <a:ext cx="4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26"/>
          <p:cNvCxnSpPr>
            <a:stCxn id="249" idx="3"/>
            <a:endCxn id="250" idx="1"/>
          </p:cNvCxnSpPr>
          <p:nvPr/>
        </p:nvCxnSpPr>
        <p:spPr>
          <a:xfrm>
            <a:off x="5219700" y="3346700"/>
            <a:ext cx="4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4" name="Google Shape;254;p26"/>
          <p:cNvSpPr/>
          <p:nvPr/>
        </p:nvSpPr>
        <p:spPr>
          <a:xfrm>
            <a:off x="7456100" y="2984300"/>
            <a:ext cx="1295400" cy="72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Output (Text)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255" name="Google Shape;255;p26"/>
          <p:cNvCxnSpPr>
            <a:stCxn id="250" idx="3"/>
            <a:endCxn id="254" idx="1"/>
          </p:cNvCxnSpPr>
          <p:nvPr/>
        </p:nvCxnSpPr>
        <p:spPr>
          <a:xfrm>
            <a:off x="6985600" y="3346700"/>
            <a:ext cx="4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6368" y="243650"/>
            <a:ext cx="3159950" cy="441840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LLM Architecture - Encoder and Decoder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3" name="Google Shape;263;p27"/>
          <p:cNvSpPr txBox="1"/>
          <p:nvPr/>
        </p:nvSpPr>
        <p:spPr>
          <a:xfrm>
            <a:off x="443225" y="970100"/>
            <a:ext cx="85023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Key components: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Token embeddings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Convert words to vector representations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Positional encodings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Preserve sequence order information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Encoder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Processes input text into contextual representations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Decoder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Generates output text based on encoded representations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Multi-head attention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Process relationships between tokens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Feed-forward networks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Transform representations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Layer normalization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Stabilize training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Types of transformers: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Encoder-decoder models (T5)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Translation and transformation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Encoder-only models (BERT):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Understanding tasks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Decoder-only models (GPT):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Generation tasks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4" name="Google Shape;264;p27"/>
          <p:cNvSpPr txBox="1"/>
          <p:nvPr/>
        </p:nvSpPr>
        <p:spPr>
          <a:xfrm>
            <a:off x="3115400" y="43656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Attention is all you need</a:t>
            </a:r>
            <a:r>
              <a:rPr lang="en" sz="1200"/>
              <a:t> </a:t>
            </a:r>
            <a:r>
              <a:rPr lang="en" sz="1200"/>
              <a:t>https://arxiv.org/abs/1706.03762</a:t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8"/>
          <p:cNvPicPr preferRelativeResize="0"/>
          <p:nvPr/>
        </p:nvPicPr>
        <p:blipFill rotWithShape="1">
          <a:blip r:embed="rId3">
            <a:alphaModFix/>
          </a:blip>
          <a:srcRect b="0" l="0" r="60577" t="0"/>
          <a:stretch/>
        </p:blipFill>
        <p:spPr>
          <a:xfrm>
            <a:off x="3531725" y="1206450"/>
            <a:ext cx="2185475" cy="310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8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28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LLM Architecture - </a:t>
            </a:r>
            <a:r>
              <a:rPr lang="en" sz="2200"/>
              <a:t>Attention Mechanism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2" name="Google Shape;272;p28"/>
          <p:cNvSpPr txBox="1"/>
          <p:nvPr/>
        </p:nvSpPr>
        <p:spPr>
          <a:xfrm>
            <a:off x="443225" y="970100"/>
            <a:ext cx="30885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Attention: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core innovation enabling modern LLMs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Each token attends to all other tokens in the sequence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Attention scores measure relevance between token pairs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Benefits: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Handles long-range dependencies in text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Resolves ambiguity through context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Creates rich, contextual token representations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 practice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Clever way of doing vector/matrix multiplication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Many parallel attention heads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5718026" y="1237275"/>
            <a:ext cx="3134700" cy="280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6AA84F"/>
                </a:solidFill>
              </a:rPr>
              <a:t># Simplified attention calculation (pseudocode)</a:t>
            </a:r>
            <a:endParaRPr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900FF"/>
                </a:solidFill>
              </a:rPr>
              <a:t>def </a:t>
            </a:r>
            <a:r>
              <a:rPr lang="en" sz="1000">
                <a:solidFill>
                  <a:schemeClr val="dk1"/>
                </a:solidFill>
              </a:rPr>
              <a:t>self_attention(sequence):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6AA84F"/>
                </a:solidFill>
              </a:rPr>
              <a:t>    # Create query, key, value projections</a:t>
            </a:r>
            <a:endParaRPr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 Q = sequence @ W_query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 K = sequence @ W_key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 V = sequence @ W_value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6AA84F"/>
                </a:solidFill>
              </a:rPr>
              <a:t>    # Calculate attention scores</a:t>
            </a:r>
            <a:endParaRPr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 scores = Q @ K.transpose() / sqrt(d_k)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6AA84F"/>
                </a:solidFill>
              </a:rPr>
              <a:t>    # Apply softmax to get probabilities</a:t>
            </a:r>
            <a:endParaRPr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 attention_weights = softmax(scores)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6AA84F"/>
                </a:solidFill>
              </a:rPr>
              <a:t>    # Get weighted sum of values</a:t>
            </a:r>
            <a:endParaRPr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 context_vectors = attention_weights @ V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    </a:t>
            </a:r>
            <a:r>
              <a:rPr lang="en" sz="1000">
                <a:solidFill>
                  <a:srgbClr val="9900FF"/>
                </a:solidFill>
              </a:rPr>
              <a:t>return </a:t>
            </a:r>
            <a:r>
              <a:rPr lang="en" sz="1000">
                <a:solidFill>
                  <a:schemeClr val="dk1"/>
                </a:solidFill>
              </a:rPr>
              <a:t>context_vectors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29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Attention Mechanism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0" name="Google Shape;280;p29"/>
          <p:cNvSpPr txBox="1"/>
          <p:nvPr/>
        </p:nvSpPr>
        <p:spPr>
          <a:xfrm>
            <a:off x="443225" y="970100"/>
            <a:ext cx="30885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Attention: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core innovation enabling modern LLMs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Each token attends to all other tokens in the sequence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Attention scores measure relevance between token pairs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Benefits: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Handles long-range dependencies in text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Resolves ambiguity through context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Creates rich, contextual token representations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 practice: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Clever way of doing vector/matrix multiplication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Many parallel attention heads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81" name="Google Shape;281;p29"/>
          <p:cNvPicPr preferRelativeResize="0"/>
          <p:nvPr/>
        </p:nvPicPr>
        <p:blipFill rotWithShape="1">
          <a:blip r:embed="rId3">
            <a:alphaModFix/>
          </a:blip>
          <a:srcRect b="0" l="60577" r="0" t="0"/>
          <a:stretch/>
        </p:blipFill>
        <p:spPr>
          <a:xfrm>
            <a:off x="5166651" y="913000"/>
            <a:ext cx="2417651" cy="34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30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Training and </a:t>
            </a:r>
            <a:r>
              <a:rPr lang="en" sz="2200"/>
              <a:t>Post-Training LLMs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8" name="Google Shape;288;p30"/>
          <p:cNvSpPr txBox="1"/>
          <p:nvPr/>
        </p:nvSpPr>
        <p:spPr>
          <a:xfrm>
            <a:off x="443225" y="970100"/>
            <a:ext cx="46617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Modern LLMs are pre-trained using trillions of words (entire web!)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Enormous compute power: thousands of GPUs running for weeks or months, costing millions of dollars.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Despite this, pre-trained base models have limitations: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No knowledge of recent events after their data cutoff.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Can generate plausible-sounding but incorrect or nonsensical answers (“hallucinations”).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Poor at following nuanced instructions or aligning with user expectations (e.g., tone, safety, task performance).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Role of Post-Training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Goal: Refine and align the base LLM with specific tasks, domains, or safety requirements.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Addresses gaps such as factual accuracy, user intent, and ethical alignment.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9" name="Google Shape;289;p30"/>
          <p:cNvSpPr/>
          <p:nvPr/>
        </p:nvSpPr>
        <p:spPr>
          <a:xfrm>
            <a:off x="5212900" y="1048750"/>
            <a:ext cx="1115400" cy="142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Lora"/>
                <a:ea typeface="Lora"/>
                <a:cs typeface="Lora"/>
                <a:sym typeface="Lora"/>
              </a:rPr>
              <a:t>Input:</a:t>
            </a:r>
            <a:br>
              <a:rPr lang="en" sz="1200">
                <a:latin typeface="Lora"/>
                <a:ea typeface="Lora"/>
                <a:cs typeface="Lora"/>
                <a:sym typeface="Lora"/>
              </a:rPr>
            </a:br>
            <a:r>
              <a:rPr lang="en" sz="1200">
                <a:latin typeface="Lora"/>
                <a:ea typeface="Lora"/>
                <a:cs typeface="Lora"/>
                <a:sym typeface="Lora"/>
              </a:rPr>
              <a:t>What is the capital of france?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0" name="Google Shape;290;p30"/>
          <p:cNvSpPr/>
          <p:nvPr/>
        </p:nvSpPr>
        <p:spPr>
          <a:xfrm>
            <a:off x="6536416" y="1431754"/>
            <a:ext cx="1115400" cy="65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Base model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1" name="Google Shape;291;p30"/>
          <p:cNvSpPr/>
          <p:nvPr/>
        </p:nvSpPr>
        <p:spPr>
          <a:xfrm>
            <a:off x="7859932" y="1048750"/>
            <a:ext cx="1115400" cy="142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Lora"/>
                <a:ea typeface="Lora"/>
                <a:cs typeface="Lora"/>
                <a:sym typeface="Lora"/>
              </a:rPr>
              <a:t>Output:</a:t>
            </a:r>
            <a:endParaRPr b="1" sz="12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What is the capital of Germany?</a:t>
            </a:r>
            <a:br>
              <a:rPr lang="en" sz="1200">
                <a:latin typeface="Lora"/>
                <a:ea typeface="Lora"/>
                <a:cs typeface="Lora"/>
                <a:sym typeface="Lora"/>
              </a:rPr>
            </a:br>
            <a:r>
              <a:rPr lang="en" sz="1200">
                <a:latin typeface="Lora"/>
                <a:ea typeface="Lora"/>
                <a:cs typeface="Lora"/>
                <a:sym typeface="Lora"/>
              </a:rPr>
              <a:t>What is the capital of Spain?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292" name="Google Shape;292;p30"/>
          <p:cNvCxnSpPr>
            <a:stCxn id="289" idx="3"/>
            <a:endCxn id="290" idx="1"/>
          </p:cNvCxnSpPr>
          <p:nvPr/>
        </p:nvCxnSpPr>
        <p:spPr>
          <a:xfrm>
            <a:off x="6328300" y="1758850"/>
            <a:ext cx="20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" name="Google Shape;293;p30"/>
          <p:cNvCxnSpPr>
            <a:stCxn id="290" idx="3"/>
            <a:endCxn id="291" idx="1"/>
          </p:cNvCxnSpPr>
          <p:nvPr/>
        </p:nvCxnSpPr>
        <p:spPr>
          <a:xfrm>
            <a:off x="7651816" y="1758904"/>
            <a:ext cx="20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4" name="Google Shape;294;p30"/>
          <p:cNvSpPr/>
          <p:nvPr/>
        </p:nvSpPr>
        <p:spPr>
          <a:xfrm>
            <a:off x="5212900" y="2782425"/>
            <a:ext cx="1115400" cy="142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Lora"/>
                <a:ea typeface="Lora"/>
                <a:cs typeface="Lora"/>
                <a:sym typeface="Lora"/>
              </a:rPr>
              <a:t>Input:</a:t>
            </a:r>
            <a:br>
              <a:rPr lang="en" sz="1200">
                <a:latin typeface="Lora"/>
                <a:ea typeface="Lora"/>
                <a:cs typeface="Lora"/>
                <a:sym typeface="Lora"/>
              </a:rPr>
            </a:br>
            <a:r>
              <a:rPr lang="en" sz="1200">
                <a:latin typeface="Lora"/>
                <a:ea typeface="Lora"/>
                <a:cs typeface="Lora"/>
                <a:sym typeface="Lora"/>
              </a:rPr>
              <a:t>What is the capital of france?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5" name="Google Shape;295;p30"/>
          <p:cNvSpPr/>
          <p:nvPr/>
        </p:nvSpPr>
        <p:spPr>
          <a:xfrm>
            <a:off x="6536416" y="3165428"/>
            <a:ext cx="1115400" cy="65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Instruction fine-tuned model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6" name="Google Shape;296;p30"/>
          <p:cNvSpPr/>
          <p:nvPr/>
        </p:nvSpPr>
        <p:spPr>
          <a:xfrm>
            <a:off x="7859932" y="2782425"/>
            <a:ext cx="1115400" cy="142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Lora"/>
                <a:ea typeface="Lora"/>
                <a:cs typeface="Lora"/>
                <a:sym typeface="Lora"/>
              </a:rPr>
              <a:t>Output:</a:t>
            </a:r>
            <a:endParaRPr b="1" sz="12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The capital of France is Paris.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297" name="Google Shape;297;p30"/>
          <p:cNvCxnSpPr>
            <a:stCxn id="294" idx="3"/>
            <a:endCxn id="295" idx="1"/>
          </p:cNvCxnSpPr>
          <p:nvPr/>
        </p:nvCxnSpPr>
        <p:spPr>
          <a:xfrm>
            <a:off x="6328300" y="3492525"/>
            <a:ext cx="20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30"/>
          <p:cNvCxnSpPr>
            <a:stCxn id="295" idx="3"/>
            <a:endCxn id="296" idx="1"/>
          </p:cNvCxnSpPr>
          <p:nvPr/>
        </p:nvCxnSpPr>
        <p:spPr>
          <a:xfrm>
            <a:off x="7651816" y="3492578"/>
            <a:ext cx="20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4" name="Google Shape;304;p31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Post-Training LLMs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5" name="Google Shape;305;p31"/>
          <p:cNvSpPr txBox="1"/>
          <p:nvPr/>
        </p:nvSpPr>
        <p:spPr>
          <a:xfrm>
            <a:off x="443225" y="970100"/>
            <a:ext cx="78927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Post-Training Data is smaller and more curated.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Includes task-specific examples, question-answer pairs, user demonstrations, or preference data.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Quality and relevance are more important than volume.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Common Post-Training Methods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Supervised Fine-Tuning (SFT):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Labeled datasets with correct outputs for given inputs.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Improves performance on targeted tasks (chatbots, translation, summarization).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Reinforcement Learning from Human Feedback (RLHF):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Model generates outputs, humans rank or score them.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These preferences train a reward model, which is then used to further train the LLM via reinforcement learning.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Drives alignment with human values and improves response helpfulness and safety.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Parameter-Efficient Fine-Tuning: LoRA and Similar Approaches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Allows effective fine-tuning by updating a small subset of model parameters, not the whole model.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Drastically reduces compute and memory requirements, making customization practical for more users.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2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32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Practical part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3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33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API Calls with LLMs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18" name="Google Shape;318;p33"/>
          <p:cNvSpPr txBox="1"/>
          <p:nvPr/>
        </p:nvSpPr>
        <p:spPr>
          <a:xfrm>
            <a:off x="443225" y="970100"/>
            <a:ext cx="41604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LLMs are accessed through APIs, facilitating integration into applications.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Steps: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Get API key (typically you pay for it)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set up environment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make requests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handle responses.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Uses: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Auto-completing sentences, generating creative content, question answering.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Build large scale apps that can automate LLM calls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19" name="Google Shape;319;p33"/>
          <p:cNvSpPr/>
          <p:nvPr/>
        </p:nvSpPr>
        <p:spPr>
          <a:xfrm>
            <a:off x="4796484" y="1106000"/>
            <a:ext cx="4051200" cy="249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900FF"/>
                </a:solidFill>
              </a:rPr>
              <a:t>import </a:t>
            </a:r>
            <a:r>
              <a:rPr lang="en" sz="1000">
                <a:solidFill>
                  <a:schemeClr val="dk1"/>
                </a:solidFill>
              </a:rPr>
              <a:t>google.generativeai as genai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6AA84F"/>
                </a:solidFill>
              </a:rPr>
              <a:t># Set up API authentication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genai.configure(api_key="YOUR_API_KEY")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model = genai.GenerativeModel("models/gemini-2.0-flash-lite")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response = model.generate_content("What is the capital of France?")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print(response.text)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20" name="Google Shape;320;p33"/>
          <p:cNvSpPr txBox="1"/>
          <p:nvPr/>
        </p:nvSpPr>
        <p:spPr>
          <a:xfrm>
            <a:off x="4635825" y="3909675"/>
            <a:ext cx="437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</a:t>
            </a:r>
            <a:r>
              <a:rPr lang="en" sz="1200"/>
              <a:t>lease go to https://aistudio.google.com/app/api-keys and create your API key, so you can call an LLM. This should be free of charge.</a:t>
            </a:r>
            <a:endParaRPr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4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6" name="Google Shape;326;p34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Introduction to Prompt Engineering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27" name="Google Shape;327;p34"/>
          <p:cNvSpPr txBox="1"/>
          <p:nvPr/>
        </p:nvSpPr>
        <p:spPr>
          <a:xfrm>
            <a:off x="443225" y="970100"/>
            <a:ext cx="4538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Prompt engineering: The art and science of crafting effective inputs for LLMs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better the prompt, the better the response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Think about how you would ask a person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Impacts output quality and relevance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Compensates for model limitations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Prompt engineering process: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Draft initial prompt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Test and analyze response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Refine prompt based on results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Iterate until satisfactory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28" name="Google Shape;328;p34"/>
          <p:cNvSpPr/>
          <p:nvPr/>
        </p:nvSpPr>
        <p:spPr>
          <a:xfrm>
            <a:off x="6058425" y="722700"/>
            <a:ext cx="2887200" cy="4536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"Tell me about climate change."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29" name="Google Shape;329;p34"/>
          <p:cNvSpPr/>
          <p:nvPr/>
        </p:nvSpPr>
        <p:spPr>
          <a:xfrm>
            <a:off x="6058425" y="1368525"/>
            <a:ext cx="2887200" cy="899400"/>
          </a:xfrm>
          <a:prstGeom prst="roundRect">
            <a:avLst>
              <a:gd fmla="val 11449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"Explain the causes and effects of climate change in 3-4 paragraphs. Include scientific consensus, major contributing factors, and potential mitigation strategies. Use clear language suitable for a high school student."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30" name="Google Shape;330;p34"/>
          <p:cNvSpPr/>
          <p:nvPr/>
        </p:nvSpPr>
        <p:spPr>
          <a:xfrm>
            <a:off x="6058425" y="2421825"/>
            <a:ext cx="2887200" cy="2214300"/>
          </a:xfrm>
          <a:prstGeom prst="roundRect">
            <a:avLst>
              <a:gd fmla="val 6044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"You are an environmental science educator creating content for a high school classroom. Write a 3-4 paragraph explanation of climate change that: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1. Explains the greenhouse effect and how human activities contribute to it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2. Describes 3 major observed and projected impacts of climate change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3. Outlines 2-3 significant mitigation strategies being implemented globally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Use data-supported facts while keeping the language accessible to 10th-grade students."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5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35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Techniques in Prompt Engineering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37" name="Google Shape;337;p35"/>
          <p:cNvSpPr txBox="1"/>
          <p:nvPr/>
        </p:nvSpPr>
        <p:spPr>
          <a:xfrm>
            <a:off x="443225" y="970100"/>
            <a:ext cx="54636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Role assignment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"You are an expert in..."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Few-shot learning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Provide examples of desired outputs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Chain of thought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"Think step by step..."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Specific 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instructions: Format, length, style, audience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Contextual 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framing: Set scenarios or constraints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When adding data to your prompt use </a:t>
            </a: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delimiters</a:t>
            </a:r>
            <a:endParaRPr b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Advanced techniques (some are a good starting point for agents):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Self-criticism: "Review your answer for errors"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Alternative perspectives: "Consider different viewpoints"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Structured reasoning: "First... Second... Finally..."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Explicit constraints: "Do not mention..."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38" name="Google Shape;338;p35"/>
          <p:cNvSpPr/>
          <p:nvPr/>
        </p:nvSpPr>
        <p:spPr>
          <a:xfrm>
            <a:off x="5906925" y="269900"/>
            <a:ext cx="3038700" cy="2552400"/>
          </a:xfrm>
          <a:prstGeom prst="roundRect">
            <a:avLst>
              <a:gd fmla="val 664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Classify the sentiment of the sentence as Positive or Negative, as shown in the examples.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Example 1: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Sentence: I love this new phone!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Sentiment: Positive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Example 2: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Sentence: The service was terrible.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Sentiment: Negative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Please classify the following sentence: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Sentence: The restaurant was fantastic.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Sentiment: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39" name="Google Shape;339;p35"/>
          <p:cNvSpPr/>
          <p:nvPr/>
        </p:nvSpPr>
        <p:spPr>
          <a:xfrm>
            <a:off x="5906925" y="2999725"/>
            <a:ext cx="3038700" cy="1680900"/>
          </a:xfrm>
          <a:prstGeom prst="roundRect">
            <a:avLst>
              <a:gd fmla="val 9635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Summarize the key findings from the research paper. The paper is enclosed in &lt;paper&gt; tags.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&lt;paper&gt;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Recent studies show that drinking tea reduces stress and improves focus.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&lt;/paper&gt;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Summary: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5" name="Google Shape;345;p36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Structured Output from LLMs - Intro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46" name="Google Shape;346;p36"/>
          <p:cNvSpPr txBox="1"/>
          <p:nvPr/>
        </p:nvSpPr>
        <p:spPr>
          <a:xfrm>
            <a:off x="443225" y="970100"/>
            <a:ext cx="352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Challenges with raw LLM outputs: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Inconsistent formatting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Difficult to parse programmatically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May include unnecessary explanations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47" name="Google Shape;347;p36"/>
          <p:cNvSpPr/>
          <p:nvPr/>
        </p:nvSpPr>
        <p:spPr>
          <a:xfrm>
            <a:off x="5175275" y="832862"/>
            <a:ext cx="3138600" cy="99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Please extract the date of birth from the given document: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&lt;document&gt;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Actual document text…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&lt;/document&gt;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48" name="Google Shape;348;p36"/>
          <p:cNvSpPr/>
          <p:nvPr/>
        </p:nvSpPr>
        <p:spPr>
          <a:xfrm>
            <a:off x="5065650" y="2178137"/>
            <a:ext cx="8607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4. 5. 1991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49" name="Google Shape;349;p36"/>
          <p:cNvSpPr/>
          <p:nvPr/>
        </p:nvSpPr>
        <p:spPr>
          <a:xfrm>
            <a:off x="5594750" y="2685462"/>
            <a:ext cx="8607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5. 4. 1991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50" name="Google Shape;350;p36"/>
          <p:cNvSpPr/>
          <p:nvPr/>
        </p:nvSpPr>
        <p:spPr>
          <a:xfrm>
            <a:off x="7229575" y="2178137"/>
            <a:ext cx="11373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4. May 1991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51" name="Google Shape;351;p36"/>
          <p:cNvSpPr/>
          <p:nvPr/>
        </p:nvSpPr>
        <p:spPr>
          <a:xfrm>
            <a:off x="6759200" y="2602262"/>
            <a:ext cx="1484400" cy="45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The date of birth is 4. May 1991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352" name="Google Shape;352;p36"/>
          <p:cNvCxnSpPr/>
          <p:nvPr/>
        </p:nvCxnSpPr>
        <p:spPr>
          <a:xfrm flipH="1">
            <a:off x="5683375" y="1835337"/>
            <a:ext cx="177300" cy="33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" name="Google Shape;353;p36"/>
          <p:cNvCxnSpPr/>
          <p:nvPr/>
        </p:nvCxnSpPr>
        <p:spPr>
          <a:xfrm>
            <a:off x="7356675" y="1835337"/>
            <a:ext cx="231300" cy="33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" name="Google Shape;354;p36"/>
          <p:cNvCxnSpPr>
            <a:endCxn id="349" idx="0"/>
          </p:cNvCxnSpPr>
          <p:nvPr/>
        </p:nvCxnSpPr>
        <p:spPr>
          <a:xfrm flipH="1">
            <a:off x="6025100" y="1835262"/>
            <a:ext cx="213300" cy="85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36"/>
          <p:cNvCxnSpPr/>
          <p:nvPr/>
        </p:nvCxnSpPr>
        <p:spPr>
          <a:xfrm>
            <a:off x="6971100" y="1835337"/>
            <a:ext cx="131100" cy="7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6" name="Google Shape;356;p36"/>
          <p:cNvSpPr/>
          <p:nvPr/>
        </p:nvSpPr>
        <p:spPr>
          <a:xfrm>
            <a:off x="5175275" y="3444962"/>
            <a:ext cx="3138600" cy="12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Please extract the date of birth from the given document:</a:t>
            </a:r>
            <a:r>
              <a:rPr lang="en" sz="1200"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&lt;document&gt;Actual document text…&lt;/document&gt;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Return it in the following format: dd-mm-yyyy. Don’t write anything else in the output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57" name="Google Shape;357;p36"/>
          <p:cNvSpPr txBox="1"/>
          <p:nvPr/>
        </p:nvSpPr>
        <p:spPr>
          <a:xfrm>
            <a:off x="4931200" y="3104763"/>
            <a:ext cx="2109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Improved prompt: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7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3" name="Google Shape;363;p37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Structured Output from LLMs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64" name="Google Shape;364;p37"/>
          <p:cNvSpPr txBox="1"/>
          <p:nvPr/>
        </p:nvSpPr>
        <p:spPr>
          <a:xfrm>
            <a:off x="443225" y="970100"/>
            <a:ext cx="4476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Instead of asking the LLM to do something, force it: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Allow the LLM to only output pre-determined tokens: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Date can only start with 0, 1, or 2.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Two ways of doing this: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Iteratively - just re-prompt the LLM if the output is incorrect (wasteful!)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Edit the LLM itself to introduce constraints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Luckily, libraries do that for you.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Benefits of structured outputs: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Predictable format: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Use it as input to functions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Use </a:t>
            </a: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JSON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, XML, CSV for more complex tasks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Direct integration with application logic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Reduced post-processing complexity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65" name="Google Shape;365;p37"/>
          <p:cNvSpPr/>
          <p:nvPr/>
        </p:nvSpPr>
        <p:spPr>
          <a:xfrm>
            <a:off x="5175275" y="840550"/>
            <a:ext cx="3138600" cy="156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Please extract the date of birth from the given document: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&lt;document&gt;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Actual document text…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&lt;/document&gt;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Return it in the following format: dd-mm-yyyy. Don’t write anything else in the output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66" name="Google Shape;366;p37"/>
          <p:cNvSpPr txBox="1"/>
          <p:nvPr/>
        </p:nvSpPr>
        <p:spPr>
          <a:xfrm>
            <a:off x="4897550" y="468876"/>
            <a:ext cx="2109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Improved prompt:</a:t>
            </a:r>
            <a:endParaRPr sz="15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67" name="Google Shape;367;p37"/>
          <p:cNvSpPr/>
          <p:nvPr/>
        </p:nvSpPr>
        <p:spPr>
          <a:xfrm>
            <a:off x="4919825" y="2750275"/>
            <a:ext cx="10065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0</a:t>
            </a:r>
            <a:r>
              <a:rPr lang="en" sz="1200">
                <a:latin typeface="Lora"/>
                <a:ea typeface="Lora"/>
                <a:cs typeface="Lora"/>
                <a:sym typeface="Lora"/>
              </a:rPr>
              <a:t>4-05-1991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68" name="Google Shape;368;p37"/>
          <p:cNvSpPr/>
          <p:nvPr/>
        </p:nvSpPr>
        <p:spPr>
          <a:xfrm>
            <a:off x="5448950" y="3257600"/>
            <a:ext cx="10065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04-05-1991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69" name="Google Shape;369;p37"/>
          <p:cNvSpPr/>
          <p:nvPr/>
        </p:nvSpPr>
        <p:spPr>
          <a:xfrm>
            <a:off x="7229575" y="2750275"/>
            <a:ext cx="11373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04-05-1991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70" name="Google Shape;370;p37"/>
          <p:cNvSpPr/>
          <p:nvPr/>
        </p:nvSpPr>
        <p:spPr>
          <a:xfrm>
            <a:off x="6759200" y="3174400"/>
            <a:ext cx="1484400" cy="45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The date of birth is 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04-05-1991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371" name="Google Shape;371;p37"/>
          <p:cNvCxnSpPr/>
          <p:nvPr/>
        </p:nvCxnSpPr>
        <p:spPr>
          <a:xfrm flipH="1">
            <a:off x="5683375" y="2407475"/>
            <a:ext cx="177300" cy="33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2" name="Google Shape;372;p37"/>
          <p:cNvCxnSpPr/>
          <p:nvPr/>
        </p:nvCxnSpPr>
        <p:spPr>
          <a:xfrm>
            <a:off x="7356675" y="2407475"/>
            <a:ext cx="231300" cy="33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" name="Google Shape;373;p37"/>
          <p:cNvCxnSpPr>
            <a:endCxn id="368" idx="0"/>
          </p:cNvCxnSpPr>
          <p:nvPr/>
        </p:nvCxnSpPr>
        <p:spPr>
          <a:xfrm flipH="1">
            <a:off x="5952200" y="2407400"/>
            <a:ext cx="213300" cy="85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37"/>
          <p:cNvCxnSpPr/>
          <p:nvPr/>
        </p:nvCxnSpPr>
        <p:spPr>
          <a:xfrm>
            <a:off x="6971100" y="2407475"/>
            <a:ext cx="131100" cy="7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8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38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Structured Output from LLMs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381" name="Google Shape;381;p38"/>
          <p:cNvGraphicFramePr/>
          <p:nvPr/>
        </p:nvGraphicFramePr>
        <p:xfrm>
          <a:off x="942838" y="14324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{6884E578-B18C-44A3-8B0A-05DA80CFDB11}</a:tableStyleId>
              </a:tblPr>
              <a:tblGrid>
                <a:gridCol w="1983650"/>
                <a:gridCol w="3133250"/>
                <a:gridCol w="2141425"/>
              </a:tblGrid>
              <a:tr h="571500"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000">
                          <a:solidFill>
                            <a:srgbClr val="CCCCCC"/>
                          </a:solidFill>
                        </a:rPr>
                        <a:t>Aspect</a:t>
                      </a:r>
                      <a:endParaRPr b="1"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000">
                          <a:solidFill>
                            <a:srgbClr val="CCCCCC"/>
                          </a:solidFill>
                        </a:rPr>
                        <a:t>Prompt Engineering</a:t>
                      </a:r>
                      <a:endParaRPr b="1"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000">
                          <a:solidFill>
                            <a:srgbClr val="CCCCCC"/>
                          </a:solidFill>
                        </a:rPr>
                        <a:t>True Structured Output</a:t>
                      </a:r>
                      <a:endParaRPr b="1"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000">
                          <a:solidFill>
                            <a:srgbClr val="CCCCCC"/>
                          </a:solidFill>
                        </a:rPr>
                        <a:t>Format Guarantee</a:t>
                      </a:r>
                      <a:endParaRPr b="1"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CCCCCC"/>
                          </a:solidFill>
                        </a:rPr>
                        <a:t>❌ Can return markdown/text</a:t>
                      </a:r>
                      <a:endParaRPr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CCCCCC"/>
                          </a:solidFill>
                        </a:rPr>
                        <a:t>✅ Always pure JSON</a:t>
                      </a:r>
                      <a:endParaRPr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000">
                          <a:solidFill>
                            <a:srgbClr val="CCCCCC"/>
                          </a:solidFill>
                        </a:rPr>
                        <a:t>Parsing Reliability</a:t>
                      </a:r>
                      <a:endParaRPr b="1"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CCCCCC"/>
                          </a:solidFill>
                        </a:rPr>
                        <a:t>❌ May fail with </a:t>
                      </a:r>
                      <a:r>
                        <a:rPr lang="en" sz="900">
                          <a:solidFill>
                            <a:srgbClr val="D0D0D0"/>
                          </a:solidFill>
                          <a:highlight>
                            <a:schemeClr val="dk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json.loads()</a:t>
                      </a:r>
                      <a:endParaRPr sz="900">
                        <a:solidFill>
                          <a:srgbClr val="D0D0D0"/>
                        </a:solidFill>
                        <a:highlight>
                          <a:schemeClr val="dk1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CCCCCC"/>
                          </a:solidFill>
                        </a:rPr>
                        <a:t>✅ 100% parseable</a:t>
                      </a:r>
                      <a:endParaRPr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33000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000">
                          <a:solidFill>
                            <a:srgbClr val="CCCCCC"/>
                          </a:solidFill>
                        </a:rPr>
                        <a:t>Field Validation</a:t>
                      </a:r>
                      <a:endParaRPr b="1"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CCCCCC"/>
                          </a:solidFill>
                        </a:rPr>
                        <a:t>❌ Fields may be missing/wrong</a:t>
                      </a:r>
                      <a:endParaRPr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CCCCCC"/>
                          </a:solidFill>
                        </a:rPr>
                        <a:t>✅ Schema-enforced</a:t>
                      </a:r>
                      <a:endParaRPr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000">
                          <a:solidFill>
                            <a:srgbClr val="CCCCCC"/>
                          </a:solidFill>
                        </a:rPr>
                        <a:t>Type Safety</a:t>
                      </a:r>
                      <a:endParaRPr b="1"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CCCCCC"/>
                          </a:solidFill>
                        </a:rPr>
                        <a:t>❌ Manual validation needed</a:t>
                      </a:r>
                      <a:endParaRPr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CCCCCC"/>
                          </a:solidFill>
                        </a:rPr>
                        <a:t>✅ Automatic type checking</a:t>
                      </a:r>
                      <a:endParaRPr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000">
                          <a:solidFill>
                            <a:srgbClr val="CCCCCC"/>
                          </a:solidFill>
                        </a:rPr>
                        <a:t>Production Ready</a:t>
                      </a:r>
                      <a:endParaRPr b="1"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CCCCCC"/>
                          </a:solidFill>
                        </a:rPr>
                        <a:t>⚠️ Requires error handling</a:t>
                      </a:r>
                      <a:endParaRPr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rgbClr val="CCCCCC"/>
                          </a:solidFill>
                        </a:rPr>
                        <a:t>✅ Bulletproof</a:t>
                      </a:r>
                      <a:endParaRPr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9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39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Function Calling</a:t>
            </a:r>
            <a:r>
              <a:rPr lang="en" sz="2200"/>
              <a:t> with LLMs </a:t>
            </a:r>
            <a:r>
              <a:rPr lang="en" sz="2200"/>
              <a:t>(dependant on structured output)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88" name="Google Shape;388;p39"/>
          <p:cNvSpPr/>
          <p:nvPr/>
        </p:nvSpPr>
        <p:spPr>
          <a:xfrm>
            <a:off x="443225" y="1781325"/>
            <a:ext cx="1295400" cy="1318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Input (Text)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89" name="Google Shape;389;p39"/>
          <p:cNvSpPr/>
          <p:nvPr/>
        </p:nvSpPr>
        <p:spPr>
          <a:xfrm>
            <a:off x="2209125" y="1781325"/>
            <a:ext cx="1295400" cy="1318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LLM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90" name="Google Shape;390;p39"/>
          <p:cNvSpPr/>
          <p:nvPr/>
        </p:nvSpPr>
        <p:spPr>
          <a:xfrm>
            <a:off x="3975025" y="1781325"/>
            <a:ext cx="1295400" cy="1318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Parse the output and use logic to decide what to do next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91" name="Google Shape;391;p39"/>
          <p:cNvSpPr/>
          <p:nvPr/>
        </p:nvSpPr>
        <p:spPr>
          <a:xfrm>
            <a:off x="5740925" y="1781325"/>
            <a:ext cx="1295400" cy="1318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Do stuff…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392" name="Google Shape;392;p39"/>
          <p:cNvCxnSpPr>
            <a:stCxn id="388" idx="3"/>
            <a:endCxn id="389" idx="1"/>
          </p:cNvCxnSpPr>
          <p:nvPr/>
        </p:nvCxnSpPr>
        <p:spPr>
          <a:xfrm>
            <a:off x="1738625" y="2440725"/>
            <a:ext cx="4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39"/>
          <p:cNvCxnSpPr>
            <a:stCxn id="389" idx="3"/>
            <a:endCxn id="390" idx="1"/>
          </p:cNvCxnSpPr>
          <p:nvPr/>
        </p:nvCxnSpPr>
        <p:spPr>
          <a:xfrm>
            <a:off x="3504525" y="2440725"/>
            <a:ext cx="4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4" name="Google Shape;394;p39"/>
          <p:cNvCxnSpPr>
            <a:stCxn id="390" idx="3"/>
            <a:endCxn id="391" idx="1"/>
          </p:cNvCxnSpPr>
          <p:nvPr/>
        </p:nvCxnSpPr>
        <p:spPr>
          <a:xfrm>
            <a:off x="5270425" y="2440725"/>
            <a:ext cx="4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5" name="Google Shape;395;p39"/>
          <p:cNvSpPr/>
          <p:nvPr/>
        </p:nvSpPr>
        <p:spPr>
          <a:xfrm>
            <a:off x="7506825" y="1781325"/>
            <a:ext cx="1295400" cy="1318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Output (Text)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396" name="Google Shape;396;p39"/>
          <p:cNvCxnSpPr>
            <a:stCxn id="391" idx="3"/>
            <a:endCxn id="395" idx="1"/>
          </p:cNvCxnSpPr>
          <p:nvPr/>
        </p:nvCxnSpPr>
        <p:spPr>
          <a:xfrm>
            <a:off x="7036325" y="2440725"/>
            <a:ext cx="47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7" name="Google Shape;397;p39"/>
          <p:cNvSpPr/>
          <p:nvPr/>
        </p:nvSpPr>
        <p:spPr>
          <a:xfrm>
            <a:off x="2425052" y="3100125"/>
            <a:ext cx="1241400" cy="54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- </a:t>
            </a:r>
            <a:r>
              <a:rPr lang="en" sz="1000">
                <a:latin typeface="Lora"/>
                <a:ea typeface="Lora"/>
                <a:cs typeface="Lora"/>
                <a:sym typeface="Lora"/>
              </a:rPr>
              <a:t>Access to tools</a:t>
            </a:r>
            <a:endParaRPr sz="10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- Structured</a:t>
            </a:r>
            <a:endParaRPr sz="10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   output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98" name="Google Shape;398;p39"/>
          <p:cNvSpPr/>
          <p:nvPr/>
        </p:nvSpPr>
        <p:spPr>
          <a:xfrm>
            <a:off x="4190964" y="3100125"/>
            <a:ext cx="1241400" cy="54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Can be as simple as “if” clauses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99" name="Google Shape;399;p39"/>
          <p:cNvSpPr/>
          <p:nvPr/>
        </p:nvSpPr>
        <p:spPr>
          <a:xfrm>
            <a:off x="5956889" y="3100125"/>
            <a:ext cx="1241400" cy="54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Call whatever tool the logic decides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400" name="Google Shape;400;p39"/>
          <p:cNvCxnSpPr/>
          <p:nvPr/>
        </p:nvCxnSpPr>
        <p:spPr>
          <a:xfrm>
            <a:off x="2856825" y="1256950"/>
            <a:ext cx="0" cy="52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01" name="Google Shape;401;p39"/>
          <p:cNvCxnSpPr/>
          <p:nvPr/>
        </p:nvCxnSpPr>
        <p:spPr>
          <a:xfrm>
            <a:off x="6388625" y="1256950"/>
            <a:ext cx="0" cy="52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39"/>
          <p:cNvCxnSpPr/>
          <p:nvPr/>
        </p:nvCxnSpPr>
        <p:spPr>
          <a:xfrm>
            <a:off x="2854225" y="1262525"/>
            <a:ext cx="35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0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8" name="Google Shape;408;p40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Function Calling</a:t>
            </a:r>
            <a:r>
              <a:rPr lang="en" sz="2200"/>
              <a:t> with LLMs </a:t>
            </a:r>
            <a:r>
              <a:rPr lang="en" sz="2200"/>
              <a:t>(dependant on structured output)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09" name="Google Shape;409;p40"/>
          <p:cNvSpPr txBox="1"/>
          <p:nvPr/>
        </p:nvSpPr>
        <p:spPr>
          <a:xfrm>
            <a:off x="443225" y="970100"/>
            <a:ext cx="85023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Using LLMs to determine when and which functions to call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Process: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Define function signatures (name, parameters, descriptions)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Send to LLM with user query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LLM determines if function should be called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LM generates appropriate parameter values -&gt; using structured output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Application executes function with parameters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Applications: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API integrations (weather, booking, search)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Database queries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External tool orchestration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Structured data extraction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10" name="Google Shape;410;p40"/>
          <p:cNvSpPr/>
          <p:nvPr/>
        </p:nvSpPr>
        <p:spPr>
          <a:xfrm>
            <a:off x="6225800" y="1206375"/>
            <a:ext cx="2637600" cy="300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response = openai.Completion.create(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engine="text-davinci-003",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prompt="Calculate the sum of 123 and 456",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max_tokens=10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result = response.choices[0].text.strip()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print("Result:", result)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11" name="Google Shape;411;p40"/>
          <p:cNvSpPr/>
          <p:nvPr/>
        </p:nvSpPr>
        <p:spPr>
          <a:xfrm rot="2158562">
            <a:off x="7483070" y="1208948"/>
            <a:ext cx="123075" cy="272560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12" name="Google Shape;412;p40"/>
          <p:cNvSpPr/>
          <p:nvPr/>
        </p:nvSpPr>
        <p:spPr>
          <a:xfrm rot="-2158562">
            <a:off x="7483063" y="1208955"/>
            <a:ext cx="123075" cy="272560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1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8" name="Google Shape;418;p41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Chatbots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19" name="Google Shape;419;p41"/>
          <p:cNvSpPr txBox="1"/>
          <p:nvPr/>
        </p:nvSpPr>
        <p:spPr>
          <a:xfrm>
            <a:off x="443225" y="970100"/>
            <a:ext cx="3528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is a chatbot?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 program that interacts with users through text or voice conversations.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Works by sending repeated API calls to a language model with each user message.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Needs to </a:t>
            </a: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track information (memory) 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from earlier in the conversation to respond coherently.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20" name="Google Shape;420;p41"/>
          <p:cNvSpPr/>
          <p:nvPr/>
        </p:nvSpPr>
        <p:spPr>
          <a:xfrm>
            <a:off x="4764775" y="492681"/>
            <a:ext cx="10266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Hi, I am Jan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21" name="Google Shape;421;p41"/>
          <p:cNvSpPr/>
          <p:nvPr/>
        </p:nvSpPr>
        <p:spPr>
          <a:xfrm>
            <a:off x="6307050" y="831987"/>
            <a:ext cx="22602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Hi, Jan! How can i help you?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22" name="Google Shape;422;p41"/>
          <p:cNvSpPr/>
          <p:nvPr/>
        </p:nvSpPr>
        <p:spPr>
          <a:xfrm>
            <a:off x="4764775" y="1186723"/>
            <a:ext cx="15741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What is my name?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23" name="Google Shape;423;p41"/>
          <p:cNvSpPr/>
          <p:nvPr/>
        </p:nvSpPr>
        <p:spPr>
          <a:xfrm>
            <a:off x="6307050" y="1526030"/>
            <a:ext cx="2260200" cy="811800"/>
          </a:xfrm>
          <a:prstGeom prst="roundRect">
            <a:avLst>
              <a:gd fmla="val 960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Sorry, I don’t have access to your personal information. What else can i help you with? 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24" name="Google Shape;424;p41"/>
          <p:cNvSpPr/>
          <p:nvPr/>
        </p:nvSpPr>
        <p:spPr>
          <a:xfrm>
            <a:off x="4764775" y="3033386"/>
            <a:ext cx="10266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Hi, I am Jan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25" name="Google Shape;425;p41"/>
          <p:cNvSpPr/>
          <p:nvPr/>
        </p:nvSpPr>
        <p:spPr>
          <a:xfrm>
            <a:off x="6307050" y="3372693"/>
            <a:ext cx="22602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Hi, Jan! How can i help you?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26" name="Google Shape;426;p41"/>
          <p:cNvSpPr/>
          <p:nvPr/>
        </p:nvSpPr>
        <p:spPr>
          <a:xfrm>
            <a:off x="4764775" y="3727428"/>
            <a:ext cx="15741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What is my name?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27" name="Google Shape;427;p41"/>
          <p:cNvSpPr/>
          <p:nvPr/>
        </p:nvSpPr>
        <p:spPr>
          <a:xfrm>
            <a:off x="6307050" y="4066743"/>
            <a:ext cx="2260200" cy="483000"/>
          </a:xfrm>
          <a:prstGeom prst="roundRect">
            <a:avLst>
              <a:gd fmla="val 960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Your name is Jan. What can i help you with?</a:t>
            </a:r>
            <a:r>
              <a:rPr lang="en" sz="1200">
                <a:latin typeface="Lora"/>
                <a:ea typeface="Lora"/>
                <a:cs typeface="Lora"/>
                <a:sym typeface="Lora"/>
              </a:rPr>
              <a:t> 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28" name="Google Shape;428;p41"/>
          <p:cNvSpPr/>
          <p:nvPr/>
        </p:nvSpPr>
        <p:spPr>
          <a:xfrm>
            <a:off x="4572000" y="163175"/>
            <a:ext cx="4303800" cy="2309400"/>
          </a:xfrm>
          <a:prstGeom prst="roundRect">
            <a:avLst>
              <a:gd fmla="val 838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29" name="Google Shape;429;p41"/>
          <p:cNvSpPr/>
          <p:nvPr/>
        </p:nvSpPr>
        <p:spPr>
          <a:xfrm>
            <a:off x="4572000" y="2683575"/>
            <a:ext cx="4303800" cy="2016300"/>
          </a:xfrm>
          <a:prstGeom prst="roundRect">
            <a:avLst>
              <a:gd fmla="val 838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30" name="Google Shape;430;p41"/>
          <p:cNvSpPr txBox="1"/>
          <p:nvPr/>
        </p:nvSpPr>
        <p:spPr>
          <a:xfrm>
            <a:off x="6084291" y="163175"/>
            <a:ext cx="14112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No history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31" name="Google Shape;431;p41"/>
          <p:cNvSpPr txBox="1"/>
          <p:nvPr/>
        </p:nvSpPr>
        <p:spPr>
          <a:xfrm>
            <a:off x="6018300" y="2683575"/>
            <a:ext cx="14112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With</a:t>
            </a: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 history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2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7" name="Google Shape;437;p42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Tasks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38" name="Google Shape;438;p42"/>
          <p:cNvSpPr txBox="1"/>
          <p:nvPr/>
        </p:nvSpPr>
        <p:spPr>
          <a:xfrm>
            <a:off x="443225" y="970100"/>
            <a:ext cx="8502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ora"/>
              <a:buChar char="●"/>
            </a:pPr>
            <a:r>
              <a:rPr b="1" lang="en"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Task 1: </a:t>
            </a:r>
            <a:r>
              <a:rPr lang="en"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Set up your env</a:t>
            </a:r>
            <a:endParaRPr sz="1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ora"/>
              <a:buChar char="●"/>
            </a:pPr>
            <a:r>
              <a:rPr b="1" lang="en"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Task 2: </a:t>
            </a:r>
            <a:r>
              <a:rPr lang="en"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Create a simple API call to the chatbot</a:t>
            </a:r>
            <a:endParaRPr sz="1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ora"/>
              <a:buChar char="●"/>
            </a:pPr>
            <a:r>
              <a:rPr b="1" lang="en"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Task 3: </a:t>
            </a:r>
            <a:r>
              <a:rPr lang="en"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Prompt engineering</a:t>
            </a:r>
            <a:endParaRPr sz="1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ora"/>
              <a:buChar char="●"/>
            </a:pPr>
            <a:r>
              <a:rPr b="1" lang="en"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Task 4: </a:t>
            </a:r>
            <a:r>
              <a:rPr lang="en"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Structured output</a:t>
            </a:r>
            <a:endParaRPr sz="1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ora"/>
              <a:buChar char="●"/>
            </a:pPr>
            <a:r>
              <a:rPr b="1" lang="en"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Task 5: </a:t>
            </a:r>
            <a:r>
              <a:rPr lang="en"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Function calling</a:t>
            </a:r>
            <a:endParaRPr sz="1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ora"/>
              <a:buChar char="●"/>
            </a:pPr>
            <a:r>
              <a:rPr b="1" lang="en"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Task 6: </a:t>
            </a:r>
            <a:r>
              <a:rPr lang="en" sz="1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Chatbot</a:t>
            </a:r>
            <a:endParaRPr sz="1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