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y="5143500" cx="9144000"/>
  <p:notesSz cx="6858000" cy="9144000"/>
  <p:embeddedFontLst>
    <p:embeddedFont>
      <p:font typeface="Lora"/>
      <p:regular r:id="rId45"/>
      <p:bold r:id="rId46"/>
      <p:italic r:id="rId47"/>
      <p:boldItalic r:id="rId48"/>
    </p:embeddedFont>
    <p:embeddedFont>
      <p:font typeface="Pacifico"/>
      <p:regular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Emmanuel Olateju"/>
  <p:cmAuthor clrIdx="1" id="1" initials="" lastIdx="1" name="Oliver Angelil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69486A-E8E0-4D69-A866-889A4AD78BF1}">
  <a:tblStyle styleId="{2669486A-E8E0-4D69-A866-889A4AD78B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font" Target="fonts/Lora-bold.fntdata"/><Relationship Id="rId45" Type="http://schemas.openxmlformats.org/officeDocument/2006/relationships/font" Target="fonts/Lor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Lora-boldItalic.fntdata"/><Relationship Id="rId47" Type="http://schemas.openxmlformats.org/officeDocument/2006/relationships/font" Target="fonts/Lora-italic.fntdata"/><Relationship Id="rId49" Type="http://schemas.openxmlformats.org/officeDocument/2006/relationships/font" Target="fonts/Pacifico-regular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0-14T18:41:15.490">
    <p:pos x="600" y="756"/>
    <p:text>This command, can it not potentially select multiple cells i.e. multiple rows?</p:text>
  </p:cm>
  <p:cm authorId="1" idx="1" dt="2025-10-14T18:22:24.453">
    <p:pos x="600" y="756"/>
    <p:text>You are correct, and this is what @chekwube@aims.ac.za raised today in the lecture. Do not worry about this inaccuracy. There is no question on this query in the quiz.</p:text>
  </p:cm>
  <p:cm authorId="0" idx="2" dt="2025-10-14T18:41:15.490">
    <p:pos x="600" y="756"/>
    <p:text>Okay, thanks.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7e5c58e4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g37e5c58e40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3c73ec2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63c73ec24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c0ec920c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8c0ec920c7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667610437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g34667610437_0_3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4cbf5f82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44cbf5f82d_1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f17b8a8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6f17b8a88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f17b8a88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6f17b8a882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f17b8a88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6f17b8a882_0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f17b8a88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6f17b8a882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f17b8a88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6f17b8a882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f17b8a88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6f17b8a882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f17b8a88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6f17b8a882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f17b8a88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6f17b8a882_0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f17b8a88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6f17b8a882_0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f17b8a88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6f17b8a882_0_2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f17b8a882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6f17b8a882_0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f17b8a882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6f17b8a882_0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f17b8a882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6f17b8a882_0_2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0e12d64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70e12d642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0e12d642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70e12d6424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0e12d642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370e12d6424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f17b8a88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6f17b8a882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0e12d642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70e12d6424_0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0e12d642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70e12d6424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0e12d642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70e12d6424_0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0e12d642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g370e12d6424_0_1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0e12d642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g370e12d6424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0e12d6424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g370e12d6424_0_3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0e12d6424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370e12d6424_0_1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70e12d6424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g370e12d6424_0_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0e12d642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370e12d6424_0_2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0e12d6424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g370e12d6424_0_2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70e12d6424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1" name="Google Shape;401;g370e12d6424_0_2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7a48135f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" name="Google Shape;410;g37a48135f6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70e12d6424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g370e12d6424_0_2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70e12d6424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g370e12d6424_0_2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"/>
              <a:buNone/>
              <a:defRPr sz="2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●"/>
              <a:defRPr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2148" y="4782312"/>
            <a:ext cx="1188720" cy="297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577" y="4779825"/>
            <a:ext cx="1188721" cy="23774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learning.oreilly.com/library/view/fundamentals-of-data/9781098108298/ch09.html#serving_data_for_analyticscomma_machin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dwhpro.com/teradata-partitioning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dagster-io/dagster" TargetMode="External"/><Relationship Id="rId4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6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86900" y="700975"/>
            <a:ext cx="789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Please receive the quiz handout from Cyrille, Oliver, Vincent, Jan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Complete the quiz in silence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Hand the quiz back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6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91200" y="700975"/>
            <a:ext cx="47094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one reason why companies store more and more data?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comply with regulations that require them to historise their data for auditing purposes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reduce the need for advanced computing resources.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Because data is an asset that has the potential to drive a competitive edge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Because the cost of electricity has come down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the successor of Map Reduce for distributed computing?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MinIO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Apache Hadoop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Apache Spark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Scala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Vertex AI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type of storage has the coldest "temperature" (in terms of data access frequency)?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HDD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SSD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RAM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magnetic-tape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670700" y="777175"/>
            <a:ext cx="4258200" cy="3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rabicPeriod" startAt="4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of these is true about using cloud infrastructure services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using PaaS, you must provision both application and its middleware but not the Operating system.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using PasS, you must provision both the application and its runtime but not the Operating system.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using IaaS, you must provision  both the application and its operating system but not the Virtualization.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using IaaS, you need to provision both Operating system and its virtualization, but not Servers.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rabicPeriod" startAt="4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problem in the two-tier "modern Data Warehouse" does the Lakehouse solve?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Complexity &amp; cost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lack of support for SQL queries.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inability to connect to front-end visualization tools.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high cost of cloud-based data storage.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rabicPeriod" startAt="4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startup uses </a:t>
            </a: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Google Cloud Run to deploy a data-serving API, stores datasets in AWS S3, and manages virtual machines on Azure. Which of the following correctly classifies the layers they are using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Cloud Run (SaaS), S3 (PaaS), Azure VMs (IaaS)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Cloud Run (PaaS), S3 (IaaS), Azure VMs (SaaS)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Cloud Run (PaaS), S3 (IaaS), Azure VMs (IaaS)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Cloud Run (IaaS), S3 (PaaS), Azure VMs (SaaS)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6 (Answers)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91200" y="700975"/>
            <a:ext cx="47094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one reason why companies store more and more data?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comply with regulations that require them to historise their data for auditing purposes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reduce the need for advanced computing resources.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Because data is an asset that has the potential to drive a competitive edge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Because the cost of electricity has come down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the successor of Map Reduce for distributed computing?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MinIO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Apache Hadoop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Apache Spark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Scala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Vertex AI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type of storage has the coldest "temperature" (in terms of data access frequency)?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HDD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SSD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RAM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magnetic-tape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670700" y="777175"/>
            <a:ext cx="4258200" cy="3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rabicPeriod" startAt="4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of these is true about using cloud infrastructure services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using PaaS, you must provision both application and its middleware but not the Operating system.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using PasS, you must provision both the application and its runtime but not the Operating system.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b="1"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using IaaS, you must provision  both the application and its operating system but not the Virtualization.</a:t>
            </a:r>
            <a:endParaRPr b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using IaaS, you need to provision both Operating system and its virtualization, but not Servers.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rabicPeriod" startAt="4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problem in the two-tier "modern Data Warehouse" does the Lakehouse solve?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b="1"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Complexity &amp; cost</a:t>
            </a:r>
            <a:endParaRPr b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lack of support for SQL queries.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inability to connect to front-end visualization tools.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high cost of cloud-based data storage.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rabicPeriod" startAt="4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startup uses Google Cloud Run to deploy a data-serving API, stores datasets in AWS S3, and manages virtual machines on Azure. Which of the following correctly classifies the layers they are using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Cloud Run (SaaS), S3 (PaaS), Azure VMs (IaaS)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Cloud Run (PaaS), S3 (IaaS), Azure VMs (SaaS)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b="1"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Cloud Run (PaaS), S3 (IaaS), Azure VMs (IaaS)</a:t>
            </a:r>
            <a:endParaRPr b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ora"/>
              <a:buAutoNum type="alphaLcPeriod"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Cloud Run (IaaS), S3 (PaaS), Azure VMs (SaaS)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-125" y="575250"/>
            <a:ext cx="9144000" cy="20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Designing and Deploying 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end-to-end 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Production Grade ML Applications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Lecture </a:t>
            </a: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7</a:t>
            </a: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: Data Engineering — The DE Lifecycle in Depth</a:t>
            </a:r>
            <a:endParaRPr sz="24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-117" y="3838750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October 2025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Oliver Angélil  &amp; </a:t>
            </a: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Vincent Frimpong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Contents of </a:t>
            </a:r>
            <a:r>
              <a:rPr lang="en" sz="2400">
                <a:latin typeface="Lora"/>
                <a:ea typeface="Lora"/>
                <a:cs typeface="Lora"/>
                <a:sym typeface="Lora"/>
              </a:rPr>
              <a:t>three</a:t>
            </a:r>
            <a:r>
              <a:rPr i="0" lang="en" sz="24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2400">
                <a:latin typeface="Lora"/>
                <a:ea typeface="Lora"/>
                <a:cs typeface="Lora"/>
                <a:sym typeface="Lora"/>
              </a:rPr>
              <a:t>Data Engineering Lectures: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486900" y="624775"/>
            <a:ext cx="7896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Lecture 6: Foundation and Building Blocks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Data Engineering (DE)?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DE lifecycle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Types of Data Architectures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On-Prem vs Cloud (IaaS vs PaaS vs SaaS)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Infrastructure as Code (IaC)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Lecture 7: The DE Lifecycle in Depth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Source Systems &amp; Storage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Ingestion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Modeling, and Transformation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Serving Data for Analytics, Machine Learning, and Reverse ETL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Lecture 8: Learning by Doing — Building your own DE Pipeline with Dagster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605425" y="2339200"/>
            <a:ext cx="5412600" cy="134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6109450" y="2903725"/>
            <a:ext cx="129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this lecture</a:t>
            </a:r>
            <a:endParaRPr sz="1600">
              <a:solidFill>
                <a:srgbClr val="FF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</a:t>
            </a:r>
            <a:r>
              <a:rPr lang="en" sz="2400">
                <a:latin typeface="Lora"/>
                <a:ea typeface="Lora"/>
                <a:cs typeface="Lora"/>
                <a:sym typeface="Lora"/>
              </a:rPr>
              <a:t>.1 Source Systems &amp; Storage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925" y="753550"/>
            <a:ext cx="8383334" cy="37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2.1 Source Systems &amp; Storage: OLTP vs OLAP Databases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Online Transaction Processing (OLTP) vs Online Analytical Processing (OLAP)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200" y="1070275"/>
            <a:ext cx="7083999" cy="35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2.1 Source Systems &amp; Storage: OLTP vs OLAP Databases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110" name="Google Shape;110;p20"/>
          <p:cNvGraphicFramePr/>
          <p:nvPr/>
        </p:nvGraphicFramePr>
        <p:xfrm>
          <a:off x="876300" y="74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2503300"/>
                <a:gridCol w="3128350"/>
                <a:gridCol w="1878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OLTP Database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OLAP Database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Processing Type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transactional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analytical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Query </a:t>
                      </a: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Complexity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simple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complex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Operation Types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quick CRUD (Create, Read, Update, Delete)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transactions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large read scans across many rows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Storage Type on Disk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row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column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Usage Pattern 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repetitive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ad hoc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Design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normalized (3NF) 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denormalized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Example Query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INSERT INTO Orders (OrderID, CustomerID, OrderDate, TotalAmount, Status) </a:t>
                      </a:r>
                      <a:endParaRPr sz="8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VALUES (1001, 54321, GETDATE(), 99.99,'Pending')</a:t>
                      </a:r>
                      <a:endParaRPr sz="800">
                        <a:solidFill>
                          <a:schemeClr val="dk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select 10 years of data, groupby year, and </a:t>
                      </a:r>
                      <a:r>
                        <a:rPr i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calculate</a:t>
                      </a:r>
                      <a:r>
                        <a:rPr i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 the sum of sales per year</a:t>
                      </a:r>
                      <a:endParaRPr i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Example DBs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MySQL, PostgreSQL</a:t>
                      </a:r>
                      <a:endParaRPr sz="8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Google BigQuery, Snowflake, DuckDB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" name="Google Shape;111;p20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2.1 Source Systems &amp; Storage: OLTP vs OLAP Databases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118" name="Google Shape;118;p21"/>
          <p:cNvGraphicFramePr/>
          <p:nvPr/>
        </p:nvGraphicFramePr>
        <p:xfrm>
          <a:off x="876300" y="74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2503300"/>
                <a:gridCol w="3128350"/>
                <a:gridCol w="1878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OLTP Database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OLAP Database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Processing Type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transactional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analytical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Query Complexity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simple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complex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Operation Types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quick CRUD (Create, Read, Update, Delete)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transactions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large read scans across many rows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Storage Type on Disk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row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column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Usage Pattern 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repetitive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ad hoc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Design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normalized (3NF) 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denormalized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Example Query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INSERT INTO Orders (OrderID, CustomerID, OrderDate, TotalAmount, Status) </a:t>
                      </a:r>
                      <a:endParaRPr sz="8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VALUES (1001, 54321, GETDATE(), 99.99,'Pending')</a:t>
                      </a:r>
                      <a:endParaRPr sz="800">
                        <a:solidFill>
                          <a:schemeClr val="dk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select 10 years of data, groupby year, and calculate the sum of sales per year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Example DBs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MySQL, PostgreSQL</a:t>
                      </a:r>
                      <a:endParaRPr sz="8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Google BigQuery, Snowflake, DuckDB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" name="Google Shape;119;p21"/>
          <p:cNvSpPr/>
          <p:nvPr/>
        </p:nvSpPr>
        <p:spPr>
          <a:xfrm>
            <a:off x="892100" y="2467475"/>
            <a:ext cx="7494000" cy="3693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2.1 Source Systems &amp; Storage: OLTP vs OLAP Databases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486900" y="700975"/>
            <a:ext cx="8380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Storage Type: Column vs Row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SELECT SUM(COL_A) FROM mytable WHERE COL_C IN (2,3,4);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653005" y="1343335"/>
            <a:ext cx="51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Row Partitioned Table (OLTP DBs):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5898600" y="1735438"/>
            <a:ext cx="2968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Three rows &amp; all columns must be read to answer the query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Advantages of row storage: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Fast inserts, updates, deletes (good for OLTP)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Good for queries that need the whole row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Disadvantages of row storage::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Slow data aggregation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Poor compression, since rows have different data types and values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131" name="Google Shape;131;p22"/>
          <p:cNvGraphicFramePr/>
          <p:nvPr/>
        </p:nvGraphicFramePr>
        <p:xfrm>
          <a:off x="679050" y="17336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857250"/>
                <a:gridCol w="857250"/>
                <a:gridCol w="857250"/>
                <a:gridCol w="857250"/>
                <a:gridCol w="857250"/>
                <a:gridCol w="857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Col_B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Col_C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Col_D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Col_E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Col_F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2.1 Source Systems &amp; Storage: OLTP vs OLAP Databases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486900" y="700975"/>
            <a:ext cx="8380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Storage Type: Column vs Row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SELECT SUM(COL_A) FROM mytable WHERE COL_C IN (2,3,4);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742225" y="1361550"/>
            <a:ext cx="51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Column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Partitioned Table (OLAP DBs):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952500" y="4210963"/>
            <a:ext cx="51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Two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columns &amp; all rows must be read to answer the query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5885725" y="1809750"/>
            <a:ext cx="2855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Advantages of column storage::</a:t>
            </a:r>
            <a:endParaRPr sz="1200">
              <a:solidFill>
                <a:srgbClr val="202122"/>
              </a:solidFill>
              <a:highlight>
                <a:schemeClr val="lt1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Fast data aggregation, since aggregates are usually performed on a subset of columns across many rows</a:t>
            </a:r>
            <a:endParaRPr sz="1200">
              <a:solidFill>
                <a:srgbClr val="202122"/>
              </a:solidFill>
              <a:highlight>
                <a:schemeClr val="lt1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High compression, since columns have uniform data types &amp; often recurring values</a:t>
            </a:r>
            <a:endParaRPr sz="1200">
              <a:solidFill>
                <a:srgbClr val="202122"/>
              </a:solidFill>
              <a:highlight>
                <a:schemeClr val="lt1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Disadvantages of column storage:</a:t>
            </a:r>
            <a:endParaRPr sz="1200">
              <a:solidFill>
                <a:srgbClr val="202122"/>
              </a:solidFill>
              <a:highlight>
                <a:schemeClr val="lt1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Slow single row modifications</a:t>
            </a:r>
            <a:endParaRPr/>
          </a:p>
        </p:txBody>
      </p:sp>
      <p:sp>
        <p:nvSpPr>
          <p:cNvPr id="142" name="Google Shape;142;p23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143" name="Google Shape;143;p23"/>
          <p:cNvGraphicFramePr/>
          <p:nvPr/>
        </p:nvGraphicFramePr>
        <p:xfrm>
          <a:off x="679050" y="17336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857250"/>
                <a:gridCol w="857250"/>
                <a:gridCol w="857250"/>
                <a:gridCol w="857250"/>
                <a:gridCol w="857250"/>
                <a:gridCol w="857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Col_B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Col_C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Col_D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Col_E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Col_F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2.1 Source Systems &amp; Storage: OLTP vs OLAP Databases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486900" y="700975"/>
            <a:ext cx="8380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Storage Type: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Column vs Row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SELECT SUM(COL_A) FROM mytable WHERE COL_C IN (2,3,4);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151" name="Google Shape;151;p24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869950"/>
                <a:gridCol w="869950"/>
                <a:gridCol w="869950"/>
                <a:gridCol w="869950"/>
                <a:gridCol w="869950"/>
                <a:gridCol w="86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Col_B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Col_C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Col_D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Col_E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Col_F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24"/>
          <p:cNvSpPr txBox="1"/>
          <p:nvPr/>
        </p:nvSpPr>
        <p:spPr>
          <a:xfrm>
            <a:off x="952500" y="1467763"/>
            <a:ext cx="51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Not Partitioned Table: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952500" y="4210975"/>
            <a:ext cx="521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All rows &amp; columns must be read to answer the query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Source: </a:t>
            </a: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  <a:hlinkClick r:id="rId3"/>
              </a:rPr>
              <a:t>URL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2.1 Source Systems &amp; Storage: OLTP vs OLAP Databases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More examples of queries and how they perform on OLTP vs OLAP DBs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162" name="Google Shape;162;p25"/>
          <p:cNvGraphicFramePr/>
          <p:nvPr/>
        </p:nvGraphicFramePr>
        <p:xfrm>
          <a:off x="952500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2421100"/>
                <a:gridCol w="1777775"/>
                <a:gridCol w="362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ora"/>
                          <a:ea typeface="Lora"/>
                          <a:cs typeface="Lora"/>
                          <a:sym typeface="Lora"/>
                        </a:rPr>
                        <a:t>Query</a:t>
                      </a:r>
                      <a:endParaRPr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ora"/>
                          <a:ea typeface="Lora"/>
                          <a:cs typeface="Lora"/>
                          <a:sym typeface="Lora"/>
                        </a:rPr>
                        <a:t>Faster on Row or Column Storage?</a:t>
                      </a:r>
                      <a:endParaRPr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ora"/>
                          <a:ea typeface="Lora"/>
                          <a:cs typeface="Lora"/>
                          <a:sym typeface="Lora"/>
                        </a:rPr>
                        <a:t>Reason</a:t>
                      </a:r>
                      <a:endParaRPr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Col_A FROM table WHERE Col_B = 2;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S</a:t>
                      </a: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imilar</a:t>
                      </a:r>
                      <a:endParaRPr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- Only 1 cell is being selected, so neither many rows or columns need to be read </a:t>
                      </a:r>
                      <a:endParaRPr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* FROM table WHERE Col_A = 1;</a:t>
                      </a:r>
                      <a:endParaRPr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Row (OLTP)</a:t>
                      </a:r>
                      <a:endParaRPr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- Row DB: all columns instantly </a:t>
                      </a: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available</a:t>
                      </a: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 when correct row is found!</a:t>
                      </a:r>
                      <a:endParaRPr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- Column DB: </a:t>
                      </a:r>
                      <a:r>
                        <a:rPr i="1" lang="en">
                          <a:latin typeface="Lora"/>
                          <a:ea typeface="Lora"/>
                          <a:cs typeface="Lora"/>
                          <a:sym typeface="Lora"/>
                        </a:rPr>
                        <a:t>every</a:t>
                      </a: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 column must be read to return all column values</a:t>
                      </a:r>
                      <a:endParaRPr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sum(Col_D)FROM table;</a:t>
                      </a: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 </a:t>
                      </a:r>
                      <a:endParaRPr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Column (OLAP)</a:t>
                      </a:r>
                      <a:endParaRPr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- Row DB: every row must be read with all (unneeded) columns</a:t>
                      </a:r>
                      <a:endParaRPr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ora"/>
                          <a:ea typeface="Lora"/>
                          <a:cs typeface="Lora"/>
                          <a:sym typeface="Lora"/>
                        </a:rPr>
                        <a:t>- Column DB: only Col_D is read</a:t>
                      </a:r>
                      <a:endParaRPr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25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2.1 Source Systems &amp; Storage: OLTP vs OLAP Databases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Recommended modern (2025) setup: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425" y="1082150"/>
            <a:ext cx="7921552" cy="34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2.1 Source Systems &amp; Storage: The rise of the Lakehouse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1485475" y="697700"/>
            <a:ext cx="66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1980s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79" name="Google Shape;179;p27"/>
          <p:cNvPicPr preferRelativeResize="0"/>
          <p:nvPr/>
        </p:nvPicPr>
        <p:blipFill rotWithShape="1">
          <a:blip r:embed="rId3">
            <a:alphaModFix/>
          </a:blip>
          <a:srcRect b="5734" l="0" r="0" t="5778"/>
          <a:stretch/>
        </p:blipFill>
        <p:spPr>
          <a:xfrm>
            <a:off x="1451100" y="1059275"/>
            <a:ext cx="6206976" cy="288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 txBox="1"/>
          <p:nvPr/>
        </p:nvSpPr>
        <p:spPr>
          <a:xfrm>
            <a:off x="3936050" y="697700"/>
            <a:ext cx="76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2010s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6517225" y="735275"/>
            <a:ext cx="76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2020s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1451100" y="3915425"/>
            <a:ext cx="173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problems: </a:t>
            </a:r>
            <a:endParaRPr b="1" sz="9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- high cost (coupled storage &amp; compute)</a:t>
            </a:r>
            <a:endParaRPr b="1" sz="9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- only structured data</a:t>
            </a:r>
            <a:endParaRPr b="1" sz="9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3210725" y="3958375"/>
            <a:ext cx="2253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problems: </a:t>
            </a:r>
            <a:endParaRPr b="1" sz="9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- complex &amp; high cost to keep 2 repos consistent</a:t>
            </a:r>
            <a:endParaRPr b="1" sz="9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- data lake has no versioning, indexing, ACID transactions</a:t>
            </a:r>
            <a:endParaRPr b="1" sz="9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- DWH </a:t>
            </a:r>
            <a:r>
              <a:rPr b="1" lang="en" sz="9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suited</a:t>
            </a:r>
            <a:r>
              <a:rPr b="1" lang="en" sz="9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 for small data queries (row storage)</a:t>
            </a:r>
            <a:endParaRPr b="1" sz="9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2.1 Source Systems &amp; Storage: The rise of the Lakehouse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536700" y="718075"/>
            <a:ext cx="82755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●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What is a Data Lake?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can store any type of data (similar to the hard disk on a laptop): structured &amp; unstructured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lang="en" sz="1000">
                <a:solidFill>
                  <a:srgbClr val="202122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flat structure: no folder hierarchy. Rather a GUID for each file stored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object "blob" storage: 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■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an "object" is any file: txt; csv; json; images; video; audio. 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■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immutable: once written, objects cannot be edited. If changes are need, 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rewrite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entire object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■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highly scalable &amp; performant: storage is cheap nowadays — simply add more devices to the pool to scale 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i="1"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schema-on-read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: </a:t>
            </a:r>
            <a:r>
              <a:rPr lang="en" sz="1000">
                <a:solidFill>
                  <a:srgbClr val="202122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 Schema is applied only when reading — allows for any 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data type to be stored in raw format without predefined schema.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●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What is a Lakehouse?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 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portmanteau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of the words "Data Warehouse" &amp; "Data Lake" -&gt; combines the best of both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 software layer on top of a Data Lake, adding adding features like ACID transactions </a:t>
            </a:r>
            <a:r>
              <a:rPr lang="en" sz="1000">
                <a:solidFill>
                  <a:srgbClr val="202122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typically found in Data Warehouses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; schema evolution; data versioning; &amp; improved performance.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750" y="3079975"/>
            <a:ext cx="7965450" cy="122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2.1 Source Systems &amp; Storage: The rise of the Lakehouse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536700" y="718075"/>
            <a:ext cx="82755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●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Benefits of a Lakehouse: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i="1"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Simplicity: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one repo for any type of data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i="1"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ACID transactions: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is a set of properties of database transactions intended to guarantee data validity despite errors, power failures, and other mishaps (more detail not required for this course)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i="1"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Schema Enforcement: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allow you to define a schema for your data and reject writes that don't conform, improving data quality.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i="1"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Schema Evolution: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support changing the schema over time (e.g., adding new columns, renaming columns) without requiring a full rewrite of the historical data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i="1"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Data Versioning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:  Roll back to any historical version of the data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as it exis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ted at a specific point in time.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●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All major cloud providers offer a lakehouse solution: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Azure OneLake (ADLS Gen2 + Delta Lake)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GCP BigLake (Google Cloud Storage + Apache Iceberg)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000"/>
              <a:buFont typeface="Lora"/>
              <a:buChar char="○"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AWS Lake Formation (S3 + Apache Iceberg)</a:t>
            </a:r>
            <a:endParaRPr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2.2 Ingestion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925" y="753550"/>
            <a:ext cx="8383334" cy="37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2.2 Ingestion: Definition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2" name="Google Shape;212;p31"/>
          <p:cNvSpPr txBox="1"/>
          <p:nvPr/>
        </p:nvSpPr>
        <p:spPr>
          <a:xfrm>
            <a:off x="536700" y="718075"/>
            <a:ext cx="8275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What is Data Ingestion? "</a:t>
            </a:r>
            <a:r>
              <a:rPr i="1"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Data ingestion implies data movement from source systems into storage in the data engineering lifecycle"</a:t>
            </a:r>
            <a:endParaRPr i="1"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13" name="Google Shape;21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650" y="1239950"/>
            <a:ext cx="7862900" cy="20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1"/>
          <p:cNvSpPr txBox="1"/>
          <p:nvPr/>
        </p:nvSpPr>
        <p:spPr>
          <a:xfrm>
            <a:off x="705475" y="3155925"/>
            <a:ext cx="8275500" cy="1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Two ingestion paradigms: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Batch: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All data are often re-processed, usually at longer time intervals than streaming (e.g. weekly; monthly). Data are not a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continuous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stream of data like time series data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Streaming: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Only new data are processed in an incremental ("append-only")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fashion, usually at shorter time intervals (e.g. hourly; every minute; every second)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2.2 Ingestion: Streaming vs Batch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21" name="Google Shape;221;p32"/>
          <p:cNvPicPr preferRelativeResize="0"/>
          <p:nvPr/>
        </p:nvPicPr>
        <p:blipFill rotWithShape="1">
          <a:blip r:embed="rId3">
            <a:alphaModFix/>
          </a:blip>
          <a:srcRect b="0" l="17532" r="0" t="0"/>
          <a:stretch/>
        </p:blipFill>
        <p:spPr>
          <a:xfrm>
            <a:off x="1485150" y="1248550"/>
            <a:ext cx="4304625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2"/>
          <p:cNvSpPr txBox="1"/>
          <p:nvPr/>
        </p:nvSpPr>
        <p:spPr>
          <a:xfrm>
            <a:off x="536700" y="718075"/>
            <a:ext cx="195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Batch processing:</a:t>
            </a:r>
            <a:endParaRPr i="1"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721850" y="1836925"/>
            <a:ext cx="67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Day 1</a:t>
            </a:r>
            <a:endParaRPr i="1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721850" y="2827525"/>
            <a:ext cx="72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Day 2</a:t>
            </a:r>
            <a:endParaRPr i="1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5" name="Google Shape;225;p32"/>
          <p:cNvSpPr txBox="1"/>
          <p:nvPr/>
        </p:nvSpPr>
        <p:spPr>
          <a:xfrm>
            <a:off x="721850" y="3741925"/>
            <a:ext cx="76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Day 3</a:t>
            </a:r>
            <a:endParaRPr i="1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5935850" y="1407375"/>
            <a:ext cx="29205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Examples: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Payroll processing (monthly)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Image/Video Processing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Report generation (e.g. sales)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2.2 Ingestion: Streaming vs Batch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536700" y="718075"/>
            <a:ext cx="195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Streaming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:</a:t>
            </a:r>
            <a:endParaRPr i="1"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1491725" y="2882075"/>
            <a:ext cx="100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Minute</a:t>
            </a:r>
            <a:r>
              <a:rPr lang="en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1</a:t>
            </a:r>
            <a:endParaRPr i="1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2545800" y="2862750"/>
            <a:ext cx="113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Minute</a:t>
            </a:r>
            <a:r>
              <a:rPr lang="en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2</a:t>
            </a:r>
            <a:endParaRPr i="1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3680125" y="2862750"/>
            <a:ext cx="113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Minute</a:t>
            </a:r>
            <a:r>
              <a:rPr lang="en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3</a:t>
            </a:r>
            <a:endParaRPr i="1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1051075" y="3340275"/>
            <a:ext cx="75759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Examples: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Stock market trading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IoT processing (data from sensors, e.g. temperature;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pressur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e on machinery or wearable devices)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Network monitoring &amp; anomaly detection: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continuously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monitor network traffic to identify unusual patterns / security breaches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38" name="Google Shape;238;p33"/>
          <p:cNvPicPr preferRelativeResize="0"/>
          <p:nvPr/>
        </p:nvPicPr>
        <p:blipFill rotWithShape="1">
          <a:blip r:embed="rId3">
            <a:alphaModFix/>
          </a:blip>
          <a:srcRect b="17525" l="0" r="0" t="0"/>
          <a:stretch/>
        </p:blipFill>
        <p:spPr>
          <a:xfrm>
            <a:off x="829975" y="1246100"/>
            <a:ext cx="6503875" cy="16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2.2 Ingestion: Streaming vs Batch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536700" y="718075"/>
            <a:ext cx="83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Streaming example with IoT data — newly appended rows in </a:t>
            </a:r>
            <a:r>
              <a:rPr i="1" lang="en" sz="1200">
                <a:solidFill>
                  <a:schemeClr val="accent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blue; </a:t>
            </a:r>
            <a:r>
              <a:rPr i="1" lang="en" sz="12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watermark ("checkpoint") i</a:t>
            </a:r>
            <a:r>
              <a:rPr i="1"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n </a:t>
            </a:r>
            <a:r>
              <a:rPr i="1" lang="en" sz="1200">
                <a:solidFill>
                  <a:srgbClr val="CC0000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red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:</a:t>
            </a:r>
            <a:endParaRPr i="1"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1137050" y="1815575"/>
            <a:ext cx="74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Minute 1</a:t>
            </a:r>
            <a:endParaRPr i="1"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47" name="Google Shape;247;p34"/>
          <p:cNvPicPr preferRelativeResize="0"/>
          <p:nvPr/>
        </p:nvPicPr>
        <p:blipFill rotWithShape="1">
          <a:blip r:embed="rId3">
            <a:alphaModFix/>
          </a:blip>
          <a:srcRect b="17524" l="0" r="74566" t="26790"/>
          <a:stretch/>
        </p:blipFill>
        <p:spPr>
          <a:xfrm>
            <a:off x="966650" y="1389975"/>
            <a:ext cx="810875" cy="554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8" name="Google Shape;248;p34"/>
          <p:cNvGraphicFramePr/>
          <p:nvPr/>
        </p:nvGraphicFramePr>
        <p:xfrm>
          <a:off x="4406275" y="1424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1435200"/>
                <a:gridCol w="935125"/>
                <a:gridCol w="1150500"/>
                <a:gridCol w="958100"/>
              </a:tblGrid>
              <a:tr h="9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TimeStamp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Key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Value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Unit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9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2025-07-23T07:32:24Z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SensorA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285.21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K</a:t>
                      </a:r>
                      <a:endParaRPr sz="900"/>
                    </a:p>
                  </a:txBody>
                  <a:tcPr marT="9125" marB="9125" marR="9125" marL="9125"/>
                </a:tc>
              </a:tr>
              <a:tr h="14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2025-07-23T07:32:38Z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SensorB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3.1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Bar</a:t>
                      </a:r>
                      <a:endParaRPr sz="900"/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graphicFrame>
        <p:nvGraphicFramePr>
          <p:cNvPr id="249" name="Google Shape;249;p34"/>
          <p:cNvGraphicFramePr/>
          <p:nvPr/>
        </p:nvGraphicFramePr>
        <p:xfrm>
          <a:off x="4406275" y="218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1435200"/>
                <a:gridCol w="935125"/>
                <a:gridCol w="1150525"/>
                <a:gridCol w="958075"/>
              </a:tblGrid>
              <a:tr h="94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TimeStamp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Key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Value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Unit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94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2025-07-23T07:32:24Z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SensorA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285.21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K</a:t>
                      </a:r>
                      <a:endParaRPr sz="900"/>
                    </a:p>
                  </a:txBody>
                  <a:tcPr marT="9125" marB="9125" marR="9125" marL="9125"/>
                </a:tc>
              </a:tr>
              <a:tr h="94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2025-07-23T07:32:38Z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SensorB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3.1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Bar</a:t>
                      </a:r>
                      <a:endParaRPr sz="900"/>
                    </a:p>
                  </a:txBody>
                  <a:tcPr marT="9125" marB="9125" marR="9125" marL="9125"/>
                </a:tc>
              </a:tr>
              <a:tr h="94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2025-07-23T07:33:11Z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Sensor A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287.59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K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2025-07-23T07:33:44Z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Sensor B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3.3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Bar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sp>
        <p:nvSpPr>
          <p:cNvPr id="250" name="Google Shape;250;p34"/>
          <p:cNvSpPr txBox="1"/>
          <p:nvPr/>
        </p:nvSpPr>
        <p:spPr>
          <a:xfrm>
            <a:off x="2203850" y="4025375"/>
            <a:ext cx="74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Minute 3</a:t>
            </a:r>
            <a:endParaRPr i="1"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251" name="Google Shape;251;p34"/>
          <p:cNvGraphicFramePr/>
          <p:nvPr/>
        </p:nvGraphicFramePr>
        <p:xfrm>
          <a:off x="4406275" y="3252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1435200"/>
                <a:gridCol w="935125"/>
                <a:gridCol w="1150525"/>
                <a:gridCol w="958075"/>
              </a:tblGrid>
              <a:tr h="12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TimeStamp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Key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Value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Unit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12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2025-07-23T07:32:24Z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SensorA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285.21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K</a:t>
                      </a:r>
                      <a:endParaRPr sz="900"/>
                    </a:p>
                  </a:txBody>
                  <a:tcPr marT="9125" marB="9125" marR="9125" marL="9125"/>
                </a:tc>
              </a:tr>
              <a:tr h="12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2025-07-23T07:32:38Z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SensorB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3.1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Bar</a:t>
                      </a:r>
                      <a:endParaRPr sz="900"/>
                    </a:p>
                  </a:txBody>
                  <a:tcPr marT="9125" marB="9125" marR="9125" marL="9125"/>
                </a:tc>
              </a:tr>
              <a:tr h="12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2025-07-23T07:33:11Z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Sensor A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287.59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K</a:t>
                      </a:r>
                      <a:endParaRPr sz="900"/>
                    </a:p>
                  </a:txBody>
                  <a:tcPr marT="9125" marB="9125" marR="9125" marL="9125"/>
                </a:tc>
              </a:tr>
              <a:tr h="12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2025-07-23T07:33:44Z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Sensor B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3.3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Bar</a:t>
                      </a:r>
                      <a:endParaRPr sz="900"/>
                    </a:p>
                  </a:txBody>
                  <a:tcPr marT="9125" marB="9125" marR="9125" marL="9125"/>
                </a:tc>
              </a:tr>
              <a:tr h="12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2025-07-23T07:34:14Z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Sensor A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279.5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K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</a:tr>
              <a:tr h="12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2025-07-23T07:34:16Z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Sensor B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3.2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>
                          <a:solidFill>
                            <a:schemeClr val="accent1"/>
                          </a:solidFill>
                        </a:rPr>
                        <a:t>Bar</a:t>
                      </a:r>
                      <a:endParaRPr i="1" sz="900">
                        <a:solidFill>
                          <a:schemeClr val="accent1"/>
                        </a:solidFill>
                      </a:endParaRPr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pic>
        <p:nvPicPr>
          <p:cNvPr id="252" name="Google Shape;252;p34"/>
          <p:cNvPicPr preferRelativeResize="0"/>
          <p:nvPr/>
        </p:nvPicPr>
        <p:blipFill rotWithShape="1">
          <a:blip r:embed="rId3">
            <a:alphaModFix/>
          </a:blip>
          <a:srcRect b="17525" l="0" r="57096" t="0"/>
          <a:stretch/>
        </p:blipFill>
        <p:spPr>
          <a:xfrm>
            <a:off x="966650" y="2113850"/>
            <a:ext cx="1367825" cy="8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4"/>
          <p:cNvSpPr txBox="1"/>
          <p:nvPr/>
        </p:nvSpPr>
        <p:spPr>
          <a:xfrm>
            <a:off x="1670450" y="2729975"/>
            <a:ext cx="74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Minute 2</a:t>
            </a:r>
            <a:endParaRPr i="1"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54" name="Google Shape;254;p34"/>
          <p:cNvPicPr preferRelativeResize="0"/>
          <p:nvPr/>
        </p:nvPicPr>
        <p:blipFill rotWithShape="1">
          <a:blip r:embed="rId3">
            <a:alphaModFix/>
          </a:blip>
          <a:srcRect b="17525" l="0" r="35649" t="0"/>
          <a:stretch/>
        </p:blipFill>
        <p:spPr>
          <a:xfrm>
            <a:off x="966650" y="3256850"/>
            <a:ext cx="2051605" cy="8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4"/>
          <p:cNvSpPr txBox="1"/>
          <p:nvPr/>
        </p:nvSpPr>
        <p:spPr>
          <a:xfrm>
            <a:off x="4348225" y="1131050"/>
            <a:ext cx="308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Example of 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incremental</a:t>
            </a:r>
            <a:r>
              <a:rPr lang="en" sz="1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"append-only" table:</a:t>
            </a:r>
            <a:endParaRPr i="1" sz="1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6" name="Google Shape;256;p34"/>
          <p:cNvSpPr txBox="1"/>
          <p:nvPr/>
        </p:nvSpPr>
        <p:spPr>
          <a:xfrm rot="-5400000">
            <a:off x="-415275" y="2511700"/>
            <a:ext cx="19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source system</a:t>
            </a:r>
            <a:endParaRPr sz="18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740575" y="1291325"/>
            <a:ext cx="2412900" cy="3243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58" name="Google Shape;258;p34"/>
          <p:cNvCxnSpPr/>
          <p:nvPr/>
        </p:nvCxnSpPr>
        <p:spPr>
          <a:xfrm>
            <a:off x="3385325" y="1700850"/>
            <a:ext cx="85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34"/>
          <p:cNvCxnSpPr/>
          <p:nvPr/>
        </p:nvCxnSpPr>
        <p:spPr>
          <a:xfrm>
            <a:off x="3385325" y="2539050"/>
            <a:ext cx="85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34"/>
          <p:cNvCxnSpPr/>
          <p:nvPr/>
        </p:nvCxnSpPr>
        <p:spPr>
          <a:xfrm>
            <a:off x="3461525" y="3758250"/>
            <a:ext cx="85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34"/>
          <p:cNvSpPr txBox="1"/>
          <p:nvPr/>
        </p:nvSpPr>
        <p:spPr>
          <a:xfrm>
            <a:off x="3256750" y="3408075"/>
            <a:ext cx="105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query &amp; ingest</a:t>
            </a:r>
            <a:endParaRPr sz="10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3256750" y="2188875"/>
            <a:ext cx="105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query &amp; </a:t>
            </a:r>
            <a:r>
              <a:rPr lang="en" sz="10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ingest</a:t>
            </a:r>
            <a:endParaRPr sz="10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3" name="Google Shape;263;p34"/>
          <p:cNvSpPr txBox="1"/>
          <p:nvPr/>
        </p:nvSpPr>
        <p:spPr>
          <a:xfrm>
            <a:off x="3256750" y="1350675"/>
            <a:ext cx="105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query &amp; </a:t>
            </a:r>
            <a:r>
              <a:rPr lang="en" sz="10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ingest</a:t>
            </a:r>
            <a:endParaRPr sz="10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4" name="Google Shape;264;p34"/>
          <p:cNvSpPr txBox="1"/>
          <p:nvPr/>
        </p:nvSpPr>
        <p:spPr>
          <a:xfrm>
            <a:off x="3027850" y="4619075"/>
            <a:ext cx="409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Bonus: Q: what is "Z" in the timestamp? 😉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5" name="Google Shape;265;p34"/>
          <p:cNvSpPr txBox="1"/>
          <p:nvPr/>
        </p:nvSpPr>
        <p:spPr>
          <a:xfrm>
            <a:off x="4330075" y="1800275"/>
            <a:ext cx="469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(query between </a:t>
            </a:r>
            <a:r>
              <a:rPr lang="en" sz="900">
                <a:solidFill>
                  <a:schemeClr val="dk1"/>
                </a:solidFill>
              </a:rPr>
              <a:t>2025-07-23T07:31:45Z &amp; </a:t>
            </a:r>
            <a:r>
              <a:rPr i="1" lang="en" sz="900">
                <a:solidFill>
                  <a:srgbClr val="CC0000"/>
                </a:solidFill>
              </a:rPr>
              <a:t>2025-07-23T07:32:45Z</a:t>
            </a:r>
            <a:r>
              <a:rPr lang="en" sz="900">
                <a:solidFill>
                  <a:schemeClr val="dk1"/>
                </a:solidFill>
              </a:rPr>
              <a:t>)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6" name="Google Shape;266;p34"/>
          <p:cNvSpPr txBox="1"/>
          <p:nvPr/>
        </p:nvSpPr>
        <p:spPr>
          <a:xfrm>
            <a:off x="4330075" y="2867075"/>
            <a:ext cx="469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(query between </a:t>
            </a:r>
            <a:r>
              <a:rPr lang="en" sz="900">
                <a:solidFill>
                  <a:schemeClr val="dk1"/>
                </a:solidFill>
              </a:rPr>
              <a:t>2025-07-23T07:32:45Z &amp; </a:t>
            </a:r>
            <a:r>
              <a:rPr i="1" lang="en" sz="900">
                <a:solidFill>
                  <a:srgbClr val="CC0000"/>
                </a:solidFill>
              </a:rPr>
              <a:t>2025-07-23T07:33:45Z</a:t>
            </a:r>
            <a:r>
              <a:rPr lang="en" sz="900">
                <a:solidFill>
                  <a:schemeClr val="dk1"/>
                </a:solidFill>
              </a:rPr>
              <a:t>)</a:t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4330075" y="4238675"/>
            <a:ext cx="469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(query between </a:t>
            </a:r>
            <a:r>
              <a:rPr lang="en" sz="900">
                <a:solidFill>
                  <a:schemeClr val="dk1"/>
                </a:solidFill>
              </a:rPr>
              <a:t>2025-07-23T07:32:45Z &amp; </a:t>
            </a:r>
            <a:r>
              <a:rPr i="1" lang="en" sz="900">
                <a:solidFill>
                  <a:srgbClr val="CC0000"/>
                </a:solidFill>
              </a:rPr>
              <a:t>2025-07-23T07:33:45Z)</a:t>
            </a:r>
            <a:endParaRPr i="1" sz="9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8" name="Google Shape;268;p34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274" name="Google Shape;274;p35"/>
          <p:cNvGraphicFramePr/>
          <p:nvPr/>
        </p:nvGraphicFramePr>
        <p:xfrm>
          <a:off x="1181100" y="74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2503300"/>
                <a:gridCol w="3128350"/>
                <a:gridCol w="1878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OLTP Database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OLAP Database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Processing Type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transactional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analytical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Query Complexity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simple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complex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Operation Types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quick CRUD (Create, Read, Update, Delete)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transactions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large read scans across many rows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Storage Type on Disk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row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column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Usage Pattern 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repetitive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ad hoc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Design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normalized (3NF) 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denormalized</a:t>
                      </a:r>
                      <a:endParaRPr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Example Query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INSERT INTO Orders (OrderID, CustomerID, OrderDate, TotalAmount, Status) </a:t>
                      </a:r>
                      <a:endParaRPr sz="8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VALUES (1001, 54321, GETDATE(), 99.99,'Pending')</a:t>
                      </a:r>
                      <a:endParaRPr sz="800">
                        <a:solidFill>
                          <a:schemeClr val="dk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select 10 years of data, groupby year, and calculate the sum of sales per year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Example DBs</a:t>
                      </a:r>
                      <a:endParaRPr b="1" sz="12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MySQL, PostgreSQL</a:t>
                      </a:r>
                      <a:endParaRPr sz="8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ora"/>
                          <a:ea typeface="Lora"/>
                          <a:cs typeface="Lora"/>
                          <a:sym typeface="Lora"/>
                        </a:rPr>
                        <a:t>Google BigQuery, Snowflake, DuckDB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5" name="Google Shape;275;p35"/>
          <p:cNvSpPr/>
          <p:nvPr/>
        </p:nvSpPr>
        <p:spPr>
          <a:xfrm>
            <a:off x="1196900" y="3229475"/>
            <a:ext cx="7494000" cy="3693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7" name="Google Shape;277;p35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normalised vs denormalized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486900" y="700975"/>
            <a:ext cx="7864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3NF is defined as a table where the 1NF, 2NF, &amp; 3NF are all met.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the 1NF is abided by when: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the table has a Primary Key (PK)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each cell contains a single value, not a list of values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Total data cells in model: 6 * 5 = 30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284" name="Google Shape;284;p36"/>
          <p:cNvGraphicFramePr/>
          <p:nvPr/>
        </p:nvGraphicFramePr>
        <p:xfrm>
          <a:off x="952500" y="20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21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EmployeeID (PK)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ProjectID (PK)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EmployeeName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HoursWorked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ManagerID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ManagerName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1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Alice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25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David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2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Alice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30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David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2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Bob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40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M6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Evelyn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Carol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David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Carol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20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David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5" name="Google Shape;285;p36"/>
          <p:cNvSpPr txBox="1"/>
          <p:nvPr/>
        </p:nvSpPr>
        <p:spPr>
          <a:xfrm>
            <a:off x="945950" y="3961150"/>
            <a:ext cx="740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1NF ✅</a:t>
            </a:r>
            <a:endParaRPr sz="12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2NF ❌Why? Because </a:t>
            </a:r>
            <a:r>
              <a:rPr b="1"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EmployeeName</a:t>
            </a: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, </a:t>
            </a:r>
            <a:r>
              <a:rPr b="1"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ManagerID</a:t>
            </a: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, and </a:t>
            </a:r>
            <a:r>
              <a:rPr b="1"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ManagerName</a:t>
            </a: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 only depend on </a:t>
            </a:r>
            <a:r>
              <a:rPr b="1"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EmployeeID</a:t>
            </a: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 sz="12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3NF ❌</a:t>
            </a:r>
            <a:endParaRPr sz="12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normalised vs denormalized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7" name="Google Shape;287;p36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3" name="Google Shape;293;p37"/>
          <p:cNvSpPr txBox="1"/>
          <p:nvPr/>
        </p:nvSpPr>
        <p:spPr>
          <a:xfrm>
            <a:off x="486900" y="700975"/>
            <a:ext cx="7864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2NF is defined as a table where: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the 1NF is abided by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the 2NF is abided by: has no partial-dependencies (i.e. a non-key attribute depends on only a part of the composite PK)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Total data cells in model: 3 * 5 + 4 * 3  = 27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294" name="Google Shape;294;p37"/>
          <p:cNvGraphicFramePr/>
          <p:nvPr/>
        </p:nvGraphicFramePr>
        <p:xfrm>
          <a:off x="571500" y="196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1131700"/>
                <a:gridCol w="1131700"/>
                <a:gridCol w="1131700"/>
              </a:tblGrid>
              <a:tr h="21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EmployeeID (PK)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ProjectID (PK)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HoursWorked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1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25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2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30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2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40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20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95" name="Google Shape;295;p37"/>
          <p:cNvGraphicFramePr/>
          <p:nvPr/>
        </p:nvGraphicFramePr>
        <p:xfrm>
          <a:off x="4152900" y="196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1111325"/>
                <a:gridCol w="1111325"/>
                <a:gridCol w="1111325"/>
                <a:gridCol w="1111325"/>
              </a:tblGrid>
              <a:tr h="21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EmployeeID (PK)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EmployeeName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ManagerID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ManagerName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1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Alice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David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2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Bob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M6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Evelyn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Carol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David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6" name="Google Shape;296;p37"/>
          <p:cNvSpPr txBox="1"/>
          <p:nvPr/>
        </p:nvSpPr>
        <p:spPr>
          <a:xfrm>
            <a:off x="564950" y="3884950"/>
            <a:ext cx="803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1NF ✅</a:t>
            </a:r>
            <a:endParaRPr sz="12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2NF ✅</a:t>
            </a:r>
            <a:endParaRPr sz="12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3NF ❌Why? There are transitive dependencies: the ManagerID &amp; ManagerName columns do not depend on the PK</a:t>
            </a:r>
            <a:endParaRPr sz="12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normalised vs denormalized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486900" y="700975"/>
            <a:ext cx="7864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3NF is defined as a table where: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the 1NF &amp; 2NF is abided by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the 3NF is abided by: there are no transitive dependencies, so that every non-key attribute in every table depends only on the PK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Total data cells in model: 3 * 5 + 3 * 3 + 2 * 2  = 26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305" name="Google Shape;305;p38"/>
          <p:cNvGraphicFramePr/>
          <p:nvPr/>
        </p:nvGraphicFramePr>
        <p:xfrm>
          <a:off x="571500" y="20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1131700"/>
                <a:gridCol w="1131700"/>
                <a:gridCol w="1131700"/>
              </a:tblGrid>
              <a:tr h="21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EmployeeID (PK)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ProjectID (PK)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HoursWorked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1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25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2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30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2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40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P03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20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06" name="Google Shape;306;p38"/>
          <p:cNvGraphicFramePr/>
          <p:nvPr/>
        </p:nvGraphicFramePr>
        <p:xfrm>
          <a:off x="4152900" y="20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1111325"/>
                <a:gridCol w="1111325"/>
                <a:gridCol w="1111325"/>
              </a:tblGrid>
              <a:tr h="21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EmployeeID (PK)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EmployeeName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ManagerID (FK)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1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Alice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2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Bob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M6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Carol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07" name="Google Shape;307;p38"/>
          <p:cNvGraphicFramePr/>
          <p:nvPr/>
        </p:nvGraphicFramePr>
        <p:xfrm>
          <a:off x="4152900" y="340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1111325"/>
                <a:gridCol w="1111325"/>
              </a:tblGrid>
              <a:tr h="21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ManagerID (PK)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ManagerName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1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David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2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M6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Evelyn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8" name="Google Shape;308;p38"/>
          <p:cNvSpPr txBox="1"/>
          <p:nvPr/>
        </p:nvSpPr>
        <p:spPr>
          <a:xfrm>
            <a:off x="564950" y="3961150"/>
            <a:ext cx="316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1NF ✅</a:t>
            </a:r>
            <a:endParaRPr sz="12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2NF ✅</a:t>
            </a:r>
            <a:endParaRPr sz="12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3NF ✅</a:t>
            </a:r>
            <a:endParaRPr sz="12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normalised vs denormalized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0" name="Google Shape;310;p38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6" name="Google Shape;316;p39"/>
          <p:cNvSpPr txBox="1"/>
          <p:nvPr/>
        </p:nvSpPr>
        <p:spPr>
          <a:xfrm>
            <a:off x="486900" y="700975"/>
            <a:ext cx="786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Kimball would be structured as a classic star schema, with fact &amp; dimension tables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317" name="Google Shape;317;p39"/>
          <p:cNvGraphicFramePr/>
          <p:nvPr/>
        </p:nvGraphicFramePr>
        <p:xfrm>
          <a:off x="3290900" y="222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483450"/>
                <a:gridCol w="666650"/>
                <a:gridCol w="691725"/>
                <a:gridCol w="458375"/>
              </a:tblGrid>
              <a:tr h="1393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factProjectHours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 hMerge="1"/>
                <a:tc hMerge="1"/>
                <a:tc hMerge="1"/>
              </a:tr>
              <a:tr h="13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DateKey 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(FK)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EmployeeKey (FK)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ProjectKey (FK)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Hours Worked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3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20250718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1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1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6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3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20250718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1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2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5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3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20250718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2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1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7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3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20250719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3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3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8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3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20250720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1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4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8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graphicFrame>
        <p:nvGraphicFramePr>
          <p:cNvPr id="318" name="Google Shape;318;p39"/>
          <p:cNvGraphicFramePr/>
          <p:nvPr/>
        </p:nvGraphicFramePr>
        <p:xfrm>
          <a:off x="428225" y="139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542675"/>
                <a:gridCol w="640625"/>
                <a:gridCol w="731600"/>
                <a:gridCol w="667150"/>
              </a:tblGrid>
              <a:tr h="1393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dimDate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 hMerge="1"/>
                <a:tc hMerge="1"/>
                <a:tc hMerge="1"/>
              </a:tr>
              <a:tr h="13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DateKey 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(PK)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FullDate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MonthName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DayOfWeek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3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20250718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2025-07-18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July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Friday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3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20250719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2025-07-19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July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Saturday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3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20250720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2025-07-20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July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Sunday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graphicFrame>
        <p:nvGraphicFramePr>
          <p:cNvPr id="319" name="Google Shape;319;p39"/>
          <p:cNvGraphicFramePr/>
          <p:nvPr/>
        </p:nvGraphicFramePr>
        <p:xfrm>
          <a:off x="2425100" y="371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889050"/>
                <a:gridCol w="889050"/>
                <a:gridCol w="889050"/>
                <a:gridCol w="889050"/>
                <a:gridCol w="889050"/>
              </a:tblGrid>
              <a:tr h="10000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dimEmployee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 hMerge="1"/>
                <a:tc hMerge="1"/>
                <a:tc hMerge="1"/>
                <a:tc hMerge="1"/>
              </a:tr>
              <a:tr h="21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EmployeeKey (PK)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EmployeeID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EmployeeName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ManagerID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ManagerName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1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101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Alice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David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2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102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Bob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M6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Evelyn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103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Carol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M5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David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graphicFrame>
        <p:nvGraphicFramePr>
          <p:cNvPr id="320" name="Google Shape;320;p39"/>
          <p:cNvGraphicFramePr/>
          <p:nvPr/>
        </p:nvGraphicFramePr>
        <p:xfrm>
          <a:off x="5981300" y="1323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671475"/>
                <a:gridCol w="626125"/>
                <a:gridCol w="760900"/>
                <a:gridCol w="640250"/>
              </a:tblGrid>
              <a:tr h="1353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dimProject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 hMerge="1"/>
                <a:tc hMerge="1"/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ProjectKey 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(PK)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ProjectID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CostCenter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 CostCenterManager</a:t>
                      </a:r>
                      <a:endParaRPr b="1"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3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1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P101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Marketing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Janice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3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2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P102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Marketing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Janice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3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3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P103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Sales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Fred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  <a:tr h="13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4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P104</a:t>
                      </a:r>
                      <a:endParaRPr sz="800">
                        <a:solidFill>
                          <a:schemeClr val="dk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Sales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Lora"/>
                          <a:ea typeface="Lora"/>
                          <a:cs typeface="Lora"/>
                          <a:sym typeface="Lora"/>
                        </a:rPr>
                        <a:t>Fred</a:t>
                      </a:r>
                      <a:endParaRPr sz="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sp>
        <p:nvSpPr>
          <p:cNvPr id="321" name="Google Shape;321;p39"/>
          <p:cNvSpPr/>
          <p:nvPr/>
        </p:nvSpPr>
        <p:spPr>
          <a:xfrm>
            <a:off x="2798452" y="3337175"/>
            <a:ext cx="1426875" cy="538600"/>
          </a:xfrm>
          <a:custGeom>
            <a:rect b="b" l="l" r="r" t="t"/>
            <a:pathLst>
              <a:path extrusionOk="0" h="21544" w="57075">
                <a:moveTo>
                  <a:pt x="53366" y="0"/>
                </a:moveTo>
                <a:cubicBezTo>
                  <a:pt x="53366" y="1257"/>
                  <a:pt x="61624" y="5865"/>
                  <a:pt x="53366" y="7541"/>
                </a:cubicBezTo>
                <a:cubicBezTo>
                  <a:pt x="45108" y="9217"/>
                  <a:pt x="12134" y="7720"/>
                  <a:pt x="3816" y="10054"/>
                </a:cubicBezTo>
                <a:cubicBezTo>
                  <a:pt x="-4502" y="12388"/>
                  <a:pt x="3517" y="19629"/>
                  <a:pt x="3457" y="2154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sp>
      <p:sp>
        <p:nvSpPr>
          <p:cNvPr id="322" name="Google Shape;322;p39"/>
          <p:cNvSpPr/>
          <p:nvPr/>
        </p:nvSpPr>
        <p:spPr>
          <a:xfrm>
            <a:off x="4836852" y="1127944"/>
            <a:ext cx="1763100" cy="1230800"/>
          </a:xfrm>
          <a:custGeom>
            <a:rect b="b" l="l" r="r" t="t"/>
            <a:pathLst>
              <a:path extrusionOk="0" h="49232" w="70524">
                <a:moveTo>
                  <a:pt x="4145" y="49232"/>
                </a:moveTo>
                <a:cubicBezTo>
                  <a:pt x="4265" y="42051"/>
                  <a:pt x="-5609" y="14164"/>
                  <a:pt x="4863" y="6145"/>
                </a:cubicBezTo>
                <a:cubicBezTo>
                  <a:pt x="15336" y="-1874"/>
                  <a:pt x="57345" y="-19"/>
                  <a:pt x="66980" y="1118"/>
                </a:cubicBezTo>
                <a:cubicBezTo>
                  <a:pt x="76615" y="2255"/>
                  <a:pt x="63390" y="10992"/>
                  <a:pt x="62672" y="1296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sp>
      <p:sp>
        <p:nvSpPr>
          <p:cNvPr id="323" name="Google Shape;323;p39"/>
          <p:cNvSpPr/>
          <p:nvPr/>
        </p:nvSpPr>
        <p:spPr>
          <a:xfrm>
            <a:off x="467503" y="1163506"/>
            <a:ext cx="3412225" cy="1195225"/>
          </a:xfrm>
          <a:custGeom>
            <a:rect b="b" l="l" r="r" t="t"/>
            <a:pathLst>
              <a:path extrusionOk="0" h="47809" w="136489">
                <a:moveTo>
                  <a:pt x="123265" y="47810"/>
                </a:moveTo>
                <a:cubicBezTo>
                  <a:pt x="124223" y="40509"/>
                  <a:pt x="148040" y="11426"/>
                  <a:pt x="129010" y="4005"/>
                </a:cubicBezTo>
                <a:cubicBezTo>
                  <a:pt x="109980" y="-3415"/>
                  <a:pt x="29132" y="1492"/>
                  <a:pt x="9085" y="3287"/>
                </a:cubicBezTo>
                <a:cubicBezTo>
                  <a:pt x="-10962" y="5082"/>
                  <a:pt x="8786" y="12862"/>
                  <a:pt x="8726" y="1477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sp>
      <p:sp>
        <p:nvSpPr>
          <p:cNvPr id="324" name="Google Shape;324;p39"/>
          <p:cNvSpPr txBox="1"/>
          <p:nvPr/>
        </p:nvSpPr>
        <p:spPr>
          <a:xfrm>
            <a:off x="5828900" y="2408225"/>
            <a:ext cx="3038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ora"/>
              <a:buChar char="●"/>
            </a:pPr>
            <a:r>
              <a:rPr lang="en" sz="10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fact table is in 3NF</a:t>
            </a:r>
            <a:endParaRPr sz="10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ora"/>
              <a:buChar char="●"/>
            </a:pPr>
            <a:r>
              <a:rPr lang="en" sz="10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dimension tables are usually in 2NF: include redundancies (have transitive dependencies by design)</a:t>
            </a:r>
            <a:endParaRPr sz="10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ora"/>
              <a:buChar char="●"/>
            </a:pPr>
            <a:r>
              <a:rPr lang="en" sz="10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fact tables usually have many more rows than dimension tables (contain events)</a:t>
            </a:r>
            <a:endParaRPr sz="10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5" name="Google Shape;325;p39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normalised vs denormalized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6" name="Google Shape;326;p39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486900" y="700975"/>
            <a:ext cx="7864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Kimball star-style schema have a number of benefits nowadays: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simpler queries (fewer joins)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fewer tables overall to manage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easier to extend dimension tables: simply add new columns (no need to create new tables)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more performant for analytics/reporting (fewer joins)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3NF used to be attractive when storage costs were high, but storage is very cheap now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Going one step further from Kimball, you have One Big Table (OBT)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So, the order, going from normalised to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denormalized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, would be:</a:t>
            </a:r>
            <a:b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</a:b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3NF -&gt; Kimball -&gt; OBT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Just like Kimball, OBT is also popular nowadays because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storage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is cheap and it's easy for consumers to use: no joins needed!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normalised vs denormalized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0" name="Google Shape;340;p41"/>
          <p:cNvSpPr txBox="1"/>
          <p:nvPr/>
        </p:nvSpPr>
        <p:spPr>
          <a:xfrm>
            <a:off x="486900" y="700975"/>
            <a:ext cx="8082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Changes to dimension tables can be tracked with historized Slowly Changing Dimension (SCD) type II or tables.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SCD I: Most common type. No history is maintained; changes are updated in place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SCD II: tracks change over time by creating new rows for each change. A new row is inserted with a NULL for the end-date. The previous record is "closed" with an end date.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1" name="Google Shape;341;p41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Historized Tables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342" name="Google Shape;342;p41"/>
          <p:cNvGraphicFramePr/>
          <p:nvPr/>
        </p:nvGraphicFramePr>
        <p:xfrm>
          <a:off x="1451100" y="203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729875"/>
                <a:gridCol w="865525"/>
                <a:gridCol w="623650"/>
              </a:tblGrid>
              <a:tr h="5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Date Added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Supplier (PK)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State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2025-07-14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ABC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California</a:t>
                      </a:r>
                      <a:endParaRPr sz="900"/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graphicFrame>
        <p:nvGraphicFramePr>
          <p:cNvPr id="343" name="Google Shape;343;p41"/>
          <p:cNvGraphicFramePr/>
          <p:nvPr/>
        </p:nvGraphicFramePr>
        <p:xfrm>
          <a:off x="4956300" y="203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729875"/>
                <a:gridCol w="865525"/>
                <a:gridCol w="623650"/>
              </a:tblGrid>
              <a:tr h="5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Date Added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Supplier (PK)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State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2025-07-15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ABC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Texas</a:t>
                      </a:r>
                      <a:endParaRPr sz="900"/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cxnSp>
        <p:nvCxnSpPr>
          <p:cNvPr id="344" name="Google Shape;344;p41"/>
          <p:cNvCxnSpPr/>
          <p:nvPr/>
        </p:nvCxnSpPr>
        <p:spPr>
          <a:xfrm flipH="1" rot="10800000">
            <a:off x="3754925" y="2189875"/>
            <a:ext cx="1154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5" name="Google Shape;345;p41"/>
          <p:cNvSpPr txBox="1"/>
          <p:nvPr/>
        </p:nvSpPr>
        <p:spPr>
          <a:xfrm>
            <a:off x="3831125" y="1919875"/>
            <a:ext cx="97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update value</a:t>
            </a:r>
            <a:endParaRPr sz="10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671125" y="1982525"/>
            <a:ext cx="68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SCD I 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347" name="Google Shape;347;p41"/>
          <p:cNvGraphicFramePr/>
          <p:nvPr/>
        </p:nvGraphicFramePr>
        <p:xfrm>
          <a:off x="1359025" y="271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730050"/>
                <a:gridCol w="609725"/>
                <a:gridCol w="697550"/>
                <a:gridCol w="601350"/>
              </a:tblGrid>
              <a:tr h="5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Supplier 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State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StartDate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EndDate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ABC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California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2025-07-14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NULL</a:t>
                      </a:r>
                      <a:endParaRPr sz="900"/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cxnSp>
        <p:nvCxnSpPr>
          <p:cNvPr id="348" name="Google Shape;348;p41"/>
          <p:cNvCxnSpPr/>
          <p:nvPr/>
        </p:nvCxnSpPr>
        <p:spPr>
          <a:xfrm flipH="1" rot="10800000">
            <a:off x="4059725" y="2875675"/>
            <a:ext cx="1154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41"/>
          <p:cNvSpPr txBox="1"/>
          <p:nvPr/>
        </p:nvSpPr>
        <p:spPr>
          <a:xfrm>
            <a:off x="4135925" y="2605675"/>
            <a:ext cx="97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update value</a:t>
            </a:r>
            <a:endParaRPr sz="10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50" name="Google Shape;350;p41"/>
          <p:cNvSpPr txBox="1"/>
          <p:nvPr/>
        </p:nvSpPr>
        <p:spPr>
          <a:xfrm>
            <a:off x="532900" y="2688300"/>
            <a:ext cx="68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SCD II 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351" name="Google Shape;351;p41"/>
          <p:cNvGraphicFramePr/>
          <p:nvPr/>
        </p:nvGraphicFramePr>
        <p:xfrm>
          <a:off x="5321425" y="271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768575"/>
                <a:gridCol w="641900"/>
                <a:gridCol w="734350"/>
                <a:gridCol w="633075"/>
              </a:tblGrid>
              <a:tr h="5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Supplier 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State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StartDate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EndDate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ABC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California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2025-07-14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2025-07-16</a:t>
                      </a:r>
                      <a:endParaRPr sz="900"/>
                    </a:p>
                  </a:txBody>
                  <a:tcPr marT="9125" marB="9125" marR="9125" marL="91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ABC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Texas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2025-07-16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NULL</a:t>
                      </a:r>
                      <a:endParaRPr sz="900"/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sp>
        <p:nvSpPr>
          <p:cNvPr id="352" name="Google Shape;352;p41"/>
          <p:cNvSpPr txBox="1"/>
          <p:nvPr/>
        </p:nvSpPr>
        <p:spPr>
          <a:xfrm>
            <a:off x="563100" y="3444175"/>
            <a:ext cx="80829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With SCD II: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filtering for EndDate = NULL, returns the currently valid records (will match the SCD I table)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you can roll back the entire table to any historical date. For example the table on 14 July 2025:</a:t>
            </a:r>
            <a:b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</a:br>
            <a:r>
              <a:rPr i="1"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WHERE '2025-07-14' &gt;= StartDate AND ('2025-07-14' &lt; EndDate OR EndDate IS NULL);</a:t>
            </a:r>
            <a:endParaRPr i="1"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53" name="Google Shape;353;p41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59" name="Google Shape;359;p42"/>
          <p:cNvSpPr txBox="1"/>
          <p:nvPr/>
        </p:nvSpPr>
        <p:spPr>
          <a:xfrm>
            <a:off x="486900" y="700975"/>
            <a:ext cx="81342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In all Data Engineering pipelines, data are manipulated via a series of steps, called "transformations"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Many transformations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together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are called a "Data Lineage" of Directed Acyclic Graph (DAG)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We are big fans of visualising DAGs in a User Interface. Soon you will learn how to do that with </a:t>
            </a: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  <a:hlinkClick r:id="rId3"/>
              </a:rPr>
              <a:t>Dagster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!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Example of a DAG: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0" name="Google Shape;360;p42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DAGs ("Data Lineage") 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61" name="Google Shape;36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350" y="1782025"/>
            <a:ext cx="8015801" cy="2885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2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3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8" name="Google Shape;368;p43"/>
          <p:cNvSpPr txBox="1"/>
          <p:nvPr/>
        </p:nvSpPr>
        <p:spPr>
          <a:xfrm>
            <a:off x="486900" y="700975"/>
            <a:ext cx="813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Example of a DAG: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9" name="Google Shape;369;p43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DAGs ("Data Lineage") 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370" name="Google Shape;370;p43"/>
          <p:cNvGraphicFramePr/>
          <p:nvPr/>
        </p:nvGraphicFramePr>
        <p:xfrm>
          <a:off x="612900" y="149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872650"/>
                <a:gridCol w="1034825"/>
                <a:gridCol w="745650"/>
              </a:tblGrid>
              <a:tr h="5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Date (STR)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Food Item (STR)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nItems (STR)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2023-01-15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Applle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200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Feb 3, 2023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Aubergine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400.0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30.02.2023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Eggplant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eighty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10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Feb 4, 2023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Apple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five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71" name="Google Shape;371;p43"/>
          <p:cNvGraphicFramePr/>
          <p:nvPr/>
        </p:nvGraphicFramePr>
        <p:xfrm>
          <a:off x="3606300" y="149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898025"/>
                <a:gridCol w="965850"/>
                <a:gridCol w="789250"/>
              </a:tblGrid>
              <a:tr h="7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Date (DATE)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Food Item (STR)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nItems (INT)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7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2023-01-15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Apple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200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7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2023-02-03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Eggplant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400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7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NULL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Eggplant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80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7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2023-02-04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Apple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2" name="Google Shape;372;p43"/>
          <p:cNvSpPr txBox="1"/>
          <p:nvPr/>
        </p:nvSpPr>
        <p:spPr>
          <a:xfrm>
            <a:off x="1605750" y="1175875"/>
            <a:ext cx="55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Raw</a:t>
            </a:r>
            <a:endParaRPr b="1"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73" name="Google Shape;373;p43"/>
          <p:cNvSpPr txBox="1"/>
          <p:nvPr/>
        </p:nvSpPr>
        <p:spPr>
          <a:xfrm>
            <a:off x="4653278" y="1188950"/>
            <a:ext cx="67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Clean</a:t>
            </a:r>
            <a:endParaRPr b="1"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374" name="Google Shape;374;p43"/>
          <p:cNvCxnSpPr/>
          <p:nvPr/>
        </p:nvCxnSpPr>
        <p:spPr>
          <a:xfrm flipH="1" rot="10800000">
            <a:off x="3303425" y="2422725"/>
            <a:ext cx="253800" cy="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75" name="Google Shape;375;p43"/>
          <p:cNvGraphicFramePr/>
          <p:nvPr/>
        </p:nvGraphicFramePr>
        <p:xfrm>
          <a:off x="6535200" y="173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1191225"/>
                <a:gridCol w="973400"/>
              </a:tblGrid>
              <a:tr h="7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Food Item (STR)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Sum nItems (INT)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7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Apple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205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7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Eggplant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400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6" name="Google Shape;376;p43"/>
          <p:cNvSpPr txBox="1"/>
          <p:nvPr/>
        </p:nvSpPr>
        <p:spPr>
          <a:xfrm>
            <a:off x="7003148" y="1364175"/>
            <a:ext cx="131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Aggregated</a:t>
            </a:r>
            <a:endParaRPr b="1"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377" name="Google Shape;377;p43"/>
          <p:cNvCxnSpPr/>
          <p:nvPr/>
        </p:nvCxnSpPr>
        <p:spPr>
          <a:xfrm flipH="1" rot="10800000">
            <a:off x="6278293" y="2343525"/>
            <a:ext cx="253800" cy="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43"/>
          <p:cNvCxnSpPr/>
          <p:nvPr/>
        </p:nvCxnSpPr>
        <p:spPr>
          <a:xfrm flipH="1" rot="10800000">
            <a:off x="944625" y="3963925"/>
            <a:ext cx="7174800" cy="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9" name="Google Shape;379;p43"/>
          <p:cNvSpPr txBox="1"/>
          <p:nvPr/>
        </p:nvSpPr>
        <p:spPr>
          <a:xfrm>
            <a:off x="3801475" y="3587375"/>
            <a:ext cx="131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Flow of Data</a:t>
            </a:r>
            <a:endParaRPr b="1"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80" name="Google Shape;380;p43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4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86" name="Google Shape;386;p44"/>
          <p:cNvSpPr txBox="1"/>
          <p:nvPr/>
        </p:nvSpPr>
        <p:spPr>
          <a:xfrm>
            <a:off x="486900" y="700975"/>
            <a:ext cx="81342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DAG visualisations are used in any modern Data Engineering software.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Palantir Foundry: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87" name="Google Shape;387;p44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DAGs ("Data Lineage") 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88" name="Google Shape;38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900" y="1436575"/>
            <a:ext cx="6495086" cy="317182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4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95" name="Google Shape;395;p45"/>
          <p:cNvSpPr txBox="1"/>
          <p:nvPr/>
        </p:nvSpPr>
        <p:spPr>
          <a:xfrm>
            <a:off x="486900" y="700975"/>
            <a:ext cx="81342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DAG visualisations are used in any modern Data Engineering software.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Dagster: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96" name="Google Shape;396;p45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DAGs ("Data Lineage") 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97" name="Google Shape;39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436575"/>
            <a:ext cx="4946152" cy="32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5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04" name="Google Shape;404;p46"/>
          <p:cNvSpPr txBox="1"/>
          <p:nvPr/>
        </p:nvSpPr>
        <p:spPr>
          <a:xfrm>
            <a:off x="486900" y="700975"/>
            <a:ext cx="81342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DAG visualisations are used in any modern Data Engineering software.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GCP Dataplex: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05" name="Google Shape;405;p46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DAGs ("Data Lineage") 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06" name="Google Shape;40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725" y="1436575"/>
            <a:ext cx="8134200" cy="2487266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6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13" name="Google Shape;413;p47"/>
          <p:cNvSpPr txBox="1"/>
          <p:nvPr/>
        </p:nvSpPr>
        <p:spPr>
          <a:xfrm>
            <a:off x="486900" y="700975"/>
            <a:ext cx="81342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DAG visualisations are used in any modern Data Engineering software.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Apache Airflow: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14" name="Google Shape;414;p47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DAGs ("Data Lineage") 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15" name="Google Shape;41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900" y="1504825"/>
            <a:ext cx="6359825" cy="3153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7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8"/>
          <p:cNvSpPr/>
          <p:nvPr/>
        </p:nvSpPr>
        <p:spPr>
          <a:xfrm>
            <a:off x="538425" y="2126325"/>
            <a:ext cx="4984500" cy="7410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2" name="Google Shape;422;p48"/>
          <p:cNvSpPr txBox="1"/>
          <p:nvPr/>
        </p:nvSpPr>
        <p:spPr>
          <a:xfrm>
            <a:off x="486900" y="1462975"/>
            <a:ext cx="221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3" name="Google Shape;423;p48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ETL vs ELT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4" name="Google Shape;424;p48"/>
          <p:cNvSpPr txBox="1"/>
          <p:nvPr/>
        </p:nvSpPr>
        <p:spPr>
          <a:xfrm>
            <a:off x="486900" y="1767775"/>
            <a:ext cx="261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Extract Transform Load (ETL):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5" name="Google Shape;425;p48"/>
          <p:cNvSpPr txBox="1"/>
          <p:nvPr/>
        </p:nvSpPr>
        <p:spPr>
          <a:xfrm>
            <a:off x="563100" y="3367975"/>
            <a:ext cx="261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Extract Load Transform (ELT):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426" name="Google Shape;426;p48"/>
          <p:cNvGraphicFramePr/>
          <p:nvPr/>
        </p:nvGraphicFramePr>
        <p:xfrm>
          <a:off x="612900" y="241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729875"/>
                <a:gridCol w="865525"/>
                <a:gridCol w="623650"/>
              </a:tblGrid>
              <a:tr h="5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ColA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ColB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ColC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2023-01-15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Apple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200</a:t>
                      </a:r>
                      <a:endParaRPr sz="900"/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cxnSp>
        <p:nvCxnSpPr>
          <p:cNvPr id="427" name="Google Shape;427;p48"/>
          <p:cNvCxnSpPr/>
          <p:nvPr/>
        </p:nvCxnSpPr>
        <p:spPr>
          <a:xfrm>
            <a:off x="2893900" y="2582500"/>
            <a:ext cx="9255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8" name="Google Shape;428;p48"/>
          <p:cNvSpPr txBox="1"/>
          <p:nvPr/>
        </p:nvSpPr>
        <p:spPr>
          <a:xfrm>
            <a:off x="2634900" y="2137075"/>
            <a:ext cx="76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Extract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429" name="Google Shape;429;p48"/>
          <p:cNvGraphicFramePr/>
          <p:nvPr/>
        </p:nvGraphicFramePr>
        <p:xfrm>
          <a:off x="3881350" y="244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729875"/>
                <a:gridCol w="865525"/>
              </a:tblGrid>
              <a:tr h="5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ColA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ColB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2023-01-15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Apple</a:t>
                      </a:r>
                      <a:endParaRPr sz="900"/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sp>
        <p:nvSpPr>
          <p:cNvPr id="430" name="Google Shape;430;p48"/>
          <p:cNvSpPr txBox="1"/>
          <p:nvPr/>
        </p:nvSpPr>
        <p:spPr>
          <a:xfrm>
            <a:off x="3625500" y="2137075"/>
            <a:ext cx="82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Transform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31" name="Google Shape;431;p48"/>
          <p:cNvSpPr txBox="1"/>
          <p:nvPr/>
        </p:nvSpPr>
        <p:spPr>
          <a:xfrm>
            <a:off x="486900" y="700975"/>
            <a:ext cx="3684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Legend: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Performed in source DB: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Performed in Target Storage: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32" name="Google Shape;432;p48"/>
          <p:cNvSpPr/>
          <p:nvPr/>
        </p:nvSpPr>
        <p:spPr>
          <a:xfrm>
            <a:off x="2443425" y="1135725"/>
            <a:ext cx="352200" cy="1965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33" name="Google Shape;433;p48"/>
          <p:cNvSpPr/>
          <p:nvPr/>
        </p:nvSpPr>
        <p:spPr>
          <a:xfrm>
            <a:off x="2748225" y="1440525"/>
            <a:ext cx="352200" cy="1965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434" name="Google Shape;434;p48"/>
          <p:cNvGraphicFramePr/>
          <p:nvPr/>
        </p:nvGraphicFramePr>
        <p:xfrm>
          <a:off x="6472150" y="244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729875"/>
                <a:gridCol w="865525"/>
              </a:tblGrid>
              <a:tr h="5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ColA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ColB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2023-01-15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Apple</a:t>
                      </a:r>
                      <a:endParaRPr sz="900"/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cxnSp>
        <p:nvCxnSpPr>
          <p:cNvPr id="435" name="Google Shape;435;p48"/>
          <p:cNvCxnSpPr/>
          <p:nvPr/>
        </p:nvCxnSpPr>
        <p:spPr>
          <a:xfrm>
            <a:off x="5484700" y="2582500"/>
            <a:ext cx="9255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6" name="Google Shape;436;p48"/>
          <p:cNvSpPr txBox="1"/>
          <p:nvPr/>
        </p:nvSpPr>
        <p:spPr>
          <a:xfrm>
            <a:off x="5606700" y="2137075"/>
            <a:ext cx="82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Load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437" name="Google Shape;437;p48"/>
          <p:cNvGraphicFramePr/>
          <p:nvPr/>
        </p:nvGraphicFramePr>
        <p:xfrm>
          <a:off x="612900" y="401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729875"/>
                <a:gridCol w="865525"/>
                <a:gridCol w="623650"/>
              </a:tblGrid>
              <a:tr h="5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ColA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ColB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ColC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2023-01-15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Apple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200</a:t>
                      </a:r>
                      <a:endParaRPr sz="900"/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cxnSp>
        <p:nvCxnSpPr>
          <p:cNvPr id="438" name="Google Shape;438;p48"/>
          <p:cNvCxnSpPr/>
          <p:nvPr/>
        </p:nvCxnSpPr>
        <p:spPr>
          <a:xfrm>
            <a:off x="2893900" y="4182700"/>
            <a:ext cx="9255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9" name="Google Shape;439;p48"/>
          <p:cNvSpPr txBox="1"/>
          <p:nvPr/>
        </p:nvSpPr>
        <p:spPr>
          <a:xfrm>
            <a:off x="2634900" y="3737275"/>
            <a:ext cx="76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Extract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40" name="Google Shape;440;p48"/>
          <p:cNvSpPr txBox="1"/>
          <p:nvPr/>
        </p:nvSpPr>
        <p:spPr>
          <a:xfrm>
            <a:off x="3244500" y="3737275"/>
            <a:ext cx="82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Load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441" name="Google Shape;441;p48"/>
          <p:cNvGraphicFramePr/>
          <p:nvPr/>
        </p:nvGraphicFramePr>
        <p:xfrm>
          <a:off x="7081750" y="404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729875"/>
                <a:gridCol w="865525"/>
              </a:tblGrid>
              <a:tr h="5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ColA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ColB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2023-01-15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Apple</a:t>
                      </a:r>
                      <a:endParaRPr sz="900"/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cxnSp>
        <p:nvCxnSpPr>
          <p:cNvPr id="442" name="Google Shape;442;p48"/>
          <p:cNvCxnSpPr/>
          <p:nvPr/>
        </p:nvCxnSpPr>
        <p:spPr>
          <a:xfrm>
            <a:off x="6094300" y="4182700"/>
            <a:ext cx="9255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3" name="Google Shape;443;p48"/>
          <p:cNvSpPr txBox="1"/>
          <p:nvPr/>
        </p:nvSpPr>
        <p:spPr>
          <a:xfrm>
            <a:off x="5987700" y="3737275"/>
            <a:ext cx="82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Transform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444" name="Google Shape;444;p48"/>
          <p:cNvGraphicFramePr/>
          <p:nvPr/>
        </p:nvGraphicFramePr>
        <p:xfrm>
          <a:off x="3813300" y="408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729875"/>
                <a:gridCol w="865525"/>
                <a:gridCol w="623650"/>
              </a:tblGrid>
              <a:tr h="5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ColA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ColB</a:t>
                      </a:r>
                      <a:endParaRPr b="1"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ColC</a:t>
                      </a:r>
                      <a:endParaRPr b="1" sz="900"/>
                    </a:p>
                  </a:txBody>
                  <a:tcPr marT="9125" marB="9125" marR="9125" marL="9125"/>
                </a:tc>
              </a:tr>
              <a:tr h="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2023-01-15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Apple</a:t>
                      </a:r>
                      <a:endParaRPr sz="900"/>
                    </a:p>
                  </a:txBody>
                  <a:tcPr marT="9125" marB="9125" marR="9125" marL="91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200</a:t>
                      </a:r>
                      <a:endParaRPr sz="900"/>
                    </a:p>
                  </a:txBody>
                  <a:tcPr marT="9125" marB="9125" marR="9125" marL="9125"/>
                </a:tc>
              </a:tr>
            </a:tbl>
          </a:graphicData>
        </a:graphic>
      </p:graphicFrame>
      <p:sp>
        <p:nvSpPr>
          <p:cNvPr id="445" name="Google Shape;445;p48"/>
          <p:cNvSpPr/>
          <p:nvPr/>
        </p:nvSpPr>
        <p:spPr>
          <a:xfrm>
            <a:off x="6017900" y="2137075"/>
            <a:ext cx="2294700" cy="7410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46" name="Google Shape;446;p48"/>
          <p:cNvSpPr/>
          <p:nvPr/>
        </p:nvSpPr>
        <p:spPr>
          <a:xfrm>
            <a:off x="538425" y="3726525"/>
            <a:ext cx="2666700" cy="7410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47" name="Google Shape;447;p48"/>
          <p:cNvSpPr/>
          <p:nvPr/>
        </p:nvSpPr>
        <p:spPr>
          <a:xfrm>
            <a:off x="3655700" y="3737275"/>
            <a:ext cx="5287500" cy="7410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48" name="Google Shape;448;p48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9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54" name="Google Shape;454;p49"/>
          <p:cNvSpPr txBox="1"/>
          <p:nvPr/>
        </p:nvSpPr>
        <p:spPr>
          <a:xfrm>
            <a:off x="612900" y="243600"/>
            <a:ext cx="838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2.3 Modeling and Transformation: ETL vs ELT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455" name="Google Shape;455;p49"/>
          <p:cNvGraphicFramePr/>
          <p:nvPr/>
        </p:nvGraphicFramePr>
        <p:xfrm>
          <a:off x="571500" y="74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{2669486A-E8E0-4D69-A866-889A4AD78BF1}</a:tableStyleId>
              </a:tblPr>
              <a:tblGrid>
                <a:gridCol w="1566975"/>
                <a:gridCol w="3782650"/>
                <a:gridCol w="2742125"/>
              </a:tblGrid>
              <a:tr h="19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ETL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ELT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Full</a:t>
                      </a: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 Name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Extract Transform Load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Extract Load Transform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28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Primary Goal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Take only what you need; and process data before loading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Take full table, and process on target system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Availability</a:t>
                      </a: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 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Minimal — only subset of columns are available on target storage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All (no need to answer question "which columns do I need?" beforehand):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Flexibility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Minimal (harder to make changes to initial transform logic)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Great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6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Scalability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Poor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Good (since all data re loaded, easy to use more columns/rows in downstream data pipeline)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6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Storage Requirement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Minimal (subset of data are loaded)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Large (all data are loaded)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16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Best for</a:t>
                      </a:r>
                      <a:endParaRPr b="1"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Data Warehouse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ora"/>
                          <a:ea typeface="Lora"/>
                          <a:cs typeface="Lora"/>
                          <a:sym typeface="Lora"/>
                        </a:rPr>
                        <a:t>Data Lakes / Lakehouses (cheap storage)</a:t>
                      </a:r>
                      <a:endParaRPr sz="9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6" name="Google Shape;456;p49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