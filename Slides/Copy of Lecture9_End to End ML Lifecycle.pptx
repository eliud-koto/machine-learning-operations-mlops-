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5143500" cx="9144000"/>
  <p:notesSz cx="6858000" cy="9144000"/>
  <p:embeddedFontLst>
    <p:embeddedFont>
      <p:font typeface="Lora"/>
      <p:regular r:id="rId55"/>
      <p:bold r:id="rId56"/>
      <p:italic r:id="rId57"/>
      <p:boldItalic r:id="rId58"/>
    </p:embeddedFon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Lora-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Lora-italic.fntdata"/><Relationship Id="rId12" Type="http://schemas.openxmlformats.org/officeDocument/2006/relationships/slide" Target="slides/slide7.xml"/><Relationship Id="rId56" Type="http://schemas.openxmlformats.org/officeDocument/2006/relationships/font" Target="fonts/Lora-bold.fntdata"/><Relationship Id="rId15" Type="http://schemas.openxmlformats.org/officeDocument/2006/relationships/slide" Target="slides/slide10.xml"/><Relationship Id="rId59" Type="http://schemas.openxmlformats.org/officeDocument/2006/relationships/font" Target="fonts/RobotoMono-regular.fntdata"/><Relationship Id="rId14" Type="http://schemas.openxmlformats.org/officeDocument/2006/relationships/slide" Target="slides/slide9.xml"/><Relationship Id="rId58" Type="http://schemas.openxmlformats.org/officeDocument/2006/relationships/font" Target="fonts/Lora-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7e5d37942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g37e5d37942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33f06d82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3733f06d82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cae20b54c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8cae20b54c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67610437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34667610437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a52b8b1e4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4a52b8b1e4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babc02ea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g34babc02ea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11eacd7cf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g3711eacd7cf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711eacd7cf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g3711eacd7cf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711eacd7cf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711eacd7cf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11eacd7cf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711eacd7cf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11eacd7cf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g3711eacd7cf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2d6e0edd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72d6e0edd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89a086649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789a086649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89a086649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789a086649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4babc02ea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g34babc02eab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2584bd6a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372584bd6a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19b0dc85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3819b0dc85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a52b8b1e4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34a52b8b1e4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5a94d78dd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375a94d78dd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a52b8b1e4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4a52b8b1e4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6a0474257_1_1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56a0474257_1_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a52b8b1e4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g34a52b8b1e4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5a94d78dd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75a94d78dd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4a52b8b1e4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g34a52b8b1e4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44b7823b3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3744b7823b3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744b7823b3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g3744b7823b3_1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79dcd9442b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79dcd9442b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9dcd9442b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379dcd9442b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79dcd9442b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79dcd9442b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79dcd9442b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379dcd9442b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9dcd9442b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g379dcd9442b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9dcd9442b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g379dcd9442b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4a52b8b1e4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g34a52b8b1e4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789a086649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3789a086649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744b7823b3_1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3744b7823b3_1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19b0dc859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g3819b0dc859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89a086649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3789a086649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819b0dc859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g3819b0dc859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89a086649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3789a086649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4e2ffc2560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34e2ffc2560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744b7823b3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g3744b7823b3_1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85522a838d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g385522a838d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85522a838d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385522a838d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4a52b8b1e4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g34a52b8b1e4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7b3ab613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g37b3ab613b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7b3ab613b1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1" name="Google Shape;381;g37b3ab613b1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77cf49bb37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7" name="Google Shape;387;g377cf49bb3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4a52b8b1e4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g34a52b8b1e4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ora"/>
              <a:buNone/>
              <a:defRPr sz="2800">
                <a:solidFill>
                  <a:schemeClr val="dk1"/>
                </a:solidFill>
                <a:latin typeface="Lora"/>
                <a:ea typeface="Lora"/>
                <a:cs typeface="Lora"/>
                <a:sym typeface="Lora"/>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ora"/>
              <a:buChar char="●"/>
              <a:defRPr sz="1800">
                <a:solidFill>
                  <a:schemeClr val="dk2"/>
                </a:solidFill>
                <a:latin typeface="Lora"/>
                <a:ea typeface="Lora"/>
                <a:cs typeface="Lora"/>
                <a:sym typeface="Lora"/>
              </a:defRPr>
            </a:lvl1pPr>
            <a:lvl2pPr indent="-317500" lvl="1" marL="914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2pPr>
            <a:lvl3pPr indent="-317500" lvl="2" marL="1371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3pPr>
            <a:lvl4pPr indent="-317500" lvl="3" marL="1828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4pPr>
            <a:lvl5pPr indent="-317500" lvl="4" marL="22860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5pPr>
            <a:lvl6pPr indent="-317500" lvl="5" marL="27432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6pPr>
            <a:lvl7pPr indent="-317500" lvl="6" marL="3200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7pPr>
            <a:lvl8pPr indent="-317500" lvl="7" marL="3657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8pPr>
            <a:lvl9pPr indent="-317500" lvl="8" marL="4114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7692148" y="4782312"/>
            <a:ext cx="1188720" cy="297180"/>
          </a:xfrm>
          <a:prstGeom prst="rect">
            <a:avLst/>
          </a:prstGeom>
          <a:noFill/>
          <a:ln>
            <a:noFill/>
          </a:ln>
        </p:spPr>
      </p:pic>
      <p:pic>
        <p:nvPicPr>
          <p:cNvPr id="10" name="Google Shape;10;p1"/>
          <p:cNvPicPr preferRelativeResize="0"/>
          <p:nvPr/>
        </p:nvPicPr>
        <p:blipFill>
          <a:blip r:embed="rId2">
            <a:alphaModFix/>
          </a:blip>
          <a:stretch>
            <a:fillRect/>
          </a:stretch>
        </p:blipFill>
        <p:spPr>
          <a:xfrm>
            <a:off x="154577" y="4779825"/>
            <a:ext cx="1188721" cy="23774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hyperlink" Target="https://github.com/Ishangoai/AIMS_course/blob/5d7260ed003bc4790c283450de09723948db5e76/src/students/example/dagster/ml/assets.py#L139C1-L139C9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hyperlink" Target="https://github.com/Ishangoai/AIMS_course/blob/5d7260ed003bc4790c283450de09723948db5e76/src/students/example/dagster/ml/assets.py#L19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hyperlink" Target="https://github.com/Ishangoai/AIMS_course/blob/5d7260ed003bc4790c283450de09723948db5e76/src/students/example/dagster/ml/assets.py#L245" TargetMode="Externa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hyperlink" Target="https://kafka.apache.org/intro" TargetMode="Externa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hyperlink" Target="https://raw.githubusercontent.com/aduuna/Kaggle-Data-Credit-Card-Fraud-Detection/master/samplecreditcard.csv" TargetMode="External"/><Relationship Id="rId4" Type="http://schemas.openxmlformats.org/officeDocument/2006/relationships/hyperlink" Target="https://raw.githubusercontent.com/aduuna/Kaggle-Data-Credit-Card-Fraud-Detection/master/samplecreditcard.csv"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8</a:t>
            </a:r>
            <a:endParaRPr i="0" sz="700" u="none" cap="none" strike="noStrike">
              <a:solidFill>
                <a:srgbClr val="000000"/>
              </a:solidFill>
              <a:latin typeface="Lora"/>
              <a:ea typeface="Lora"/>
              <a:cs typeface="Lora"/>
              <a:sym typeface="Lora"/>
            </a:endParaRPr>
          </a:p>
        </p:txBody>
      </p:sp>
      <p:sp>
        <p:nvSpPr>
          <p:cNvPr id="57" name="Google Shape;57;p13"/>
          <p:cNvSpPr txBox="1"/>
          <p:nvPr/>
        </p:nvSpPr>
        <p:spPr>
          <a:xfrm>
            <a:off x="486900" y="700975"/>
            <a:ext cx="78966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Please receive the quiz handout from Cyrille, Oliver, Vincent, Jan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Complete the quiz in silence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Hand the quiz back</a:t>
            </a:r>
            <a:endParaRPr sz="1200">
              <a:solidFill>
                <a:schemeClr val="dk1"/>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a:t>
            </a:r>
            <a:r>
              <a:rPr lang="en" sz="2400">
                <a:latin typeface="Lora"/>
                <a:ea typeface="Lora"/>
                <a:cs typeface="Lora"/>
                <a:sym typeface="Lora"/>
              </a:rPr>
              <a:t>Lecture</a:t>
            </a:r>
            <a:r>
              <a:rPr lang="en" sz="2400">
                <a:latin typeface="Lora"/>
                <a:ea typeface="Lora"/>
                <a:cs typeface="Lora"/>
                <a:sym typeface="Lora"/>
              </a:rPr>
              <a:t> 8</a:t>
            </a:r>
            <a:endParaRPr i="0" sz="700" u="none" cap="none" strike="noStrike">
              <a:solidFill>
                <a:srgbClr val="000000"/>
              </a:solidFill>
              <a:latin typeface="Lora"/>
              <a:ea typeface="Lora"/>
              <a:cs typeface="Lora"/>
              <a:sym typeface="Lora"/>
            </a:endParaRPr>
          </a:p>
        </p:txBody>
      </p:sp>
      <p:sp>
        <p:nvSpPr>
          <p:cNvPr id="63" name="Google Shape;63;p14"/>
          <p:cNvSpPr txBox="1"/>
          <p:nvPr/>
        </p:nvSpPr>
        <p:spPr>
          <a:xfrm>
            <a:off x="191200" y="700975"/>
            <a:ext cx="4709400" cy="27129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concept in Dagster brings all other </a:t>
            </a:r>
            <a:r>
              <a:rPr lang="en" sz="900">
                <a:solidFill>
                  <a:schemeClr val="dk1"/>
                </a:solidFill>
                <a:latin typeface="Lora"/>
                <a:ea typeface="Lora"/>
                <a:cs typeface="Lora"/>
                <a:sym typeface="Lora"/>
              </a:rPr>
              <a:t>concepts</a:t>
            </a:r>
            <a:r>
              <a:rPr lang="en" sz="900">
                <a:solidFill>
                  <a:schemeClr val="dk1"/>
                </a:solidFill>
                <a:latin typeface="Lora"/>
                <a:ea typeface="Lora"/>
                <a:cs typeface="Lora"/>
                <a:sym typeface="Lora"/>
              </a:rPr>
              <a:t> </a:t>
            </a:r>
            <a:r>
              <a:rPr lang="en" sz="900">
                <a:solidFill>
                  <a:schemeClr val="dk1"/>
                </a:solidFill>
                <a:latin typeface="Lora"/>
                <a:ea typeface="Lora"/>
                <a:cs typeface="Lora"/>
                <a:sym typeface="Lora"/>
              </a:rPr>
              <a:t>together</a:t>
            </a:r>
            <a:r>
              <a:rPr lang="en" sz="900">
                <a:solidFill>
                  <a:schemeClr val="dk1"/>
                </a:solidFill>
                <a:latin typeface="Lora"/>
                <a:ea typeface="Lora"/>
                <a:cs typeface="Lora"/>
                <a:sym typeface="Lora"/>
              </a:rPr>
              <a: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Definitions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Asset Checks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Assets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IO Manager</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can Dagster be used for?</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Only Data Engineering projects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Only Data </a:t>
            </a:r>
            <a:r>
              <a:rPr lang="en" sz="900">
                <a:solidFill>
                  <a:schemeClr val="dk1"/>
                </a:solidFill>
                <a:latin typeface="Lora"/>
                <a:ea typeface="Lora"/>
                <a:cs typeface="Lora"/>
                <a:sym typeface="Lora"/>
              </a:rPr>
              <a:t>Science</a:t>
            </a:r>
            <a:r>
              <a:rPr lang="en" sz="900">
                <a:solidFill>
                  <a:schemeClr val="dk1"/>
                </a:solidFill>
                <a:latin typeface="Lora"/>
                <a:ea typeface="Lora"/>
                <a:cs typeface="Lora"/>
                <a:sym typeface="Lora"/>
              </a:rPr>
              <a:t> projects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Any </a:t>
            </a:r>
            <a:r>
              <a:rPr lang="en" sz="900">
                <a:solidFill>
                  <a:schemeClr val="dk1"/>
                </a:solidFill>
                <a:latin typeface="Lora"/>
                <a:ea typeface="Lora"/>
                <a:cs typeface="Lora"/>
                <a:sym typeface="Lora"/>
              </a:rPr>
              <a:t>p</a:t>
            </a:r>
            <a:r>
              <a:rPr lang="en" sz="900">
                <a:solidFill>
                  <a:schemeClr val="dk1"/>
                </a:solidFill>
                <a:latin typeface="Lora"/>
                <a:ea typeface="Lora"/>
                <a:cs typeface="Lora"/>
                <a:sym typeface="Lora"/>
              </a:rPr>
              <a:t>roject that involves working with data</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Only MLOps projects</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The following are frameworks for building DAGs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Azure DAGflow, Apache Lakeflow  </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AWS dagflow, dagster </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Palantir Foundry, dagster</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Apache Lakeflow, GCP Dataplex</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Aubergine, Apple, Eggplant</a:t>
            </a:r>
            <a:endParaRPr sz="900">
              <a:solidFill>
                <a:schemeClr val="dk1"/>
              </a:solidFill>
              <a:latin typeface="Lora"/>
              <a:ea typeface="Lora"/>
              <a:cs typeface="Lora"/>
              <a:sym typeface="Lora"/>
            </a:endParaRPr>
          </a:p>
        </p:txBody>
      </p:sp>
      <p:sp>
        <p:nvSpPr>
          <p:cNvPr id="64" name="Google Shape;64;p14"/>
          <p:cNvSpPr txBox="1"/>
          <p:nvPr/>
        </p:nvSpPr>
        <p:spPr>
          <a:xfrm>
            <a:off x="4344575" y="700975"/>
            <a:ext cx="4709400" cy="41466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What is the concept of a Dagster "job"?</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 logical unit of data</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 group of "Definitions"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 way to automate running assets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 subset of assets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none of the above </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In Dagster, what is used to abstract away connections to external services like databases or APIs?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chemeClr val="lt1"/>
                </a:highlight>
                <a:latin typeface="Lora"/>
                <a:ea typeface="Lora"/>
                <a:cs typeface="Lora"/>
                <a:sym typeface="Lora"/>
              </a:rPr>
              <a:t>Resources</a:t>
            </a:r>
            <a:endParaRPr sz="900">
              <a:solidFill>
                <a:schemeClr val="dk1"/>
              </a:solidFill>
              <a:highlight>
                <a:srgbClr val="FFFFFF"/>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rgbClr val="FFFFFF"/>
                </a:highlight>
                <a:latin typeface="Lora"/>
                <a:ea typeface="Lora"/>
                <a:cs typeface="Lora"/>
                <a:sym typeface="Lora"/>
              </a:rPr>
              <a:t>Executors</a:t>
            </a:r>
            <a:endParaRPr sz="900">
              <a:solidFill>
                <a:schemeClr val="dk1"/>
              </a:solidFill>
              <a:highlight>
                <a:srgbClr val="FFFFFF"/>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rgbClr val="FFFFFF"/>
                </a:highlight>
                <a:latin typeface="Lora"/>
                <a:ea typeface="Lora"/>
                <a:cs typeface="Lora"/>
                <a:sym typeface="Lora"/>
              </a:rPr>
              <a:t>Sensors</a:t>
            </a:r>
            <a:endParaRPr sz="900">
              <a:solidFill>
                <a:schemeClr val="dk1"/>
              </a:solidFill>
              <a:highlight>
                <a:srgbClr val="FFFFFF"/>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rgbClr val="FFFFFF"/>
                </a:highlight>
                <a:latin typeface="Lora"/>
                <a:ea typeface="Lora"/>
                <a:cs typeface="Lora"/>
                <a:sym typeface="Lora"/>
              </a:rPr>
              <a:t>IO Managers</a:t>
            </a:r>
            <a:endParaRPr sz="900">
              <a:solidFill>
                <a:schemeClr val="dk1"/>
              </a:solidFill>
              <a:highlight>
                <a:srgbClr val="FFFFFF"/>
              </a:highlight>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highlight>
                  <a:srgbClr val="FFFFFF"/>
                </a:highlight>
                <a:latin typeface="Lora"/>
                <a:ea typeface="Lora"/>
                <a:cs typeface="Lora"/>
                <a:sym typeface="Lora"/>
              </a:rPr>
              <a:t>What is </a:t>
            </a:r>
            <a:r>
              <a:rPr i="1" lang="en" sz="900">
                <a:solidFill>
                  <a:schemeClr val="dk1"/>
                </a:solidFill>
                <a:highlight>
                  <a:srgbClr val="FFFFFF"/>
                </a:highlight>
                <a:latin typeface="Lora"/>
                <a:ea typeface="Lora"/>
                <a:cs typeface="Lora"/>
                <a:sym typeface="Lora"/>
              </a:rPr>
              <a:t>dg.AssetExecutionContext</a:t>
            </a:r>
            <a:r>
              <a:rPr lang="en" sz="900">
                <a:solidFill>
                  <a:schemeClr val="dk1"/>
                </a:solidFill>
                <a:highlight>
                  <a:srgbClr val="FFFFFF"/>
                </a:highlight>
                <a:latin typeface="Lora"/>
                <a:ea typeface="Lora"/>
                <a:cs typeface="Lora"/>
                <a:sym typeface="Lora"/>
              </a:rPr>
              <a:t> doing in the following code:</a:t>
            </a:r>
            <a:br>
              <a:rPr lang="en" sz="900">
                <a:solidFill>
                  <a:schemeClr val="dk1"/>
                </a:solidFill>
                <a:highlight>
                  <a:srgbClr val="FFFFFF"/>
                </a:highlight>
                <a:latin typeface="Lora"/>
                <a:ea typeface="Lora"/>
                <a:cs typeface="Lora"/>
                <a:sym typeface="Lora"/>
              </a:rPr>
            </a:br>
            <a:r>
              <a:rPr i="1" lang="en" sz="900">
                <a:solidFill>
                  <a:schemeClr val="dk1"/>
                </a:solidFill>
                <a:highlight>
                  <a:srgbClr val="FFFFFF"/>
                </a:highlight>
                <a:latin typeface="Lora"/>
                <a:ea typeface="Lora"/>
                <a:cs typeface="Lora"/>
                <a:sym typeface="Lora"/>
              </a:rPr>
              <a:t>def raw_data(</a:t>
            </a:r>
            <a:endParaRPr i="1" sz="900">
              <a:solidFill>
                <a:schemeClr val="dk1"/>
              </a:solidFill>
              <a:highlight>
                <a:srgbClr val="FFFFFF"/>
              </a:highlight>
              <a:latin typeface="Lora"/>
              <a:ea typeface="Lora"/>
              <a:cs typeface="Lora"/>
              <a:sym typeface="Lora"/>
            </a:endParaRPr>
          </a:p>
          <a:p>
            <a:pPr indent="457200" lvl="0" marL="0" rtl="0" algn="l">
              <a:lnSpc>
                <a:spcPct val="115000"/>
              </a:lnSpc>
              <a:spcBef>
                <a:spcPts val="0"/>
              </a:spcBef>
              <a:spcAft>
                <a:spcPts val="0"/>
              </a:spcAft>
              <a:buNone/>
            </a:pPr>
            <a:r>
              <a:rPr i="1" lang="en" sz="900">
                <a:solidFill>
                  <a:schemeClr val="dk1"/>
                </a:solidFill>
                <a:highlight>
                  <a:srgbClr val="FFFFFF"/>
                </a:highlight>
                <a:latin typeface="Lora"/>
                <a:ea typeface="Lora"/>
                <a:cs typeface="Lora"/>
                <a:sym typeface="Lora"/>
              </a:rPr>
              <a:t>    context: dg.AssetExecutionContext,</a:t>
            </a:r>
            <a:endParaRPr i="1" sz="900">
              <a:solidFill>
                <a:schemeClr val="dk1"/>
              </a:solidFill>
              <a:highlight>
                <a:srgbClr val="FFFFFF"/>
              </a:highlight>
              <a:latin typeface="Lora"/>
              <a:ea typeface="Lora"/>
              <a:cs typeface="Lora"/>
              <a:sym typeface="Lora"/>
            </a:endParaRPr>
          </a:p>
          <a:p>
            <a:pPr indent="0" lvl="0" marL="0" rtl="0" algn="l">
              <a:lnSpc>
                <a:spcPct val="115000"/>
              </a:lnSpc>
              <a:spcBef>
                <a:spcPts val="0"/>
              </a:spcBef>
              <a:spcAft>
                <a:spcPts val="0"/>
              </a:spcAft>
              <a:buNone/>
            </a:pPr>
            <a:r>
              <a:rPr i="1" lang="en" sz="900">
                <a:solidFill>
                  <a:schemeClr val="dk1"/>
                </a:solidFill>
                <a:highlight>
                  <a:srgbClr val="FFFFFF"/>
                </a:highlight>
                <a:latin typeface="Lora"/>
                <a:ea typeface="Lora"/>
                <a:cs typeface="Lora"/>
                <a:sym typeface="Lora"/>
              </a:rPr>
              <a:t> 	) -&gt; dg.MaterializeResult:</a:t>
            </a:r>
            <a:endParaRPr i="1" sz="900">
              <a:solidFill>
                <a:schemeClr val="dk1"/>
              </a:solidFill>
              <a:highlight>
                <a:srgbClr val="FFFFFF"/>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i="1" lang="en" sz="900">
                <a:solidFill>
                  <a:schemeClr val="dk1"/>
                </a:solidFill>
                <a:highlight>
                  <a:schemeClr val="lt1"/>
                </a:highlight>
                <a:latin typeface="Lora"/>
                <a:ea typeface="Lora"/>
                <a:cs typeface="Lora"/>
                <a:sym typeface="Lora"/>
              </a:rPr>
              <a:t>dg.AssetExecutionContext </a:t>
            </a:r>
            <a:r>
              <a:rPr lang="en" sz="900">
                <a:solidFill>
                  <a:schemeClr val="dk1"/>
                </a:solidFill>
                <a:highlight>
                  <a:schemeClr val="lt1"/>
                </a:highlight>
                <a:latin typeface="Lora"/>
                <a:ea typeface="Lora"/>
                <a:cs typeface="Lora"/>
                <a:sym typeface="Lora"/>
              </a:rPr>
              <a:t>is type-hinting for </a:t>
            </a:r>
            <a:r>
              <a:rPr i="1" lang="en" sz="900">
                <a:solidFill>
                  <a:schemeClr val="dk1"/>
                </a:solidFill>
                <a:highlight>
                  <a:schemeClr val="lt1"/>
                </a:highlight>
                <a:latin typeface="Lora"/>
                <a:ea typeface="Lora"/>
                <a:cs typeface="Lora"/>
                <a:sym typeface="Lora"/>
              </a:rPr>
              <a:t>context</a:t>
            </a:r>
            <a:r>
              <a:rPr lang="en" sz="900">
                <a:solidFill>
                  <a:schemeClr val="dk1"/>
                </a:solidFill>
                <a:highlight>
                  <a:schemeClr val="lt1"/>
                </a:highlight>
                <a:latin typeface="Lora"/>
                <a:ea typeface="Lora"/>
                <a:cs typeface="Lora"/>
                <a:sym typeface="Lora"/>
              </a:rPr>
              <a:t>. If </a:t>
            </a:r>
            <a:r>
              <a:rPr i="1" lang="en" sz="900">
                <a:solidFill>
                  <a:schemeClr val="dk1"/>
                </a:solidFill>
                <a:highlight>
                  <a:schemeClr val="lt1"/>
                </a:highlight>
                <a:latin typeface="Lora"/>
                <a:ea typeface="Lora"/>
                <a:cs typeface="Lora"/>
                <a:sym typeface="Lora"/>
              </a:rPr>
              <a:t>dg.AssetExecutionContext </a:t>
            </a:r>
            <a:r>
              <a:rPr lang="en" sz="900">
                <a:solidFill>
                  <a:schemeClr val="dk1"/>
                </a:solidFill>
                <a:highlight>
                  <a:schemeClr val="lt1"/>
                </a:highlight>
                <a:latin typeface="Lora"/>
                <a:ea typeface="Lora"/>
                <a:cs typeface="Lora"/>
                <a:sym typeface="Lora"/>
              </a:rPr>
              <a:t>is removed, the code will run the same as before. </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i="1" lang="en" sz="900">
                <a:solidFill>
                  <a:schemeClr val="dk1"/>
                </a:solidFill>
                <a:highlight>
                  <a:schemeClr val="lt1"/>
                </a:highlight>
                <a:latin typeface="Lora"/>
                <a:ea typeface="Lora"/>
                <a:cs typeface="Lora"/>
                <a:sym typeface="Lora"/>
              </a:rPr>
              <a:t>dg.AssetExecutionContext </a:t>
            </a:r>
            <a:r>
              <a:rPr lang="en" sz="900">
                <a:solidFill>
                  <a:schemeClr val="dk1"/>
                </a:solidFill>
                <a:highlight>
                  <a:schemeClr val="lt1"/>
                </a:highlight>
                <a:latin typeface="Lora"/>
                <a:ea typeface="Lora"/>
                <a:cs typeface="Lora"/>
                <a:sym typeface="Lora"/>
              </a:rPr>
              <a:t>provides access to system information like loggers and the current run ID</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i="1" lang="en" sz="900">
                <a:solidFill>
                  <a:schemeClr val="dk1"/>
                </a:solidFill>
                <a:highlight>
                  <a:schemeClr val="lt1"/>
                </a:highlight>
                <a:latin typeface="Lora"/>
                <a:ea typeface="Lora"/>
                <a:cs typeface="Lora"/>
                <a:sym typeface="Lora"/>
              </a:rPr>
              <a:t>dg.AssetExecutionContext </a:t>
            </a:r>
            <a:r>
              <a:rPr lang="en" sz="900">
                <a:solidFill>
                  <a:schemeClr val="dk1"/>
                </a:solidFill>
                <a:highlight>
                  <a:schemeClr val="lt1"/>
                </a:highlight>
                <a:latin typeface="Lora"/>
                <a:ea typeface="Lora"/>
                <a:cs typeface="Lora"/>
                <a:sym typeface="Lora"/>
              </a:rPr>
              <a:t>passes the runtime state between assets</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i="1" lang="en" sz="900">
                <a:solidFill>
                  <a:schemeClr val="dk1"/>
                </a:solidFill>
                <a:highlight>
                  <a:schemeClr val="lt1"/>
                </a:highlight>
                <a:latin typeface="Lora"/>
                <a:ea typeface="Lora"/>
                <a:cs typeface="Lora"/>
                <a:sym typeface="Lora"/>
              </a:rPr>
              <a:t>dg.AssetExecutionContext </a:t>
            </a:r>
            <a:r>
              <a:rPr lang="en" sz="900">
                <a:solidFill>
                  <a:schemeClr val="dk1"/>
                </a:solidFill>
                <a:highlight>
                  <a:schemeClr val="lt1"/>
                </a:highlight>
                <a:latin typeface="Lora"/>
                <a:ea typeface="Lora"/>
                <a:cs typeface="Lora"/>
                <a:sym typeface="Lora"/>
              </a:rPr>
              <a:t>is the context runtime that forms the logic for the state between assets</a:t>
            </a:r>
            <a:endParaRPr sz="900">
              <a:solidFill>
                <a:schemeClr val="dk1"/>
              </a:solidFill>
              <a:highlight>
                <a:schemeClr val="lt1"/>
              </a:highlight>
              <a:latin typeface="Lora"/>
              <a:ea typeface="Lora"/>
              <a:cs typeface="Lora"/>
              <a:sym typeface="Lora"/>
            </a:endParaRPr>
          </a:p>
          <a:p>
            <a:pPr indent="0" lvl="0" marL="0" rtl="0" algn="l">
              <a:lnSpc>
                <a:spcPct val="115000"/>
              </a:lnSpc>
              <a:spcBef>
                <a:spcPts val="0"/>
              </a:spcBef>
              <a:spcAft>
                <a:spcPts val="0"/>
              </a:spcAft>
              <a:buNone/>
            </a:pPr>
            <a:r>
              <a:t/>
            </a:r>
            <a:endParaRPr i="1" sz="900">
              <a:solidFill>
                <a:schemeClr val="dk1"/>
              </a:solidFill>
              <a:highlight>
                <a:srgbClr val="FFFFFF"/>
              </a:highlight>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a:t>
            </a:r>
            <a:r>
              <a:rPr lang="en" sz="2400">
                <a:latin typeface="Lora"/>
                <a:ea typeface="Lora"/>
                <a:cs typeface="Lora"/>
                <a:sym typeface="Lora"/>
              </a:rPr>
              <a:t>Lecture</a:t>
            </a:r>
            <a:r>
              <a:rPr lang="en" sz="2400">
                <a:latin typeface="Lora"/>
                <a:ea typeface="Lora"/>
                <a:cs typeface="Lora"/>
                <a:sym typeface="Lora"/>
              </a:rPr>
              <a:t> 8 (answers)</a:t>
            </a:r>
            <a:endParaRPr i="0" sz="700" u="none" cap="none" strike="noStrike">
              <a:solidFill>
                <a:srgbClr val="000000"/>
              </a:solidFill>
              <a:latin typeface="Lora"/>
              <a:ea typeface="Lora"/>
              <a:cs typeface="Lora"/>
              <a:sym typeface="Lora"/>
            </a:endParaRPr>
          </a:p>
        </p:txBody>
      </p:sp>
      <p:sp>
        <p:nvSpPr>
          <p:cNvPr id="70" name="Google Shape;70;p15"/>
          <p:cNvSpPr txBox="1"/>
          <p:nvPr/>
        </p:nvSpPr>
        <p:spPr>
          <a:xfrm>
            <a:off x="191200" y="700975"/>
            <a:ext cx="4709400" cy="27129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concept in Dagster brings all other concepts together?</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Definitions</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Asset Checks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Assets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IO Manager</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can Dagster be used for?</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Only Data Engineering projects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Only Data Science projects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Any project that involves working with data</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Only MLOps projects</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The following are frameworks for building DAGs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Azure DAGflow, Apache Lakeflow  </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AWS dagflow, dagster </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Palantir Foundry, dagster</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Apache Lakeflow, GCP Dataplex</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Aubergine, Apple, Eggplant</a:t>
            </a:r>
            <a:endParaRPr sz="900">
              <a:solidFill>
                <a:schemeClr val="dk1"/>
              </a:solidFill>
              <a:latin typeface="Lora"/>
              <a:ea typeface="Lora"/>
              <a:cs typeface="Lora"/>
              <a:sym typeface="Lora"/>
            </a:endParaRPr>
          </a:p>
        </p:txBody>
      </p:sp>
      <p:sp>
        <p:nvSpPr>
          <p:cNvPr id="71" name="Google Shape;71;p15"/>
          <p:cNvSpPr txBox="1"/>
          <p:nvPr/>
        </p:nvSpPr>
        <p:spPr>
          <a:xfrm>
            <a:off x="4344575" y="700975"/>
            <a:ext cx="4709400" cy="41466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What is the concept of a Dagster "job"?</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 logical unit of data</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 group of "Definitions"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a way to automate running assets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a subset of assets</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none of the above </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In Dagster, what is used to abstract away connections to external services like databases or APIs?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highlight>
                  <a:schemeClr val="lt1"/>
                </a:highlight>
                <a:latin typeface="Lora"/>
                <a:ea typeface="Lora"/>
                <a:cs typeface="Lora"/>
                <a:sym typeface="Lora"/>
              </a:rPr>
              <a:t>Resources</a:t>
            </a:r>
            <a:endParaRPr b="1" sz="900">
              <a:solidFill>
                <a:schemeClr val="dk1"/>
              </a:solidFill>
              <a:highlight>
                <a:srgbClr val="FFFFFF"/>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rgbClr val="FFFFFF"/>
                </a:highlight>
                <a:latin typeface="Lora"/>
                <a:ea typeface="Lora"/>
                <a:cs typeface="Lora"/>
                <a:sym typeface="Lora"/>
              </a:rPr>
              <a:t>Executors</a:t>
            </a:r>
            <a:endParaRPr sz="900">
              <a:solidFill>
                <a:schemeClr val="dk1"/>
              </a:solidFill>
              <a:highlight>
                <a:srgbClr val="FFFFFF"/>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rgbClr val="FFFFFF"/>
                </a:highlight>
                <a:latin typeface="Lora"/>
                <a:ea typeface="Lora"/>
                <a:cs typeface="Lora"/>
                <a:sym typeface="Lora"/>
              </a:rPr>
              <a:t>Sensors</a:t>
            </a:r>
            <a:endParaRPr sz="900">
              <a:solidFill>
                <a:schemeClr val="dk1"/>
              </a:solidFill>
              <a:highlight>
                <a:srgbClr val="FFFFFF"/>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rgbClr val="FFFFFF"/>
                </a:highlight>
                <a:latin typeface="Lora"/>
                <a:ea typeface="Lora"/>
                <a:cs typeface="Lora"/>
                <a:sym typeface="Lora"/>
              </a:rPr>
              <a:t>IO Managers</a:t>
            </a:r>
            <a:endParaRPr sz="900">
              <a:solidFill>
                <a:schemeClr val="dk1"/>
              </a:solidFill>
              <a:highlight>
                <a:srgbClr val="FFFFFF"/>
              </a:highlight>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highlight>
                  <a:srgbClr val="FFFFFF"/>
                </a:highlight>
                <a:latin typeface="Lora"/>
                <a:ea typeface="Lora"/>
                <a:cs typeface="Lora"/>
                <a:sym typeface="Lora"/>
              </a:rPr>
              <a:t>What is </a:t>
            </a:r>
            <a:r>
              <a:rPr i="1" lang="en" sz="900">
                <a:solidFill>
                  <a:schemeClr val="dk1"/>
                </a:solidFill>
                <a:highlight>
                  <a:srgbClr val="FFFFFF"/>
                </a:highlight>
                <a:latin typeface="Lora"/>
                <a:ea typeface="Lora"/>
                <a:cs typeface="Lora"/>
                <a:sym typeface="Lora"/>
              </a:rPr>
              <a:t>dg.AssetExecutionContext</a:t>
            </a:r>
            <a:r>
              <a:rPr lang="en" sz="900">
                <a:solidFill>
                  <a:schemeClr val="dk1"/>
                </a:solidFill>
                <a:highlight>
                  <a:srgbClr val="FFFFFF"/>
                </a:highlight>
                <a:latin typeface="Lora"/>
                <a:ea typeface="Lora"/>
                <a:cs typeface="Lora"/>
                <a:sym typeface="Lora"/>
              </a:rPr>
              <a:t> doing in the following code:</a:t>
            </a:r>
            <a:br>
              <a:rPr lang="en" sz="900">
                <a:solidFill>
                  <a:schemeClr val="dk1"/>
                </a:solidFill>
                <a:highlight>
                  <a:srgbClr val="FFFFFF"/>
                </a:highlight>
                <a:latin typeface="Lora"/>
                <a:ea typeface="Lora"/>
                <a:cs typeface="Lora"/>
                <a:sym typeface="Lora"/>
              </a:rPr>
            </a:br>
            <a:r>
              <a:rPr i="1" lang="en" sz="900">
                <a:solidFill>
                  <a:schemeClr val="dk1"/>
                </a:solidFill>
                <a:highlight>
                  <a:srgbClr val="FFFFFF"/>
                </a:highlight>
                <a:latin typeface="Lora"/>
                <a:ea typeface="Lora"/>
                <a:cs typeface="Lora"/>
                <a:sym typeface="Lora"/>
              </a:rPr>
              <a:t>def raw_data(</a:t>
            </a:r>
            <a:endParaRPr i="1" sz="900">
              <a:solidFill>
                <a:schemeClr val="dk1"/>
              </a:solidFill>
              <a:highlight>
                <a:srgbClr val="FFFFFF"/>
              </a:highlight>
              <a:latin typeface="Lora"/>
              <a:ea typeface="Lora"/>
              <a:cs typeface="Lora"/>
              <a:sym typeface="Lora"/>
            </a:endParaRPr>
          </a:p>
          <a:p>
            <a:pPr indent="457200" lvl="0" marL="0" rtl="0" algn="l">
              <a:lnSpc>
                <a:spcPct val="115000"/>
              </a:lnSpc>
              <a:spcBef>
                <a:spcPts val="0"/>
              </a:spcBef>
              <a:spcAft>
                <a:spcPts val="0"/>
              </a:spcAft>
              <a:buNone/>
            </a:pPr>
            <a:r>
              <a:rPr i="1" lang="en" sz="900">
                <a:solidFill>
                  <a:schemeClr val="dk1"/>
                </a:solidFill>
                <a:highlight>
                  <a:srgbClr val="FFFFFF"/>
                </a:highlight>
                <a:latin typeface="Lora"/>
                <a:ea typeface="Lora"/>
                <a:cs typeface="Lora"/>
                <a:sym typeface="Lora"/>
              </a:rPr>
              <a:t>    context: dg.AssetExecutionContext,</a:t>
            </a:r>
            <a:endParaRPr i="1" sz="900">
              <a:solidFill>
                <a:schemeClr val="dk1"/>
              </a:solidFill>
              <a:highlight>
                <a:srgbClr val="FFFFFF"/>
              </a:highlight>
              <a:latin typeface="Lora"/>
              <a:ea typeface="Lora"/>
              <a:cs typeface="Lora"/>
              <a:sym typeface="Lora"/>
            </a:endParaRPr>
          </a:p>
          <a:p>
            <a:pPr indent="0" lvl="0" marL="0" rtl="0" algn="l">
              <a:lnSpc>
                <a:spcPct val="115000"/>
              </a:lnSpc>
              <a:spcBef>
                <a:spcPts val="0"/>
              </a:spcBef>
              <a:spcAft>
                <a:spcPts val="0"/>
              </a:spcAft>
              <a:buNone/>
            </a:pPr>
            <a:r>
              <a:rPr i="1" lang="en" sz="900">
                <a:solidFill>
                  <a:schemeClr val="dk1"/>
                </a:solidFill>
                <a:highlight>
                  <a:srgbClr val="FFFFFF"/>
                </a:highlight>
                <a:latin typeface="Lora"/>
                <a:ea typeface="Lora"/>
                <a:cs typeface="Lora"/>
                <a:sym typeface="Lora"/>
              </a:rPr>
              <a:t> 	) -&gt; dg.MaterializeResult:</a:t>
            </a:r>
            <a:endParaRPr i="1" sz="900">
              <a:solidFill>
                <a:schemeClr val="dk1"/>
              </a:solidFill>
              <a:highlight>
                <a:srgbClr val="FFFFFF"/>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i="1" lang="en" sz="900">
                <a:solidFill>
                  <a:schemeClr val="dk1"/>
                </a:solidFill>
                <a:highlight>
                  <a:schemeClr val="lt1"/>
                </a:highlight>
                <a:latin typeface="Lora"/>
                <a:ea typeface="Lora"/>
                <a:cs typeface="Lora"/>
                <a:sym typeface="Lora"/>
              </a:rPr>
              <a:t>dg.AssetExecutionContext </a:t>
            </a:r>
            <a:r>
              <a:rPr b="1" lang="en" sz="900">
                <a:solidFill>
                  <a:schemeClr val="dk1"/>
                </a:solidFill>
                <a:highlight>
                  <a:schemeClr val="lt1"/>
                </a:highlight>
                <a:latin typeface="Lora"/>
                <a:ea typeface="Lora"/>
                <a:cs typeface="Lora"/>
                <a:sym typeface="Lora"/>
              </a:rPr>
              <a:t>is type-hinting for </a:t>
            </a:r>
            <a:r>
              <a:rPr b="1" i="1" lang="en" sz="900">
                <a:solidFill>
                  <a:schemeClr val="dk1"/>
                </a:solidFill>
                <a:highlight>
                  <a:schemeClr val="lt1"/>
                </a:highlight>
                <a:latin typeface="Lora"/>
                <a:ea typeface="Lora"/>
                <a:cs typeface="Lora"/>
                <a:sym typeface="Lora"/>
              </a:rPr>
              <a:t>context</a:t>
            </a:r>
            <a:r>
              <a:rPr b="1" lang="en" sz="900">
                <a:solidFill>
                  <a:schemeClr val="dk1"/>
                </a:solidFill>
                <a:highlight>
                  <a:schemeClr val="lt1"/>
                </a:highlight>
                <a:latin typeface="Lora"/>
                <a:ea typeface="Lora"/>
                <a:cs typeface="Lora"/>
                <a:sym typeface="Lora"/>
              </a:rPr>
              <a:t>. If </a:t>
            </a:r>
            <a:r>
              <a:rPr b="1" i="1" lang="en" sz="900">
                <a:solidFill>
                  <a:schemeClr val="dk1"/>
                </a:solidFill>
                <a:highlight>
                  <a:schemeClr val="lt1"/>
                </a:highlight>
                <a:latin typeface="Lora"/>
                <a:ea typeface="Lora"/>
                <a:cs typeface="Lora"/>
                <a:sym typeface="Lora"/>
              </a:rPr>
              <a:t>dg.AssetExecutionContext </a:t>
            </a:r>
            <a:r>
              <a:rPr b="1" lang="en" sz="900">
                <a:solidFill>
                  <a:schemeClr val="dk1"/>
                </a:solidFill>
                <a:highlight>
                  <a:schemeClr val="lt1"/>
                </a:highlight>
                <a:latin typeface="Lora"/>
                <a:ea typeface="Lora"/>
                <a:cs typeface="Lora"/>
                <a:sym typeface="Lora"/>
              </a:rPr>
              <a:t>is removed, the code will run the same as before. </a:t>
            </a:r>
            <a:endParaRPr b="1"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i="1" lang="en" sz="900">
                <a:solidFill>
                  <a:schemeClr val="dk1"/>
                </a:solidFill>
                <a:highlight>
                  <a:schemeClr val="lt1"/>
                </a:highlight>
                <a:latin typeface="Lora"/>
                <a:ea typeface="Lora"/>
                <a:cs typeface="Lora"/>
                <a:sym typeface="Lora"/>
              </a:rPr>
              <a:t>dg.AssetExecutionContext </a:t>
            </a:r>
            <a:r>
              <a:rPr lang="en" sz="900">
                <a:solidFill>
                  <a:schemeClr val="dk1"/>
                </a:solidFill>
                <a:highlight>
                  <a:schemeClr val="lt1"/>
                </a:highlight>
                <a:latin typeface="Lora"/>
                <a:ea typeface="Lora"/>
                <a:cs typeface="Lora"/>
                <a:sym typeface="Lora"/>
              </a:rPr>
              <a:t>provides access to system information like loggers and the current run ID</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i="1" lang="en" sz="900">
                <a:solidFill>
                  <a:schemeClr val="dk1"/>
                </a:solidFill>
                <a:highlight>
                  <a:schemeClr val="lt1"/>
                </a:highlight>
                <a:latin typeface="Lora"/>
                <a:ea typeface="Lora"/>
                <a:cs typeface="Lora"/>
                <a:sym typeface="Lora"/>
              </a:rPr>
              <a:t>dg.AssetExecutionContext </a:t>
            </a:r>
            <a:r>
              <a:rPr lang="en" sz="900">
                <a:solidFill>
                  <a:schemeClr val="dk1"/>
                </a:solidFill>
                <a:highlight>
                  <a:schemeClr val="lt1"/>
                </a:highlight>
                <a:latin typeface="Lora"/>
                <a:ea typeface="Lora"/>
                <a:cs typeface="Lora"/>
                <a:sym typeface="Lora"/>
              </a:rPr>
              <a:t>passes the runtime state between assets</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i="1" lang="en" sz="900">
                <a:solidFill>
                  <a:schemeClr val="dk1"/>
                </a:solidFill>
                <a:highlight>
                  <a:schemeClr val="lt1"/>
                </a:highlight>
                <a:latin typeface="Lora"/>
                <a:ea typeface="Lora"/>
                <a:cs typeface="Lora"/>
                <a:sym typeface="Lora"/>
              </a:rPr>
              <a:t>dg.AssetExecutionContext </a:t>
            </a:r>
            <a:r>
              <a:rPr lang="en" sz="900">
                <a:solidFill>
                  <a:schemeClr val="dk1"/>
                </a:solidFill>
                <a:highlight>
                  <a:schemeClr val="lt1"/>
                </a:highlight>
                <a:latin typeface="Lora"/>
                <a:ea typeface="Lora"/>
                <a:cs typeface="Lora"/>
                <a:sym typeface="Lora"/>
              </a:rPr>
              <a:t>is the context runtime that forms the logic for the state between assets</a:t>
            </a:r>
            <a:endParaRPr sz="900">
              <a:solidFill>
                <a:schemeClr val="dk1"/>
              </a:solidFill>
              <a:highlight>
                <a:schemeClr val="lt1"/>
              </a:highlight>
              <a:latin typeface="Lora"/>
              <a:ea typeface="Lora"/>
              <a:cs typeface="Lora"/>
              <a:sym typeface="Lora"/>
            </a:endParaRPr>
          </a:p>
          <a:p>
            <a:pPr indent="0" lvl="0" marL="0" rtl="0" algn="l">
              <a:lnSpc>
                <a:spcPct val="115000"/>
              </a:lnSpc>
              <a:spcBef>
                <a:spcPts val="0"/>
              </a:spcBef>
              <a:spcAft>
                <a:spcPts val="0"/>
              </a:spcAft>
              <a:buNone/>
            </a:pPr>
            <a:r>
              <a:t/>
            </a:r>
            <a:endParaRPr i="1" sz="900">
              <a:solidFill>
                <a:schemeClr val="dk1"/>
              </a:solidFill>
              <a:highlight>
                <a:srgbClr val="FFFFFF"/>
              </a:highlight>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125" y="575250"/>
            <a:ext cx="9144000" cy="20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700">
                <a:solidFill>
                  <a:schemeClr val="dk2"/>
                </a:solidFill>
                <a:latin typeface="Lora"/>
                <a:ea typeface="Lora"/>
                <a:cs typeface="Lora"/>
                <a:sym typeface="Lora"/>
              </a:rPr>
              <a:t>Designing and Deploying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end-to-end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Production Grade ML Applications</a:t>
            </a:r>
            <a:endParaRPr sz="3700">
              <a:solidFill>
                <a:schemeClr val="dk2"/>
              </a:solidFill>
              <a:latin typeface="Lora"/>
              <a:ea typeface="Lora"/>
              <a:cs typeface="Lora"/>
              <a:sym typeface="Lora"/>
            </a:endParaRPr>
          </a:p>
          <a:p>
            <a:pPr indent="0" lvl="0" marL="0" rtl="0" algn="ctr">
              <a:spcBef>
                <a:spcPts val="0"/>
              </a:spcBef>
              <a:spcAft>
                <a:spcPts val="0"/>
              </a:spcAft>
              <a:buNone/>
            </a:pPr>
            <a:r>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2400">
                <a:solidFill>
                  <a:schemeClr val="dk2"/>
                </a:solidFill>
                <a:latin typeface="Lora"/>
                <a:ea typeface="Lora"/>
                <a:cs typeface="Lora"/>
                <a:sym typeface="Lora"/>
              </a:rPr>
              <a:t> </a:t>
            </a:r>
            <a:r>
              <a:rPr lang="en" sz="2400">
                <a:solidFill>
                  <a:schemeClr val="dk2"/>
                </a:solidFill>
                <a:latin typeface="Lora"/>
                <a:ea typeface="Lora"/>
                <a:cs typeface="Lora"/>
                <a:sym typeface="Lora"/>
              </a:rPr>
              <a:t>Lecture </a:t>
            </a:r>
            <a:r>
              <a:rPr lang="en" sz="2400">
                <a:solidFill>
                  <a:schemeClr val="dk2"/>
                </a:solidFill>
                <a:latin typeface="Lora"/>
                <a:ea typeface="Lora"/>
                <a:cs typeface="Lora"/>
                <a:sym typeface="Lora"/>
              </a:rPr>
              <a:t>9 </a:t>
            </a:r>
            <a:r>
              <a:rPr lang="en" sz="2400">
                <a:solidFill>
                  <a:schemeClr val="dk2"/>
                </a:solidFill>
                <a:latin typeface="Lora"/>
                <a:ea typeface="Lora"/>
                <a:cs typeface="Lora"/>
                <a:sym typeface="Lora"/>
              </a:rPr>
              <a:t>: End to End</a:t>
            </a:r>
            <a:r>
              <a:rPr lang="en" sz="2400">
                <a:solidFill>
                  <a:schemeClr val="dk2"/>
                </a:solidFill>
                <a:latin typeface="Lora"/>
                <a:ea typeface="Lora"/>
                <a:cs typeface="Lora"/>
                <a:sym typeface="Lora"/>
              </a:rPr>
              <a:t> ML Lifecycle</a:t>
            </a:r>
            <a:endParaRPr sz="2400">
              <a:solidFill>
                <a:schemeClr val="dk2"/>
              </a:solidFill>
              <a:latin typeface="Lora"/>
              <a:ea typeface="Lora"/>
              <a:cs typeface="Lora"/>
              <a:sym typeface="Lora"/>
            </a:endParaRPr>
          </a:p>
        </p:txBody>
      </p:sp>
      <p:sp>
        <p:nvSpPr>
          <p:cNvPr id="77" name="Google Shape;77;p16"/>
          <p:cNvSpPr txBox="1"/>
          <p:nvPr/>
        </p:nvSpPr>
        <p:spPr>
          <a:xfrm>
            <a:off x="-117" y="3838750"/>
            <a:ext cx="91440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October 2025</a:t>
            </a:r>
            <a:endParaRPr sz="1600">
              <a:solidFill>
                <a:schemeClr val="dk2"/>
              </a:solidFill>
              <a:latin typeface="Lora"/>
              <a:ea typeface="Lora"/>
              <a:cs typeface="Lora"/>
              <a:sym typeface="Lora"/>
            </a:endParaRPr>
          </a:p>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Cyrille Feudjio &amp; </a:t>
            </a:r>
            <a:r>
              <a:rPr lang="en" sz="1600">
                <a:solidFill>
                  <a:schemeClr val="dk2"/>
                </a:solidFill>
                <a:latin typeface="Lora"/>
                <a:ea typeface="Lora"/>
                <a:cs typeface="Lora"/>
                <a:sym typeface="Lora"/>
              </a:rPr>
              <a:t>Oliver Angélil </a:t>
            </a:r>
            <a:endParaRPr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i="0" lang="en" sz="2400" u="none" cap="none" strike="noStrike">
                <a:solidFill>
                  <a:srgbClr val="000000"/>
                </a:solidFill>
                <a:latin typeface="Lora"/>
                <a:ea typeface="Lora"/>
                <a:cs typeface="Lora"/>
                <a:sym typeface="Lora"/>
              </a:rPr>
              <a:t>Contents of this lecture</a:t>
            </a:r>
            <a:endParaRPr i="0" sz="700" u="none" cap="none" strike="noStrike">
              <a:solidFill>
                <a:srgbClr val="000000"/>
              </a:solidFill>
              <a:latin typeface="Lora"/>
              <a:ea typeface="Lora"/>
              <a:cs typeface="Lora"/>
              <a:sym typeface="Lora"/>
            </a:endParaRPr>
          </a:p>
        </p:txBody>
      </p:sp>
      <p:sp>
        <p:nvSpPr>
          <p:cNvPr id="83" name="Google Shape;83;p17"/>
          <p:cNvSpPr txBox="1"/>
          <p:nvPr/>
        </p:nvSpPr>
        <p:spPr>
          <a:xfrm>
            <a:off x="486900" y="700975"/>
            <a:ext cx="7896600" cy="2862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Overview: What is the ML lifecycle?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Problem Framing &amp; Scoping</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Data Acquisition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Data Cleaning &amp; Preprocessing</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Exploratory Data Analysis (EDA)</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Feature Engineering &amp; Selection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Model Development, Validation &amp; Hyperparameter Tuning</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Deployment &amp; Serving</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Monitoring, Maintenance &amp; Drift Detection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Conclusion &amp; Key Takeaways</a:t>
            </a:r>
            <a:endParaRPr sz="1200">
              <a:solidFill>
                <a:schemeClr val="dk1"/>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612900" y="2435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 Overview: </a:t>
            </a:r>
            <a:r>
              <a:rPr lang="en" sz="2400">
                <a:solidFill>
                  <a:schemeClr val="dk1"/>
                </a:solidFill>
                <a:latin typeface="Lora"/>
                <a:ea typeface="Lora"/>
                <a:cs typeface="Lora"/>
                <a:sym typeface="Lora"/>
              </a:rPr>
              <a:t>What is the ML lifecycle?</a:t>
            </a:r>
            <a:endParaRPr sz="2400">
              <a:latin typeface="Lora"/>
              <a:ea typeface="Lora"/>
              <a:cs typeface="Lora"/>
              <a:sym typeface="Lora"/>
            </a:endParaRPr>
          </a:p>
        </p:txBody>
      </p:sp>
      <p:sp>
        <p:nvSpPr>
          <p:cNvPr id="89" name="Google Shape;89;p18"/>
          <p:cNvSpPr txBox="1"/>
          <p:nvPr/>
        </p:nvSpPr>
        <p:spPr>
          <a:xfrm>
            <a:off x="612900" y="873625"/>
            <a:ext cx="76926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Definiti</a:t>
            </a:r>
            <a:r>
              <a:rPr b="1" lang="en" sz="1200">
                <a:solidFill>
                  <a:schemeClr val="dk1"/>
                </a:solidFill>
                <a:latin typeface="Lora"/>
                <a:ea typeface="Lora"/>
                <a:cs typeface="Lora"/>
                <a:sym typeface="Lora"/>
              </a:rPr>
              <a:t>on</a:t>
            </a: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A structured, iterative process for delivering machine learning solutions</a:t>
            </a:r>
            <a:endParaRPr sz="1200">
              <a:solidFill>
                <a:schemeClr val="dk1"/>
              </a:solidFill>
              <a:latin typeface="Lora"/>
              <a:ea typeface="Lora"/>
              <a:cs typeface="Lora"/>
              <a:sym typeface="Lora"/>
            </a:endParaRPr>
          </a:p>
        </p:txBody>
      </p:sp>
      <p:pic>
        <p:nvPicPr>
          <p:cNvPr id="90" name="Google Shape;90;p18"/>
          <p:cNvPicPr preferRelativeResize="0"/>
          <p:nvPr/>
        </p:nvPicPr>
        <p:blipFill>
          <a:blip r:embed="rId3">
            <a:alphaModFix/>
          </a:blip>
          <a:stretch>
            <a:fillRect/>
          </a:stretch>
        </p:blipFill>
        <p:spPr>
          <a:xfrm>
            <a:off x="1371600" y="1166725"/>
            <a:ext cx="6336491" cy="3595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nvSpPr>
        <p:spPr>
          <a:xfrm>
            <a:off x="8415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Problem Framing &amp; Scoping</a:t>
            </a:r>
            <a:endParaRPr sz="2400">
              <a:latin typeface="Lora"/>
              <a:ea typeface="Lora"/>
              <a:cs typeface="Lora"/>
              <a:sym typeface="Lora"/>
            </a:endParaRPr>
          </a:p>
        </p:txBody>
      </p:sp>
      <p:sp>
        <p:nvSpPr>
          <p:cNvPr id="96" name="Google Shape;96;p19"/>
          <p:cNvSpPr txBox="1"/>
          <p:nvPr/>
        </p:nvSpPr>
        <p:spPr>
          <a:xfrm>
            <a:off x="771825" y="814175"/>
            <a:ext cx="78399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2.1. Define the Core Business Objective and Desired Outcome</a:t>
            </a:r>
            <a:endParaRPr>
              <a:solidFill>
                <a:schemeClr val="dk1"/>
              </a:solidFill>
              <a:latin typeface="Lora"/>
              <a:ea typeface="Lora"/>
              <a:cs typeface="Lora"/>
              <a:sym typeface="Lora"/>
            </a:endParaRPr>
          </a:p>
        </p:txBody>
      </p:sp>
      <p:sp>
        <p:nvSpPr>
          <p:cNvPr id="97" name="Google Shape;97;p19"/>
          <p:cNvSpPr txBox="1"/>
          <p:nvPr/>
        </p:nvSpPr>
        <p:spPr>
          <a:xfrm>
            <a:off x="1072675" y="1214375"/>
            <a:ext cx="7671300" cy="923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200">
                <a:solidFill>
                  <a:schemeClr val="dk1"/>
                </a:solidFill>
                <a:latin typeface="Lora"/>
                <a:ea typeface="Lora"/>
                <a:cs typeface="Lora"/>
                <a:sym typeface="Lora"/>
              </a:rPr>
              <a:t>Begin by clearly stating </a:t>
            </a:r>
            <a:r>
              <a:rPr i="1" lang="en" sz="1200">
                <a:solidFill>
                  <a:schemeClr val="dk1"/>
                </a:solidFill>
                <a:latin typeface="Lora"/>
                <a:ea typeface="Lora"/>
                <a:cs typeface="Lora"/>
                <a:sym typeface="Lora"/>
              </a:rPr>
              <a:t>why</a:t>
            </a:r>
            <a:r>
              <a:rPr lang="en" sz="1200">
                <a:solidFill>
                  <a:schemeClr val="dk1"/>
                </a:solidFill>
                <a:latin typeface="Lora"/>
                <a:ea typeface="Lora"/>
                <a:cs typeface="Lora"/>
                <a:sym typeface="Lora"/>
              </a:rPr>
              <a:t> this project is being initiated. What problem are you trying to solve, and what value does it bring to the business? The objective should be specific, measurable, and aligned with organizational goals.</a:t>
            </a:r>
            <a:endParaRPr sz="1500">
              <a:latin typeface="Lora"/>
              <a:ea typeface="Lora"/>
              <a:cs typeface="Lora"/>
              <a:sym typeface="Lora"/>
            </a:endParaRPr>
          </a:p>
        </p:txBody>
      </p:sp>
      <p:sp>
        <p:nvSpPr>
          <p:cNvPr id="98" name="Google Shape;98;p19"/>
          <p:cNvSpPr txBox="1"/>
          <p:nvPr/>
        </p:nvSpPr>
        <p:spPr>
          <a:xfrm>
            <a:off x="1152275" y="2321925"/>
            <a:ext cx="7459500" cy="1354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b="1" lang="en" sz="1200">
                <a:solidFill>
                  <a:schemeClr val="dk1"/>
                </a:solidFill>
                <a:latin typeface="Lora"/>
                <a:ea typeface="Lora"/>
                <a:cs typeface="Lora"/>
                <a:sym typeface="Lora"/>
              </a:rPr>
              <a:t>Example:</a:t>
            </a:r>
            <a:endParaRPr b="1" sz="1200">
              <a:solidFill>
                <a:schemeClr val="dk1"/>
              </a:solidFill>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Font typeface="Lora"/>
              <a:buChar char="●"/>
            </a:pPr>
            <a:r>
              <a:rPr lang="en" sz="1200">
                <a:solidFill>
                  <a:srgbClr val="DD1144"/>
                </a:solidFill>
                <a:latin typeface="Lora"/>
                <a:ea typeface="Lora"/>
                <a:cs typeface="Lora"/>
                <a:sym typeface="Lora"/>
              </a:rPr>
              <a:t>Bad</a:t>
            </a:r>
            <a:r>
              <a:rPr lang="en" sz="1200">
                <a:solidFill>
                  <a:schemeClr val="dk1"/>
                </a:solidFill>
                <a:latin typeface="Lora"/>
                <a:ea typeface="Lora"/>
                <a:cs typeface="Lora"/>
                <a:sym typeface="Lora"/>
              </a:rPr>
              <a:t>: Reduce customer churn using machine learning.</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Char char="●"/>
            </a:pPr>
            <a:r>
              <a:rPr lang="en" sz="1200">
                <a:solidFill>
                  <a:srgbClr val="188038"/>
                </a:solidFill>
                <a:latin typeface="Lora"/>
                <a:ea typeface="Lora"/>
                <a:cs typeface="Lora"/>
                <a:sym typeface="Lora"/>
              </a:rPr>
              <a:t>Good</a:t>
            </a:r>
            <a:r>
              <a:rPr lang="en" sz="1200">
                <a:solidFill>
                  <a:schemeClr val="dk1"/>
                </a:solidFill>
                <a:latin typeface="Lora"/>
                <a:ea typeface="Lora"/>
                <a:cs typeface="Lora"/>
                <a:sym typeface="Lora"/>
              </a:rPr>
              <a:t>: Develop a predictive model to identify customers at high risk of churn within the next 30 days, with the goal of reducing monthly churn rate by 15% over the next two quarters.</a:t>
            </a:r>
            <a:endParaRPr sz="1200">
              <a:solidFill>
                <a:schemeClr val="dk1"/>
              </a:solidFill>
              <a:latin typeface="Lora"/>
              <a:ea typeface="Lora"/>
              <a:cs typeface="Lora"/>
              <a:sym typeface="Lo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nvSpPr>
        <p:spPr>
          <a:xfrm>
            <a:off x="8415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Problem Framing &amp; Scoping</a:t>
            </a:r>
            <a:endParaRPr sz="2400">
              <a:latin typeface="Lora"/>
              <a:ea typeface="Lora"/>
              <a:cs typeface="Lora"/>
              <a:sym typeface="Lora"/>
            </a:endParaRPr>
          </a:p>
        </p:txBody>
      </p:sp>
      <p:sp>
        <p:nvSpPr>
          <p:cNvPr id="104" name="Google Shape;104;p20"/>
          <p:cNvSpPr txBox="1"/>
          <p:nvPr/>
        </p:nvSpPr>
        <p:spPr>
          <a:xfrm>
            <a:off x="771825" y="814175"/>
            <a:ext cx="78399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2.2. </a:t>
            </a:r>
            <a:r>
              <a:rPr lang="en">
                <a:solidFill>
                  <a:schemeClr val="dk1"/>
                </a:solidFill>
                <a:latin typeface="Lora"/>
                <a:ea typeface="Lora"/>
                <a:cs typeface="Lora"/>
                <a:sym typeface="Lora"/>
              </a:rPr>
              <a:t>Identify Key </a:t>
            </a:r>
            <a:r>
              <a:rPr lang="en">
                <a:solidFill>
                  <a:schemeClr val="dk1"/>
                </a:solidFill>
                <a:latin typeface="Lora"/>
                <a:ea typeface="Lora"/>
                <a:cs typeface="Lora"/>
                <a:sym typeface="Lora"/>
              </a:rPr>
              <a:t>Profiles</a:t>
            </a:r>
            <a:endParaRPr>
              <a:solidFill>
                <a:schemeClr val="dk1"/>
              </a:solidFill>
              <a:latin typeface="Lora"/>
              <a:ea typeface="Lora"/>
              <a:cs typeface="Lora"/>
              <a:sym typeface="Lora"/>
            </a:endParaRPr>
          </a:p>
        </p:txBody>
      </p:sp>
      <p:sp>
        <p:nvSpPr>
          <p:cNvPr id="105" name="Google Shape;105;p20"/>
          <p:cNvSpPr txBox="1"/>
          <p:nvPr/>
        </p:nvSpPr>
        <p:spPr>
          <a:xfrm>
            <a:off x="1072675" y="1214375"/>
            <a:ext cx="7671300" cy="1631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Clr>
                <a:schemeClr val="dk1"/>
              </a:buClr>
              <a:buSzPts val="1100"/>
              <a:buFont typeface="Arial"/>
              <a:buNone/>
            </a:pPr>
            <a:r>
              <a:rPr lang="en" sz="1200">
                <a:solidFill>
                  <a:schemeClr val="dk1"/>
                </a:solidFill>
                <a:latin typeface="Lora"/>
                <a:ea typeface="Lora"/>
                <a:cs typeface="Lora"/>
                <a:sym typeface="Lora"/>
              </a:rPr>
              <a:t>List all individuals or teams involved or impacted by the project. This may include:</a:t>
            </a:r>
            <a:endParaRPr sz="1200">
              <a:solidFill>
                <a:schemeClr val="dk1"/>
              </a:solidFill>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Data Scientists/Engineers</a:t>
            </a:r>
            <a:r>
              <a:rPr lang="en" sz="1200">
                <a:solidFill>
                  <a:schemeClr val="dk1"/>
                </a:solidFill>
                <a:latin typeface="Lora"/>
                <a:ea typeface="Lora"/>
                <a:cs typeface="Lora"/>
                <a:sym typeface="Lora"/>
              </a:rPr>
              <a:t> who will build and deploy the solution</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Product Managers</a:t>
            </a:r>
            <a:r>
              <a:rPr lang="en" sz="1200">
                <a:solidFill>
                  <a:schemeClr val="dk1"/>
                </a:solidFill>
                <a:latin typeface="Lora"/>
                <a:ea typeface="Lora"/>
                <a:cs typeface="Lora"/>
                <a:sym typeface="Lora"/>
              </a:rPr>
              <a:t> who define user needs and ensure alignment with product strategy</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Domain Experts</a:t>
            </a:r>
            <a:r>
              <a:rPr lang="en" sz="1200">
                <a:solidFill>
                  <a:schemeClr val="dk1"/>
                </a:solidFill>
                <a:latin typeface="Lora"/>
                <a:ea typeface="Lora"/>
                <a:cs typeface="Lora"/>
                <a:sym typeface="Lora"/>
              </a:rPr>
              <a:t> who bring deep industry or process knowledge</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End Users</a:t>
            </a:r>
            <a:r>
              <a:rPr lang="en" sz="1200">
                <a:solidFill>
                  <a:schemeClr val="dk1"/>
                </a:solidFill>
                <a:latin typeface="Lora"/>
                <a:ea typeface="Lora"/>
                <a:cs typeface="Lora"/>
                <a:sym typeface="Lora"/>
              </a:rPr>
              <a:t> who will interact with the final product or benefit from the output</a:t>
            </a:r>
            <a:endParaRPr sz="1200">
              <a:solidFill>
                <a:schemeClr val="dk1"/>
              </a:solidFill>
              <a:latin typeface="Lora"/>
              <a:ea typeface="Lora"/>
              <a:cs typeface="Lora"/>
              <a:sym typeface="Lora"/>
            </a:endParaRPr>
          </a:p>
        </p:txBody>
      </p:sp>
      <p:sp>
        <p:nvSpPr>
          <p:cNvPr id="106" name="Google Shape;106;p20"/>
          <p:cNvSpPr txBox="1"/>
          <p:nvPr/>
        </p:nvSpPr>
        <p:spPr>
          <a:xfrm>
            <a:off x="1072675" y="2992175"/>
            <a:ext cx="7459500" cy="1354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b="1" lang="en" sz="1200">
                <a:solidFill>
                  <a:schemeClr val="dk1"/>
                </a:solidFill>
                <a:latin typeface="Lora"/>
                <a:ea typeface="Lora"/>
                <a:cs typeface="Lora"/>
                <a:sym typeface="Lora"/>
              </a:rPr>
              <a:t>Example:</a:t>
            </a:r>
            <a:endParaRPr b="1" sz="1200">
              <a:solidFill>
                <a:schemeClr val="dk1"/>
              </a:solidFill>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Data Science Team (Model development &amp; evaluation)</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Marketing Department (Uses model predictions for retention campaigns)</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Customer Success Managers (Feedback on customer behavior and churn signals)</a:t>
            </a:r>
            <a:endParaRPr sz="1200">
              <a:solidFill>
                <a:schemeClr val="dk1"/>
              </a:solidFill>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nvSpPr>
        <p:spPr>
          <a:xfrm>
            <a:off x="8415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Problem Framing &amp; Scoping</a:t>
            </a:r>
            <a:endParaRPr sz="2400">
              <a:latin typeface="Lora"/>
              <a:ea typeface="Lora"/>
              <a:cs typeface="Lora"/>
              <a:sym typeface="Lora"/>
            </a:endParaRPr>
          </a:p>
        </p:txBody>
      </p:sp>
      <p:sp>
        <p:nvSpPr>
          <p:cNvPr id="112" name="Google Shape;112;p21"/>
          <p:cNvSpPr txBox="1"/>
          <p:nvPr/>
        </p:nvSpPr>
        <p:spPr>
          <a:xfrm>
            <a:off x="771825" y="814175"/>
            <a:ext cx="78399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2.3. </a:t>
            </a:r>
            <a:r>
              <a:rPr lang="en">
                <a:solidFill>
                  <a:schemeClr val="dk1"/>
                </a:solidFill>
                <a:latin typeface="Lora"/>
                <a:ea typeface="Lora"/>
                <a:cs typeface="Lora"/>
                <a:sym typeface="Lora"/>
              </a:rPr>
              <a:t>Specify Success Criteria and Evaluation Metrics</a:t>
            </a:r>
            <a:endParaRPr>
              <a:solidFill>
                <a:schemeClr val="dk1"/>
              </a:solidFill>
              <a:latin typeface="Lora"/>
              <a:ea typeface="Lora"/>
              <a:cs typeface="Lora"/>
              <a:sym typeface="Lora"/>
            </a:endParaRPr>
          </a:p>
        </p:txBody>
      </p:sp>
      <p:sp>
        <p:nvSpPr>
          <p:cNvPr id="113" name="Google Shape;113;p21"/>
          <p:cNvSpPr txBox="1"/>
          <p:nvPr/>
        </p:nvSpPr>
        <p:spPr>
          <a:xfrm>
            <a:off x="1072675" y="1214375"/>
            <a:ext cx="7671300" cy="2601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lang="en" sz="1200">
                <a:solidFill>
                  <a:schemeClr val="dk1"/>
                </a:solidFill>
                <a:latin typeface="Lora"/>
                <a:ea typeface="Lora"/>
                <a:cs typeface="Lora"/>
                <a:sym typeface="Lora"/>
              </a:rPr>
              <a:t>Define how success will be measured both from a </a:t>
            </a:r>
            <a:r>
              <a:rPr i="1" lang="en" sz="1200">
                <a:solidFill>
                  <a:schemeClr val="dk1"/>
                </a:solidFill>
                <a:latin typeface="Lora"/>
                <a:ea typeface="Lora"/>
                <a:cs typeface="Lora"/>
                <a:sym typeface="Lora"/>
              </a:rPr>
              <a:t>technical</a:t>
            </a:r>
            <a:r>
              <a:rPr lang="en" sz="1200">
                <a:solidFill>
                  <a:schemeClr val="dk1"/>
                </a:solidFill>
                <a:latin typeface="Lora"/>
                <a:ea typeface="Lora"/>
                <a:cs typeface="Lora"/>
                <a:sym typeface="Lora"/>
              </a:rPr>
              <a:t> and </a:t>
            </a:r>
            <a:r>
              <a:rPr i="1" lang="en" sz="1200">
                <a:solidFill>
                  <a:schemeClr val="dk1"/>
                </a:solidFill>
                <a:latin typeface="Lora"/>
                <a:ea typeface="Lora"/>
                <a:cs typeface="Lora"/>
                <a:sym typeface="Lora"/>
              </a:rPr>
              <a:t>business</a:t>
            </a:r>
            <a:r>
              <a:rPr lang="en" sz="1200">
                <a:solidFill>
                  <a:schemeClr val="dk1"/>
                </a:solidFill>
                <a:latin typeface="Lora"/>
                <a:ea typeface="Lora"/>
                <a:cs typeface="Lora"/>
                <a:sym typeface="Lora"/>
              </a:rPr>
              <a:t> perspective. Include relevant KPIs and performance benchmarks.</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Technical Metrics Examples:</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Model accuracy, precision, recall, F1-score</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Area Under ROC Curve (AUC-ROC)</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Business Metrics Examples:</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 reduction in churn rate</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Increase in C</a:t>
            </a:r>
            <a:r>
              <a:rPr lang="en" sz="1200">
                <a:solidFill>
                  <a:schemeClr val="dk1"/>
                </a:solidFill>
                <a:latin typeface="Lora"/>
                <a:ea typeface="Lora"/>
                <a:cs typeface="Lora"/>
                <a:sym typeface="Lora"/>
              </a:rPr>
              <a:t>ustomer Lifetime Value (CLV)</a:t>
            </a:r>
            <a:endParaRPr b="1" sz="1200">
              <a:solidFill>
                <a:schemeClr val="dk1"/>
              </a:solidFill>
              <a:latin typeface="Lora"/>
              <a:ea typeface="Lora"/>
              <a:cs typeface="Lora"/>
              <a:sym typeface="Lora"/>
            </a:endParaRPr>
          </a:p>
        </p:txBody>
      </p:sp>
      <p:sp>
        <p:nvSpPr>
          <p:cNvPr id="114" name="Google Shape;114;p21"/>
          <p:cNvSpPr txBox="1"/>
          <p:nvPr/>
        </p:nvSpPr>
        <p:spPr>
          <a:xfrm>
            <a:off x="962025" y="3815675"/>
            <a:ext cx="7459500" cy="646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n" sz="1200">
                <a:solidFill>
                  <a:schemeClr val="dk1"/>
                </a:solidFill>
                <a:latin typeface="Lora"/>
                <a:ea typeface="Lora"/>
                <a:cs typeface="Lora"/>
                <a:sym typeface="Lora"/>
              </a:rPr>
              <a:t>Example: </a:t>
            </a:r>
            <a:r>
              <a:rPr lang="en" sz="1200">
                <a:solidFill>
                  <a:schemeClr val="dk1"/>
                </a:solidFill>
                <a:latin typeface="Lora"/>
                <a:ea typeface="Lora"/>
                <a:cs typeface="Lora"/>
                <a:sym typeface="Lora"/>
              </a:rPr>
              <a:t>A model is considered successful if it achieves at least 85% precision and recall on the validation set, and leads to a 10% increase in CLV.</a:t>
            </a:r>
            <a:endParaRPr sz="1200">
              <a:solidFill>
                <a:schemeClr val="dk1"/>
              </a:solidFill>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nvSpPr>
        <p:spPr>
          <a:xfrm>
            <a:off x="8415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Problem Framing &amp; Scoping</a:t>
            </a:r>
            <a:endParaRPr sz="2400">
              <a:latin typeface="Lora"/>
              <a:ea typeface="Lora"/>
              <a:cs typeface="Lora"/>
              <a:sym typeface="Lora"/>
            </a:endParaRPr>
          </a:p>
        </p:txBody>
      </p:sp>
      <p:sp>
        <p:nvSpPr>
          <p:cNvPr id="120" name="Google Shape;120;p22"/>
          <p:cNvSpPr txBox="1"/>
          <p:nvPr/>
        </p:nvSpPr>
        <p:spPr>
          <a:xfrm>
            <a:off x="771825" y="814175"/>
            <a:ext cx="78399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2.4. </a:t>
            </a:r>
            <a:r>
              <a:rPr lang="en">
                <a:solidFill>
                  <a:schemeClr val="dk1"/>
                </a:solidFill>
                <a:latin typeface="Lora"/>
                <a:ea typeface="Lora"/>
                <a:cs typeface="Lora"/>
                <a:sym typeface="Lora"/>
              </a:rPr>
              <a:t>Outline Project Scope, Constraints, and Assumptions</a:t>
            </a:r>
            <a:endParaRPr>
              <a:solidFill>
                <a:schemeClr val="dk1"/>
              </a:solidFill>
              <a:latin typeface="Lora"/>
              <a:ea typeface="Lora"/>
              <a:cs typeface="Lora"/>
              <a:sym typeface="Lora"/>
            </a:endParaRPr>
          </a:p>
        </p:txBody>
      </p:sp>
      <p:sp>
        <p:nvSpPr>
          <p:cNvPr id="121" name="Google Shape;121;p22"/>
          <p:cNvSpPr txBox="1"/>
          <p:nvPr/>
        </p:nvSpPr>
        <p:spPr>
          <a:xfrm>
            <a:off x="1072675" y="1214375"/>
            <a:ext cx="76713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Lora"/>
                <a:ea typeface="Lora"/>
                <a:cs typeface="Lora"/>
                <a:sym typeface="Lora"/>
              </a:rPr>
              <a:t>Clearly define what will and will not be included in the project. Be explicit about:</a:t>
            </a:r>
            <a:endParaRPr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Data sources</a:t>
            </a: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Internal Customer Relationship Management (CRM) data</a:t>
            </a:r>
            <a:r>
              <a:rPr lang="en" sz="1200">
                <a:solidFill>
                  <a:schemeClr val="dk1"/>
                </a:solidFill>
                <a:latin typeface="Lora"/>
                <a:ea typeface="Lora"/>
                <a:cs typeface="Lora"/>
                <a:sym typeface="Lora"/>
              </a:rPr>
              <a:t>;</a:t>
            </a:r>
            <a:r>
              <a:rPr lang="en" sz="1200">
                <a:solidFill>
                  <a:schemeClr val="dk1"/>
                </a:solidFill>
                <a:latin typeface="Lora"/>
                <a:ea typeface="Lora"/>
                <a:cs typeface="Lora"/>
                <a:sym typeface="Lora"/>
              </a:rPr>
              <a:t> transaction logs; </a:t>
            </a:r>
            <a:r>
              <a:rPr lang="en" sz="1200">
                <a:solidFill>
                  <a:schemeClr val="dk1"/>
                </a:solidFill>
                <a:latin typeface="Lora"/>
                <a:ea typeface="Lora"/>
                <a:cs typeface="Lora"/>
                <a:sym typeface="Lora"/>
              </a:rPr>
              <a:t>demographics</a:t>
            </a:r>
            <a:r>
              <a:rPr lang="en" sz="1200">
                <a:solidFill>
                  <a:schemeClr val="dk1"/>
                </a:solidFill>
                <a:latin typeface="Lora"/>
                <a:ea typeface="Lora"/>
                <a:cs typeface="Lora"/>
                <a:sym typeface="Lora"/>
              </a:rPr>
              <a:t> data (e.g. location, age)</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Timeline</a:t>
            </a:r>
            <a:r>
              <a:rPr lang="en" sz="1200">
                <a:solidFill>
                  <a:schemeClr val="dk1"/>
                </a:solidFill>
                <a:latin typeface="Lora"/>
                <a:ea typeface="Lora"/>
                <a:cs typeface="Lora"/>
                <a:sym typeface="Lora"/>
              </a:rPr>
              <a:t>: Milestones, deadlines</a:t>
            </a:r>
            <a:endParaRPr sz="1300">
              <a:solidFill>
                <a:schemeClr val="dk1"/>
              </a:solidFill>
              <a:latin typeface="Lora"/>
              <a:ea typeface="Lora"/>
              <a:cs typeface="Lora"/>
              <a:sym typeface="Lora"/>
            </a:endParaRPr>
          </a:p>
        </p:txBody>
      </p:sp>
      <p:sp>
        <p:nvSpPr>
          <p:cNvPr id="122" name="Google Shape;122;p22"/>
          <p:cNvSpPr txBox="1"/>
          <p:nvPr/>
        </p:nvSpPr>
        <p:spPr>
          <a:xfrm>
            <a:off x="962025" y="2448975"/>
            <a:ext cx="7459500" cy="923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n" sz="1200">
                <a:solidFill>
                  <a:schemeClr val="dk1"/>
                </a:solidFill>
                <a:latin typeface="Lora"/>
                <a:ea typeface="Lora"/>
                <a:cs typeface="Lora"/>
                <a:sym typeface="Lora"/>
              </a:rPr>
              <a:t>Example: </a:t>
            </a:r>
            <a:r>
              <a:rPr lang="en" sz="1200">
                <a:solidFill>
                  <a:schemeClr val="dk1"/>
                </a:solidFill>
                <a:latin typeface="Lora"/>
                <a:ea typeface="Lora"/>
                <a:cs typeface="Lora"/>
                <a:sym typeface="Lora"/>
              </a:rPr>
              <a:t>Scope includes developing a binary churn prediction model for North American customers using data from the last 12 months. The project d</a:t>
            </a:r>
            <a:r>
              <a:rPr lang="en" sz="1200">
                <a:solidFill>
                  <a:schemeClr val="dk1"/>
                </a:solidFill>
                <a:latin typeface="Lora"/>
                <a:ea typeface="Lora"/>
                <a:cs typeface="Lora"/>
                <a:sym typeface="Lora"/>
              </a:rPr>
              <a:t>oes not include deployment or international expansion.</a:t>
            </a:r>
            <a:endParaRPr sz="1200">
              <a:solidFill>
                <a:schemeClr val="dk1"/>
              </a:solidFill>
              <a:latin typeface="Lora"/>
              <a:ea typeface="Lora"/>
              <a:cs typeface="Lora"/>
              <a:sym typeface="L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nvSpPr>
        <p:spPr>
          <a:xfrm>
            <a:off x="8415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Problem Framing &amp; Scoping</a:t>
            </a:r>
            <a:endParaRPr sz="2400">
              <a:latin typeface="Lora"/>
              <a:ea typeface="Lora"/>
              <a:cs typeface="Lora"/>
              <a:sym typeface="Lora"/>
            </a:endParaRPr>
          </a:p>
        </p:txBody>
      </p:sp>
      <p:sp>
        <p:nvSpPr>
          <p:cNvPr id="128" name="Google Shape;128;p23"/>
          <p:cNvSpPr txBox="1"/>
          <p:nvPr/>
        </p:nvSpPr>
        <p:spPr>
          <a:xfrm>
            <a:off x="771825" y="814175"/>
            <a:ext cx="78399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2.5. </a:t>
            </a:r>
            <a:r>
              <a:rPr lang="en">
                <a:solidFill>
                  <a:schemeClr val="dk1"/>
                </a:solidFill>
                <a:latin typeface="Lora"/>
                <a:ea typeface="Lora"/>
                <a:cs typeface="Lora"/>
                <a:sym typeface="Lora"/>
              </a:rPr>
              <a:t>Assess Risks, Ethical Considerations, and Data Availability</a:t>
            </a:r>
            <a:endParaRPr>
              <a:solidFill>
                <a:schemeClr val="dk1"/>
              </a:solidFill>
              <a:latin typeface="Lora"/>
              <a:ea typeface="Lora"/>
              <a:cs typeface="Lora"/>
              <a:sym typeface="Lora"/>
            </a:endParaRPr>
          </a:p>
        </p:txBody>
      </p:sp>
      <p:sp>
        <p:nvSpPr>
          <p:cNvPr id="129" name="Google Shape;129;p23"/>
          <p:cNvSpPr txBox="1"/>
          <p:nvPr/>
        </p:nvSpPr>
        <p:spPr>
          <a:xfrm>
            <a:off x="1072675" y="1214375"/>
            <a:ext cx="7671300" cy="247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Lora"/>
                <a:ea typeface="Lora"/>
                <a:cs typeface="Lora"/>
                <a:sym typeface="Lora"/>
              </a:rPr>
              <a:t>Highlight potential issues that could affect project success and how they will be mitigated.</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Risks</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Incomplete or biased data</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Overfitting or poor model generalization</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Ethical Considerations &amp; </a:t>
            </a:r>
            <a:r>
              <a:rPr b="1" lang="en" sz="1200">
                <a:solidFill>
                  <a:schemeClr val="dk1"/>
                </a:solidFill>
                <a:latin typeface="Lora"/>
                <a:ea typeface="Lora"/>
                <a:cs typeface="Lora"/>
                <a:sym typeface="Lora"/>
              </a:rPr>
              <a:t>Data Availability</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Data privacy and consent</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Potential biases in model predictions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Confirm whether data is accessible, clean, and compliant with privacy regulations</a:t>
            </a:r>
            <a:endParaRPr sz="1200">
              <a:solidFill>
                <a:schemeClr val="dk1"/>
              </a:solidFill>
              <a:latin typeface="Lora"/>
              <a:ea typeface="Lora"/>
              <a:cs typeface="Lora"/>
              <a:sym typeface="Lora"/>
            </a:endParaRPr>
          </a:p>
        </p:txBody>
      </p:sp>
      <p:sp>
        <p:nvSpPr>
          <p:cNvPr id="130" name="Google Shape;130;p23"/>
          <p:cNvSpPr txBox="1"/>
          <p:nvPr/>
        </p:nvSpPr>
        <p:spPr>
          <a:xfrm>
            <a:off x="962025" y="3744675"/>
            <a:ext cx="7459500" cy="369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n" sz="1200">
                <a:solidFill>
                  <a:schemeClr val="dk1"/>
                </a:solidFill>
                <a:latin typeface="Lora"/>
                <a:ea typeface="Lora"/>
                <a:cs typeface="Lora"/>
                <a:sym typeface="Lora"/>
              </a:rPr>
              <a:t>Example of risk:</a:t>
            </a: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Model might incorrectly flag loyal customers as churn risks.</a:t>
            </a:r>
            <a:endParaRPr sz="1200">
              <a:solidFill>
                <a:schemeClr val="dk1"/>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nvSpPr>
        <p:spPr>
          <a:xfrm>
            <a:off x="6129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Exercise</a:t>
            </a:r>
            <a:endParaRPr sz="2400">
              <a:latin typeface="Lora"/>
              <a:ea typeface="Lora"/>
              <a:cs typeface="Lora"/>
              <a:sym typeface="Lora"/>
            </a:endParaRPr>
          </a:p>
        </p:txBody>
      </p:sp>
      <p:pic>
        <p:nvPicPr>
          <p:cNvPr id="136" name="Google Shape;136;p24"/>
          <p:cNvPicPr preferRelativeResize="0"/>
          <p:nvPr/>
        </p:nvPicPr>
        <p:blipFill rotWithShape="1">
          <a:blip r:embed="rId3">
            <a:alphaModFix/>
          </a:blip>
          <a:srcRect b="13755" l="0" r="40380" t="13230"/>
          <a:stretch/>
        </p:blipFill>
        <p:spPr>
          <a:xfrm>
            <a:off x="5149150" y="1091300"/>
            <a:ext cx="3994850" cy="2752922"/>
          </a:xfrm>
          <a:prstGeom prst="rect">
            <a:avLst/>
          </a:prstGeom>
          <a:noFill/>
          <a:ln>
            <a:noFill/>
          </a:ln>
        </p:spPr>
      </p:pic>
      <p:sp>
        <p:nvSpPr>
          <p:cNvPr id="137" name="Google Shape;137;p24"/>
          <p:cNvSpPr txBox="1"/>
          <p:nvPr/>
        </p:nvSpPr>
        <p:spPr>
          <a:xfrm>
            <a:off x="612900" y="862700"/>
            <a:ext cx="5118300" cy="4095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1200">
                <a:solidFill>
                  <a:schemeClr val="dk1"/>
                </a:solidFill>
                <a:latin typeface="Lora"/>
                <a:ea typeface="Lora"/>
                <a:cs typeface="Lora"/>
                <a:sym typeface="Lora"/>
              </a:rPr>
              <a:t>Scenario</a:t>
            </a:r>
            <a:endParaRPr b="1" sz="1200">
              <a:solidFill>
                <a:schemeClr val="dk1"/>
              </a:solidFill>
              <a:latin typeface="Lora"/>
              <a:ea typeface="Lora"/>
              <a:cs typeface="Lora"/>
              <a:sym typeface="Lora"/>
            </a:endParaRPr>
          </a:p>
          <a:p>
            <a:pPr indent="0" lvl="0" marL="0" rtl="0" algn="just">
              <a:lnSpc>
                <a:spcPct val="115000"/>
              </a:lnSpc>
              <a:spcBef>
                <a:spcPts val="1200"/>
              </a:spcBef>
              <a:spcAft>
                <a:spcPts val="0"/>
              </a:spcAft>
              <a:buNone/>
            </a:pPr>
            <a:r>
              <a:rPr lang="en" sz="1200">
                <a:solidFill>
                  <a:schemeClr val="dk1"/>
                </a:solidFill>
                <a:latin typeface="Lora"/>
                <a:ea typeface="Lora"/>
                <a:cs typeface="Lora"/>
                <a:sym typeface="Lora"/>
              </a:rPr>
              <a:t>You are a data science consultant hired by a municipal transportation department to help reduce traffic congestion in a growing city. The city has installed traffic sensors at major intersections, collected historical GPS data from public buses, and conducted periodic traffic surveys. You are tasked with scoping a data science project to support real-time traffic management and congestion forecasting.</a:t>
            </a:r>
            <a:endParaRPr sz="1200">
              <a:solidFill>
                <a:schemeClr val="dk1"/>
              </a:solidFill>
              <a:latin typeface="Lora"/>
              <a:ea typeface="Lora"/>
              <a:cs typeface="Lora"/>
              <a:sym typeface="Lora"/>
            </a:endParaRPr>
          </a:p>
          <a:p>
            <a:pPr indent="0" lvl="0" marL="0" rtl="0" algn="l">
              <a:lnSpc>
                <a:spcPct val="115000"/>
              </a:lnSpc>
              <a:spcBef>
                <a:spcPts val="1400"/>
              </a:spcBef>
              <a:spcAft>
                <a:spcPts val="0"/>
              </a:spcAft>
              <a:buNone/>
            </a:pPr>
            <a:r>
              <a:rPr lang="en" sz="1200">
                <a:solidFill>
                  <a:schemeClr val="dk1"/>
                </a:solidFill>
                <a:latin typeface="Lora"/>
                <a:ea typeface="Lora"/>
                <a:cs typeface="Lora"/>
                <a:sym typeface="Lora"/>
              </a:rPr>
              <a:t>C</a:t>
            </a:r>
            <a:r>
              <a:rPr lang="en" sz="1200">
                <a:solidFill>
                  <a:schemeClr val="dk1"/>
                </a:solidFill>
                <a:latin typeface="Lora"/>
                <a:ea typeface="Lora"/>
                <a:cs typeface="Lora"/>
                <a:sym typeface="Lora"/>
              </a:rPr>
              <a:t>omplete the following project scoping steps:</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Define the core business objective and desired outcome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Identify key profiles</a:t>
            </a:r>
            <a:endParaRPr sz="10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Specify success criteria and evaluation metrics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Outline the project scope, constraints, and assumptions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Assess risks, ethical considerations, and data availability</a:t>
            </a:r>
            <a:endParaRPr sz="1200">
              <a:solidFill>
                <a:schemeClr val="dk1"/>
              </a:solidFill>
              <a:latin typeface="Lora"/>
              <a:ea typeface="Lora"/>
              <a:cs typeface="Lora"/>
              <a:sym typeface="Lora"/>
            </a:endParaRPr>
          </a:p>
          <a:p>
            <a:pPr indent="0" lvl="0" marL="0" rtl="0" algn="just">
              <a:lnSpc>
                <a:spcPct val="115000"/>
              </a:lnSpc>
              <a:spcBef>
                <a:spcPts val="1200"/>
              </a:spcBef>
              <a:spcAft>
                <a:spcPts val="1200"/>
              </a:spcAft>
              <a:buNone/>
            </a:pPr>
            <a:r>
              <a:t/>
            </a:r>
            <a:endParaRPr sz="1200">
              <a:solidFill>
                <a:schemeClr val="dk1"/>
              </a:solidFill>
              <a:latin typeface="Lora"/>
              <a:ea typeface="Lora"/>
              <a:cs typeface="Lora"/>
              <a:sym typeface="L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nvSpPr>
        <p:spPr>
          <a:xfrm>
            <a:off x="6129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Exercise (solutions)</a:t>
            </a:r>
            <a:endParaRPr sz="2400">
              <a:latin typeface="Lora"/>
              <a:ea typeface="Lora"/>
              <a:cs typeface="Lora"/>
              <a:sym typeface="Lora"/>
            </a:endParaRPr>
          </a:p>
        </p:txBody>
      </p:sp>
      <p:sp>
        <p:nvSpPr>
          <p:cNvPr id="143" name="Google Shape;143;p25"/>
          <p:cNvSpPr txBox="1"/>
          <p:nvPr/>
        </p:nvSpPr>
        <p:spPr>
          <a:xfrm>
            <a:off x="612900" y="862700"/>
            <a:ext cx="7921200" cy="3524700"/>
          </a:xfrm>
          <a:prstGeom prst="rect">
            <a:avLst/>
          </a:prstGeom>
          <a:noFill/>
          <a:ln>
            <a:noFill/>
          </a:ln>
        </p:spPr>
        <p:txBody>
          <a:bodyPr anchorCtr="0" anchor="t" bIns="91425" lIns="91425" spcFirstLastPara="1" rIns="91425" wrap="square" tIns="91425">
            <a:spAutoFit/>
          </a:bodyPr>
          <a:lstStyle/>
          <a:p>
            <a:pPr indent="-304800" lvl="0" marL="457200" rtl="0" algn="just">
              <a:lnSpc>
                <a:spcPct val="150000"/>
              </a:lnSpc>
              <a:spcBef>
                <a:spcPts val="120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Define the core business objective and desired outcome</a:t>
            </a:r>
            <a:endParaRPr sz="1200">
              <a:solidFill>
                <a:schemeClr val="dk1"/>
              </a:solidFill>
              <a:latin typeface="Lora"/>
              <a:ea typeface="Lora"/>
              <a:cs typeface="Lora"/>
              <a:sym typeface="Lora"/>
            </a:endParaRPr>
          </a:p>
          <a:p>
            <a:pPr indent="-304800" lvl="1" marL="914400" rtl="0" algn="just">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Reduce traffic congestion by developing a predictive system that uses traffic sensors, GPS data, and surveys to forecast congestion at key intersections 30–45 minutes in advance, enabling the transportation department to optimize traffic lights, adjust bus routes, and provide real-time updates to drivers. </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Identify key </a:t>
            </a:r>
            <a:r>
              <a:rPr lang="en" sz="1200">
                <a:solidFill>
                  <a:schemeClr val="dk1"/>
                </a:solidFill>
                <a:latin typeface="Lora"/>
                <a:ea typeface="Lora"/>
                <a:cs typeface="Lora"/>
                <a:sym typeface="Lora"/>
              </a:rPr>
              <a:t>profiles</a:t>
            </a:r>
            <a:endParaRPr sz="1200">
              <a:solidFill>
                <a:schemeClr val="dk1"/>
              </a:solidFill>
              <a:latin typeface="Lora"/>
              <a:ea typeface="Lora"/>
              <a:cs typeface="Lora"/>
              <a:sym typeface="Lora"/>
            </a:endParaRPr>
          </a:p>
          <a:p>
            <a:pPr indent="-311150" lvl="1" marL="914400" rtl="0" algn="just">
              <a:lnSpc>
                <a:spcPct val="150000"/>
              </a:lnSpc>
              <a:spcBef>
                <a:spcPts val="0"/>
              </a:spcBef>
              <a:spcAft>
                <a:spcPts val="0"/>
              </a:spcAft>
              <a:buClr>
                <a:schemeClr val="dk1"/>
              </a:buClr>
              <a:buSzPts val="1300"/>
              <a:buFont typeface="Lora"/>
              <a:buChar char="➢"/>
            </a:pPr>
            <a:r>
              <a:rPr lang="en" sz="1200">
                <a:solidFill>
                  <a:schemeClr val="dk1"/>
                </a:solidFill>
                <a:latin typeface="Lora"/>
                <a:ea typeface="Lora"/>
                <a:cs typeface="Lora"/>
                <a:sym typeface="Lora"/>
              </a:rPr>
              <a:t>Data Science Team:  Responsible for building, testing, and validating the models.</a:t>
            </a:r>
            <a:endParaRPr sz="1200">
              <a:solidFill>
                <a:schemeClr val="dk1"/>
              </a:solidFill>
              <a:latin typeface="Lora"/>
              <a:ea typeface="Lora"/>
              <a:cs typeface="Lora"/>
              <a:sym typeface="Lora"/>
            </a:endParaRPr>
          </a:p>
          <a:p>
            <a:pPr indent="-311150" lvl="1" marL="914400" rtl="0" algn="just">
              <a:lnSpc>
                <a:spcPct val="150000"/>
              </a:lnSpc>
              <a:spcBef>
                <a:spcPts val="0"/>
              </a:spcBef>
              <a:spcAft>
                <a:spcPts val="0"/>
              </a:spcAft>
              <a:buClr>
                <a:schemeClr val="dk1"/>
              </a:buClr>
              <a:buSzPts val="1300"/>
              <a:buFont typeface="Lora"/>
              <a:buChar char="➢"/>
            </a:pPr>
            <a:r>
              <a:rPr lang="en" sz="1200">
                <a:solidFill>
                  <a:schemeClr val="dk1"/>
                </a:solidFill>
                <a:latin typeface="Lora"/>
                <a:ea typeface="Lora"/>
                <a:cs typeface="Lora"/>
                <a:sym typeface="Lora"/>
              </a:rPr>
              <a:t>Traffic Engineers: Provide domain expertise on traffic flow dynamics and validate model outputs.</a:t>
            </a:r>
            <a:endParaRPr sz="1200">
              <a:solidFill>
                <a:schemeClr val="dk1"/>
              </a:solidFill>
              <a:latin typeface="Lora"/>
              <a:ea typeface="Lora"/>
              <a:cs typeface="Lora"/>
              <a:sym typeface="Lora"/>
            </a:endParaRPr>
          </a:p>
          <a:p>
            <a:pPr indent="-311150" lvl="1" marL="914400" rtl="0" algn="just">
              <a:lnSpc>
                <a:spcPct val="150000"/>
              </a:lnSpc>
              <a:spcBef>
                <a:spcPts val="0"/>
              </a:spcBef>
              <a:spcAft>
                <a:spcPts val="0"/>
              </a:spcAft>
              <a:buClr>
                <a:schemeClr val="dk1"/>
              </a:buClr>
              <a:buSzPts val="1300"/>
              <a:buFont typeface="Lora"/>
              <a:buChar char="➢"/>
            </a:pPr>
            <a:r>
              <a:rPr lang="en" sz="1200">
                <a:solidFill>
                  <a:schemeClr val="dk1"/>
                </a:solidFill>
                <a:latin typeface="Lora"/>
                <a:ea typeface="Lora"/>
                <a:cs typeface="Lora"/>
                <a:sym typeface="Lora"/>
              </a:rPr>
              <a:t>City IT Department: Ensures integration with existing traffic management systems.</a:t>
            </a:r>
            <a:endParaRPr sz="1200">
              <a:solidFill>
                <a:schemeClr val="dk1"/>
              </a:solidFill>
              <a:latin typeface="Lora"/>
              <a:ea typeface="Lora"/>
              <a:cs typeface="Lora"/>
              <a:sym typeface="Lora"/>
            </a:endParaRPr>
          </a:p>
          <a:p>
            <a:pPr indent="-311150" lvl="1" marL="914400" rtl="0" algn="just">
              <a:lnSpc>
                <a:spcPct val="150000"/>
              </a:lnSpc>
              <a:spcBef>
                <a:spcPts val="0"/>
              </a:spcBef>
              <a:spcAft>
                <a:spcPts val="0"/>
              </a:spcAft>
              <a:buClr>
                <a:schemeClr val="dk1"/>
              </a:buClr>
              <a:buSzPts val="1300"/>
              <a:buFont typeface="Lora"/>
              <a:buChar char="➢"/>
            </a:pPr>
            <a:r>
              <a:rPr lang="en" sz="1200">
                <a:solidFill>
                  <a:schemeClr val="dk1"/>
                </a:solidFill>
                <a:latin typeface="Lora"/>
                <a:ea typeface="Lora"/>
                <a:cs typeface="Lora"/>
                <a:sym typeface="Lora"/>
              </a:rPr>
              <a:t>Public Transportation Managers: Use predictions to optimize bus routes and schedules.</a:t>
            </a:r>
            <a:endParaRPr sz="1200">
              <a:solidFill>
                <a:schemeClr val="dk1"/>
              </a:solidFill>
              <a:latin typeface="Lora"/>
              <a:ea typeface="Lora"/>
              <a:cs typeface="Lora"/>
              <a:sym typeface="Lora"/>
            </a:endParaRPr>
          </a:p>
          <a:p>
            <a:pPr indent="-311150" lvl="1" marL="914400" rtl="0" algn="just">
              <a:lnSpc>
                <a:spcPct val="150000"/>
              </a:lnSpc>
              <a:spcBef>
                <a:spcPts val="0"/>
              </a:spcBef>
              <a:spcAft>
                <a:spcPts val="0"/>
              </a:spcAft>
              <a:buClr>
                <a:schemeClr val="dk1"/>
              </a:buClr>
              <a:buSzPts val="1300"/>
              <a:buFont typeface="Lora"/>
              <a:buChar char="➢"/>
            </a:pPr>
            <a:r>
              <a:rPr lang="en" sz="1200">
                <a:solidFill>
                  <a:schemeClr val="dk1"/>
                </a:solidFill>
                <a:latin typeface="Lora"/>
                <a:ea typeface="Lora"/>
                <a:cs typeface="Lora"/>
                <a:sym typeface="Lora"/>
              </a:rPr>
              <a:t>City Policy Planners – Use insights for long-term infrastructure planning.</a:t>
            </a:r>
            <a:endParaRPr sz="1200">
              <a:solidFill>
                <a:schemeClr val="dk1"/>
              </a:solidFill>
              <a:latin typeface="Lora"/>
              <a:ea typeface="Lora"/>
              <a:cs typeface="Lora"/>
              <a:sym typeface="Lo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nvSpPr>
        <p:spPr>
          <a:xfrm>
            <a:off x="6129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Exercise (solutions)</a:t>
            </a:r>
            <a:endParaRPr sz="2400">
              <a:latin typeface="Lora"/>
              <a:ea typeface="Lora"/>
              <a:cs typeface="Lora"/>
              <a:sym typeface="Lora"/>
            </a:endParaRPr>
          </a:p>
        </p:txBody>
      </p:sp>
      <p:sp>
        <p:nvSpPr>
          <p:cNvPr id="149" name="Google Shape;149;p26"/>
          <p:cNvSpPr txBox="1"/>
          <p:nvPr/>
        </p:nvSpPr>
        <p:spPr>
          <a:xfrm>
            <a:off x="612900" y="862700"/>
            <a:ext cx="8081700" cy="37956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Clr>
                <a:schemeClr val="dk1"/>
              </a:buClr>
              <a:buSzPts val="1200"/>
              <a:buFont typeface="Lora"/>
              <a:buAutoNum type="arabicPeriod" startAt="3"/>
            </a:pPr>
            <a:r>
              <a:rPr lang="en" sz="1200">
                <a:solidFill>
                  <a:schemeClr val="dk1"/>
                </a:solidFill>
                <a:latin typeface="Lora"/>
                <a:ea typeface="Lora"/>
                <a:cs typeface="Lora"/>
                <a:sym typeface="Lora"/>
              </a:rPr>
              <a:t>Specify success criteria and evaluation metrics</a:t>
            </a:r>
            <a:endParaRPr sz="1200">
              <a:solidFill>
                <a:schemeClr val="dk1"/>
              </a:solidFill>
              <a:latin typeface="Lora"/>
              <a:ea typeface="Lora"/>
              <a:cs typeface="Lora"/>
              <a:sym typeface="Lora"/>
            </a:endParaRPr>
          </a:p>
          <a:p>
            <a:pPr indent="-304800" lvl="0"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Technical Metrics</a:t>
            </a:r>
            <a:endParaRPr sz="1200">
              <a:solidFill>
                <a:schemeClr val="dk1"/>
              </a:solidFill>
              <a:latin typeface="Lora"/>
              <a:ea typeface="Lora"/>
              <a:cs typeface="Lora"/>
              <a:sym typeface="Lora"/>
            </a:endParaRPr>
          </a:p>
          <a:p>
            <a:pPr indent="-304800" lvl="1" marL="142875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Prediction accuracy of congestion levels ( 85%+ accuracy within 30-minute forecasts)</a:t>
            </a:r>
            <a:endParaRPr sz="1200">
              <a:solidFill>
                <a:schemeClr val="dk1"/>
              </a:solidFill>
              <a:latin typeface="Lora"/>
              <a:ea typeface="Lora"/>
              <a:cs typeface="Lora"/>
              <a:sym typeface="Lora"/>
            </a:endParaRPr>
          </a:p>
          <a:p>
            <a:pPr indent="-304800" lvl="1" marL="142875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Latency of real-time system (&lt;5 seconds from data ingestion to prediction)</a:t>
            </a:r>
            <a:endParaRPr b="1" sz="1200">
              <a:solidFill>
                <a:schemeClr val="dk1"/>
              </a:solidFill>
              <a:latin typeface="Lora"/>
              <a:ea typeface="Lora"/>
              <a:cs typeface="Lora"/>
              <a:sym typeface="Lora"/>
            </a:endParaRPr>
          </a:p>
          <a:p>
            <a:pPr indent="-304800" lvl="0"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Business Metrics</a:t>
            </a:r>
            <a:r>
              <a:rPr b="1" lang="en" sz="1200">
                <a:solidFill>
                  <a:schemeClr val="dk1"/>
                </a:solidFill>
                <a:latin typeface="Lora"/>
                <a:ea typeface="Lora"/>
                <a:cs typeface="Lora"/>
                <a:sym typeface="Lora"/>
              </a:rPr>
              <a:t>:</a:t>
            </a:r>
            <a:endParaRPr b="1" sz="1200">
              <a:solidFill>
                <a:schemeClr val="dk1"/>
              </a:solidFill>
              <a:latin typeface="Lora"/>
              <a:ea typeface="Lora"/>
              <a:cs typeface="Lora"/>
              <a:sym typeface="Lora"/>
            </a:endParaRPr>
          </a:p>
          <a:p>
            <a:pPr indent="-304800" lvl="1" marL="142875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15% reduction in average travel time on main corridors during peak hours</a:t>
            </a:r>
            <a:endParaRPr sz="1200">
              <a:solidFill>
                <a:schemeClr val="dk1"/>
              </a:solidFill>
              <a:latin typeface="Lora"/>
              <a:ea typeface="Lora"/>
              <a:cs typeface="Lora"/>
              <a:sym typeface="Lora"/>
            </a:endParaRPr>
          </a:p>
          <a:p>
            <a:pPr indent="-304800" lvl="1" marL="142875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Improved on-time arrival rates of public buses by 20%</a:t>
            </a:r>
            <a:endParaRPr sz="1200">
              <a:solidFill>
                <a:schemeClr val="dk1"/>
              </a:solidFill>
              <a:latin typeface="Lora"/>
              <a:ea typeface="Lora"/>
              <a:cs typeface="Lora"/>
              <a:sym typeface="Lora"/>
            </a:endParaRPr>
          </a:p>
          <a:p>
            <a:pPr indent="-304800" lvl="1" marL="142875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Increase in satisfaction scores in surveys.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startAt="3"/>
            </a:pPr>
            <a:r>
              <a:rPr lang="en" sz="1200">
                <a:solidFill>
                  <a:schemeClr val="dk1"/>
                </a:solidFill>
                <a:latin typeface="Lora"/>
                <a:ea typeface="Lora"/>
                <a:cs typeface="Lora"/>
                <a:sym typeface="Lora"/>
              </a:rPr>
              <a:t>Outline the project scope, constraints, and assumptions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Develop, test and deploy a congestion forecasting system that use traffic sensor, GPS, and survey data to provides real-time traffic predictions to the transportation department</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rgbClr val="0000FF"/>
              </a:buClr>
              <a:buSzPts val="1200"/>
              <a:buFont typeface="Lora"/>
              <a:buChar char="➢"/>
            </a:pPr>
            <a:r>
              <a:rPr lang="en" sz="1200">
                <a:solidFill>
                  <a:srgbClr val="0000FF"/>
                </a:solidFill>
                <a:latin typeface="Lora"/>
                <a:ea typeface="Lora"/>
                <a:cs typeface="Lora"/>
                <a:sym typeface="Lora"/>
              </a:rPr>
              <a:t>Project timeline: 6 months for initial prototype</a:t>
            </a:r>
            <a:endParaRPr sz="1200">
              <a:solidFill>
                <a:srgbClr val="0000FF"/>
              </a:solidFill>
              <a:latin typeface="Lora"/>
              <a:ea typeface="Lora"/>
              <a:cs typeface="Lora"/>
              <a:sym typeface="Lora"/>
            </a:endParaRPr>
          </a:p>
          <a:p>
            <a:pPr indent="-304800" lvl="1" marL="914400" rtl="0" algn="l">
              <a:lnSpc>
                <a:spcPct val="150000"/>
              </a:lnSpc>
              <a:spcBef>
                <a:spcPts val="0"/>
              </a:spcBef>
              <a:spcAft>
                <a:spcPts val="0"/>
              </a:spcAft>
              <a:buClr>
                <a:srgbClr val="0000FF"/>
              </a:buClr>
              <a:buSzPts val="1200"/>
              <a:buFont typeface="Lora"/>
              <a:buChar char="➢"/>
            </a:pPr>
            <a:r>
              <a:rPr lang="en" sz="1200">
                <a:solidFill>
                  <a:srgbClr val="0000FF"/>
                </a:solidFill>
                <a:latin typeface="Lora"/>
                <a:ea typeface="Lora"/>
                <a:cs typeface="Lora"/>
                <a:sym typeface="Lora"/>
              </a:rPr>
              <a:t>Must work with existing city servers</a:t>
            </a:r>
            <a:endParaRPr sz="1200">
              <a:solidFill>
                <a:srgbClr val="0000FF"/>
              </a:solidFill>
              <a:latin typeface="Lora"/>
              <a:ea typeface="Lora"/>
              <a:cs typeface="Lora"/>
              <a:sym typeface="Lora"/>
            </a:endParaRPr>
          </a:p>
          <a:p>
            <a:pPr indent="-304800" lvl="1" marL="914400" rtl="0" algn="l">
              <a:lnSpc>
                <a:spcPct val="150000"/>
              </a:lnSpc>
              <a:spcBef>
                <a:spcPts val="0"/>
              </a:spcBef>
              <a:spcAft>
                <a:spcPts val="0"/>
              </a:spcAft>
              <a:buClr>
                <a:srgbClr val="741B47"/>
              </a:buClr>
              <a:buSzPts val="1200"/>
              <a:buFont typeface="Lora"/>
              <a:buChar char="➢"/>
            </a:pPr>
            <a:r>
              <a:rPr lang="en" sz="1200">
                <a:solidFill>
                  <a:srgbClr val="741B47"/>
                </a:solidFill>
                <a:latin typeface="Lora"/>
                <a:ea typeface="Lora"/>
                <a:cs typeface="Lora"/>
                <a:sym typeface="Lora"/>
              </a:rPr>
              <a:t>Data from sensors, buses, and surveys is accessible, sufficient, and can be integrated.</a:t>
            </a:r>
            <a:endParaRPr sz="1200">
              <a:solidFill>
                <a:srgbClr val="741B47"/>
              </a:solidFill>
              <a:latin typeface="Lora"/>
              <a:ea typeface="Lora"/>
              <a:cs typeface="Lora"/>
              <a:sym typeface="Lora"/>
            </a:endParaRPr>
          </a:p>
          <a:p>
            <a:pPr indent="-304800" lvl="1" marL="914400" rtl="0" algn="l">
              <a:lnSpc>
                <a:spcPct val="150000"/>
              </a:lnSpc>
              <a:spcBef>
                <a:spcPts val="0"/>
              </a:spcBef>
              <a:spcAft>
                <a:spcPts val="0"/>
              </a:spcAft>
              <a:buClr>
                <a:srgbClr val="741B47"/>
              </a:buClr>
              <a:buSzPts val="1200"/>
              <a:buFont typeface="Lora"/>
              <a:buChar char="➢"/>
            </a:pPr>
            <a:r>
              <a:rPr lang="en" sz="1200">
                <a:solidFill>
                  <a:srgbClr val="741B47"/>
                </a:solidFill>
                <a:latin typeface="Lora"/>
                <a:ea typeface="Lora"/>
                <a:cs typeface="Lora"/>
                <a:sym typeface="Lora"/>
              </a:rPr>
              <a:t>The initial system will focus on the busiest 20 intersections.</a:t>
            </a:r>
            <a:endParaRPr sz="1200">
              <a:solidFill>
                <a:schemeClr val="dk1"/>
              </a:solidFill>
              <a:latin typeface="Lora"/>
              <a:ea typeface="Lora"/>
              <a:cs typeface="Lora"/>
              <a:sym typeface="L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nvSpPr>
        <p:spPr>
          <a:xfrm>
            <a:off x="612900" y="243600"/>
            <a:ext cx="8255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Exercise (solutions)</a:t>
            </a:r>
            <a:endParaRPr sz="2400">
              <a:latin typeface="Lora"/>
              <a:ea typeface="Lora"/>
              <a:cs typeface="Lora"/>
              <a:sym typeface="Lora"/>
            </a:endParaRPr>
          </a:p>
        </p:txBody>
      </p:sp>
      <p:sp>
        <p:nvSpPr>
          <p:cNvPr id="155" name="Google Shape;155;p27"/>
          <p:cNvSpPr txBox="1"/>
          <p:nvPr/>
        </p:nvSpPr>
        <p:spPr>
          <a:xfrm>
            <a:off x="612900" y="862700"/>
            <a:ext cx="8081700" cy="31953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Clr>
                <a:schemeClr val="dk1"/>
              </a:buClr>
              <a:buSzPts val="1200"/>
              <a:buFont typeface="Lora"/>
              <a:buAutoNum type="arabicPeriod" startAt="5"/>
            </a:pPr>
            <a:r>
              <a:rPr lang="en" sz="1200">
                <a:solidFill>
                  <a:schemeClr val="dk1"/>
                </a:solidFill>
                <a:latin typeface="Lora"/>
                <a:ea typeface="Lora"/>
                <a:cs typeface="Lora"/>
                <a:sym typeface="Lora"/>
              </a:rPr>
              <a:t>Assess risks, ethical considerations, and data availability</a:t>
            </a:r>
            <a:endParaRPr sz="1200">
              <a:solidFill>
                <a:schemeClr val="dk1"/>
              </a:solidFill>
              <a:latin typeface="Lora"/>
              <a:ea typeface="Lora"/>
              <a:cs typeface="Lora"/>
              <a:sym typeface="Lora"/>
            </a:endParaRPr>
          </a:p>
          <a:p>
            <a:pPr indent="-304800" lvl="0"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Risks:</a:t>
            </a:r>
            <a:endParaRPr sz="1200">
              <a:solidFill>
                <a:schemeClr val="dk1"/>
              </a:solidFill>
              <a:latin typeface="Lora"/>
              <a:ea typeface="Lora"/>
              <a:cs typeface="Lora"/>
              <a:sym typeface="Lora"/>
            </a:endParaRPr>
          </a:p>
          <a:p>
            <a:pPr indent="-304800" lvl="1" marL="13716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Incomplete or noisy sensor data may reduce prediction accuracy</a:t>
            </a:r>
            <a:endParaRPr sz="1200">
              <a:solidFill>
                <a:schemeClr val="dk1"/>
              </a:solidFill>
              <a:latin typeface="Lora"/>
              <a:ea typeface="Lora"/>
              <a:cs typeface="Lora"/>
              <a:sym typeface="Lora"/>
            </a:endParaRPr>
          </a:p>
          <a:p>
            <a:pPr indent="-304800" lvl="1" marL="13716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Overfitting if the model only captures historical traffic patterns but fails in unexpected events (accidents, road work)</a:t>
            </a:r>
            <a:endParaRPr sz="1200">
              <a:solidFill>
                <a:schemeClr val="dk1"/>
              </a:solidFill>
              <a:latin typeface="Lora"/>
              <a:ea typeface="Lora"/>
              <a:cs typeface="Lora"/>
              <a:sym typeface="Lora"/>
            </a:endParaRPr>
          </a:p>
          <a:p>
            <a:pPr indent="-304800" lvl="1" marL="13716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Resistance from city staff in adopting new technology</a:t>
            </a:r>
            <a:endParaRPr sz="1200">
              <a:solidFill>
                <a:schemeClr val="dk1"/>
              </a:solidFill>
              <a:latin typeface="Lora"/>
              <a:ea typeface="Lora"/>
              <a:cs typeface="Lora"/>
              <a:sym typeface="Lora"/>
            </a:endParaRPr>
          </a:p>
          <a:p>
            <a:pPr indent="-304800" lvl="0"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Ethical Considerations:</a:t>
            </a:r>
            <a:endParaRPr sz="1200">
              <a:solidFill>
                <a:schemeClr val="dk1"/>
              </a:solidFill>
              <a:latin typeface="Lora"/>
              <a:ea typeface="Lora"/>
              <a:cs typeface="Lora"/>
              <a:sym typeface="Lora"/>
            </a:endParaRPr>
          </a:p>
          <a:p>
            <a:pPr indent="-304800" lvl="1" marL="13716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Data complies with municipal privacy regulations</a:t>
            </a:r>
            <a:br>
              <a:rPr lang="en" sz="1200">
                <a:solidFill>
                  <a:schemeClr val="dk1"/>
                </a:solidFill>
                <a:latin typeface="Lora"/>
                <a:ea typeface="Lora"/>
                <a:cs typeface="Lora"/>
                <a:sym typeface="Lora"/>
              </a:rPr>
            </a:br>
            <a:endParaRPr sz="1200">
              <a:solidFill>
                <a:schemeClr val="dk1"/>
              </a:solidFill>
              <a:latin typeface="Lora"/>
              <a:ea typeface="Lora"/>
              <a:cs typeface="Lora"/>
              <a:sym typeface="Lora"/>
            </a:endParaRPr>
          </a:p>
          <a:p>
            <a:pPr indent="-304800" lvl="0"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Data Availability:</a:t>
            </a:r>
            <a:endParaRPr sz="1200">
              <a:solidFill>
                <a:schemeClr val="dk1"/>
              </a:solidFill>
              <a:latin typeface="Lora"/>
              <a:ea typeface="Lora"/>
              <a:cs typeface="Lora"/>
              <a:sym typeface="Lora"/>
            </a:endParaRPr>
          </a:p>
          <a:p>
            <a:pPr indent="-304800" lvl="1" marL="13716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Traffic sensor data is available but requires preprocessing for consistency</a:t>
            </a:r>
            <a:endParaRPr sz="1200">
              <a:solidFill>
                <a:schemeClr val="dk1"/>
              </a:solidFill>
              <a:latin typeface="Lora"/>
              <a:ea typeface="Lora"/>
              <a:cs typeface="Lora"/>
              <a:sym typeface="Lora"/>
            </a:endParaRPr>
          </a:p>
          <a:p>
            <a:pPr indent="-304800" lvl="1" marL="13716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GPS data from buses is comprehensive but may contain missing points</a:t>
            </a:r>
            <a:endParaRPr sz="1200">
              <a:solidFill>
                <a:schemeClr val="dk1"/>
              </a:solidFill>
              <a:latin typeface="Lora"/>
              <a:ea typeface="Lora"/>
              <a:cs typeface="Lora"/>
              <a:sym typeface="Lora"/>
            </a:endParaRPr>
          </a:p>
          <a:p>
            <a:pPr indent="-304800" lvl="1" marL="13716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Survey data is periodic and useful for calibration but not real-time</a:t>
            </a:r>
            <a:br>
              <a:rPr lang="en" sz="1200">
                <a:solidFill>
                  <a:schemeClr val="dk1"/>
                </a:solidFill>
                <a:latin typeface="Lora"/>
                <a:ea typeface="Lora"/>
                <a:cs typeface="Lora"/>
                <a:sym typeface="Lora"/>
              </a:rPr>
            </a:br>
            <a:endParaRPr sz="1200">
              <a:solidFill>
                <a:schemeClr val="dk1"/>
              </a:solidFill>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nvSpPr>
        <p:spPr>
          <a:xfrm>
            <a:off x="8414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Data </a:t>
            </a:r>
            <a:r>
              <a:rPr lang="en" sz="2400">
                <a:latin typeface="Lora"/>
                <a:ea typeface="Lora"/>
                <a:cs typeface="Lora"/>
                <a:sym typeface="Lora"/>
              </a:rPr>
              <a:t>Acquisition</a:t>
            </a:r>
            <a:endParaRPr sz="2400">
              <a:latin typeface="Lora"/>
              <a:ea typeface="Lora"/>
              <a:cs typeface="Lora"/>
              <a:sym typeface="Lora"/>
            </a:endParaRPr>
          </a:p>
        </p:txBody>
      </p:sp>
      <p:sp>
        <p:nvSpPr>
          <p:cNvPr id="161" name="Google Shape;161;p28"/>
          <p:cNvSpPr txBox="1"/>
          <p:nvPr/>
        </p:nvSpPr>
        <p:spPr>
          <a:xfrm>
            <a:off x="654250" y="872975"/>
            <a:ext cx="7427400" cy="58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t/>
            </a:r>
            <a:endParaRPr b="1" sz="1200">
              <a:solidFill>
                <a:schemeClr val="dk2"/>
              </a:solidFill>
              <a:latin typeface="Lora"/>
              <a:ea typeface="Lora"/>
              <a:cs typeface="Lora"/>
              <a:sym typeface="Lora"/>
            </a:endParaRPr>
          </a:p>
          <a:p>
            <a:pPr indent="0" lvl="0" marL="0" rtl="0" algn="l">
              <a:lnSpc>
                <a:spcPct val="115000"/>
              </a:lnSpc>
              <a:spcBef>
                <a:spcPts val="0"/>
              </a:spcBef>
              <a:spcAft>
                <a:spcPts val="0"/>
              </a:spcAft>
              <a:buNone/>
            </a:pPr>
            <a:r>
              <a:t/>
            </a:r>
            <a:endParaRPr b="1" sz="1200">
              <a:solidFill>
                <a:schemeClr val="dk2"/>
              </a:solidFill>
              <a:latin typeface="Lora"/>
              <a:ea typeface="Lora"/>
              <a:cs typeface="Lora"/>
              <a:sym typeface="Lora"/>
            </a:endParaRPr>
          </a:p>
        </p:txBody>
      </p:sp>
      <p:sp>
        <p:nvSpPr>
          <p:cNvPr id="162" name="Google Shape;162;p28"/>
          <p:cNvSpPr txBox="1"/>
          <p:nvPr/>
        </p:nvSpPr>
        <p:spPr>
          <a:xfrm>
            <a:off x="543750" y="984600"/>
            <a:ext cx="8128500" cy="218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latin typeface="Lora"/>
                <a:ea typeface="Lora"/>
                <a:cs typeface="Lora"/>
                <a:sym typeface="Lora"/>
              </a:rPr>
              <a:t>E</a:t>
            </a:r>
            <a:r>
              <a:rPr lang="en" sz="1200">
                <a:latin typeface="Lora"/>
                <a:ea typeface="Lora"/>
                <a:cs typeface="Lora"/>
                <a:sym typeface="Lora"/>
              </a:rPr>
              <a:t>ffective Data acquisition is  the critical first steps in any data-driven workflow. Without a solid foundation here, any subsequent analysis or modeling is compromised. it's the principle of "garbage in, garbage out."</a:t>
            </a:r>
            <a:endParaRPr b="1"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Data Ingestion:</a:t>
            </a:r>
            <a:r>
              <a:rPr lang="en" sz="1200">
                <a:solidFill>
                  <a:schemeClr val="dk1"/>
                </a:solidFill>
                <a:latin typeface="Lora"/>
                <a:ea typeface="Lora"/>
                <a:cs typeface="Lora"/>
                <a:sym typeface="Lora"/>
              </a:rPr>
              <a:t> The process of collecting or sourcing raw data from a wide variety of origins. </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Data Transformation &amp; Modeling :</a:t>
            </a:r>
            <a:r>
              <a:rPr lang="en" sz="1200">
                <a:solidFill>
                  <a:schemeClr val="dk1"/>
                </a:solidFill>
                <a:latin typeface="Lora"/>
                <a:ea typeface="Lora"/>
                <a:cs typeface="Lora"/>
                <a:sym typeface="Lora"/>
              </a:rPr>
              <a:t> The practice of organizing, storing, and maintaining the acquired data throughout its lifecycle</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i="1" sz="1000">
              <a:solidFill>
                <a:srgbClr val="FF0000"/>
              </a:solidFill>
              <a:latin typeface="Lora"/>
              <a:ea typeface="Lora"/>
              <a:cs typeface="Lora"/>
              <a:sym typeface="Lora"/>
            </a:endParaRPr>
          </a:p>
          <a:p>
            <a:pPr indent="0" lvl="0" marL="0" rtl="0" algn="l">
              <a:lnSpc>
                <a:spcPct val="150000"/>
              </a:lnSpc>
              <a:spcBef>
                <a:spcPts val="0"/>
              </a:spcBef>
              <a:spcAft>
                <a:spcPts val="0"/>
              </a:spcAft>
              <a:buNone/>
            </a:pPr>
            <a:r>
              <a:rPr i="1" lang="en" sz="1000">
                <a:solidFill>
                  <a:srgbClr val="FF0000"/>
                </a:solidFill>
                <a:latin typeface="Lora"/>
                <a:ea typeface="Lora"/>
                <a:cs typeface="Lora"/>
                <a:sym typeface="Lora"/>
              </a:rPr>
              <a:t>Note that Modeling can mean Modeling in DE (e.g. Star Schema / Kimball) or Modeling in ML (e.g. statistical model). </a:t>
            </a:r>
            <a:endParaRPr i="1" sz="1000">
              <a:solidFill>
                <a:srgbClr val="FF0000"/>
              </a:solidFill>
              <a:latin typeface="Lora"/>
              <a:ea typeface="Lora"/>
              <a:cs typeface="Lora"/>
              <a:sym typeface="Lora"/>
            </a:endParaRPr>
          </a:p>
          <a:p>
            <a:pPr indent="0" lvl="0" marL="0" rtl="0" algn="l">
              <a:lnSpc>
                <a:spcPct val="150000"/>
              </a:lnSpc>
              <a:spcBef>
                <a:spcPts val="0"/>
              </a:spcBef>
              <a:spcAft>
                <a:spcPts val="0"/>
              </a:spcAft>
              <a:buNone/>
            </a:pPr>
            <a:r>
              <a:rPr i="1" lang="en" sz="1000">
                <a:solidFill>
                  <a:srgbClr val="FF0000"/>
                </a:solidFill>
                <a:latin typeface="Lora"/>
                <a:ea typeface="Lora"/>
                <a:cs typeface="Lora"/>
                <a:sym typeface="Lora"/>
              </a:rPr>
              <a:t>Here we mean the modeling in DE.</a:t>
            </a:r>
            <a:endParaRPr i="1" sz="1000">
              <a:solidFill>
                <a:srgbClr val="FF0000"/>
              </a:solidFill>
              <a:latin typeface="Lora"/>
              <a:ea typeface="Lora"/>
              <a:cs typeface="Lora"/>
              <a:sym typeface="Lo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nvSpPr>
        <p:spPr>
          <a:xfrm>
            <a:off x="8414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lang="en" sz="2400">
                <a:solidFill>
                  <a:schemeClr val="dk1"/>
                </a:solidFill>
                <a:latin typeface="Lora"/>
                <a:ea typeface="Lora"/>
                <a:cs typeface="Lora"/>
                <a:sym typeface="Lora"/>
              </a:rPr>
              <a:t>Data </a:t>
            </a:r>
            <a:r>
              <a:rPr lang="en" sz="2400">
                <a:solidFill>
                  <a:schemeClr val="dk1"/>
                </a:solidFill>
                <a:latin typeface="Lora"/>
                <a:ea typeface="Lora"/>
                <a:cs typeface="Lora"/>
                <a:sym typeface="Lora"/>
              </a:rPr>
              <a:t>Acquisition</a:t>
            </a:r>
            <a:endParaRPr sz="2400">
              <a:latin typeface="Lora"/>
              <a:ea typeface="Lora"/>
              <a:cs typeface="Lora"/>
              <a:sym typeface="Lora"/>
            </a:endParaRPr>
          </a:p>
        </p:txBody>
      </p:sp>
      <p:sp>
        <p:nvSpPr>
          <p:cNvPr id="168" name="Google Shape;168;p29"/>
          <p:cNvSpPr txBox="1"/>
          <p:nvPr/>
        </p:nvSpPr>
        <p:spPr>
          <a:xfrm>
            <a:off x="654250" y="872975"/>
            <a:ext cx="7427400" cy="58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t/>
            </a:r>
            <a:endParaRPr b="1" sz="1200">
              <a:solidFill>
                <a:schemeClr val="dk2"/>
              </a:solidFill>
              <a:latin typeface="Lora"/>
              <a:ea typeface="Lora"/>
              <a:cs typeface="Lora"/>
              <a:sym typeface="Lora"/>
            </a:endParaRPr>
          </a:p>
          <a:p>
            <a:pPr indent="0" lvl="0" marL="0" rtl="0" algn="l">
              <a:lnSpc>
                <a:spcPct val="115000"/>
              </a:lnSpc>
              <a:spcBef>
                <a:spcPts val="0"/>
              </a:spcBef>
              <a:spcAft>
                <a:spcPts val="0"/>
              </a:spcAft>
              <a:buNone/>
            </a:pPr>
            <a:r>
              <a:t/>
            </a:r>
            <a:endParaRPr b="1" sz="1200">
              <a:solidFill>
                <a:schemeClr val="dk2"/>
              </a:solidFill>
              <a:latin typeface="Lora"/>
              <a:ea typeface="Lora"/>
              <a:cs typeface="Lora"/>
              <a:sym typeface="Lora"/>
            </a:endParaRPr>
          </a:p>
        </p:txBody>
      </p:sp>
      <p:pic>
        <p:nvPicPr>
          <p:cNvPr id="169" name="Google Shape;169;p29"/>
          <p:cNvPicPr preferRelativeResize="0"/>
          <p:nvPr/>
        </p:nvPicPr>
        <p:blipFill>
          <a:blip r:embed="rId3">
            <a:alphaModFix/>
          </a:blip>
          <a:stretch>
            <a:fillRect/>
          </a:stretch>
        </p:blipFill>
        <p:spPr>
          <a:xfrm>
            <a:off x="2227050" y="772750"/>
            <a:ext cx="4948449" cy="36533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Data Cleaning &amp; Preprocessing</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75" name="Google Shape;175;p30"/>
          <p:cNvSpPr txBox="1"/>
          <p:nvPr/>
        </p:nvSpPr>
        <p:spPr>
          <a:xfrm>
            <a:off x="612900" y="925825"/>
            <a:ext cx="7627200" cy="1951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latin typeface="Lora"/>
                <a:ea typeface="Lora"/>
                <a:cs typeface="Lora"/>
                <a:sym typeface="Lora"/>
              </a:rPr>
              <a:t>Raw data is often messy, inconsistent, and incomplete. This stage is arguably the most critical and time consuming part of a data project, as the quality of your output is entirely dependent on the quality of your input.</a:t>
            </a:r>
            <a:endParaRPr sz="1200">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Lora"/>
                <a:ea typeface="Lora"/>
                <a:cs typeface="Lora"/>
                <a:sym typeface="Lora"/>
              </a:rPr>
              <a:t>Real-world data is dirty. Before analysis or modeling, we must fix fundamental issues to ensure our results are accurate and reliable.</a:t>
            </a:r>
            <a:endParaRPr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Data Cleaning</a:t>
            </a:r>
            <a:r>
              <a:rPr b="1" lang="en" sz="1200">
                <a:solidFill>
                  <a:schemeClr val="dk1"/>
                </a:solidFill>
                <a:latin typeface="Lora"/>
                <a:ea typeface="Lora"/>
                <a:cs typeface="Lora"/>
                <a:sym typeface="Lora"/>
              </a:rPr>
              <a:t>:</a:t>
            </a:r>
            <a:r>
              <a:rPr lang="en" sz="1200">
                <a:solidFill>
                  <a:schemeClr val="dk1"/>
                </a:solidFill>
                <a:latin typeface="Lora"/>
                <a:ea typeface="Lora"/>
                <a:cs typeface="Lora"/>
                <a:sym typeface="Lora"/>
              </a:rPr>
              <a:t> The process of </a:t>
            </a:r>
            <a:r>
              <a:rPr b="1" lang="en" sz="1200">
                <a:solidFill>
                  <a:schemeClr val="dk1"/>
                </a:solidFill>
                <a:latin typeface="Lora"/>
                <a:ea typeface="Lora"/>
                <a:cs typeface="Lora"/>
                <a:sym typeface="Lora"/>
              </a:rPr>
              <a:t>detecting and correcting</a:t>
            </a:r>
            <a:r>
              <a:rPr lang="en" sz="1200">
                <a:solidFill>
                  <a:schemeClr val="dk1"/>
                </a:solidFill>
                <a:latin typeface="Lora"/>
                <a:ea typeface="Lora"/>
                <a:cs typeface="Lora"/>
                <a:sym typeface="Lora"/>
              </a:rPr>
              <a:t> inaccurate, incomplete, or irrelevant records from a dataset.</a:t>
            </a:r>
            <a:endParaRPr sz="1200">
              <a:latin typeface="Lora"/>
              <a:ea typeface="Lora"/>
              <a:cs typeface="Lora"/>
              <a:sym typeface="Lora"/>
            </a:endParaRPr>
          </a:p>
        </p:txBody>
      </p:sp>
      <p:sp>
        <p:nvSpPr>
          <p:cNvPr id="176" name="Google Shape;176;p30"/>
          <p:cNvSpPr txBox="1"/>
          <p:nvPr/>
        </p:nvSpPr>
        <p:spPr>
          <a:xfrm>
            <a:off x="1108700" y="2877625"/>
            <a:ext cx="7131300" cy="10275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df = df.drop_duplicates()                      # Remove duplicate rows</a:t>
            </a:r>
            <a:endParaRPr sz="11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df["Name"] = df["Name"].fillna("Unknown")      # Handle missing names</a:t>
            </a:r>
            <a:endParaRPr sz="11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df["Age"] = df["Age"].apply(lambda x: None if x &lt; 0 else x)  # Fix invalid ages</a:t>
            </a:r>
            <a:endParaRPr sz="11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rgbClr val="000000"/>
              </a:buClr>
              <a:buSzPts val="1100"/>
              <a:buFont typeface="Arial"/>
              <a:buNone/>
            </a:pPr>
            <a:r>
              <a:t/>
            </a:r>
            <a:endParaRPr sz="13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300">
              <a:solidFill>
                <a:srgbClr val="595959"/>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Data Cleaning &amp; Preprocessing</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82" name="Google Shape;182;p31"/>
          <p:cNvSpPr txBox="1"/>
          <p:nvPr/>
        </p:nvSpPr>
        <p:spPr>
          <a:xfrm>
            <a:off x="612900" y="925825"/>
            <a:ext cx="7627200" cy="581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Lora"/>
              <a:buChar char="●"/>
            </a:pPr>
            <a:r>
              <a:rPr b="1" lang="en" sz="1200">
                <a:solidFill>
                  <a:schemeClr val="dk1"/>
                </a:solidFill>
                <a:latin typeface="Lora"/>
                <a:ea typeface="Lora"/>
                <a:cs typeface="Lora"/>
                <a:sym typeface="Lora"/>
              </a:rPr>
              <a:t>Data Preprocessing:</a:t>
            </a: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A broader set of operations to </a:t>
            </a:r>
            <a:r>
              <a:rPr b="1" lang="en" sz="1200">
                <a:solidFill>
                  <a:schemeClr val="dk1"/>
                </a:solidFill>
                <a:latin typeface="Lora"/>
                <a:ea typeface="Lora"/>
                <a:cs typeface="Lora"/>
                <a:sym typeface="Lora"/>
              </a:rPr>
              <a:t>transform and reformat</a:t>
            </a:r>
            <a:r>
              <a:rPr lang="en" sz="1200">
                <a:solidFill>
                  <a:schemeClr val="dk1"/>
                </a:solidFill>
                <a:latin typeface="Lora"/>
                <a:ea typeface="Lora"/>
                <a:cs typeface="Lora"/>
                <a:sym typeface="Lora"/>
              </a:rPr>
              <a:t> data into a suitable state for a machine learning model.</a:t>
            </a:r>
            <a:endParaRPr sz="1200">
              <a:latin typeface="Lora"/>
              <a:ea typeface="Lora"/>
              <a:cs typeface="Lora"/>
              <a:sym typeface="Lora"/>
            </a:endParaRPr>
          </a:p>
        </p:txBody>
      </p:sp>
      <p:sp>
        <p:nvSpPr>
          <p:cNvPr id="183" name="Google Shape;183;p31"/>
          <p:cNvSpPr txBox="1"/>
          <p:nvPr/>
        </p:nvSpPr>
        <p:spPr>
          <a:xfrm>
            <a:off x="1108700" y="1684408"/>
            <a:ext cx="5408100" cy="14037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chemeClr val="dk1"/>
                </a:solidFill>
                <a:latin typeface="Courier New"/>
                <a:ea typeface="Courier New"/>
                <a:cs typeface="Courier New"/>
                <a:sym typeface="Courier New"/>
              </a:rPr>
              <a:t>df_spatial_mean: pd.DataFrame = raw_pandas_df.groupby('time')['t2m'].mean().reset_index()</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    context.log.info("Aggregated multiple lat/lon points by averaging 't2m' per timestamp.")</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    num_time_steps = len(df_spatial_mean)</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    mean_temp_kelvin = df_spatial_mean['t2m'].mean()</a:t>
            </a:r>
            <a:endParaRPr sz="1300">
              <a:solidFill>
                <a:srgbClr val="595959"/>
              </a:solidFill>
              <a:latin typeface="Courier New"/>
              <a:ea typeface="Courier New"/>
              <a:cs typeface="Courier New"/>
              <a:sym typeface="Courier New"/>
            </a:endParaRPr>
          </a:p>
          <a:p>
            <a:pPr indent="0" lvl="0" marL="0" rtl="0" algn="l">
              <a:spcBef>
                <a:spcPts val="0"/>
              </a:spcBef>
              <a:spcAft>
                <a:spcPts val="0"/>
              </a:spcAft>
              <a:buClr>
                <a:srgbClr val="000000"/>
              </a:buClr>
              <a:buSzPts val="1100"/>
              <a:buFont typeface="Arial"/>
              <a:buNone/>
            </a:pPr>
            <a:r>
              <a:t/>
            </a:r>
            <a:endParaRPr sz="13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300">
              <a:solidFill>
                <a:srgbClr val="595959"/>
              </a:solidFill>
              <a:latin typeface="Courier New"/>
              <a:ea typeface="Courier New"/>
              <a:cs typeface="Courier New"/>
              <a:sym typeface="Courier New"/>
            </a:endParaRPr>
          </a:p>
        </p:txBody>
      </p:sp>
      <p:sp>
        <p:nvSpPr>
          <p:cNvPr id="184" name="Google Shape;184;p31"/>
          <p:cNvSpPr txBox="1"/>
          <p:nvPr/>
        </p:nvSpPr>
        <p:spPr>
          <a:xfrm>
            <a:off x="6516800" y="2201608"/>
            <a:ext cx="1830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Lora"/>
                <a:ea typeface="Lora"/>
                <a:cs typeface="Lora"/>
                <a:sym typeface="Lora"/>
              </a:rPr>
              <a:t>S</a:t>
            </a:r>
            <a:r>
              <a:rPr lang="en" sz="1200">
                <a:solidFill>
                  <a:schemeClr val="dk1"/>
                </a:solidFill>
                <a:latin typeface="Lora"/>
                <a:ea typeface="Lora"/>
                <a:cs typeface="Lora"/>
                <a:sym typeface="Lora"/>
              </a:rPr>
              <a:t>ee the full code </a:t>
            </a:r>
            <a:r>
              <a:rPr lang="en" sz="1200" u="sng">
                <a:solidFill>
                  <a:schemeClr val="hlink"/>
                </a:solidFill>
                <a:latin typeface="Lora"/>
                <a:ea typeface="Lora"/>
                <a:cs typeface="Lora"/>
                <a:sym typeface="Lora"/>
                <a:hlinkClick r:id="rId3"/>
              </a:rPr>
              <a:t>here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Data Cleaning &amp; Preprocessing</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90" name="Google Shape;190;p32"/>
          <p:cNvSpPr txBox="1"/>
          <p:nvPr/>
        </p:nvSpPr>
        <p:spPr>
          <a:xfrm>
            <a:off x="486900" y="700975"/>
            <a:ext cx="5075400" cy="22812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Handling Missing Values:</a:t>
            </a:r>
            <a:r>
              <a:rPr lang="en" sz="1200">
                <a:solidFill>
                  <a:schemeClr val="dk1"/>
                </a:solidFill>
                <a:latin typeface="Lora"/>
                <a:ea typeface="Lora"/>
                <a:cs typeface="Lora"/>
                <a:sym typeface="Lora"/>
              </a:rPr>
              <a:t> Impute, drop, or flag nulls based on data patterns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Outlier Detection &amp; Treatment: </a:t>
            </a:r>
            <a:r>
              <a:rPr lang="en" sz="1200">
                <a:solidFill>
                  <a:schemeClr val="dk1"/>
                </a:solidFill>
                <a:latin typeface="Lora"/>
                <a:ea typeface="Lora"/>
                <a:cs typeface="Lora"/>
                <a:sym typeface="Lora"/>
              </a:rPr>
              <a:t>Use statistical thresholds or domain logic to remove or cap extreme values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Encoding &amp; Normalization: </a:t>
            </a:r>
            <a:r>
              <a:rPr lang="en" sz="1200">
                <a:solidFill>
                  <a:schemeClr val="dk1"/>
                </a:solidFill>
                <a:latin typeface="Lora"/>
                <a:ea typeface="Lora"/>
                <a:cs typeface="Lora"/>
                <a:sym typeface="Lora"/>
              </a:rPr>
              <a:t>Convert categorical variables (e.g., one-hot, label encoding), and scale numeric features (e.g., MinMax, Z-score)</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Date Processing</a:t>
            </a:r>
            <a:r>
              <a:rPr b="1" lang="en" sz="1200">
                <a:solidFill>
                  <a:schemeClr val="dk1"/>
                </a:solidFill>
                <a:latin typeface="Lora"/>
                <a:ea typeface="Lora"/>
                <a:cs typeface="Lora"/>
                <a:sym typeface="Lora"/>
              </a:rPr>
              <a:t>:</a:t>
            </a: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extract features from timestamps (e.g., day of week, time since last login)</a:t>
            </a:r>
            <a:endParaRPr sz="12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200">
              <a:solidFill>
                <a:schemeClr val="dk1"/>
              </a:solidFill>
              <a:latin typeface="Lora"/>
              <a:ea typeface="Lora"/>
              <a:cs typeface="Lora"/>
              <a:sym typeface="Lora"/>
            </a:endParaRPr>
          </a:p>
        </p:txBody>
      </p:sp>
      <p:pic>
        <p:nvPicPr>
          <p:cNvPr id="191" name="Google Shape;191;p32"/>
          <p:cNvPicPr preferRelativeResize="0"/>
          <p:nvPr/>
        </p:nvPicPr>
        <p:blipFill>
          <a:blip r:embed="rId3">
            <a:alphaModFix/>
          </a:blip>
          <a:stretch>
            <a:fillRect/>
          </a:stretch>
        </p:blipFill>
        <p:spPr>
          <a:xfrm>
            <a:off x="5714700" y="656688"/>
            <a:ext cx="3080016" cy="31914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Exploratory Data Analysis (EDA)</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97" name="Google Shape;197;p33"/>
          <p:cNvSpPr txBox="1"/>
          <p:nvPr/>
        </p:nvSpPr>
        <p:spPr>
          <a:xfrm>
            <a:off x="486900" y="700975"/>
            <a:ext cx="7896600" cy="3716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Lora"/>
              <a:buChar char="●"/>
            </a:pPr>
            <a:r>
              <a:rPr b="1" lang="en" sz="1200">
                <a:solidFill>
                  <a:schemeClr val="dk1"/>
                </a:solidFill>
                <a:latin typeface="Lora"/>
                <a:ea typeface="Lora"/>
                <a:cs typeface="Lora"/>
                <a:sym typeface="Lora"/>
              </a:rPr>
              <a:t>What is EDA?</a:t>
            </a:r>
            <a:endParaRPr b="1"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Initial investigation to understand data characteristics, patterns, and potential issues.</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Heavily relies on visualization and summary statistics.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Key Activities:</a:t>
            </a:r>
            <a:endParaRPr b="1"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Calculate descriptive statistics (mean, median, standard deviation, counts).</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Visualize data distributions (histograms, box plots, density plots).</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Explore relationships between variables (scatter plots, correlation matrices).</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Identify missing values, outliers.</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Uncover patterns, trends, and initial insights.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Purpose &amp; Outcome:</a:t>
            </a:r>
            <a:endParaRPr b="1"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Gain deep data understanding.</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Guide feature engineering and selection.</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Validate data quality.</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Generate hypotheses for modeling.</a:t>
            </a:r>
            <a:endParaRPr b="1" sz="12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i="1" lang="en" sz="1000">
                <a:solidFill>
                  <a:srgbClr val="FF0000"/>
                </a:solidFill>
                <a:latin typeface="Lora"/>
                <a:ea typeface="Lora"/>
                <a:cs typeface="Lora"/>
                <a:sym typeface="Lora"/>
              </a:rPr>
              <a:t>Note that </a:t>
            </a:r>
            <a:r>
              <a:rPr i="1" lang="en" sz="1050">
                <a:solidFill>
                  <a:srgbClr val="FF0000"/>
                </a:solidFill>
                <a:latin typeface="Lora"/>
                <a:ea typeface="Lora"/>
                <a:cs typeface="Lora"/>
                <a:sym typeface="Lora"/>
              </a:rPr>
              <a:t>all of this is usually done in jupyter notebooks</a:t>
            </a:r>
            <a:r>
              <a:rPr i="1" lang="en" sz="1000">
                <a:solidFill>
                  <a:srgbClr val="FF0000"/>
                </a:solidFill>
                <a:latin typeface="Lora"/>
                <a:ea typeface="Lora"/>
                <a:cs typeface="Lora"/>
                <a:sym typeface="Lora"/>
              </a:rPr>
              <a:t>. </a:t>
            </a:r>
            <a:endParaRPr i="1" sz="1000">
              <a:solidFill>
                <a:srgbClr val="FF0000"/>
              </a:solidFill>
              <a:latin typeface="Lora"/>
              <a:ea typeface="Lora"/>
              <a:cs typeface="Lora"/>
              <a:sym typeface="Lora"/>
            </a:endParaRPr>
          </a:p>
          <a:p>
            <a:pPr indent="0" lvl="0" marL="0" rtl="0" algn="l">
              <a:lnSpc>
                <a:spcPct val="150000"/>
              </a:lnSpc>
              <a:spcBef>
                <a:spcPts val="0"/>
              </a:spcBef>
              <a:spcAft>
                <a:spcPts val="0"/>
              </a:spcAft>
              <a:buNone/>
            </a:pPr>
            <a:r>
              <a:rPr i="1" lang="en" sz="1050">
                <a:solidFill>
                  <a:srgbClr val="FF0000"/>
                </a:solidFill>
                <a:highlight>
                  <a:srgbClr val="FFFFFF"/>
                </a:highlight>
                <a:latin typeface="Lora"/>
                <a:ea typeface="Lora"/>
                <a:cs typeface="Lora"/>
                <a:sym typeface="Lora"/>
              </a:rPr>
              <a:t>What we do in this course is not EDA. It is what comes after EDA</a:t>
            </a:r>
            <a:r>
              <a:rPr i="1" lang="en" sz="1000">
                <a:solidFill>
                  <a:srgbClr val="FF0000"/>
                </a:solidFill>
                <a:latin typeface="Lora"/>
                <a:ea typeface="Lora"/>
                <a:cs typeface="Lora"/>
                <a:sym typeface="Lora"/>
              </a:rPr>
              <a:t>.</a:t>
            </a:r>
            <a:endParaRPr i="1" sz="1200">
              <a:solidFill>
                <a:srgbClr val="FF0000"/>
              </a:solidFill>
              <a:latin typeface="Lora"/>
              <a:ea typeface="Lora"/>
              <a:cs typeface="Lora"/>
              <a:sym typeface="Lora"/>
            </a:endParaRPr>
          </a:p>
        </p:txBody>
      </p:sp>
      <p:pic>
        <p:nvPicPr>
          <p:cNvPr id="198" name="Google Shape;198;p33"/>
          <p:cNvPicPr preferRelativeResize="0"/>
          <p:nvPr/>
        </p:nvPicPr>
        <p:blipFill>
          <a:blip r:embed="rId3">
            <a:alphaModFix/>
          </a:blip>
          <a:stretch>
            <a:fillRect/>
          </a:stretch>
        </p:blipFill>
        <p:spPr>
          <a:xfrm>
            <a:off x="5232465" y="2647950"/>
            <a:ext cx="2893335" cy="1781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Exploratory Data Analysis (EDA)</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04" name="Google Shape;204;p34"/>
          <p:cNvSpPr txBox="1"/>
          <p:nvPr/>
        </p:nvSpPr>
        <p:spPr>
          <a:xfrm>
            <a:off x="486900" y="700975"/>
            <a:ext cx="78966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Every type of figure, fulfills a specific purpose!</a:t>
            </a:r>
            <a:endParaRPr sz="1200">
              <a:solidFill>
                <a:schemeClr val="dk1"/>
              </a:solidFill>
              <a:latin typeface="Lora"/>
              <a:ea typeface="Lora"/>
              <a:cs typeface="Lora"/>
              <a:sym typeface="Lora"/>
            </a:endParaRPr>
          </a:p>
        </p:txBody>
      </p:sp>
      <p:sp>
        <p:nvSpPr>
          <p:cNvPr id="205" name="Google Shape;205;p34"/>
          <p:cNvSpPr txBox="1"/>
          <p:nvPr/>
        </p:nvSpPr>
        <p:spPr>
          <a:xfrm>
            <a:off x="2111875" y="3979400"/>
            <a:ext cx="19944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Lora"/>
                <a:ea typeface="Lora"/>
                <a:cs typeface="Lora"/>
                <a:sym typeface="Lora"/>
              </a:rPr>
              <a:t>-&gt; visualise a distribution. </a:t>
            </a:r>
            <a:endParaRPr sz="1000">
              <a:solidFill>
                <a:schemeClr val="dk2"/>
              </a:solidFill>
              <a:latin typeface="Lora"/>
              <a:ea typeface="Lora"/>
              <a:cs typeface="Lora"/>
              <a:sym typeface="Lora"/>
            </a:endParaRPr>
          </a:p>
          <a:p>
            <a:pPr indent="0" lvl="0" marL="0" rtl="0" algn="l">
              <a:spcBef>
                <a:spcPts val="0"/>
              </a:spcBef>
              <a:spcAft>
                <a:spcPts val="0"/>
              </a:spcAft>
              <a:buNone/>
            </a:pPr>
            <a:r>
              <a:rPr lang="en" sz="1000">
                <a:solidFill>
                  <a:schemeClr val="dk2"/>
                </a:solidFill>
                <a:latin typeface="Lora"/>
                <a:ea typeface="Lora"/>
                <a:cs typeface="Lora"/>
                <a:sym typeface="Lora"/>
              </a:rPr>
              <a:t>Other ways: histogram; Cumulative </a:t>
            </a:r>
            <a:r>
              <a:rPr lang="en" sz="1000">
                <a:solidFill>
                  <a:schemeClr val="dk2"/>
                </a:solidFill>
                <a:latin typeface="Lora"/>
                <a:ea typeface="Lora"/>
                <a:cs typeface="Lora"/>
                <a:sym typeface="Lora"/>
              </a:rPr>
              <a:t>Distribution</a:t>
            </a:r>
            <a:r>
              <a:rPr lang="en" sz="1000">
                <a:solidFill>
                  <a:schemeClr val="dk2"/>
                </a:solidFill>
                <a:latin typeface="Lora"/>
                <a:ea typeface="Lora"/>
                <a:cs typeface="Lora"/>
                <a:sym typeface="Lora"/>
              </a:rPr>
              <a:t> Function (CDF), etc</a:t>
            </a:r>
            <a:endParaRPr sz="1000">
              <a:solidFill>
                <a:schemeClr val="dk2"/>
              </a:solidFill>
              <a:latin typeface="Lora"/>
              <a:ea typeface="Lora"/>
              <a:cs typeface="Lora"/>
              <a:sym typeface="Lora"/>
            </a:endParaRPr>
          </a:p>
        </p:txBody>
      </p:sp>
      <p:sp>
        <p:nvSpPr>
          <p:cNvPr id="206" name="Google Shape;206;p34"/>
          <p:cNvSpPr txBox="1"/>
          <p:nvPr/>
        </p:nvSpPr>
        <p:spPr>
          <a:xfrm>
            <a:off x="6614025" y="4017500"/>
            <a:ext cx="199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Lora"/>
                <a:ea typeface="Lora"/>
                <a:cs typeface="Lora"/>
                <a:sym typeface="Lora"/>
              </a:rPr>
              <a:t>-&gt; visualise correlation between two variables</a:t>
            </a:r>
            <a:endParaRPr sz="1000">
              <a:solidFill>
                <a:schemeClr val="dk2"/>
              </a:solidFill>
              <a:latin typeface="Lora"/>
              <a:ea typeface="Lora"/>
              <a:cs typeface="Lora"/>
              <a:sym typeface="Lora"/>
            </a:endParaRPr>
          </a:p>
        </p:txBody>
      </p:sp>
      <p:pic>
        <p:nvPicPr>
          <p:cNvPr id="207" name="Google Shape;207;p34"/>
          <p:cNvPicPr preferRelativeResize="0"/>
          <p:nvPr/>
        </p:nvPicPr>
        <p:blipFill>
          <a:blip r:embed="rId3">
            <a:alphaModFix/>
          </a:blip>
          <a:stretch>
            <a:fillRect/>
          </a:stretch>
        </p:blipFill>
        <p:spPr>
          <a:xfrm>
            <a:off x="381000" y="1255175"/>
            <a:ext cx="8193275" cy="2800425"/>
          </a:xfrm>
          <a:prstGeom prst="rect">
            <a:avLst/>
          </a:prstGeom>
          <a:noFill/>
          <a:ln>
            <a:noFill/>
          </a:ln>
        </p:spPr>
      </p:pic>
      <p:sp>
        <p:nvSpPr>
          <p:cNvPr id="208" name="Google Shape;208;p34"/>
          <p:cNvSpPr txBox="1"/>
          <p:nvPr/>
        </p:nvSpPr>
        <p:spPr>
          <a:xfrm>
            <a:off x="391025" y="4055600"/>
            <a:ext cx="165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Lora"/>
                <a:ea typeface="Lora"/>
                <a:cs typeface="Lora"/>
                <a:sym typeface="Lora"/>
              </a:rPr>
              <a:t>-&gt; visualise total count</a:t>
            </a:r>
            <a:endParaRPr sz="1000">
              <a:solidFill>
                <a:schemeClr val="dk2"/>
              </a:solidFill>
              <a:latin typeface="Lora"/>
              <a:ea typeface="Lora"/>
              <a:cs typeface="Lora"/>
              <a:sym typeface="Lora"/>
            </a:endParaRPr>
          </a:p>
        </p:txBody>
      </p:sp>
      <p:sp>
        <p:nvSpPr>
          <p:cNvPr id="209" name="Google Shape;209;p34"/>
          <p:cNvSpPr txBox="1"/>
          <p:nvPr/>
        </p:nvSpPr>
        <p:spPr>
          <a:xfrm>
            <a:off x="4499475" y="3992100"/>
            <a:ext cx="165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Lora"/>
                <a:ea typeface="Lora"/>
                <a:cs typeface="Lora"/>
                <a:sym typeface="Lora"/>
              </a:rPr>
              <a:t>-&gt; visualise change as a function of time</a:t>
            </a:r>
            <a:endParaRPr sz="1000">
              <a:solidFill>
                <a:schemeClr val="dk2"/>
              </a:solidFill>
              <a:latin typeface="Lora"/>
              <a:ea typeface="Lora"/>
              <a:cs typeface="Lora"/>
              <a:sym typeface="Lo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5"/>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6. Feature Engineering &amp; Selection</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15" name="Google Shape;215;p35"/>
          <p:cNvSpPr txBox="1"/>
          <p:nvPr/>
        </p:nvSpPr>
        <p:spPr>
          <a:xfrm>
            <a:off x="486900" y="700975"/>
            <a:ext cx="7896600" cy="203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While data cleaning gets our data into a usable state, feature engineering is where we can be creative and significantly boost model performance. It’s about making the patterns in the data more apparent to our algorithms.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Feature Engineering:</a:t>
            </a:r>
            <a:r>
              <a:rPr lang="en" sz="1200">
                <a:solidFill>
                  <a:schemeClr val="dk1"/>
                </a:solidFill>
                <a:latin typeface="Lora"/>
                <a:ea typeface="Lora"/>
                <a:cs typeface="Lora"/>
                <a:sym typeface="Lora"/>
              </a:rPr>
              <a:t> The art of creating </a:t>
            </a:r>
            <a:r>
              <a:rPr b="1" lang="en" sz="1200">
                <a:solidFill>
                  <a:schemeClr val="dk1"/>
                </a:solidFill>
                <a:latin typeface="Lora"/>
                <a:ea typeface="Lora"/>
                <a:cs typeface="Lora"/>
                <a:sym typeface="Lora"/>
              </a:rPr>
              <a:t>new features</a:t>
            </a:r>
            <a:r>
              <a:rPr lang="en" sz="1200">
                <a:solidFill>
                  <a:schemeClr val="dk1"/>
                </a:solidFill>
                <a:latin typeface="Lora"/>
                <a:ea typeface="Lora"/>
                <a:cs typeface="Lora"/>
                <a:sym typeface="Lora"/>
              </a:rPr>
              <a:t> from existing data using domain knowledge. The goal is to better represent the underlying problem to the predictive models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Feature Selection:</a:t>
            </a:r>
            <a:r>
              <a:rPr lang="en" sz="1200">
                <a:solidFill>
                  <a:schemeClr val="dk1"/>
                </a:solidFill>
                <a:latin typeface="Lora"/>
                <a:ea typeface="Lora"/>
                <a:cs typeface="Lora"/>
                <a:sym typeface="Lora"/>
              </a:rPr>
              <a:t> The science of selecting the </a:t>
            </a:r>
            <a:r>
              <a:rPr b="1" lang="en" sz="1200">
                <a:solidFill>
                  <a:schemeClr val="dk1"/>
                </a:solidFill>
                <a:latin typeface="Lora"/>
                <a:ea typeface="Lora"/>
                <a:cs typeface="Lora"/>
                <a:sym typeface="Lora"/>
              </a:rPr>
              <a:t>most relevant features</a:t>
            </a:r>
            <a:r>
              <a:rPr lang="en" sz="1200">
                <a:solidFill>
                  <a:schemeClr val="dk1"/>
                </a:solidFill>
                <a:latin typeface="Lora"/>
                <a:ea typeface="Lora"/>
                <a:cs typeface="Lora"/>
                <a:sym typeface="Lora"/>
              </a:rPr>
              <a:t> from the available set. The goal is to reduce noise and </a:t>
            </a:r>
            <a:r>
              <a:rPr b="1" lang="en" sz="1200">
                <a:solidFill>
                  <a:schemeClr val="dk1"/>
                </a:solidFill>
                <a:highlight>
                  <a:schemeClr val="lt1"/>
                </a:highlight>
                <a:latin typeface="Lora"/>
                <a:ea typeface="Lora"/>
                <a:cs typeface="Lora"/>
                <a:sym typeface="Lora"/>
              </a:rPr>
              <a:t>reduce computational cost</a:t>
            </a:r>
            <a:r>
              <a:rPr lang="en" sz="1200">
                <a:solidFill>
                  <a:schemeClr val="dk1"/>
                </a:solidFill>
                <a:latin typeface="Lora"/>
                <a:ea typeface="Lora"/>
                <a:cs typeface="Lora"/>
                <a:sym typeface="Lora"/>
              </a:rPr>
              <a:t>.</a:t>
            </a:r>
            <a:endParaRPr sz="1100">
              <a:solidFill>
                <a:schemeClr val="dk1"/>
              </a:solidFill>
            </a:endParaRPr>
          </a:p>
        </p:txBody>
      </p:sp>
      <p:pic>
        <p:nvPicPr>
          <p:cNvPr id="216" name="Google Shape;216;p35"/>
          <p:cNvPicPr preferRelativeResize="0"/>
          <p:nvPr/>
        </p:nvPicPr>
        <p:blipFill>
          <a:blip r:embed="rId3">
            <a:alphaModFix/>
          </a:blip>
          <a:stretch>
            <a:fillRect/>
          </a:stretch>
        </p:blipFill>
        <p:spPr>
          <a:xfrm>
            <a:off x="1260075" y="2885275"/>
            <a:ext cx="6322927" cy="1486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6. Feature Engineering &amp; Selection</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22" name="Google Shape;222;p36"/>
          <p:cNvSpPr txBox="1"/>
          <p:nvPr/>
        </p:nvSpPr>
        <p:spPr>
          <a:xfrm>
            <a:off x="612900" y="801425"/>
            <a:ext cx="7190400" cy="17703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a:t>
            </a:r>
            <a:r>
              <a:rPr lang="en" sz="1300">
                <a:solidFill>
                  <a:schemeClr val="dk1"/>
                </a:solidFill>
                <a:latin typeface="Courier New"/>
                <a:ea typeface="Courier New"/>
                <a:cs typeface="Courier New"/>
                <a:sym typeface="Courier New"/>
              </a:rPr>
              <a:t> Feature Engineering: Create a lagged temperature feature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    lag_period = 1</a:t>
            </a:r>
            <a:endParaRPr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    df_with_lag = clean_df.copy()</a:t>
            </a:r>
            <a:endParaRPr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    feature_name = f"t2m_celsius_lag{lag_period}"</a:t>
            </a:r>
            <a:endParaRPr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    df_with_lag[feature_name] = df_with_lag["t2m_celsius"].shift(lag_period)</a:t>
            </a:r>
            <a:endParaRPr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    df_with_lag = df_with_lag.dropna().reset_index(drop=True)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    feature_names = [feature_name]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rgbClr val="000000"/>
              </a:buClr>
              <a:buSzPts val="1100"/>
              <a:buFont typeface="Arial"/>
              <a:buNone/>
            </a:pPr>
            <a:r>
              <a:t/>
            </a:r>
            <a:endParaRPr sz="13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300">
              <a:solidFill>
                <a:srgbClr val="595959"/>
              </a:solidFill>
              <a:latin typeface="Courier New"/>
              <a:ea typeface="Courier New"/>
              <a:cs typeface="Courier New"/>
              <a:sym typeface="Courier New"/>
            </a:endParaRPr>
          </a:p>
        </p:txBody>
      </p:sp>
      <p:sp>
        <p:nvSpPr>
          <p:cNvPr id="223" name="Google Shape;223;p36"/>
          <p:cNvSpPr txBox="1"/>
          <p:nvPr/>
        </p:nvSpPr>
        <p:spPr>
          <a:xfrm>
            <a:off x="612900" y="270710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Lora"/>
                <a:ea typeface="Lora"/>
                <a:cs typeface="Lora"/>
                <a:sym typeface="Lora"/>
              </a:rPr>
              <a:t>See the full code </a:t>
            </a:r>
            <a:r>
              <a:rPr lang="en" sz="1200" u="sng">
                <a:solidFill>
                  <a:schemeClr val="hlink"/>
                </a:solidFill>
                <a:latin typeface="Lora"/>
                <a:ea typeface="Lora"/>
                <a:cs typeface="Lora"/>
                <a:sym typeface="Lora"/>
                <a:hlinkClick r:id="rId3"/>
              </a:rPr>
              <a:t>here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nvSpPr>
        <p:spPr>
          <a:xfrm>
            <a:off x="612900" y="243593"/>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latin typeface="Lora"/>
                <a:ea typeface="Lora"/>
                <a:cs typeface="Lora"/>
                <a:sym typeface="Lora"/>
              </a:rPr>
              <a:t>Model Development, Validation &amp; Hyperparameter Tuning</a:t>
            </a:r>
            <a:endParaRPr sz="2400">
              <a:latin typeface="Lora"/>
              <a:ea typeface="Lora"/>
              <a:cs typeface="Lora"/>
              <a:sym typeface="Lora"/>
            </a:endParaRPr>
          </a:p>
        </p:txBody>
      </p:sp>
      <p:sp>
        <p:nvSpPr>
          <p:cNvPr id="229" name="Google Shape;229;p37"/>
          <p:cNvSpPr txBox="1"/>
          <p:nvPr/>
        </p:nvSpPr>
        <p:spPr>
          <a:xfrm>
            <a:off x="536450" y="814725"/>
            <a:ext cx="7896600" cy="368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Model Development:</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The core phase of selecting or building the machine learning model.</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Choosing the right algorithm based on problem type (classification, regression, clustering, etc.), data characteristics, and project requirements.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Initial model training on the prepared data (using the training dataset)</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Hyperparameter Tuning:</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Optimizing model performance by adjusting hyperparameters that control the learning process.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Enhance the model's ability to generalize to unseen data.</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Validation Strategies:</a:t>
            </a:r>
            <a:endParaRPr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Train/Test Split:</a:t>
            </a:r>
            <a:r>
              <a:rPr lang="en" sz="1200">
                <a:solidFill>
                  <a:schemeClr val="dk1"/>
                </a:solidFill>
                <a:latin typeface="Lora"/>
                <a:ea typeface="Lora"/>
                <a:cs typeface="Lora"/>
                <a:sym typeface="Lora"/>
              </a:rPr>
              <a:t> Simplest. Split data (e.g., 80/20); train on one, evaluate on the other. Sensitive to split randomness.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Cross-Validation (k-Fold):</a:t>
            </a:r>
            <a:r>
              <a:rPr lang="en" sz="1200">
                <a:solidFill>
                  <a:schemeClr val="dk1"/>
                </a:solidFill>
                <a:latin typeface="Lora"/>
                <a:ea typeface="Lora"/>
                <a:cs typeface="Lora"/>
                <a:sym typeface="Lora"/>
              </a:rPr>
              <a:t> More robust. Split data into k folds; train on k-1, test on 1, rotate &amp; average results. Better data utilization.</a:t>
            </a:r>
            <a:endParaRPr sz="1200">
              <a:solidFill>
                <a:schemeClr val="dk1"/>
              </a:solidFill>
              <a:latin typeface="Lora"/>
              <a:ea typeface="Lora"/>
              <a:cs typeface="Lora"/>
              <a:sym typeface="Lor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nvSpPr>
        <p:spPr>
          <a:xfrm>
            <a:off x="612900" y="243593"/>
            <a:ext cx="81285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solidFill>
                  <a:schemeClr val="dk1"/>
                </a:solidFill>
                <a:latin typeface="Lora"/>
                <a:ea typeface="Lora"/>
                <a:cs typeface="Lora"/>
                <a:sym typeface="Lora"/>
              </a:rPr>
              <a:t>Model Development, Validation &amp; Hyperparameter Tuning</a:t>
            </a:r>
            <a:endParaRPr sz="2200">
              <a:solidFill>
                <a:schemeClr val="dk1"/>
              </a:solidFill>
              <a:latin typeface="Lora"/>
              <a:ea typeface="Lora"/>
              <a:cs typeface="Lora"/>
              <a:sym typeface="Lora"/>
            </a:endParaRPr>
          </a:p>
          <a:p>
            <a:pPr indent="0" lvl="0" marL="0" rtl="0" algn="l">
              <a:lnSpc>
                <a:spcPct val="100000"/>
              </a:lnSpc>
              <a:spcBef>
                <a:spcPts val="1200"/>
              </a:spcBef>
              <a:spcAft>
                <a:spcPts val="1200"/>
              </a:spcAft>
              <a:buClr>
                <a:schemeClr val="dk1"/>
              </a:buClr>
              <a:buSzPts val="1100"/>
              <a:buFont typeface="Arial"/>
              <a:buNone/>
            </a:pPr>
            <a:r>
              <a:rPr b="1" lang="en">
                <a:solidFill>
                  <a:schemeClr val="dk1"/>
                </a:solidFill>
                <a:latin typeface="Lora"/>
                <a:ea typeface="Lora"/>
                <a:cs typeface="Lora"/>
                <a:sym typeface="Lora"/>
              </a:rPr>
              <a:t>Hyperparameter Tuning</a:t>
            </a:r>
            <a:endParaRPr b="1" sz="2400">
              <a:solidFill>
                <a:schemeClr val="dk1"/>
              </a:solidFill>
              <a:latin typeface="Lora"/>
              <a:ea typeface="Lora"/>
              <a:cs typeface="Lora"/>
              <a:sym typeface="Lora"/>
            </a:endParaRPr>
          </a:p>
        </p:txBody>
      </p:sp>
      <p:pic>
        <p:nvPicPr>
          <p:cNvPr id="235" name="Google Shape;235;p38"/>
          <p:cNvPicPr preferRelativeResize="0"/>
          <p:nvPr/>
        </p:nvPicPr>
        <p:blipFill>
          <a:blip r:embed="rId3">
            <a:alphaModFix/>
          </a:blip>
          <a:stretch>
            <a:fillRect/>
          </a:stretch>
        </p:blipFill>
        <p:spPr>
          <a:xfrm>
            <a:off x="685800" y="1146300"/>
            <a:ext cx="4888049" cy="2792250"/>
          </a:xfrm>
          <a:prstGeom prst="rect">
            <a:avLst/>
          </a:prstGeom>
          <a:noFill/>
          <a:ln>
            <a:noFill/>
          </a:ln>
        </p:spPr>
      </p:pic>
      <p:sp>
        <p:nvSpPr>
          <p:cNvPr id="236" name="Google Shape;236;p38"/>
          <p:cNvSpPr txBox="1"/>
          <p:nvPr/>
        </p:nvSpPr>
        <p:spPr>
          <a:xfrm>
            <a:off x="5650625" y="1070100"/>
            <a:ext cx="2809500" cy="377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Grid Search</a:t>
            </a:r>
            <a:endParaRPr b="1" sz="1200">
              <a:solidFill>
                <a:schemeClr val="dk1"/>
              </a:solidFill>
              <a:latin typeface="Lora"/>
              <a:ea typeface="Lora"/>
              <a:cs typeface="Lora"/>
              <a:sym typeface="Lora"/>
            </a:endParaRPr>
          </a:p>
          <a:p>
            <a:pPr indent="-298450" lvl="0" marL="457200" rtl="0" algn="l">
              <a:lnSpc>
                <a:spcPct val="115000"/>
              </a:lnSpc>
              <a:spcBef>
                <a:spcPts val="1200"/>
              </a:spcBef>
              <a:spcAft>
                <a:spcPts val="0"/>
              </a:spcAft>
              <a:buClr>
                <a:schemeClr val="dk1"/>
              </a:buClr>
              <a:buSzPts val="1100"/>
              <a:buFont typeface="Lora"/>
              <a:buChar char="●"/>
            </a:pPr>
            <a:r>
              <a:rPr lang="en" sz="1100">
                <a:solidFill>
                  <a:schemeClr val="dk1"/>
                </a:solidFill>
                <a:latin typeface="Lora"/>
                <a:ea typeface="Lora"/>
                <a:cs typeface="Lora"/>
                <a:sym typeface="Lora"/>
              </a:rPr>
              <a:t>Exhaustively tries all combinations in the specified parameter grid.</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Pros:</a:t>
            </a:r>
            <a:r>
              <a:rPr lang="en" sz="1100">
                <a:solidFill>
                  <a:schemeClr val="dk1"/>
                </a:solidFill>
                <a:latin typeface="Lora"/>
                <a:ea typeface="Lora"/>
                <a:cs typeface="Lora"/>
                <a:sym typeface="Lora"/>
              </a:rPr>
              <a:t> Simple, guaranteed to find the best combination within the grid.</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Cons:</a:t>
            </a:r>
            <a:r>
              <a:rPr lang="en" sz="1100">
                <a:solidFill>
                  <a:schemeClr val="dk1"/>
                </a:solidFill>
                <a:latin typeface="Lora"/>
                <a:ea typeface="Lora"/>
                <a:cs typeface="Lora"/>
                <a:sym typeface="Lora"/>
              </a:rPr>
              <a:t> Computationally expensive for large search spaces.</a:t>
            </a:r>
            <a:endParaRPr sz="11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Random Search</a:t>
            </a:r>
            <a:endParaRPr b="1" sz="1200">
              <a:solidFill>
                <a:schemeClr val="dk1"/>
              </a:solidFill>
              <a:latin typeface="Lora"/>
              <a:ea typeface="Lora"/>
              <a:cs typeface="Lora"/>
              <a:sym typeface="Lora"/>
            </a:endParaRPr>
          </a:p>
          <a:p>
            <a:pPr indent="-298450" lvl="0" marL="457200" rtl="0" algn="l">
              <a:lnSpc>
                <a:spcPct val="115000"/>
              </a:lnSpc>
              <a:spcBef>
                <a:spcPts val="1200"/>
              </a:spcBef>
              <a:spcAft>
                <a:spcPts val="0"/>
              </a:spcAft>
              <a:buClr>
                <a:schemeClr val="dk1"/>
              </a:buClr>
              <a:buSzPts val="1100"/>
              <a:buFont typeface="Lora"/>
              <a:buChar char="●"/>
            </a:pPr>
            <a:r>
              <a:rPr lang="en" sz="1100">
                <a:solidFill>
                  <a:schemeClr val="dk1"/>
                </a:solidFill>
                <a:latin typeface="Lora"/>
                <a:ea typeface="Lora"/>
                <a:cs typeface="Lora"/>
                <a:sym typeface="Lora"/>
              </a:rPr>
              <a:t>Samples random combinations from the search space.</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Pros:</a:t>
            </a:r>
            <a:r>
              <a:rPr lang="en" sz="1100">
                <a:solidFill>
                  <a:schemeClr val="dk1"/>
                </a:solidFill>
                <a:latin typeface="Lora"/>
                <a:ea typeface="Lora"/>
                <a:cs typeface="Lora"/>
                <a:sym typeface="Lora"/>
              </a:rPr>
              <a:t> Faster for large search spaces.</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Cons:</a:t>
            </a:r>
            <a:r>
              <a:rPr lang="en" sz="1100">
                <a:solidFill>
                  <a:schemeClr val="dk1"/>
                </a:solidFill>
                <a:latin typeface="Lora"/>
                <a:ea typeface="Lora"/>
                <a:cs typeface="Lora"/>
                <a:sym typeface="Lora"/>
              </a:rPr>
              <a:t> Might miss the exact best parameters.</a:t>
            </a:r>
            <a:endParaRPr sz="1100">
              <a:solidFill>
                <a:schemeClr val="dk1"/>
              </a:solidFill>
              <a:latin typeface="Lora"/>
              <a:ea typeface="Lora"/>
              <a:cs typeface="Lora"/>
              <a:sym typeface="Lora"/>
            </a:endParaRPr>
          </a:p>
        </p:txBody>
      </p:sp>
      <p:sp>
        <p:nvSpPr>
          <p:cNvPr id="237" name="Google Shape;237;p38"/>
          <p:cNvSpPr txBox="1"/>
          <p:nvPr/>
        </p:nvSpPr>
        <p:spPr>
          <a:xfrm>
            <a:off x="685800" y="4192375"/>
            <a:ext cx="4888200" cy="54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i="1" lang="en" sz="1100">
                <a:solidFill>
                  <a:srgbClr val="DD1144"/>
                </a:solidFill>
                <a:highlight>
                  <a:srgbClr val="FFFFFF"/>
                </a:highlight>
                <a:latin typeface="Lora"/>
                <a:ea typeface="Lora"/>
                <a:cs typeface="Lora"/>
                <a:sym typeface="Lora"/>
              </a:rPr>
              <a:t>imagine it takes 1 hour to train a model and you have set </a:t>
            </a:r>
            <a:endParaRPr i="1" sz="1100">
              <a:solidFill>
                <a:srgbClr val="DD1144"/>
              </a:solidFill>
              <a:highlight>
                <a:srgbClr val="FFFFFF"/>
              </a:highlight>
              <a:latin typeface="Lora"/>
              <a:ea typeface="Lora"/>
              <a:cs typeface="Lora"/>
              <a:sym typeface="Lora"/>
            </a:endParaRPr>
          </a:p>
          <a:p>
            <a:pPr indent="0" lvl="0" marL="0" rtl="0" algn="just">
              <a:lnSpc>
                <a:spcPct val="115000"/>
              </a:lnSpc>
              <a:spcBef>
                <a:spcPts val="0"/>
              </a:spcBef>
              <a:spcAft>
                <a:spcPts val="0"/>
              </a:spcAft>
              <a:buNone/>
            </a:pPr>
            <a:r>
              <a:rPr i="1" lang="en" sz="1100">
                <a:solidFill>
                  <a:srgbClr val="DD1144"/>
                </a:solidFill>
                <a:highlight>
                  <a:srgbClr val="FFFFFF"/>
                </a:highlight>
                <a:latin typeface="Lora"/>
                <a:ea typeface="Lora"/>
                <a:cs typeface="Lora"/>
                <a:sym typeface="Lora"/>
              </a:rPr>
              <a:t>20 different hyperparameter configurations to run through your model.</a:t>
            </a:r>
            <a:endParaRPr i="1" sz="1100">
              <a:solidFill>
                <a:srgbClr val="DD1144"/>
              </a:solidFill>
              <a:latin typeface="Lora"/>
              <a:ea typeface="Lora"/>
              <a:cs typeface="Lora"/>
              <a:sym typeface="Lor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nvSpPr>
        <p:spPr>
          <a:xfrm>
            <a:off x="612900" y="243593"/>
            <a:ext cx="81285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solidFill>
                  <a:schemeClr val="dk1"/>
                </a:solidFill>
                <a:latin typeface="Lora"/>
                <a:ea typeface="Lora"/>
                <a:cs typeface="Lora"/>
                <a:sym typeface="Lora"/>
              </a:rPr>
              <a:t>Model Development, validation &amp; Hyperparameter Tuning</a:t>
            </a:r>
            <a:endParaRPr sz="2200">
              <a:solidFill>
                <a:schemeClr val="dk1"/>
              </a:solidFill>
              <a:latin typeface="Lora"/>
              <a:ea typeface="Lora"/>
              <a:cs typeface="Lora"/>
              <a:sym typeface="Lora"/>
            </a:endParaRPr>
          </a:p>
          <a:p>
            <a:pPr indent="0" lvl="0" marL="0" rtl="0" algn="l">
              <a:lnSpc>
                <a:spcPct val="100000"/>
              </a:lnSpc>
              <a:spcBef>
                <a:spcPts val="1200"/>
              </a:spcBef>
              <a:spcAft>
                <a:spcPts val="1200"/>
              </a:spcAft>
              <a:buClr>
                <a:schemeClr val="dk1"/>
              </a:buClr>
              <a:buSzPts val="1100"/>
              <a:buFont typeface="Arial"/>
              <a:buNone/>
            </a:pPr>
            <a:r>
              <a:rPr b="1" lang="en">
                <a:solidFill>
                  <a:schemeClr val="dk1"/>
                </a:solidFill>
                <a:latin typeface="Lora"/>
                <a:ea typeface="Lora"/>
                <a:cs typeface="Lora"/>
                <a:sym typeface="Lora"/>
              </a:rPr>
              <a:t>Hyperparameter Tuning</a:t>
            </a:r>
            <a:endParaRPr sz="2200">
              <a:solidFill>
                <a:schemeClr val="dk1"/>
              </a:solidFill>
              <a:latin typeface="Lora"/>
              <a:ea typeface="Lora"/>
              <a:cs typeface="Lora"/>
              <a:sym typeface="Lora"/>
            </a:endParaRPr>
          </a:p>
        </p:txBody>
      </p:sp>
      <p:sp>
        <p:nvSpPr>
          <p:cNvPr id="243" name="Google Shape;243;p39"/>
          <p:cNvSpPr txBox="1"/>
          <p:nvPr/>
        </p:nvSpPr>
        <p:spPr>
          <a:xfrm>
            <a:off x="4572000" y="1298700"/>
            <a:ext cx="3941400" cy="318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rgbClr val="404040"/>
                </a:solidFill>
                <a:highlight>
                  <a:srgbClr val="FFFFFF"/>
                </a:highlight>
                <a:latin typeface="Times New Roman"/>
                <a:ea typeface="Times New Roman"/>
                <a:cs typeface="Times New Roman"/>
                <a:sym typeface="Times New Roman"/>
              </a:rPr>
              <a:t>Bayesian optimization</a:t>
            </a:r>
            <a:endParaRPr b="1" sz="1200">
              <a:solidFill>
                <a:schemeClr val="dk1"/>
              </a:solidFill>
              <a:latin typeface="Lora"/>
              <a:ea typeface="Lora"/>
              <a:cs typeface="Lora"/>
              <a:sym typeface="Lora"/>
            </a:endParaRPr>
          </a:p>
          <a:p>
            <a:pPr indent="-292100" lvl="0" marL="457200" rtl="0" algn="just">
              <a:lnSpc>
                <a:spcPct val="115000"/>
              </a:lnSpc>
              <a:spcBef>
                <a:spcPts val="1200"/>
              </a:spcBef>
              <a:spcAft>
                <a:spcPts val="0"/>
              </a:spcAft>
              <a:buClr>
                <a:schemeClr val="dk1"/>
              </a:buClr>
              <a:buSzPts val="1000"/>
              <a:buFont typeface="Lora"/>
              <a:buChar char="●"/>
            </a:pPr>
            <a:r>
              <a:rPr lang="en" sz="1200">
                <a:solidFill>
                  <a:srgbClr val="404040"/>
                </a:solidFill>
                <a:highlight>
                  <a:srgbClr val="FFFFFF"/>
                </a:highlight>
                <a:latin typeface="Lora"/>
                <a:ea typeface="Lora"/>
                <a:cs typeface="Lora"/>
                <a:sym typeface="Lora"/>
              </a:rPr>
              <a:t>While iterating over different hyperparameter configurations, the Bayesian optimization algorithm constantly updates its beliefs about the distribution of hyperparameters by observing model performance corresponding to each hyperparameter. This allows it to take informed steps to select the next set of hyperparameters, gradually converging to an optimal set of hyperparameters.</a:t>
            </a:r>
            <a:endParaRPr sz="1200">
              <a:solidFill>
                <a:srgbClr val="404040"/>
              </a:solidFill>
              <a:highlight>
                <a:srgbClr val="FFFFFF"/>
              </a:highlight>
              <a:latin typeface="Lora"/>
              <a:ea typeface="Lora"/>
              <a:cs typeface="Lora"/>
              <a:sym typeface="Lora"/>
            </a:endParaRPr>
          </a:p>
          <a:p>
            <a:pPr indent="0" lvl="0" marL="0" rtl="0" algn="just">
              <a:lnSpc>
                <a:spcPct val="115000"/>
              </a:lnSpc>
              <a:spcBef>
                <a:spcPts val="1200"/>
              </a:spcBef>
              <a:spcAft>
                <a:spcPts val="0"/>
              </a:spcAft>
              <a:buNone/>
            </a:pPr>
            <a:r>
              <a:t/>
            </a:r>
            <a:endParaRPr sz="1200">
              <a:solidFill>
                <a:srgbClr val="404040"/>
              </a:solidFill>
              <a:highlight>
                <a:srgbClr val="FFFFFF"/>
              </a:highlight>
              <a:latin typeface="Lora"/>
              <a:ea typeface="Lora"/>
              <a:cs typeface="Lora"/>
              <a:sym typeface="Lora"/>
            </a:endParaRPr>
          </a:p>
          <a:p>
            <a:pPr indent="0" lvl="0" marL="0" rtl="0" algn="l">
              <a:lnSpc>
                <a:spcPct val="115000"/>
              </a:lnSpc>
              <a:spcBef>
                <a:spcPts val="1200"/>
              </a:spcBef>
              <a:spcAft>
                <a:spcPts val="0"/>
              </a:spcAft>
              <a:buNone/>
            </a:pPr>
            <a:r>
              <a:rPr lang="en" sz="1200">
                <a:solidFill>
                  <a:schemeClr val="dk1"/>
                </a:solidFill>
                <a:latin typeface="Lora"/>
                <a:ea typeface="Lora"/>
                <a:cs typeface="Lora"/>
                <a:sym typeface="Lora"/>
              </a:rPr>
              <a:t>See an example code </a:t>
            </a:r>
            <a:r>
              <a:rPr lang="en" sz="1200" u="sng">
                <a:solidFill>
                  <a:schemeClr val="hlink"/>
                </a:solidFill>
                <a:latin typeface="Lora"/>
                <a:ea typeface="Lora"/>
                <a:cs typeface="Lora"/>
                <a:sym typeface="Lora"/>
                <a:hlinkClick r:id="rId3"/>
              </a:rPr>
              <a:t>here</a:t>
            </a:r>
            <a:endParaRPr sz="1200">
              <a:solidFill>
                <a:srgbClr val="404040"/>
              </a:solidFill>
              <a:highlight>
                <a:srgbClr val="FFFFFF"/>
              </a:highlight>
              <a:latin typeface="Lora"/>
              <a:ea typeface="Lora"/>
              <a:cs typeface="Lora"/>
              <a:sym typeface="Lora"/>
            </a:endParaRPr>
          </a:p>
        </p:txBody>
      </p:sp>
      <p:pic>
        <p:nvPicPr>
          <p:cNvPr id="244" name="Google Shape;244;p39"/>
          <p:cNvPicPr preferRelativeResize="0"/>
          <p:nvPr/>
        </p:nvPicPr>
        <p:blipFill>
          <a:blip r:embed="rId4">
            <a:alphaModFix/>
          </a:blip>
          <a:stretch>
            <a:fillRect/>
          </a:stretch>
        </p:blipFill>
        <p:spPr>
          <a:xfrm>
            <a:off x="533400" y="1204675"/>
            <a:ext cx="3941300" cy="3253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nvSpPr>
        <p:spPr>
          <a:xfrm>
            <a:off x="612900" y="243593"/>
            <a:ext cx="81285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solidFill>
                  <a:schemeClr val="dk1"/>
                </a:solidFill>
                <a:latin typeface="Lora"/>
                <a:ea typeface="Lora"/>
                <a:cs typeface="Lora"/>
                <a:sym typeface="Lora"/>
              </a:rPr>
              <a:t>Model Development, Validation &amp; Hyperparameter Tuning</a:t>
            </a:r>
            <a:endParaRPr sz="2200">
              <a:solidFill>
                <a:schemeClr val="dk1"/>
              </a:solidFill>
              <a:latin typeface="Lora"/>
              <a:ea typeface="Lora"/>
              <a:cs typeface="Lora"/>
              <a:sym typeface="Lora"/>
            </a:endParaRPr>
          </a:p>
          <a:p>
            <a:pPr indent="0" lvl="0" marL="0" rtl="0" algn="l">
              <a:lnSpc>
                <a:spcPct val="100000"/>
              </a:lnSpc>
              <a:spcBef>
                <a:spcPts val="1200"/>
              </a:spcBef>
              <a:spcAft>
                <a:spcPts val="1200"/>
              </a:spcAft>
              <a:buNone/>
            </a:pPr>
            <a:r>
              <a:rPr b="1" lang="en">
                <a:solidFill>
                  <a:schemeClr val="dk1"/>
                </a:solidFill>
                <a:latin typeface="Lora"/>
                <a:ea typeface="Lora"/>
                <a:cs typeface="Lora"/>
                <a:sym typeface="Lora"/>
              </a:rPr>
              <a:t>Train/Test Split</a:t>
            </a:r>
            <a:endParaRPr sz="2400">
              <a:solidFill>
                <a:schemeClr val="dk1"/>
              </a:solidFill>
              <a:latin typeface="Lora"/>
              <a:ea typeface="Lora"/>
              <a:cs typeface="Lora"/>
              <a:sym typeface="Lora"/>
            </a:endParaRPr>
          </a:p>
        </p:txBody>
      </p:sp>
      <p:pic>
        <p:nvPicPr>
          <p:cNvPr id="250" name="Google Shape;250;p40"/>
          <p:cNvPicPr preferRelativeResize="0"/>
          <p:nvPr/>
        </p:nvPicPr>
        <p:blipFill rotWithShape="1">
          <a:blip r:embed="rId3">
            <a:alphaModFix/>
          </a:blip>
          <a:srcRect b="69072" l="0" r="0" t="0"/>
          <a:stretch/>
        </p:blipFill>
        <p:spPr>
          <a:xfrm>
            <a:off x="604850" y="1880925"/>
            <a:ext cx="4079525" cy="197050"/>
          </a:xfrm>
          <a:prstGeom prst="rect">
            <a:avLst/>
          </a:prstGeom>
          <a:noFill/>
          <a:ln>
            <a:noFill/>
          </a:ln>
        </p:spPr>
      </p:pic>
      <p:sp>
        <p:nvSpPr>
          <p:cNvPr id="251" name="Google Shape;251;p40"/>
          <p:cNvSpPr txBox="1"/>
          <p:nvPr/>
        </p:nvSpPr>
        <p:spPr>
          <a:xfrm>
            <a:off x="4800600" y="1196450"/>
            <a:ext cx="35361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i="1" lang="en" sz="1200">
                <a:solidFill>
                  <a:srgbClr val="FF0000"/>
                </a:solidFill>
                <a:latin typeface="Lora"/>
                <a:ea typeface="Lora"/>
                <a:cs typeface="Lora"/>
                <a:sym typeface="Lora"/>
              </a:rPr>
              <a:t>Performance estimates are highly dependent on the test set. An easy set can cause an unrealistically high evaluation, while a difficult one can lead to an unrealistically low view of the model's ability to generalize.</a:t>
            </a:r>
            <a:endParaRPr i="1" sz="1300">
              <a:solidFill>
                <a:srgbClr val="FF0000"/>
              </a:solidFill>
              <a:highlight>
                <a:srgbClr val="FFFFFF"/>
              </a:highlight>
              <a:latin typeface="Lora"/>
              <a:ea typeface="Lora"/>
              <a:cs typeface="Lora"/>
              <a:sym typeface="Lora"/>
            </a:endParaRPr>
          </a:p>
        </p:txBody>
      </p:sp>
      <p:pic>
        <p:nvPicPr>
          <p:cNvPr id="252" name="Google Shape;252;p40"/>
          <p:cNvPicPr preferRelativeResize="0"/>
          <p:nvPr/>
        </p:nvPicPr>
        <p:blipFill>
          <a:blip r:embed="rId4">
            <a:alphaModFix/>
          </a:blip>
          <a:stretch>
            <a:fillRect/>
          </a:stretch>
        </p:blipFill>
        <p:spPr>
          <a:xfrm>
            <a:off x="572925" y="1112243"/>
            <a:ext cx="4143375" cy="628650"/>
          </a:xfrm>
          <a:prstGeom prst="rect">
            <a:avLst/>
          </a:prstGeom>
          <a:noFill/>
          <a:ln>
            <a:noFill/>
          </a:ln>
        </p:spPr>
      </p:pic>
      <p:sp>
        <p:nvSpPr>
          <p:cNvPr id="253" name="Google Shape;253;p40"/>
          <p:cNvSpPr txBox="1"/>
          <p:nvPr/>
        </p:nvSpPr>
        <p:spPr>
          <a:xfrm>
            <a:off x="611800" y="2420825"/>
            <a:ext cx="7663200" cy="22614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00080"/>
                </a:solidFill>
                <a:highlight>
                  <a:schemeClr val="lt2"/>
                </a:highlight>
                <a:latin typeface="Roboto Mono"/>
                <a:ea typeface="Roboto Mono"/>
                <a:cs typeface="Roboto Mono"/>
                <a:sym typeface="Roboto Mono"/>
              </a:rPr>
              <a:t>from</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sklearn</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model_selection</a:t>
            </a:r>
            <a:r>
              <a:rPr lang="en" sz="1000">
                <a:highlight>
                  <a:schemeClr val="lt2"/>
                </a:highlight>
                <a:latin typeface="Roboto Mono"/>
                <a:ea typeface="Roboto Mono"/>
                <a:cs typeface="Roboto Mono"/>
                <a:sym typeface="Roboto Mono"/>
              </a:rPr>
              <a:t> </a:t>
            </a: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train_test_split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rPr b="1" lang="en" sz="1000">
                <a:solidFill>
                  <a:srgbClr val="700080"/>
                </a:solidFill>
                <a:highlight>
                  <a:schemeClr val="lt2"/>
                </a:highlight>
                <a:latin typeface="Roboto Mono"/>
                <a:ea typeface="Roboto Mono"/>
                <a:cs typeface="Roboto Mono"/>
                <a:sym typeface="Roboto Mono"/>
              </a:rPr>
              <a:t>from</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sklearn</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ensemble</a:t>
            </a:r>
            <a:r>
              <a:rPr lang="en" sz="1000">
                <a:highlight>
                  <a:schemeClr val="lt2"/>
                </a:highlight>
                <a:latin typeface="Roboto Mono"/>
                <a:ea typeface="Roboto Mono"/>
                <a:cs typeface="Roboto Mono"/>
                <a:sym typeface="Roboto Mono"/>
              </a:rPr>
              <a:t> </a:t>
            </a: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RandomForestClassifier</a:t>
            </a:r>
            <a:endParaRPr sz="1000">
              <a:highlight>
                <a:schemeClr val="lt2"/>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n" sz="1000">
                <a:solidFill>
                  <a:srgbClr val="700080"/>
                </a:solidFill>
                <a:highlight>
                  <a:schemeClr val="lt2"/>
                </a:highlight>
                <a:latin typeface="Roboto Mono"/>
                <a:ea typeface="Roboto Mono"/>
                <a:cs typeface="Roboto Mono"/>
                <a:sym typeface="Roboto Mono"/>
              </a:rPr>
              <a:t>from</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sklearn</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metrics</a:t>
            </a:r>
            <a:r>
              <a:rPr lang="en" sz="1000">
                <a:highlight>
                  <a:schemeClr val="lt2"/>
                </a:highlight>
                <a:latin typeface="Roboto Mono"/>
                <a:ea typeface="Roboto Mono"/>
                <a:cs typeface="Roboto Mono"/>
                <a:sym typeface="Roboto Mono"/>
              </a:rPr>
              <a:t> </a:t>
            </a: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accuracy_score</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rPr i="1" lang="en" sz="1000">
                <a:solidFill>
                  <a:srgbClr val="A05000"/>
                </a:solidFill>
                <a:highlight>
                  <a:schemeClr val="lt2"/>
                </a:highlight>
                <a:latin typeface="Roboto Mono"/>
                <a:ea typeface="Roboto Mono"/>
                <a:cs typeface="Roboto Mono"/>
                <a:sym typeface="Roboto Mono"/>
              </a:rPr>
              <a:t># split in train and test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rPr lang="en" sz="1000">
                <a:solidFill>
                  <a:srgbClr val="1AB1CD"/>
                </a:solidFill>
                <a:highlight>
                  <a:schemeClr val="lt2"/>
                </a:highlight>
                <a:latin typeface="Roboto Mono"/>
                <a:ea typeface="Roboto Mono"/>
                <a:cs typeface="Roboto Mono"/>
                <a:sym typeface="Roboto Mono"/>
              </a:rPr>
              <a:t>X_train</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X_test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y_train</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y_test</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train_test_split</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X</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y</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test_size</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0.2</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random_state</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0</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rPr lang="en" sz="1000">
                <a:solidFill>
                  <a:srgbClr val="1AB1CD"/>
                </a:solidFill>
                <a:highlight>
                  <a:schemeClr val="lt2"/>
                </a:highlight>
                <a:latin typeface="Roboto Mono"/>
                <a:ea typeface="Roboto Mono"/>
                <a:cs typeface="Roboto Mono"/>
                <a:sym typeface="Roboto Mono"/>
              </a:rPr>
              <a:t>clf</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RandomForestClassifier</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n_estimators</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2</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random_state</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0</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rPr lang="en" sz="1000">
                <a:solidFill>
                  <a:srgbClr val="1AB1CD"/>
                </a:solidFill>
                <a:highlight>
                  <a:schemeClr val="lt2"/>
                </a:highlight>
                <a:latin typeface="Roboto Mono"/>
                <a:ea typeface="Roboto Mono"/>
                <a:cs typeface="Roboto Mono"/>
                <a:sym typeface="Roboto Mono"/>
              </a:rPr>
              <a:t>clf</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fit</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X_train</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y_train</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rPr i="1" lang="en" sz="1000">
                <a:solidFill>
                  <a:srgbClr val="A05000"/>
                </a:solidFill>
                <a:highlight>
                  <a:schemeClr val="lt2"/>
                </a:highlight>
                <a:latin typeface="Roboto Mono"/>
                <a:ea typeface="Roboto Mono"/>
                <a:cs typeface="Roboto Mono"/>
                <a:sym typeface="Roboto Mono"/>
              </a:rPr>
              <a:t># test with unseen data</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rPr lang="en" sz="1000">
                <a:solidFill>
                  <a:srgbClr val="1AB1CD"/>
                </a:solidFill>
                <a:highlight>
                  <a:schemeClr val="lt2"/>
                </a:highlight>
                <a:latin typeface="Roboto Mono"/>
                <a:ea typeface="Roboto Mono"/>
                <a:cs typeface="Roboto Mono"/>
                <a:sym typeface="Roboto Mono"/>
              </a:rPr>
              <a:t>y_pred</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clf</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predict</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X_test</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rPr lang="en" sz="1000">
                <a:solidFill>
                  <a:srgbClr val="1AB1CD"/>
                </a:solidFill>
                <a:highlight>
                  <a:schemeClr val="lt2"/>
                </a:highlight>
                <a:latin typeface="Roboto Mono"/>
                <a:ea typeface="Roboto Mono"/>
                <a:cs typeface="Roboto Mono"/>
                <a:sym typeface="Roboto Mono"/>
              </a:rPr>
              <a:t>acc</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accuracy_score</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y_test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y_pred</a:t>
            </a:r>
            <a:r>
              <a:rPr lang="en" sz="1000">
                <a:highlight>
                  <a:schemeClr val="lt2"/>
                </a:highlight>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nvSpPr>
        <p:spPr>
          <a:xfrm>
            <a:off x="612900" y="243593"/>
            <a:ext cx="81285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solidFill>
                  <a:schemeClr val="dk1"/>
                </a:solidFill>
                <a:latin typeface="Lora"/>
                <a:ea typeface="Lora"/>
                <a:cs typeface="Lora"/>
                <a:sym typeface="Lora"/>
              </a:rPr>
              <a:t>Model Development, Validation &amp; Hyperparameter Tuning</a:t>
            </a:r>
            <a:endParaRPr sz="2200">
              <a:solidFill>
                <a:schemeClr val="dk1"/>
              </a:solidFill>
              <a:latin typeface="Lora"/>
              <a:ea typeface="Lora"/>
              <a:cs typeface="Lora"/>
              <a:sym typeface="Lora"/>
            </a:endParaRPr>
          </a:p>
          <a:p>
            <a:pPr indent="0" lvl="0" marL="0" rtl="0" algn="l">
              <a:lnSpc>
                <a:spcPct val="100000"/>
              </a:lnSpc>
              <a:spcBef>
                <a:spcPts val="1200"/>
              </a:spcBef>
              <a:spcAft>
                <a:spcPts val="1200"/>
              </a:spcAft>
              <a:buNone/>
            </a:pPr>
            <a:r>
              <a:rPr b="1" lang="en">
                <a:solidFill>
                  <a:schemeClr val="dk1"/>
                </a:solidFill>
                <a:latin typeface="Lora"/>
                <a:ea typeface="Lora"/>
                <a:cs typeface="Lora"/>
                <a:sym typeface="Lora"/>
              </a:rPr>
              <a:t>Cross-Validation (k-Fold)</a:t>
            </a:r>
            <a:endParaRPr sz="2400">
              <a:solidFill>
                <a:schemeClr val="dk1"/>
              </a:solidFill>
              <a:latin typeface="Lora"/>
              <a:ea typeface="Lora"/>
              <a:cs typeface="Lora"/>
              <a:sym typeface="Lora"/>
            </a:endParaRPr>
          </a:p>
        </p:txBody>
      </p:sp>
      <p:pic>
        <p:nvPicPr>
          <p:cNvPr id="259" name="Google Shape;259;p41"/>
          <p:cNvPicPr preferRelativeResize="0"/>
          <p:nvPr/>
        </p:nvPicPr>
        <p:blipFill rotWithShape="1">
          <a:blip r:embed="rId3">
            <a:alphaModFix/>
          </a:blip>
          <a:srcRect b="12002" l="0" r="0" t="0"/>
          <a:stretch/>
        </p:blipFill>
        <p:spPr>
          <a:xfrm>
            <a:off x="604850" y="1047750"/>
            <a:ext cx="4215675" cy="1692175"/>
          </a:xfrm>
          <a:prstGeom prst="rect">
            <a:avLst/>
          </a:prstGeom>
          <a:noFill/>
          <a:ln>
            <a:noFill/>
          </a:ln>
        </p:spPr>
      </p:pic>
      <p:sp>
        <p:nvSpPr>
          <p:cNvPr id="260" name="Google Shape;260;p41"/>
          <p:cNvSpPr txBox="1"/>
          <p:nvPr/>
        </p:nvSpPr>
        <p:spPr>
          <a:xfrm>
            <a:off x="4800600" y="1272650"/>
            <a:ext cx="35361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i="1" lang="en" sz="1200">
                <a:solidFill>
                  <a:srgbClr val="FF0000"/>
                </a:solidFill>
                <a:latin typeface="Lora"/>
                <a:ea typeface="Lora"/>
                <a:cs typeface="Lora"/>
                <a:sym typeface="Lora"/>
              </a:rPr>
              <a:t>This solves the problem of an unreliable performance metric, but it introduces another challenge: we're evaluating a model with arbitrary hyperparameters. What's the right way to find the best hyperparameters without letting that search process bias our final performance score?</a:t>
            </a:r>
            <a:endParaRPr i="1" sz="1300">
              <a:solidFill>
                <a:srgbClr val="FF0000"/>
              </a:solidFill>
              <a:highlight>
                <a:srgbClr val="FFFFFF"/>
              </a:highlight>
              <a:latin typeface="Lora"/>
              <a:ea typeface="Lora"/>
              <a:cs typeface="Lora"/>
              <a:sym typeface="Lora"/>
            </a:endParaRPr>
          </a:p>
        </p:txBody>
      </p:sp>
      <p:sp>
        <p:nvSpPr>
          <p:cNvPr id="261" name="Google Shape;261;p41"/>
          <p:cNvSpPr txBox="1"/>
          <p:nvPr/>
        </p:nvSpPr>
        <p:spPr>
          <a:xfrm>
            <a:off x="611800" y="2801825"/>
            <a:ext cx="7663200" cy="20103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rgbClr val="700080"/>
                </a:solidFill>
                <a:highlight>
                  <a:schemeClr val="lt2"/>
                </a:highlight>
                <a:latin typeface="Roboto Mono"/>
                <a:ea typeface="Roboto Mono"/>
                <a:cs typeface="Roboto Mono"/>
                <a:sym typeface="Roboto Mono"/>
              </a:rPr>
              <a:t>from</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sklearn</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model_selection</a:t>
            </a:r>
            <a:r>
              <a:rPr lang="en" sz="1000">
                <a:highlight>
                  <a:schemeClr val="lt2"/>
                </a:highlight>
                <a:latin typeface="Roboto Mono"/>
                <a:ea typeface="Roboto Mono"/>
                <a:cs typeface="Roboto Mono"/>
                <a:sym typeface="Roboto Mono"/>
              </a:rPr>
              <a:t> </a:t>
            </a: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cross_val_score</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KFold</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000">
                <a:solidFill>
                  <a:srgbClr val="700080"/>
                </a:solidFill>
                <a:highlight>
                  <a:schemeClr val="lt2"/>
                </a:highlight>
                <a:latin typeface="Roboto Mono"/>
                <a:ea typeface="Roboto Mono"/>
                <a:cs typeface="Roboto Mono"/>
                <a:sym typeface="Roboto Mono"/>
              </a:rPr>
              <a:t>from</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sklearn</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ensemble</a:t>
            </a:r>
            <a:r>
              <a:rPr lang="en" sz="1000">
                <a:highlight>
                  <a:schemeClr val="lt2"/>
                </a:highlight>
                <a:latin typeface="Roboto Mono"/>
                <a:ea typeface="Roboto Mono"/>
                <a:cs typeface="Roboto Mono"/>
                <a:sym typeface="Roboto Mono"/>
              </a:rPr>
              <a:t> </a:t>
            </a: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RandomForestClassifier</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clf</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RandomForestClassifier</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n_estimators</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2</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random_state</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0</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Set up the cross-validation strategy </a:t>
            </a:r>
            <a:r>
              <a:rPr lang="en" sz="1000">
                <a:solidFill>
                  <a:srgbClr val="000C8C"/>
                </a:solidFill>
                <a:highlight>
                  <a:schemeClr val="lt2"/>
                </a:highlight>
                <a:latin typeface="Roboto Mono"/>
                <a:ea typeface="Roboto Mono"/>
                <a:cs typeface="Roboto Mono"/>
                <a:sym typeface="Roboto Mono"/>
              </a:rPr>
              <a:t>shuffle=True</a:t>
            </a:r>
            <a:r>
              <a:rPr i="1" lang="en" sz="1000">
                <a:solidFill>
                  <a:srgbClr val="A05000"/>
                </a:solidFill>
                <a:highlight>
                  <a:schemeClr val="lt2"/>
                </a:highlight>
                <a:latin typeface="Roboto Mono"/>
                <a:ea typeface="Roboto Mono"/>
                <a:cs typeface="Roboto Mono"/>
                <a:sym typeface="Roboto Mono"/>
              </a:rPr>
              <a:t> is good practice to randomize the data</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cv</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KFold</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n_splits</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3</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shuffle</a:t>
            </a:r>
            <a:r>
              <a:rPr b="1" lang="en" sz="1000">
                <a:solidFill>
                  <a:srgbClr val="EE11FF"/>
                </a:solidFill>
                <a:highlight>
                  <a:schemeClr val="lt2"/>
                </a:highlight>
                <a:latin typeface="Roboto Mono"/>
                <a:ea typeface="Roboto Mono"/>
                <a:cs typeface="Roboto Mono"/>
                <a:sym typeface="Roboto Mono"/>
              </a:rPr>
              <a:t>=</a:t>
            </a:r>
            <a:r>
              <a:rPr b="1" lang="en" sz="1000">
                <a:solidFill>
                  <a:srgbClr val="700080"/>
                </a:solidFill>
                <a:highlight>
                  <a:schemeClr val="lt2"/>
                </a:highlight>
                <a:latin typeface="Roboto Mono"/>
                <a:ea typeface="Roboto Mono"/>
                <a:cs typeface="Roboto Mono"/>
                <a:sym typeface="Roboto Mono"/>
              </a:rPr>
              <a:t>True</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random_state</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0</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3. Perform cross-validation</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cross_val_score will handle the splitting, training, and testing for each of the 3 folds.</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It returns an array of scores.</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scores</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cross_val_score</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clf</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X</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y</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cv</a:t>
            </a:r>
            <a:r>
              <a:rPr b="1" lang="en" sz="1000">
                <a:solidFill>
                  <a:srgbClr val="EE11FF"/>
                </a:solidFill>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cv</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scoring</a:t>
            </a:r>
            <a:r>
              <a:rPr b="1" lang="en" sz="1000">
                <a:solidFill>
                  <a:srgbClr val="EE11FF"/>
                </a:solidFill>
                <a:highlight>
                  <a:schemeClr val="lt2"/>
                </a:highlight>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'accuracy'</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rgbClr val="000000"/>
              </a:buClr>
              <a:buSzPts val="1100"/>
              <a:buFont typeface="Arial"/>
              <a:buNone/>
            </a:pPr>
            <a:r>
              <a:t/>
            </a:r>
            <a:endParaRPr sz="1000">
              <a:solidFill>
                <a:schemeClr val="dk1"/>
              </a:solidFill>
              <a:highlight>
                <a:schemeClr val="lt2"/>
              </a:highlight>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595959"/>
              </a:solidFill>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nvSpPr>
        <p:spPr>
          <a:xfrm>
            <a:off x="612900" y="243593"/>
            <a:ext cx="8128500" cy="769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solidFill>
                  <a:schemeClr val="dk1"/>
                </a:solidFill>
                <a:latin typeface="Lora"/>
                <a:ea typeface="Lora"/>
                <a:cs typeface="Lora"/>
                <a:sym typeface="Lora"/>
              </a:rPr>
              <a:t>Model Development, Validation &amp; Hyperparameter Tuning</a:t>
            </a:r>
            <a:endParaRPr sz="2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a:solidFill>
                  <a:schemeClr val="dk1"/>
                </a:solidFill>
                <a:latin typeface="Lora"/>
                <a:ea typeface="Lora"/>
                <a:cs typeface="Lora"/>
                <a:sym typeface="Lora"/>
              </a:rPr>
              <a:t>Nested Cross-Validation</a:t>
            </a:r>
            <a:endParaRPr b="1" sz="2200">
              <a:solidFill>
                <a:schemeClr val="dk1"/>
              </a:solidFill>
              <a:latin typeface="Lora"/>
              <a:ea typeface="Lora"/>
              <a:cs typeface="Lora"/>
              <a:sym typeface="Lora"/>
            </a:endParaRPr>
          </a:p>
        </p:txBody>
      </p:sp>
      <p:sp>
        <p:nvSpPr>
          <p:cNvPr id="267" name="Google Shape;267;p42"/>
          <p:cNvSpPr txBox="1"/>
          <p:nvPr/>
        </p:nvSpPr>
        <p:spPr>
          <a:xfrm>
            <a:off x="609600" y="3984050"/>
            <a:ext cx="8284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highlight>
                  <a:srgbClr val="FFFFFF"/>
                </a:highlight>
                <a:latin typeface="Lora"/>
                <a:ea typeface="Lora"/>
                <a:cs typeface="Lora"/>
                <a:sym typeface="Lora"/>
              </a:rPr>
              <a:t>This is </a:t>
            </a:r>
            <a:r>
              <a:rPr lang="en" sz="1200">
                <a:solidFill>
                  <a:schemeClr val="dk1"/>
                </a:solidFill>
                <a:highlight>
                  <a:srgbClr val="FFFFFF"/>
                </a:highlight>
                <a:latin typeface="Lora"/>
                <a:ea typeface="Lora"/>
                <a:cs typeface="Lora"/>
                <a:sym typeface="Lora"/>
              </a:rPr>
              <a:t>a more accurate method for estimating the performance while also optimizing hyperparameters</a:t>
            </a:r>
            <a:endParaRPr sz="1200">
              <a:solidFill>
                <a:schemeClr val="dk1"/>
              </a:solidFill>
              <a:latin typeface="Lora"/>
              <a:ea typeface="Lora"/>
              <a:cs typeface="Lora"/>
              <a:sym typeface="Lora"/>
            </a:endParaRPr>
          </a:p>
        </p:txBody>
      </p:sp>
      <p:grpSp>
        <p:nvGrpSpPr>
          <p:cNvPr id="268" name="Google Shape;268;p42"/>
          <p:cNvGrpSpPr/>
          <p:nvPr/>
        </p:nvGrpSpPr>
        <p:grpSpPr>
          <a:xfrm>
            <a:off x="612900" y="1238668"/>
            <a:ext cx="7594286" cy="2666158"/>
            <a:chOff x="612900" y="1238668"/>
            <a:chExt cx="7594286" cy="2666158"/>
          </a:xfrm>
        </p:grpSpPr>
        <p:pic>
          <p:nvPicPr>
            <p:cNvPr id="269" name="Google Shape;269;p42"/>
            <p:cNvPicPr preferRelativeResize="0"/>
            <p:nvPr/>
          </p:nvPicPr>
          <p:blipFill>
            <a:blip r:embed="rId3">
              <a:alphaModFix/>
            </a:blip>
            <a:stretch>
              <a:fillRect/>
            </a:stretch>
          </p:blipFill>
          <p:spPr>
            <a:xfrm>
              <a:off x="612900" y="1238668"/>
              <a:ext cx="7594286" cy="2666158"/>
            </a:xfrm>
            <a:prstGeom prst="rect">
              <a:avLst/>
            </a:prstGeom>
            <a:noFill/>
            <a:ln>
              <a:noFill/>
            </a:ln>
          </p:spPr>
        </p:pic>
        <p:sp>
          <p:nvSpPr>
            <p:cNvPr id="270" name="Google Shape;270;p42"/>
            <p:cNvSpPr/>
            <p:nvPr/>
          </p:nvSpPr>
          <p:spPr>
            <a:xfrm>
              <a:off x="4606125" y="2060475"/>
              <a:ext cx="229500" cy="127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271" name="Google Shape;271;p42"/>
            <p:cNvSpPr/>
            <p:nvPr/>
          </p:nvSpPr>
          <p:spPr>
            <a:xfrm>
              <a:off x="4606125" y="3362552"/>
              <a:ext cx="229500" cy="308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nvSpPr>
        <p:spPr>
          <a:xfrm>
            <a:off x="612900" y="243593"/>
            <a:ext cx="8128500" cy="7326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solidFill>
                  <a:schemeClr val="dk1"/>
                </a:solidFill>
                <a:latin typeface="Lora"/>
                <a:ea typeface="Lora"/>
                <a:cs typeface="Lora"/>
                <a:sym typeface="Lora"/>
              </a:rPr>
              <a:t>Model Development, Validation &amp; Hyperparameter Tuning</a:t>
            </a:r>
            <a:endParaRPr sz="2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a:solidFill>
                  <a:schemeClr val="dk1"/>
                </a:solidFill>
                <a:latin typeface="Lora"/>
                <a:ea typeface="Lora"/>
                <a:cs typeface="Lora"/>
                <a:sym typeface="Lora"/>
              </a:rPr>
              <a:t>Nested Cross-Validation</a:t>
            </a:r>
            <a:endParaRPr sz="2200">
              <a:solidFill>
                <a:schemeClr val="dk1"/>
              </a:solidFill>
              <a:latin typeface="Lora"/>
              <a:ea typeface="Lora"/>
              <a:cs typeface="Lora"/>
              <a:sym typeface="Lora"/>
            </a:endParaRPr>
          </a:p>
        </p:txBody>
      </p:sp>
      <p:sp>
        <p:nvSpPr>
          <p:cNvPr id="277" name="Google Shape;277;p43"/>
          <p:cNvSpPr txBox="1"/>
          <p:nvPr/>
        </p:nvSpPr>
        <p:spPr>
          <a:xfrm>
            <a:off x="612900" y="1052400"/>
            <a:ext cx="8019900" cy="37680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1200"/>
              </a:spcBef>
              <a:spcAft>
                <a:spcPts val="0"/>
              </a:spcAft>
              <a:buClr>
                <a:schemeClr val="dk1"/>
              </a:buClr>
              <a:buSzPts val="1200"/>
              <a:buFont typeface="Lora"/>
              <a:buAutoNum type="arabicPeriod"/>
            </a:pPr>
            <a:r>
              <a:rPr b="1" lang="en" sz="1200">
                <a:solidFill>
                  <a:schemeClr val="dk1"/>
                </a:solidFill>
                <a:latin typeface="Lora"/>
                <a:ea typeface="Lora"/>
                <a:cs typeface="Lora"/>
                <a:sym typeface="Lora"/>
              </a:rPr>
              <a:t>Outer Loop (Model Evaluation):</a:t>
            </a:r>
            <a:endParaRPr b="1" sz="1200">
              <a:solidFill>
                <a:schemeClr val="dk1"/>
              </a:solidFill>
              <a:latin typeface="Lora"/>
              <a:ea typeface="Lora"/>
              <a:cs typeface="Lora"/>
              <a:sym typeface="Lora"/>
            </a:endParaRPr>
          </a:p>
          <a:p>
            <a:pPr indent="-304800" lvl="1" marL="914400" rtl="0" algn="just">
              <a:lnSpc>
                <a:spcPct val="115000"/>
              </a:lnSpc>
              <a:spcBef>
                <a:spcPts val="0"/>
              </a:spcBef>
              <a:spcAft>
                <a:spcPts val="0"/>
              </a:spcAft>
              <a:buClr>
                <a:schemeClr val="dk1"/>
              </a:buClr>
              <a:buSzPts val="1200"/>
              <a:buFont typeface="Lora"/>
              <a:buAutoNum type="alphaLcPeriod"/>
            </a:pPr>
            <a:r>
              <a:rPr lang="en" sz="1200">
                <a:solidFill>
                  <a:schemeClr val="dk1"/>
                </a:solidFill>
                <a:latin typeface="Lora"/>
                <a:ea typeface="Lora"/>
                <a:cs typeface="Lora"/>
                <a:sym typeface="Lora"/>
              </a:rPr>
              <a:t>The entire dataset is split into training and testing folds .</a:t>
            </a:r>
            <a:endParaRPr sz="1200">
              <a:solidFill>
                <a:schemeClr val="dk1"/>
              </a:solidFill>
              <a:latin typeface="Lora"/>
              <a:ea typeface="Lora"/>
              <a:cs typeface="Lora"/>
              <a:sym typeface="Lora"/>
            </a:endParaRPr>
          </a:p>
          <a:p>
            <a:pPr indent="-304800" lvl="1" marL="914400" rtl="0" algn="just">
              <a:lnSpc>
                <a:spcPct val="115000"/>
              </a:lnSpc>
              <a:spcBef>
                <a:spcPts val="0"/>
              </a:spcBef>
              <a:spcAft>
                <a:spcPts val="0"/>
              </a:spcAft>
              <a:buClr>
                <a:schemeClr val="dk1"/>
              </a:buClr>
              <a:buSzPts val="1200"/>
              <a:buAutoNum type="alphaLcPeriod"/>
            </a:pPr>
            <a:r>
              <a:rPr lang="en" sz="1200">
                <a:solidFill>
                  <a:schemeClr val="dk1"/>
                </a:solidFill>
                <a:latin typeface="Lora"/>
                <a:ea typeface="Lora"/>
                <a:cs typeface="Lora"/>
                <a:sym typeface="Lora"/>
              </a:rPr>
              <a:t>In each iteration, one fold is held back as the final test set. This set is </a:t>
            </a:r>
            <a:r>
              <a:rPr i="1" lang="en" sz="1200">
                <a:solidFill>
                  <a:schemeClr val="dk1"/>
                </a:solidFill>
                <a:latin typeface="Lora"/>
                <a:ea typeface="Lora"/>
                <a:cs typeface="Lora"/>
                <a:sym typeface="Lora"/>
              </a:rPr>
              <a:t>not touched</a:t>
            </a:r>
            <a:r>
              <a:rPr lang="en" sz="1200">
                <a:solidFill>
                  <a:schemeClr val="dk1"/>
                </a:solidFill>
                <a:latin typeface="Lora"/>
                <a:ea typeface="Lora"/>
                <a:cs typeface="Lora"/>
                <a:sym typeface="Lora"/>
              </a:rPr>
              <a:t> until the very end of the iteration.</a:t>
            </a:r>
            <a:endParaRPr sz="1200">
              <a:solidFill>
                <a:schemeClr val="dk1"/>
              </a:solidFill>
              <a:latin typeface="Lora"/>
              <a:ea typeface="Lora"/>
              <a:cs typeface="Lora"/>
              <a:sym typeface="Lora"/>
            </a:endParaRPr>
          </a:p>
          <a:p>
            <a:pPr indent="-304800" lvl="1" marL="914400" rtl="0" algn="just">
              <a:lnSpc>
                <a:spcPct val="115000"/>
              </a:lnSpc>
              <a:spcBef>
                <a:spcPts val="0"/>
              </a:spcBef>
              <a:spcAft>
                <a:spcPts val="0"/>
              </a:spcAft>
              <a:buClr>
                <a:schemeClr val="dk1"/>
              </a:buClr>
              <a:buSzPts val="1200"/>
              <a:buAutoNum type="alphaLcPeriod"/>
            </a:pPr>
            <a:r>
              <a:rPr lang="en" sz="1200">
                <a:solidFill>
                  <a:schemeClr val="dk1"/>
                </a:solidFill>
                <a:latin typeface="Lora"/>
                <a:ea typeface="Lora"/>
                <a:cs typeface="Lora"/>
                <a:sym typeface="Lora"/>
              </a:rPr>
              <a:t>The remaining folds are passed to the inner loop as the training set.</a:t>
            </a:r>
            <a:endParaRPr sz="1200">
              <a:solidFill>
                <a:schemeClr val="dk1"/>
              </a:solidFill>
              <a:latin typeface="Lora"/>
              <a:ea typeface="Lora"/>
              <a:cs typeface="Lora"/>
              <a:sym typeface="Lora"/>
            </a:endParaRPr>
          </a:p>
          <a:p>
            <a:pPr indent="-304800" lvl="0" marL="457200" rtl="0" algn="just">
              <a:lnSpc>
                <a:spcPct val="115000"/>
              </a:lnSpc>
              <a:spcBef>
                <a:spcPts val="0"/>
              </a:spcBef>
              <a:spcAft>
                <a:spcPts val="0"/>
              </a:spcAft>
              <a:buClr>
                <a:schemeClr val="dk1"/>
              </a:buClr>
              <a:buSzPts val="1200"/>
              <a:buFont typeface="Lora"/>
              <a:buAutoNum type="arabicPeriod"/>
            </a:pPr>
            <a:r>
              <a:rPr b="1" lang="en" sz="1200">
                <a:solidFill>
                  <a:schemeClr val="dk1"/>
                </a:solidFill>
                <a:latin typeface="Lora"/>
                <a:ea typeface="Lora"/>
                <a:cs typeface="Lora"/>
                <a:sym typeface="Lora"/>
              </a:rPr>
              <a:t>Inner Loop (Hyperparameter Tuning):</a:t>
            </a:r>
            <a:endParaRPr b="1" sz="1200">
              <a:solidFill>
                <a:schemeClr val="dk1"/>
              </a:solidFill>
              <a:latin typeface="Lora"/>
              <a:ea typeface="Lora"/>
              <a:cs typeface="Lora"/>
              <a:sym typeface="Lora"/>
            </a:endParaRPr>
          </a:p>
          <a:p>
            <a:pPr indent="-304800" lvl="1" marL="914400" rtl="0" algn="just">
              <a:lnSpc>
                <a:spcPct val="115000"/>
              </a:lnSpc>
              <a:spcBef>
                <a:spcPts val="0"/>
              </a:spcBef>
              <a:spcAft>
                <a:spcPts val="0"/>
              </a:spcAft>
              <a:buClr>
                <a:schemeClr val="dk1"/>
              </a:buClr>
              <a:buSzPts val="1200"/>
              <a:buFont typeface="Lora"/>
              <a:buAutoNum type="alphaLcPeriod"/>
            </a:pPr>
            <a:r>
              <a:rPr lang="en" sz="1200">
                <a:solidFill>
                  <a:schemeClr val="dk1"/>
                </a:solidFill>
                <a:latin typeface="Lora"/>
                <a:ea typeface="Lora"/>
                <a:cs typeface="Lora"/>
                <a:sym typeface="Lora"/>
              </a:rPr>
              <a:t>This loop works </a:t>
            </a:r>
            <a:r>
              <a:rPr i="1" lang="en" sz="1200">
                <a:solidFill>
                  <a:schemeClr val="dk1"/>
                </a:solidFill>
                <a:latin typeface="Lora"/>
                <a:ea typeface="Lora"/>
                <a:cs typeface="Lora"/>
                <a:sym typeface="Lora"/>
              </a:rPr>
              <a:t>only</a:t>
            </a:r>
            <a:r>
              <a:rPr lang="en" sz="1200">
                <a:solidFill>
                  <a:schemeClr val="dk1"/>
                </a:solidFill>
                <a:latin typeface="Lora"/>
                <a:ea typeface="Lora"/>
                <a:cs typeface="Lora"/>
                <a:sym typeface="Lora"/>
              </a:rPr>
              <a:t> with the training data provided by the outer loop.</a:t>
            </a:r>
            <a:endParaRPr sz="1200">
              <a:solidFill>
                <a:schemeClr val="dk1"/>
              </a:solidFill>
              <a:latin typeface="Lora"/>
              <a:ea typeface="Lora"/>
              <a:cs typeface="Lora"/>
              <a:sym typeface="Lora"/>
            </a:endParaRPr>
          </a:p>
          <a:p>
            <a:pPr indent="-304800" lvl="1" marL="914400" rtl="0" algn="just">
              <a:lnSpc>
                <a:spcPct val="115000"/>
              </a:lnSpc>
              <a:spcBef>
                <a:spcPts val="0"/>
              </a:spcBef>
              <a:spcAft>
                <a:spcPts val="0"/>
              </a:spcAft>
              <a:buSzPts val="1200"/>
              <a:buAutoNum type="alphaLcPeriod"/>
            </a:pPr>
            <a:r>
              <a:rPr lang="en" sz="1200">
                <a:solidFill>
                  <a:schemeClr val="dk1"/>
                </a:solidFill>
                <a:latin typeface="Lora"/>
                <a:ea typeface="Lora"/>
                <a:cs typeface="Lora"/>
                <a:sym typeface="Lora"/>
              </a:rPr>
              <a:t>It performs its own cross-validation (3-fold CV) on this subset of data to find the optimal hyperparameters.</a:t>
            </a:r>
            <a:endParaRPr sz="1200">
              <a:solidFill>
                <a:schemeClr val="dk1"/>
              </a:solidFill>
              <a:latin typeface="Lora"/>
              <a:ea typeface="Lora"/>
              <a:cs typeface="Lora"/>
              <a:sym typeface="Lora"/>
            </a:endParaRPr>
          </a:p>
          <a:p>
            <a:pPr indent="-304800" lvl="1" marL="914400" rtl="0" algn="just">
              <a:lnSpc>
                <a:spcPct val="115000"/>
              </a:lnSpc>
              <a:spcBef>
                <a:spcPts val="0"/>
              </a:spcBef>
              <a:spcAft>
                <a:spcPts val="0"/>
              </a:spcAft>
              <a:buClr>
                <a:schemeClr val="dk1"/>
              </a:buClr>
              <a:buSzPts val="1200"/>
              <a:buFont typeface="Lora"/>
              <a:buAutoNum type="alphaLcPeriod"/>
            </a:pPr>
            <a:r>
              <a:rPr lang="en" sz="1200">
                <a:solidFill>
                  <a:schemeClr val="dk1"/>
                </a:solidFill>
                <a:latin typeface="Lora"/>
                <a:ea typeface="Lora"/>
                <a:cs typeface="Lora"/>
                <a:sym typeface="Lora"/>
              </a:rPr>
              <a:t>The best hyperparameters are identified based on the average performance across the inner folds.</a:t>
            </a:r>
            <a:endParaRPr sz="1200">
              <a:solidFill>
                <a:schemeClr val="dk1"/>
              </a:solidFill>
              <a:latin typeface="Lora"/>
              <a:ea typeface="Lora"/>
              <a:cs typeface="Lora"/>
              <a:sym typeface="Lora"/>
            </a:endParaRPr>
          </a:p>
          <a:p>
            <a:pPr indent="-304800" lvl="0" marL="457200" rtl="0" algn="just">
              <a:lnSpc>
                <a:spcPct val="115000"/>
              </a:lnSpc>
              <a:spcBef>
                <a:spcPts val="0"/>
              </a:spcBef>
              <a:spcAft>
                <a:spcPts val="0"/>
              </a:spcAft>
              <a:buClr>
                <a:schemeClr val="dk1"/>
              </a:buClr>
              <a:buSzPts val="1200"/>
              <a:buFont typeface="Lora"/>
              <a:buAutoNum type="arabicPeriod"/>
            </a:pPr>
            <a:r>
              <a:rPr b="1" lang="en" sz="1200">
                <a:solidFill>
                  <a:schemeClr val="dk1"/>
                </a:solidFill>
                <a:latin typeface="Lora"/>
                <a:ea typeface="Lora"/>
                <a:cs typeface="Lora"/>
                <a:sym typeface="Lora"/>
              </a:rPr>
              <a:t>Final Evaluation:</a:t>
            </a:r>
            <a:endParaRPr b="1" sz="1200">
              <a:solidFill>
                <a:schemeClr val="dk1"/>
              </a:solidFill>
              <a:latin typeface="Lora"/>
              <a:ea typeface="Lora"/>
              <a:cs typeface="Lora"/>
              <a:sym typeface="Lora"/>
            </a:endParaRPr>
          </a:p>
          <a:p>
            <a:pPr indent="-304800" lvl="1" marL="914400" rtl="0" algn="just">
              <a:lnSpc>
                <a:spcPct val="115000"/>
              </a:lnSpc>
              <a:spcBef>
                <a:spcPts val="0"/>
              </a:spcBef>
              <a:spcAft>
                <a:spcPts val="0"/>
              </a:spcAft>
              <a:buClr>
                <a:schemeClr val="dk1"/>
              </a:buClr>
              <a:buSzPts val="1200"/>
              <a:buAutoNum type="alphaLcPeriod"/>
            </a:pPr>
            <a:r>
              <a:rPr lang="en" sz="1200">
                <a:solidFill>
                  <a:schemeClr val="dk1"/>
                </a:solidFill>
                <a:latin typeface="Lora"/>
                <a:ea typeface="Lora"/>
                <a:cs typeface="Lora"/>
                <a:sym typeface="Lora"/>
              </a:rPr>
              <a:t>The best hyperparameters found by the inner loop are used to train a new model on the </a:t>
            </a:r>
            <a:r>
              <a:rPr b="1" lang="en" sz="1200">
                <a:solidFill>
                  <a:schemeClr val="dk1"/>
                </a:solidFill>
                <a:latin typeface="Lora"/>
                <a:ea typeface="Lora"/>
                <a:cs typeface="Lora"/>
                <a:sym typeface="Lora"/>
              </a:rPr>
              <a:t>entire</a:t>
            </a:r>
            <a:r>
              <a:rPr lang="en" sz="1200">
                <a:solidFill>
                  <a:schemeClr val="dk1"/>
                </a:solidFill>
                <a:latin typeface="Lora"/>
                <a:ea typeface="Lora"/>
                <a:cs typeface="Lora"/>
                <a:sym typeface="Lora"/>
              </a:rPr>
              <a:t> training set from the outer loop.</a:t>
            </a:r>
            <a:endParaRPr sz="1200">
              <a:solidFill>
                <a:schemeClr val="dk1"/>
              </a:solidFill>
              <a:latin typeface="Lora"/>
              <a:ea typeface="Lora"/>
              <a:cs typeface="Lora"/>
              <a:sym typeface="Lora"/>
            </a:endParaRPr>
          </a:p>
          <a:p>
            <a:pPr indent="-304800" lvl="1" marL="914400" rtl="0" algn="just">
              <a:lnSpc>
                <a:spcPct val="115000"/>
              </a:lnSpc>
              <a:spcBef>
                <a:spcPts val="0"/>
              </a:spcBef>
              <a:spcAft>
                <a:spcPts val="0"/>
              </a:spcAft>
              <a:buClr>
                <a:schemeClr val="dk1"/>
              </a:buClr>
              <a:buSzPts val="1200"/>
              <a:buAutoNum type="alphaLcPeriod"/>
            </a:pPr>
            <a:r>
              <a:rPr lang="en" sz="1200">
                <a:solidFill>
                  <a:schemeClr val="dk1"/>
                </a:solidFill>
                <a:latin typeface="Lora"/>
                <a:ea typeface="Lora"/>
                <a:cs typeface="Lora"/>
                <a:sym typeface="Lora"/>
              </a:rPr>
              <a:t>This final model is then scored against the held-out </a:t>
            </a:r>
            <a:r>
              <a:rPr b="1" lang="en" sz="1200">
                <a:solidFill>
                  <a:schemeClr val="dk1"/>
                </a:solidFill>
                <a:latin typeface="Lora"/>
                <a:ea typeface="Lora"/>
                <a:cs typeface="Lora"/>
                <a:sym typeface="Lora"/>
              </a:rPr>
              <a:t>test set</a:t>
            </a:r>
            <a:r>
              <a:rPr lang="en" sz="1200">
                <a:solidFill>
                  <a:schemeClr val="dk1"/>
                </a:solidFill>
                <a:latin typeface="Lora"/>
                <a:ea typeface="Lora"/>
                <a:cs typeface="Lora"/>
                <a:sym typeface="Lora"/>
              </a:rPr>
              <a:t> from the outer loop.</a:t>
            </a:r>
            <a:endParaRPr sz="1200">
              <a:solidFill>
                <a:schemeClr val="dk1"/>
              </a:solidFill>
              <a:latin typeface="Lora"/>
              <a:ea typeface="Lora"/>
              <a:cs typeface="Lora"/>
              <a:sym typeface="Lora"/>
            </a:endParaRPr>
          </a:p>
          <a:p>
            <a:pPr indent="-304800" lvl="1" marL="914400" rtl="0" algn="just">
              <a:lnSpc>
                <a:spcPct val="115000"/>
              </a:lnSpc>
              <a:spcBef>
                <a:spcPts val="0"/>
              </a:spcBef>
              <a:spcAft>
                <a:spcPts val="0"/>
              </a:spcAft>
              <a:buClr>
                <a:schemeClr val="dk1"/>
              </a:buClr>
              <a:buSzPts val="1200"/>
              <a:buFont typeface="Lora"/>
              <a:buAutoNum type="alphaLcPeriod"/>
            </a:pPr>
            <a:r>
              <a:rPr lang="en" sz="1200">
                <a:solidFill>
                  <a:schemeClr val="dk1"/>
                </a:solidFill>
                <a:latin typeface="Lora"/>
                <a:ea typeface="Lora"/>
                <a:cs typeface="Lora"/>
                <a:sym typeface="Lora"/>
              </a:rPr>
              <a:t>This process is repeated for all folds of the outer loop, and the resulting scores are averaged to get a final performance estimate.</a:t>
            </a:r>
            <a:endParaRPr sz="1200">
              <a:solidFill>
                <a:schemeClr val="dk1"/>
              </a:solidFill>
              <a:latin typeface="Lora"/>
              <a:ea typeface="Lora"/>
              <a:cs typeface="Lora"/>
              <a:sym typeface="Lor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nvSpPr>
        <p:spPr>
          <a:xfrm>
            <a:off x="612900" y="243593"/>
            <a:ext cx="8128500" cy="7326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solidFill>
                  <a:schemeClr val="dk1"/>
                </a:solidFill>
                <a:latin typeface="Lora"/>
                <a:ea typeface="Lora"/>
                <a:cs typeface="Lora"/>
                <a:sym typeface="Lora"/>
              </a:rPr>
              <a:t>Model Development, Validation &amp; Hyperparameter Tuning</a:t>
            </a:r>
            <a:endParaRPr sz="2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a:solidFill>
                  <a:schemeClr val="dk1"/>
                </a:solidFill>
                <a:latin typeface="Lora"/>
                <a:ea typeface="Lora"/>
                <a:cs typeface="Lora"/>
                <a:sym typeface="Lora"/>
              </a:rPr>
              <a:t>Nested Cross-Validation</a:t>
            </a:r>
            <a:endParaRPr sz="2200">
              <a:solidFill>
                <a:schemeClr val="dk1"/>
              </a:solidFill>
              <a:latin typeface="Lora"/>
              <a:ea typeface="Lora"/>
              <a:cs typeface="Lora"/>
              <a:sym typeface="Lora"/>
            </a:endParaRPr>
          </a:p>
        </p:txBody>
      </p:sp>
      <p:pic>
        <p:nvPicPr>
          <p:cNvPr id="283" name="Google Shape;283;p44"/>
          <p:cNvPicPr preferRelativeResize="0"/>
          <p:nvPr/>
        </p:nvPicPr>
        <p:blipFill rotWithShape="1">
          <a:blip r:embed="rId3">
            <a:alphaModFix/>
          </a:blip>
          <a:srcRect b="0" l="0" r="0" t="9140"/>
          <a:stretch/>
        </p:blipFill>
        <p:spPr>
          <a:xfrm>
            <a:off x="1452175" y="1161100"/>
            <a:ext cx="5782199" cy="3753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5"/>
          <p:cNvSpPr txBox="1"/>
          <p:nvPr/>
        </p:nvSpPr>
        <p:spPr>
          <a:xfrm>
            <a:off x="612900" y="243593"/>
            <a:ext cx="8128500" cy="7326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7. </a:t>
            </a:r>
            <a:r>
              <a:rPr lang="en" sz="2200">
                <a:solidFill>
                  <a:schemeClr val="dk1"/>
                </a:solidFill>
                <a:latin typeface="Lora"/>
                <a:ea typeface="Lora"/>
                <a:cs typeface="Lora"/>
                <a:sym typeface="Lora"/>
              </a:rPr>
              <a:t>Model Development, Validation &amp; Hyperparameter Tuning</a:t>
            </a:r>
            <a:endParaRPr sz="2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a:solidFill>
                  <a:schemeClr val="dk1"/>
                </a:solidFill>
                <a:latin typeface="Lora"/>
                <a:ea typeface="Lora"/>
                <a:cs typeface="Lora"/>
                <a:sym typeface="Lora"/>
              </a:rPr>
              <a:t>Nested Cross-Validation</a:t>
            </a:r>
            <a:endParaRPr sz="2200">
              <a:solidFill>
                <a:schemeClr val="dk1"/>
              </a:solidFill>
              <a:latin typeface="Lora"/>
              <a:ea typeface="Lora"/>
              <a:cs typeface="Lora"/>
              <a:sym typeface="Lora"/>
            </a:endParaRPr>
          </a:p>
        </p:txBody>
      </p:sp>
      <p:sp>
        <p:nvSpPr>
          <p:cNvPr id="289" name="Google Shape;289;p45"/>
          <p:cNvSpPr txBox="1"/>
          <p:nvPr/>
        </p:nvSpPr>
        <p:spPr>
          <a:xfrm>
            <a:off x="611800" y="1105175"/>
            <a:ext cx="4024500" cy="36633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rgbClr val="700080"/>
                </a:solidFill>
                <a:highlight>
                  <a:schemeClr val="lt2"/>
                </a:highlight>
                <a:latin typeface="Roboto Mono"/>
                <a:ea typeface="Roboto Mono"/>
                <a:cs typeface="Roboto Mono"/>
                <a:sym typeface="Roboto Mono"/>
              </a:rPr>
              <a:t>from</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sklearn</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model_selection</a:t>
            </a:r>
            <a:r>
              <a:rPr lang="en" sz="1000">
                <a:highlight>
                  <a:schemeClr val="lt2"/>
                </a:highlight>
                <a:latin typeface="Roboto Mono"/>
                <a:ea typeface="Roboto Mono"/>
                <a:cs typeface="Roboto Mono"/>
                <a:sym typeface="Roboto Mono"/>
              </a:rPr>
              <a:t> </a:t>
            </a: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cross_val_score</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KFold</a:t>
            </a:r>
            <a:r>
              <a:rPr lang="en" sz="1000">
                <a:highlight>
                  <a:schemeClr val="lt2"/>
                </a:highlight>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GridSearchCV</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000">
                <a:solidFill>
                  <a:srgbClr val="700080"/>
                </a:solidFill>
                <a:highlight>
                  <a:schemeClr val="lt2"/>
                </a:highlight>
                <a:latin typeface="Roboto Mono"/>
                <a:ea typeface="Roboto Mono"/>
                <a:cs typeface="Roboto Mono"/>
                <a:sym typeface="Roboto Mono"/>
              </a:rPr>
              <a:t>from</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sklearn</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ensemble</a:t>
            </a:r>
            <a:r>
              <a:rPr lang="en" sz="1000">
                <a:highlight>
                  <a:schemeClr val="lt2"/>
                </a:highlight>
                <a:latin typeface="Roboto Mono"/>
                <a:ea typeface="Roboto Mono"/>
                <a:cs typeface="Roboto Mono"/>
                <a:sym typeface="Roboto Mono"/>
              </a:rPr>
              <a:t> </a:t>
            </a: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RandomForestClassifier</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clf</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RandomForestClassifier</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random_state</a:t>
            </a:r>
            <a:r>
              <a:rPr b="1" lang="en" sz="1000">
                <a:solidFill>
                  <a:srgbClr val="EE11FF"/>
                </a:solidFill>
                <a:highlight>
                  <a:schemeClr val="lt2"/>
                </a:highlight>
                <a:latin typeface="Roboto Mono"/>
                <a:ea typeface="Roboto Mono"/>
                <a:cs typeface="Roboto Mono"/>
                <a:sym typeface="Roboto Mono"/>
              </a:rPr>
              <a:t>=</a:t>
            </a:r>
            <a:r>
              <a:rPr lang="en" sz="1000">
                <a:solidFill>
                  <a:srgbClr val="106040"/>
                </a:solidFill>
                <a:highlight>
                  <a:schemeClr val="lt2"/>
                </a:highlight>
                <a:latin typeface="Roboto Mono"/>
                <a:ea typeface="Roboto Mono"/>
                <a:cs typeface="Roboto Mono"/>
                <a:sym typeface="Roboto Mono"/>
              </a:rPr>
              <a:t>0</a:t>
            </a:r>
            <a:r>
              <a:rPr lang="en" sz="1000">
                <a:highlight>
                  <a:schemeClr val="lt2"/>
                </a:highlight>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000">
                <a:solidFill>
                  <a:srgbClr val="A05000"/>
                </a:solidFill>
                <a:latin typeface="Roboto Mono"/>
                <a:ea typeface="Roboto Mono"/>
                <a:cs typeface="Roboto Mono"/>
                <a:sym typeface="Roboto Mono"/>
              </a:rPr>
              <a:t># Define the hyperparameter grid to search</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solidFill>
                  <a:srgbClr val="1AB1CD"/>
                </a:solidFill>
                <a:latin typeface="Roboto Mono"/>
                <a:ea typeface="Roboto Mono"/>
                <a:cs typeface="Roboto Mono"/>
                <a:sym typeface="Roboto Mono"/>
              </a:rPr>
              <a:t>p_grid</a:t>
            </a:r>
            <a:r>
              <a:rPr lang="en" sz="1000">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a:t>
            </a:r>
            <a:r>
              <a:rPr lang="en" sz="1000">
                <a:latin typeface="Roboto Mono"/>
                <a:ea typeface="Roboto Mono"/>
                <a:cs typeface="Roboto Mono"/>
                <a:sym typeface="Roboto Mono"/>
              </a:rPr>
              <a:t>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lang="en" sz="1000">
                <a:solidFill>
                  <a:srgbClr val="A01010"/>
                </a:solidFill>
                <a:latin typeface="Roboto Mono"/>
                <a:ea typeface="Roboto Mono"/>
                <a:cs typeface="Roboto Mono"/>
                <a:sym typeface="Roboto Mono"/>
              </a:rPr>
              <a:t>"n_estimators"</a:t>
            </a:r>
            <a:r>
              <a:rPr lang="en" sz="1000">
                <a:latin typeface="Roboto Mono"/>
                <a:ea typeface="Roboto Mono"/>
                <a:cs typeface="Roboto Mono"/>
                <a:sym typeface="Roboto Mono"/>
              </a:rPr>
              <a:t>: [</a:t>
            </a:r>
            <a:r>
              <a:rPr lang="en" sz="1000">
                <a:solidFill>
                  <a:srgbClr val="106040"/>
                </a:solidFill>
                <a:latin typeface="Roboto Mono"/>
                <a:ea typeface="Roboto Mono"/>
                <a:cs typeface="Roboto Mono"/>
                <a:sym typeface="Roboto Mono"/>
              </a:rPr>
              <a:t>10</a:t>
            </a:r>
            <a:r>
              <a:rPr lang="en" sz="1000">
                <a:latin typeface="Roboto Mono"/>
                <a:ea typeface="Roboto Mono"/>
                <a:cs typeface="Roboto Mono"/>
                <a:sym typeface="Roboto Mono"/>
              </a:rPr>
              <a:t>, </a:t>
            </a:r>
            <a:r>
              <a:rPr lang="en" sz="1000">
                <a:solidFill>
                  <a:srgbClr val="106040"/>
                </a:solidFill>
                <a:latin typeface="Roboto Mono"/>
                <a:ea typeface="Roboto Mono"/>
                <a:cs typeface="Roboto Mono"/>
                <a:sym typeface="Roboto Mono"/>
              </a:rPr>
              <a:t>50</a:t>
            </a:r>
            <a:r>
              <a:rPr lang="en" sz="1000">
                <a:latin typeface="Roboto Mono"/>
                <a:ea typeface="Roboto Mono"/>
                <a:cs typeface="Roboto Mono"/>
                <a:sym typeface="Roboto Mono"/>
              </a:rPr>
              <a:t>, </a:t>
            </a:r>
            <a:r>
              <a:rPr lang="en" sz="1000">
                <a:solidFill>
                  <a:srgbClr val="106040"/>
                </a:solidFill>
                <a:latin typeface="Roboto Mono"/>
                <a:ea typeface="Roboto Mono"/>
                <a:cs typeface="Roboto Mono"/>
                <a:sym typeface="Roboto Mono"/>
              </a:rPr>
              <a:t>100</a:t>
            </a:r>
            <a:r>
              <a:rPr lang="en" sz="1000">
                <a:latin typeface="Roboto Mono"/>
                <a:ea typeface="Roboto Mono"/>
                <a:cs typeface="Roboto Mono"/>
                <a:sym typeface="Roboto Mono"/>
              </a:rPr>
              <a:t>, </a:t>
            </a:r>
            <a:r>
              <a:rPr lang="en" sz="1000">
                <a:solidFill>
                  <a:srgbClr val="106040"/>
                </a:solidFill>
                <a:latin typeface="Roboto Mono"/>
                <a:ea typeface="Roboto Mono"/>
                <a:cs typeface="Roboto Mono"/>
                <a:sym typeface="Roboto Mono"/>
              </a:rPr>
              <a:t>200</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None/>
            </a:pPr>
            <a:r>
              <a:rPr i="1" lang="en" sz="1000">
                <a:solidFill>
                  <a:srgbClr val="A05000"/>
                </a:solidFill>
                <a:latin typeface="Roboto Mono"/>
                <a:ea typeface="Roboto Mono"/>
                <a:cs typeface="Roboto Mono"/>
                <a:sym typeface="Roboto Mono"/>
              </a:rPr>
              <a:t># Set up the cross-validation splitters for outer and inner loops</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None/>
            </a:pPr>
            <a:r>
              <a:rPr lang="en" sz="1000">
                <a:solidFill>
                  <a:srgbClr val="1AB1CD"/>
                </a:solidFill>
                <a:latin typeface="Roboto Mono"/>
                <a:ea typeface="Roboto Mono"/>
                <a:cs typeface="Roboto Mono"/>
                <a:sym typeface="Roboto Mono"/>
              </a:rPr>
              <a:t>outer_cv</a:t>
            </a:r>
            <a:r>
              <a:rPr lang="en" sz="1000">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KFold</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457200" lvl="0" marL="0" rtl="0" algn="l">
              <a:spcBef>
                <a:spcPts val="0"/>
              </a:spcBef>
              <a:spcAft>
                <a:spcPts val="0"/>
              </a:spcAft>
              <a:buNone/>
            </a:pPr>
            <a:r>
              <a:rPr lang="en" sz="1000">
                <a:solidFill>
                  <a:srgbClr val="1AB1CD"/>
                </a:solidFill>
                <a:latin typeface="Roboto Mono"/>
                <a:ea typeface="Roboto Mono"/>
                <a:cs typeface="Roboto Mono"/>
                <a:sym typeface="Roboto Mono"/>
              </a:rPr>
              <a:t>n_splits</a:t>
            </a:r>
            <a:r>
              <a:rPr b="1" lang="en" sz="1000">
                <a:solidFill>
                  <a:srgbClr val="EE11FF"/>
                </a:solidFill>
                <a:latin typeface="Roboto Mono"/>
                <a:ea typeface="Roboto Mono"/>
                <a:cs typeface="Roboto Mono"/>
                <a:sym typeface="Roboto Mono"/>
              </a:rPr>
              <a:t>=</a:t>
            </a:r>
            <a:r>
              <a:rPr lang="en" sz="1000">
                <a:solidFill>
                  <a:srgbClr val="106040"/>
                </a:solidFill>
                <a:latin typeface="Roboto Mono"/>
                <a:ea typeface="Roboto Mono"/>
                <a:cs typeface="Roboto Mono"/>
                <a:sym typeface="Roboto Mono"/>
              </a:rPr>
              <a:t>5</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shuffle</a:t>
            </a:r>
            <a:r>
              <a:rPr b="1" lang="en" sz="1000">
                <a:solidFill>
                  <a:srgbClr val="EE11FF"/>
                </a:solidFill>
                <a:latin typeface="Roboto Mono"/>
                <a:ea typeface="Roboto Mono"/>
                <a:cs typeface="Roboto Mono"/>
                <a:sym typeface="Roboto Mono"/>
              </a:rPr>
              <a:t>=</a:t>
            </a:r>
            <a:r>
              <a:rPr b="1" lang="en" sz="1000">
                <a:solidFill>
                  <a:srgbClr val="700080"/>
                </a:solidFill>
                <a:latin typeface="Roboto Mono"/>
                <a:ea typeface="Roboto Mono"/>
                <a:cs typeface="Roboto Mono"/>
                <a:sym typeface="Roboto Mono"/>
              </a:rPr>
              <a:t>True</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random_state</a:t>
            </a:r>
            <a:r>
              <a:rPr b="1" lang="en" sz="1000">
                <a:solidFill>
                  <a:srgbClr val="EE11FF"/>
                </a:solidFill>
                <a:latin typeface="Roboto Mono"/>
                <a:ea typeface="Roboto Mono"/>
                <a:cs typeface="Roboto Mono"/>
                <a:sym typeface="Roboto Mono"/>
              </a:rPr>
              <a:t>=</a:t>
            </a:r>
            <a:r>
              <a:rPr lang="en" sz="1000">
                <a:solidFill>
                  <a:srgbClr val="106040"/>
                </a:solidFill>
                <a:latin typeface="Roboto Mono"/>
                <a:ea typeface="Roboto Mono"/>
                <a:cs typeface="Roboto Mono"/>
                <a:sym typeface="Roboto Mono"/>
              </a:rPr>
              <a:t>1</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None/>
            </a:pPr>
            <a:r>
              <a:rPr lang="en" sz="1000">
                <a:solidFill>
                  <a:srgbClr val="1AB1CD"/>
                </a:solidFill>
                <a:latin typeface="Roboto Mono"/>
                <a:ea typeface="Roboto Mono"/>
                <a:cs typeface="Roboto Mono"/>
                <a:sym typeface="Roboto Mono"/>
              </a:rPr>
              <a:t>inner_cv</a:t>
            </a:r>
            <a:r>
              <a:rPr lang="en" sz="1000">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KFold</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457200" lvl="0" marL="0" rtl="0" algn="l">
              <a:spcBef>
                <a:spcPts val="0"/>
              </a:spcBef>
              <a:spcAft>
                <a:spcPts val="0"/>
              </a:spcAft>
              <a:buNone/>
            </a:pPr>
            <a:r>
              <a:rPr lang="en" sz="1000">
                <a:solidFill>
                  <a:srgbClr val="1AB1CD"/>
                </a:solidFill>
                <a:latin typeface="Roboto Mono"/>
                <a:ea typeface="Roboto Mono"/>
                <a:cs typeface="Roboto Mono"/>
                <a:sym typeface="Roboto Mono"/>
              </a:rPr>
              <a:t>n_splits</a:t>
            </a:r>
            <a:r>
              <a:rPr b="1" lang="en" sz="1000">
                <a:solidFill>
                  <a:srgbClr val="EE11FF"/>
                </a:solidFill>
                <a:latin typeface="Roboto Mono"/>
                <a:ea typeface="Roboto Mono"/>
                <a:cs typeface="Roboto Mono"/>
                <a:sym typeface="Roboto Mono"/>
              </a:rPr>
              <a:t>=</a:t>
            </a:r>
            <a:r>
              <a:rPr lang="en" sz="1000">
                <a:solidFill>
                  <a:srgbClr val="106040"/>
                </a:solidFill>
                <a:latin typeface="Roboto Mono"/>
                <a:ea typeface="Roboto Mono"/>
                <a:cs typeface="Roboto Mono"/>
                <a:sym typeface="Roboto Mono"/>
              </a:rPr>
              <a:t>3</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shuffle</a:t>
            </a:r>
            <a:r>
              <a:rPr b="1" lang="en" sz="1000">
                <a:solidFill>
                  <a:srgbClr val="EE11FF"/>
                </a:solidFill>
                <a:latin typeface="Roboto Mono"/>
                <a:ea typeface="Roboto Mono"/>
                <a:cs typeface="Roboto Mono"/>
                <a:sym typeface="Roboto Mono"/>
              </a:rPr>
              <a:t>=</a:t>
            </a:r>
            <a:r>
              <a:rPr b="1" lang="en" sz="1000">
                <a:solidFill>
                  <a:srgbClr val="700080"/>
                </a:solidFill>
                <a:latin typeface="Roboto Mono"/>
                <a:ea typeface="Roboto Mono"/>
                <a:cs typeface="Roboto Mono"/>
                <a:sym typeface="Roboto Mono"/>
              </a:rPr>
              <a:t>True</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random_state</a:t>
            </a:r>
            <a:r>
              <a:rPr b="1" lang="en" sz="1000">
                <a:solidFill>
                  <a:srgbClr val="EE11FF"/>
                </a:solidFill>
                <a:latin typeface="Roboto Mono"/>
                <a:ea typeface="Roboto Mono"/>
                <a:cs typeface="Roboto Mono"/>
                <a:sym typeface="Roboto Mono"/>
              </a:rPr>
              <a:t>=</a:t>
            </a:r>
            <a:r>
              <a:rPr lang="en" sz="1000">
                <a:solidFill>
                  <a:srgbClr val="106040"/>
                </a:solidFill>
                <a:latin typeface="Roboto Mono"/>
                <a:ea typeface="Roboto Mono"/>
                <a:cs typeface="Roboto Mono"/>
                <a:sym typeface="Roboto Mono"/>
              </a:rPr>
              <a:t>2</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a:t>
            </a:r>
            <a:endParaRPr sz="700">
              <a:latin typeface="Roboto Mono"/>
              <a:ea typeface="Roboto Mono"/>
              <a:cs typeface="Roboto Mono"/>
              <a:sym typeface="Roboto Mono"/>
            </a:endParaRPr>
          </a:p>
        </p:txBody>
      </p:sp>
      <p:sp>
        <p:nvSpPr>
          <p:cNvPr id="290" name="Google Shape;290;p45"/>
          <p:cNvSpPr txBox="1"/>
          <p:nvPr/>
        </p:nvSpPr>
        <p:spPr>
          <a:xfrm>
            <a:off x="4802800" y="1105175"/>
            <a:ext cx="3960300" cy="37128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000">
                <a:solidFill>
                  <a:srgbClr val="A05000"/>
                </a:solidFill>
                <a:latin typeface="Roboto Mono"/>
                <a:ea typeface="Roboto Mono"/>
                <a:cs typeface="Roboto Mono"/>
                <a:sym typeface="Roboto Mono"/>
              </a:rPr>
              <a:t># Set up the inner loop: Grid Search for hyperparameter tuning</a:t>
            </a:r>
            <a:endParaRPr sz="1000">
              <a:latin typeface="Roboto Mono"/>
              <a:ea typeface="Roboto Mono"/>
              <a:cs typeface="Roboto Mono"/>
              <a:sym typeface="Roboto Mono"/>
            </a:endParaRPr>
          </a:p>
          <a:p>
            <a:pPr indent="0" lvl="0" marL="0" rtl="0" algn="l">
              <a:spcBef>
                <a:spcPts val="0"/>
              </a:spcBef>
              <a:spcAft>
                <a:spcPts val="0"/>
              </a:spcAft>
              <a:buNone/>
            </a:pPr>
            <a:r>
              <a:rPr lang="en" sz="1000">
                <a:solidFill>
                  <a:srgbClr val="1AB1CD"/>
                </a:solidFill>
                <a:latin typeface="Roboto Mono"/>
                <a:ea typeface="Roboto Mono"/>
                <a:cs typeface="Roboto Mono"/>
                <a:sym typeface="Roboto Mono"/>
              </a:rPr>
              <a:t>grid_search</a:t>
            </a:r>
            <a:r>
              <a:rPr lang="en" sz="1000">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GridSearchCV</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estimator</a:t>
            </a:r>
            <a:r>
              <a:rPr b="1" lang="en" sz="1000">
                <a:solidFill>
                  <a:srgbClr val="EE11FF"/>
                </a:solidFill>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clf</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param_grid</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p_grid</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cv</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inner_cv</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scoring</a:t>
            </a:r>
            <a:r>
              <a:rPr b="1" lang="en" sz="1000">
                <a:solidFill>
                  <a:srgbClr val="EE11FF"/>
                </a:solidFill>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'accuracy'</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None/>
            </a:pPr>
            <a:r>
              <a:rPr i="1" lang="en" sz="1000">
                <a:solidFill>
                  <a:srgbClr val="A05000"/>
                </a:solidFill>
                <a:latin typeface="Roboto Mono"/>
                <a:ea typeface="Roboto Mono"/>
                <a:cs typeface="Roboto Mono"/>
                <a:sym typeface="Roboto Mono"/>
              </a:rPr>
              <a:t># Perform the nested cross-validation. We pass the GridSearchCV object as the estimator to cross_val_score.</a:t>
            </a:r>
            <a:endParaRPr sz="1000">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None/>
            </a:pPr>
            <a:r>
              <a:rPr lang="en" sz="1000">
                <a:solidFill>
                  <a:srgbClr val="1AB1CD"/>
                </a:solidFill>
                <a:latin typeface="Roboto Mono"/>
                <a:ea typeface="Roboto Mono"/>
                <a:cs typeface="Roboto Mono"/>
                <a:sym typeface="Roboto Mono"/>
              </a:rPr>
              <a:t>nested_scores</a:t>
            </a:r>
            <a:r>
              <a:rPr lang="en" sz="1000">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cross_val_score</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estimator</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grid_search</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X</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X</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y</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y</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cv</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outer_cv</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scoring</a:t>
            </a:r>
            <a:r>
              <a:rPr b="1" lang="en" sz="1000">
                <a:solidFill>
                  <a:srgbClr val="EE11FF"/>
                </a:solidFill>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'accuracy'</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6"/>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 Deployment &amp; Serving</a:t>
            </a:r>
            <a:endParaRPr sz="2400">
              <a:latin typeface="Lora"/>
              <a:ea typeface="Lora"/>
              <a:cs typeface="Lora"/>
              <a:sym typeface="Lora"/>
            </a:endParaRPr>
          </a:p>
        </p:txBody>
      </p:sp>
      <p:sp>
        <p:nvSpPr>
          <p:cNvPr id="296" name="Google Shape;296;p46"/>
          <p:cNvSpPr txBox="1"/>
          <p:nvPr/>
        </p:nvSpPr>
        <p:spPr>
          <a:xfrm>
            <a:off x="486900" y="700975"/>
            <a:ext cx="7878000" cy="37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Deployment &amp; Serving</a:t>
            </a:r>
            <a:r>
              <a:rPr lang="en" sz="1200">
                <a:solidFill>
                  <a:schemeClr val="dk1"/>
                </a:solidFill>
                <a:latin typeface="Lora"/>
                <a:ea typeface="Lora"/>
                <a:cs typeface="Lora"/>
                <a:sym typeface="Lora"/>
              </a:rPr>
              <a:t> refers to the phase where a trained model is </a:t>
            </a:r>
            <a:r>
              <a:rPr b="1" lang="en" sz="1200">
                <a:solidFill>
                  <a:schemeClr val="dk1"/>
                </a:solidFill>
                <a:latin typeface="Lora"/>
                <a:ea typeface="Lora"/>
                <a:cs typeface="Lora"/>
                <a:sym typeface="Lora"/>
              </a:rPr>
              <a:t>made available for use in real-world applications</a:t>
            </a:r>
            <a:r>
              <a:rPr lang="en" sz="1200">
                <a:solidFill>
                  <a:schemeClr val="dk1"/>
                </a:solidFill>
                <a:latin typeface="Lora"/>
                <a:ea typeface="Lora"/>
                <a:cs typeface="Lora"/>
                <a:sym typeface="Lora"/>
              </a:rPr>
              <a:t>, so it can receive inputs and return predictions.</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Lora"/>
                <a:ea typeface="Lora"/>
                <a:cs typeface="Lora"/>
                <a:sym typeface="Lora"/>
              </a:rPr>
              <a:t>Deployment</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Lora"/>
                <a:ea typeface="Lora"/>
                <a:cs typeface="Lora"/>
                <a:sym typeface="Lora"/>
              </a:rPr>
              <a:t>The process of integrating the trained model into a </a:t>
            </a:r>
            <a:r>
              <a:rPr b="1" lang="en" sz="1200">
                <a:solidFill>
                  <a:schemeClr val="dk1"/>
                </a:solidFill>
                <a:latin typeface="Lora"/>
                <a:ea typeface="Lora"/>
                <a:cs typeface="Lora"/>
                <a:sym typeface="Lora"/>
              </a:rPr>
              <a:t>production environment</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This could mean:</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Embedding it into a web or mobile app</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Exposing it via an API</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Running it as part of a batch processing pipeline</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Lora"/>
                <a:ea typeface="Lora"/>
                <a:cs typeface="Lora"/>
                <a:sym typeface="Lora"/>
              </a:rPr>
              <a:t>Serving</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Lora"/>
                <a:ea typeface="Lora"/>
                <a:cs typeface="Lora"/>
                <a:sym typeface="Lora"/>
              </a:rPr>
              <a:t>The act of </a:t>
            </a:r>
            <a:r>
              <a:rPr b="1" lang="en" sz="1200">
                <a:solidFill>
                  <a:schemeClr val="dk1"/>
                </a:solidFill>
                <a:latin typeface="Lora"/>
                <a:ea typeface="Lora"/>
                <a:cs typeface="Lora"/>
                <a:sym typeface="Lora"/>
              </a:rPr>
              <a:t>providing the model’s predictions</a:t>
            </a:r>
            <a:r>
              <a:rPr lang="en" sz="1200">
                <a:solidFill>
                  <a:schemeClr val="dk1"/>
                </a:solidFill>
                <a:latin typeface="Lora"/>
                <a:ea typeface="Lora"/>
                <a:cs typeface="Lora"/>
                <a:sym typeface="Lora"/>
              </a:rPr>
              <a:t> to end-users or other systems.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Typically involves:</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Accepting input data</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Running inference (prediction) with the model</a:t>
            </a:r>
            <a:endParaRPr sz="1200">
              <a:solidFill>
                <a:schemeClr val="dk1"/>
              </a:solidFill>
              <a:latin typeface="Lora"/>
              <a:ea typeface="Lora"/>
              <a:cs typeface="Lora"/>
              <a:sym typeface="Lora"/>
            </a:endParaRPr>
          </a:p>
          <a:p>
            <a:pPr indent="-304800" lvl="1" marL="9144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Returning results</a:t>
            </a:r>
            <a:endParaRPr b="1" sz="1200">
              <a:solidFill>
                <a:schemeClr val="dk1"/>
              </a:solidFill>
              <a:latin typeface="Lora"/>
              <a:ea typeface="Lora"/>
              <a:cs typeface="Lora"/>
              <a:sym typeface="Lor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 Deployment &amp; Serving</a:t>
            </a:r>
            <a:endParaRPr sz="2400">
              <a:latin typeface="Lora"/>
              <a:ea typeface="Lora"/>
              <a:cs typeface="Lora"/>
              <a:sym typeface="Lora"/>
            </a:endParaRPr>
          </a:p>
        </p:txBody>
      </p:sp>
      <p:sp>
        <p:nvSpPr>
          <p:cNvPr id="302" name="Google Shape;302;p47"/>
          <p:cNvSpPr txBox="1"/>
          <p:nvPr/>
        </p:nvSpPr>
        <p:spPr>
          <a:xfrm>
            <a:off x="678425" y="752425"/>
            <a:ext cx="8201100" cy="3873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
                <a:solidFill>
                  <a:schemeClr val="dk1"/>
                </a:solidFill>
                <a:latin typeface="Lora"/>
                <a:ea typeface="Lora"/>
                <a:cs typeface="Lora"/>
                <a:sym typeface="Lora"/>
              </a:rPr>
              <a:t>8</a:t>
            </a:r>
            <a:r>
              <a:rPr lang="en">
                <a:solidFill>
                  <a:schemeClr val="dk1"/>
                </a:solidFill>
                <a:latin typeface="Lora"/>
                <a:ea typeface="Lora"/>
                <a:cs typeface="Lora"/>
                <a:sym typeface="Lora"/>
              </a:rPr>
              <a:t>.1. </a:t>
            </a:r>
            <a:r>
              <a:rPr lang="en">
                <a:solidFill>
                  <a:srgbClr val="171717"/>
                </a:solidFill>
                <a:highlight>
                  <a:srgbClr val="FFFFFF"/>
                </a:highlight>
                <a:latin typeface="Lora"/>
                <a:ea typeface="Lora"/>
                <a:cs typeface="Lora"/>
                <a:sym typeface="Lora"/>
              </a:rPr>
              <a:t>Types of Model Serving</a:t>
            </a:r>
            <a:endParaRPr b="1" sz="17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b="1" lang="en" sz="1200">
                <a:solidFill>
                  <a:schemeClr val="dk1"/>
                </a:solidFill>
                <a:latin typeface="Lora"/>
                <a:ea typeface="Lora"/>
                <a:cs typeface="Lora"/>
                <a:sym typeface="Lora"/>
              </a:rPr>
              <a:t>Batch Serving</a:t>
            </a:r>
            <a:endParaRPr b="1" sz="13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In batch serving, the model processes a large volume of data all at once on a predetermined schedule (e.g., hourly, daily, or weekly). This is the most cost-effective method when you don't need instant results.</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Use this when:</a:t>
            </a:r>
            <a:r>
              <a:rPr lang="en" sz="1200">
                <a:solidFill>
                  <a:schemeClr val="dk1"/>
                </a:solidFill>
                <a:latin typeface="Lora"/>
                <a:ea typeface="Lora"/>
                <a:cs typeface="Lora"/>
                <a:sym typeface="Lora"/>
              </a:rPr>
              <a:t> Predictions are not needed immediately and can be calculated in advance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Trigger:</a:t>
            </a:r>
            <a:r>
              <a:rPr lang="en" sz="1200">
                <a:solidFill>
                  <a:schemeClr val="dk1"/>
                </a:solidFill>
                <a:latin typeface="Lora"/>
                <a:ea typeface="Lora"/>
                <a:cs typeface="Lora"/>
                <a:sym typeface="Lora"/>
              </a:rPr>
              <a:t> A fixed schedule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Example:</a:t>
            </a:r>
            <a:r>
              <a:rPr lang="en" sz="1200">
                <a:solidFill>
                  <a:schemeClr val="dk1"/>
                </a:solidFill>
                <a:latin typeface="Lora"/>
                <a:ea typeface="Lora"/>
                <a:cs typeface="Lora"/>
                <a:sym typeface="Lora"/>
              </a:rPr>
              <a:t> A retail company wants to identify customers who are likely to churn. Every Sunday night, a model runs on the week's sales data to generate a list of at-risk customers. The marketing team then uses this list to plan their campaigns for the upcoming week</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1200"/>
              </a:spcBef>
              <a:spcAft>
                <a:spcPts val="1200"/>
              </a:spcAft>
              <a:buNone/>
            </a:pPr>
            <a:r>
              <a:t/>
            </a:r>
            <a:endParaRPr sz="1200">
              <a:solidFill>
                <a:schemeClr val="dk1"/>
              </a:solidFill>
              <a:latin typeface="Lora"/>
              <a:ea typeface="Lora"/>
              <a:cs typeface="Lora"/>
              <a:sym typeface="Lor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8"/>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a:t>
            </a:r>
            <a:r>
              <a:rPr lang="en" sz="2400">
                <a:latin typeface="Lora"/>
                <a:ea typeface="Lora"/>
                <a:cs typeface="Lora"/>
                <a:sym typeface="Lora"/>
              </a:rPr>
              <a:t>. Deployment &amp; Serving</a:t>
            </a:r>
            <a:endParaRPr sz="2400">
              <a:latin typeface="Lora"/>
              <a:ea typeface="Lora"/>
              <a:cs typeface="Lora"/>
              <a:sym typeface="Lora"/>
            </a:endParaRPr>
          </a:p>
        </p:txBody>
      </p:sp>
      <p:sp>
        <p:nvSpPr>
          <p:cNvPr id="308" name="Google Shape;308;p48"/>
          <p:cNvSpPr txBox="1"/>
          <p:nvPr/>
        </p:nvSpPr>
        <p:spPr>
          <a:xfrm>
            <a:off x="639300" y="700975"/>
            <a:ext cx="7878000" cy="369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n" sz="1200">
                <a:solidFill>
                  <a:schemeClr val="dk1"/>
                </a:solidFill>
                <a:latin typeface="Lora"/>
                <a:ea typeface="Lora"/>
                <a:cs typeface="Lora"/>
                <a:sym typeface="Lora"/>
              </a:rPr>
              <a:t>Batch Serving</a:t>
            </a:r>
            <a:endParaRPr b="1" sz="1200">
              <a:solidFill>
                <a:schemeClr val="dk1"/>
              </a:solidFill>
              <a:latin typeface="Lora"/>
              <a:ea typeface="Lora"/>
              <a:cs typeface="Lora"/>
              <a:sym typeface="Lora"/>
            </a:endParaRPr>
          </a:p>
        </p:txBody>
      </p:sp>
      <p:sp>
        <p:nvSpPr>
          <p:cNvPr id="309" name="Google Shape;309;p48"/>
          <p:cNvSpPr txBox="1"/>
          <p:nvPr/>
        </p:nvSpPr>
        <p:spPr>
          <a:xfrm>
            <a:off x="5231575" y="1091700"/>
            <a:ext cx="3509700" cy="2031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Runs predictions on large datasets in bulk</a:t>
            </a:r>
            <a:r>
              <a:rPr lang="en" sz="1200">
                <a:latin typeface="Lora"/>
                <a:ea typeface="Lora"/>
                <a:cs typeface="Lora"/>
                <a:sym typeface="Lora"/>
              </a:rPr>
              <a:t>, usually at scheduled times</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Data is collected and processed together</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Best for use cases without strict latency: daily reports, historical analysis, periodic processing</a:t>
            </a:r>
            <a:endParaRPr sz="1200">
              <a:latin typeface="Lora"/>
              <a:ea typeface="Lora"/>
              <a:cs typeface="Lora"/>
              <a:sym typeface="Lora"/>
            </a:endParaRPr>
          </a:p>
        </p:txBody>
      </p:sp>
      <p:pic>
        <p:nvPicPr>
          <p:cNvPr id="310" name="Google Shape;310;p48"/>
          <p:cNvPicPr preferRelativeResize="0"/>
          <p:nvPr/>
        </p:nvPicPr>
        <p:blipFill>
          <a:blip r:embed="rId3">
            <a:alphaModFix/>
          </a:blip>
          <a:stretch>
            <a:fillRect/>
          </a:stretch>
        </p:blipFill>
        <p:spPr>
          <a:xfrm>
            <a:off x="751125" y="1070275"/>
            <a:ext cx="4480449" cy="31122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9"/>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 Deployment &amp; Serving</a:t>
            </a:r>
            <a:endParaRPr sz="2400">
              <a:latin typeface="Lora"/>
              <a:ea typeface="Lora"/>
              <a:cs typeface="Lora"/>
              <a:sym typeface="Lora"/>
            </a:endParaRPr>
          </a:p>
        </p:txBody>
      </p:sp>
      <p:sp>
        <p:nvSpPr>
          <p:cNvPr id="316" name="Google Shape;316;p49"/>
          <p:cNvSpPr txBox="1"/>
          <p:nvPr/>
        </p:nvSpPr>
        <p:spPr>
          <a:xfrm>
            <a:off x="678425" y="752425"/>
            <a:ext cx="8201100" cy="2616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b="1" lang="en" sz="1200">
                <a:solidFill>
                  <a:schemeClr val="dk1"/>
                </a:solidFill>
                <a:latin typeface="Lora"/>
                <a:ea typeface="Lora"/>
                <a:cs typeface="Lora"/>
                <a:sym typeface="Lora"/>
              </a:rPr>
              <a:t>Real Time Serving</a:t>
            </a:r>
            <a:endParaRPr b="1" sz="12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Real-time serving generates predictions on demand, typically for a single input at a time, and delivers them instantly. </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Char char="●"/>
            </a:pPr>
            <a:r>
              <a:rPr b="1" lang="en" sz="1200">
                <a:solidFill>
                  <a:schemeClr val="dk1"/>
                </a:solidFill>
                <a:latin typeface="Lora"/>
                <a:ea typeface="Lora"/>
                <a:cs typeface="Lora"/>
                <a:sym typeface="Lora"/>
              </a:rPr>
              <a:t>Use this when:</a:t>
            </a:r>
            <a:r>
              <a:rPr lang="en" sz="1200">
                <a:solidFill>
                  <a:schemeClr val="dk1"/>
                </a:solidFill>
                <a:latin typeface="Lora"/>
                <a:ea typeface="Lora"/>
                <a:cs typeface="Lora"/>
                <a:sym typeface="Lora"/>
              </a:rPr>
              <a:t> You need an immediate prediction to support a real-time decision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Trigger:</a:t>
            </a:r>
            <a:r>
              <a:rPr lang="en" sz="1200">
                <a:solidFill>
                  <a:schemeClr val="dk1"/>
                </a:solidFill>
                <a:latin typeface="Lora"/>
                <a:ea typeface="Lora"/>
                <a:cs typeface="Lora"/>
                <a:sym typeface="Lora"/>
              </a:rPr>
              <a:t> A user action or a direct request from another system</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Example:</a:t>
            </a:r>
            <a:r>
              <a:rPr lang="en" sz="1200">
                <a:solidFill>
                  <a:schemeClr val="dk1"/>
                </a:solidFill>
                <a:latin typeface="Lora"/>
                <a:ea typeface="Lora"/>
                <a:cs typeface="Lora"/>
                <a:sym typeface="Lora"/>
              </a:rPr>
              <a:t> When you use a ride sharing app, you enter your destination and instantly get a price estimate. A real-time model takes your request and immediately calculates the predicted fare based on traffic, distance, and current demand</a:t>
            </a:r>
            <a:endParaRPr sz="1200">
              <a:solidFill>
                <a:schemeClr val="dk1"/>
              </a:solidFill>
              <a:latin typeface="Lora"/>
              <a:ea typeface="Lora"/>
              <a:cs typeface="Lora"/>
              <a:sym typeface="Lor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0"/>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 Deployment &amp; Serving</a:t>
            </a:r>
            <a:endParaRPr sz="2400">
              <a:latin typeface="Lora"/>
              <a:ea typeface="Lora"/>
              <a:cs typeface="Lora"/>
              <a:sym typeface="Lora"/>
            </a:endParaRPr>
          </a:p>
        </p:txBody>
      </p:sp>
      <p:sp>
        <p:nvSpPr>
          <p:cNvPr id="322" name="Google Shape;322;p50"/>
          <p:cNvSpPr txBox="1"/>
          <p:nvPr/>
        </p:nvSpPr>
        <p:spPr>
          <a:xfrm>
            <a:off x="639300" y="700975"/>
            <a:ext cx="7878000" cy="369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Clr>
                <a:schemeClr val="dk1"/>
              </a:buClr>
              <a:buSzPts val="1100"/>
              <a:buFont typeface="Arial"/>
              <a:buNone/>
            </a:pPr>
            <a:r>
              <a:rPr b="1" lang="en" sz="1200">
                <a:solidFill>
                  <a:schemeClr val="dk1"/>
                </a:solidFill>
                <a:latin typeface="Lora"/>
                <a:ea typeface="Lora"/>
                <a:cs typeface="Lora"/>
                <a:sym typeface="Lora"/>
              </a:rPr>
              <a:t>Real Time</a:t>
            </a:r>
            <a:r>
              <a:rPr b="1" lang="en" sz="1200">
                <a:solidFill>
                  <a:schemeClr val="dk1"/>
                </a:solidFill>
                <a:latin typeface="Lora"/>
                <a:ea typeface="Lora"/>
                <a:cs typeface="Lora"/>
                <a:sym typeface="Lora"/>
              </a:rPr>
              <a:t> Serving</a:t>
            </a:r>
            <a:endParaRPr sz="1300">
              <a:solidFill>
                <a:schemeClr val="dk1"/>
              </a:solidFill>
              <a:latin typeface="Lora"/>
              <a:ea typeface="Lora"/>
              <a:cs typeface="Lora"/>
              <a:sym typeface="Lora"/>
            </a:endParaRPr>
          </a:p>
        </p:txBody>
      </p:sp>
      <p:sp>
        <p:nvSpPr>
          <p:cNvPr id="323" name="Google Shape;323;p50"/>
          <p:cNvSpPr txBox="1"/>
          <p:nvPr/>
        </p:nvSpPr>
        <p:spPr>
          <a:xfrm>
            <a:off x="748575" y="1158350"/>
            <a:ext cx="3332700" cy="17547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Serves predictions instantly through an API when input is received.</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Each request gets an immediate response from the model.</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Best for: chatbots, recommendations …</a:t>
            </a:r>
            <a:endParaRPr sz="1200">
              <a:latin typeface="Lora"/>
              <a:ea typeface="Lora"/>
              <a:cs typeface="Lora"/>
              <a:sym typeface="Lora"/>
            </a:endParaRPr>
          </a:p>
        </p:txBody>
      </p:sp>
      <p:pic>
        <p:nvPicPr>
          <p:cNvPr id="324" name="Google Shape;324;p50"/>
          <p:cNvPicPr preferRelativeResize="0"/>
          <p:nvPr/>
        </p:nvPicPr>
        <p:blipFill>
          <a:blip r:embed="rId3">
            <a:alphaModFix/>
          </a:blip>
          <a:stretch>
            <a:fillRect/>
          </a:stretch>
        </p:blipFill>
        <p:spPr>
          <a:xfrm>
            <a:off x="4084300" y="1277875"/>
            <a:ext cx="4881275" cy="16351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1"/>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 Deployment &amp; Serving</a:t>
            </a:r>
            <a:endParaRPr sz="2400">
              <a:latin typeface="Lora"/>
              <a:ea typeface="Lora"/>
              <a:cs typeface="Lora"/>
              <a:sym typeface="Lora"/>
            </a:endParaRPr>
          </a:p>
        </p:txBody>
      </p:sp>
      <p:sp>
        <p:nvSpPr>
          <p:cNvPr id="330" name="Google Shape;330;p51"/>
          <p:cNvSpPr txBox="1"/>
          <p:nvPr/>
        </p:nvSpPr>
        <p:spPr>
          <a:xfrm>
            <a:off x="678425" y="752425"/>
            <a:ext cx="8201100" cy="2616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en" sz="1200">
                <a:solidFill>
                  <a:schemeClr val="dk1"/>
                </a:solidFill>
                <a:latin typeface="Lora"/>
                <a:ea typeface="Lora"/>
                <a:cs typeface="Lora"/>
                <a:sym typeface="Lora"/>
              </a:rPr>
              <a:t>Streaming </a:t>
            </a:r>
            <a:r>
              <a:rPr b="1" lang="en" sz="1200">
                <a:solidFill>
                  <a:schemeClr val="dk1"/>
                </a:solidFill>
                <a:latin typeface="Lora"/>
                <a:ea typeface="Lora"/>
                <a:cs typeface="Lora"/>
                <a:sym typeface="Lora"/>
              </a:rPr>
              <a:t> Serving</a:t>
            </a:r>
            <a:endParaRPr b="1" sz="13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Streaming serving is used when data arrives in a continuous flow. The model processes these events as they come in, providing near real-time predictions on an ongoing basis</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Char char="●"/>
            </a:pPr>
            <a:r>
              <a:rPr b="1" lang="en" sz="1200">
                <a:solidFill>
                  <a:schemeClr val="dk1"/>
                </a:solidFill>
                <a:latin typeface="Lora"/>
                <a:ea typeface="Lora"/>
                <a:cs typeface="Lora"/>
                <a:sym typeface="Lora"/>
              </a:rPr>
              <a:t>Use this when:</a:t>
            </a:r>
            <a:r>
              <a:rPr lang="en" sz="1200">
                <a:solidFill>
                  <a:schemeClr val="dk1"/>
                </a:solidFill>
                <a:latin typeface="Lora"/>
                <a:ea typeface="Lora"/>
                <a:cs typeface="Lora"/>
                <a:sym typeface="Lora"/>
              </a:rPr>
              <a:t> You need to continuously monitor and make predictions on a constant stream of new data</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Trigger:</a:t>
            </a:r>
            <a:r>
              <a:rPr lang="en" sz="1200">
                <a:solidFill>
                  <a:schemeClr val="dk1"/>
                </a:solidFill>
                <a:latin typeface="Lora"/>
                <a:ea typeface="Lora"/>
                <a:cs typeface="Lora"/>
                <a:sym typeface="Lora"/>
              </a:rPr>
              <a:t> A continuous flow of data</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Example:</a:t>
            </a:r>
            <a:r>
              <a:rPr lang="en" sz="1200">
                <a:solidFill>
                  <a:schemeClr val="dk1"/>
                </a:solidFill>
                <a:latin typeface="Lora"/>
                <a:ea typeface="Lora"/>
                <a:cs typeface="Lora"/>
                <a:sym typeface="Lora"/>
              </a:rPr>
              <a:t> A factory uses sensors to monitor its equipment. A streaming model analyzes this sensor data as it's generated to predict potential machine failures before they happen, allowing for preventative maintenance</a:t>
            </a:r>
            <a:endParaRPr sz="1200">
              <a:solidFill>
                <a:schemeClr val="dk1"/>
              </a:solidFill>
              <a:latin typeface="Lora"/>
              <a:ea typeface="Lora"/>
              <a:cs typeface="Lora"/>
              <a:sym typeface="Lor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2"/>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 Deployment &amp; Serving</a:t>
            </a:r>
            <a:endParaRPr sz="2400">
              <a:latin typeface="Lora"/>
              <a:ea typeface="Lora"/>
              <a:cs typeface="Lora"/>
              <a:sym typeface="Lora"/>
            </a:endParaRPr>
          </a:p>
        </p:txBody>
      </p:sp>
      <p:sp>
        <p:nvSpPr>
          <p:cNvPr id="336" name="Google Shape;336;p52"/>
          <p:cNvSpPr txBox="1"/>
          <p:nvPr/>
        </p:nvSpPr>
        <p:spPr>
          <a:xfrm>
            <a:off x="639300" y="700975"/>
            <a:ext cx="7878000" cy="369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n" sz="1200">
                <a:solidFill>
                  <a:schemeClr val="dk1"/>
                </a:solidFill>
                <a:latin typeface="Lora"/>
                <a:ea typeface="Lora"/>
                <a:cs typeface="Lora"/>
                <a:sym typeface="Lora"/>
              </a:rPr>
              <a:t>Streaming </a:t>
            </a:r>
            <a:endParaRPr sz="1300">
              <a:solidFill>
                <a:schemeClr val="dk1"/>
              </a:solidFill>
              <a:latin typeface="Lora"/>
              <a:ea typeface="Lora"/>
              <a:cs typeface="Lora"/>
              <a:sym typeface="Lora"/>
            </a:endParaRPr>
          </a:p>
        </p:txBody>
      </p:sp>
      <p:sp>
        <p:nvSpPr>
          <p:cNvPr id="337" name="Google Shape;337;p52"/>
          <p:cNvSpPr txBox="1"/>
          <p:nvPr/>
        </p:nvSpPr>
        <p:spPr>
          <a:xfrm>
            <a:off x="748575" y="1158350"/>
            <a:ext cx="3567000" cy="2862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Processes continuous data streams in near real-time.</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Model consumes events as they arrive</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lang="en" sz="1200">
                <a:latin typeface="Lora"/>
                <a:ea typeface="Lora"/>
                <a:cs typeface="Lora"/>
                <a:sym typeface="Lora"/>
              </a:rPr>
              <a:t>Best for: IoT sensor monitoring, live anomaly detection, traffic management.</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lang="en" sz="1200">
                <a:solidFill>
                  <a:srgbClr val="272930"/>
                </a:solidFill>
                <a:highlight>
                  <a:srgbClr val="FFFFFF"/>
                </a:highlight>
                <a:latin typeface="Lora"/>
                <a:ea typeface="Lora"/>
                <a:cs typeface="Lora"/>
                <a:sym typeface="Lora"/>
              </a:rPr>
              <a:t>Data are </a:t>
            </a:r>
            <a:r>
              <a:rPr lang="en" sz="1200">
                <a:solidFill>
                  <a:srgbClr val="272930"/>
                </a:solidFill>
                <a:highlight>
                  <a:srgbClr val="FFFFFF"/>
                </a:highlight>
                <a:latin typeface="Lora"/>
                <a:ea typeface="Lora"/>
                <a:cs typeface="Lora"/>
                <a:sym typeface="Lora"/>
              </a:rPr>
              <a:t>usually</a:t>
            </a:r>
            <a:r>
              <a:rPr lang="en" sz="1200">
                <a:solidFill>
                  <a:srgbClr val="272930"/>
                </a:solidFill>
                <a:highlight>
                  <a:srgbClr val="FFFFFF"/>
                </a:highlight>
                <a:latin typeface="Lora"/>
                <a:ea typeface="Lora"/>
                <a:cs typeface="Lora"/>
                <a:sym typeface="Lora"/>
              </a:rPr>
              <a:t> ingested from sources such as </a:t>
            </a:r>
            <a:r>
              <a:rPr lang="en" sz="1200">
                <a:solidFill>
                  <a:schemeClr val="dk1"/>
                </a:solidFill>
                <a:highlight>
                  <a:srgbClr val="FFFFFF"/>
                </a:highlight>
                <a:uFill>
                  <a:noFill/>
                </a:uFill>
                <a:latin typeface="Lora"/>
                <a:ea typeface="Lora"/>
                <a:cs typeface="Lora"/>
                <a:sym typeface="Lora"/>
                <a:hlinkClick r:id="rId3">
                  <a:extLst>
                    <a:ext uri="{A12FA001-AC4F-418D-AE19-62706E023703}">
                      <ahyp:hlinkClr val="tx"/>
                    </a:ext>
                  </a:extLst>
                </a:hlinkClick>
              </a:rPr>
              <a:t>Apache Kafka</a:t>
            </a:r>
            <a:r>
              <a:rPr lang="en" sz="1200">
                <a:solidFill>
                  <a:srgbClr val="272930"/>
                </a:solidFill>
                <a:highlight>
                  <a:srgbClr val="FFFFFF"/>
                </a:highlight>
                <a:latin typeface="Lora"/>
                <a:ea typeface="Lora"/>
                <a:cs typeface="Lora"/>
                <a:sym typeface="Lora"/>
              </a:rPr>
              <a:t>, processed by a deployed model, and predictions are outputted back into Kafka for further downstream processing or action.</a:t>
            </a:r>
            <a:endParaRPr sz="1200">
              <a:latin typeface="Lora"/>
              <a:ea typeface="Lora"/>
              <a:cs typeface="Lora"/>
              <a:sym typeface="Lora"/>
            </a:endParaRPr>
          </a:p>
        </p:txBody>
      </p:sp>
      <p:pic>
        <p:nvPicPr>
          <p:cNvPr id="338" name="Google Shape;338;p52"/>
          <p:cNvPicPr preferRelativeResize="0"/>
          <p:nvPr/>
        </p:nvPicPr>
        <p:blipFill>
          <a:blip r:embed="rId4">
            <a:alphaModFix/>
          </a:blip>
          <a:stretch>
            <a:fillRect/>
          </a:stretch>
        </p:blipFill>
        <p:spPr>
          <a:xfrm>
            <a:off x="4315575" y="882125"/>
            <a:ext cx="4523624" cy="368675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9</a:t>
            </a:r>
            <a:r>
              <a:rPr lang="en" sz="2400">
                <a:latin typeface="Lora"/>
                <a:ea typeface="Lora"/>
                <a:cs typeface="Lora"/>
                <a:sym typeface="Lora"/>
              </a:rPr>
              <a:t>. </a:t>
            </a:r>
            <a:r>
              <a:rPr lang="en" sz="2400">
                <a:solidFill>
                  <a:schemeClr val="dk1"/>
                </a:solidFill>
                <a:latin typeface="Lora"/>
                <a:ea typeface="Lora"/>
                <a:cs typeface="Lora"/>
                <a:sym typeface="Lora"/>
              </a:rPr>
              <a:t>Monitoring</a:t>
            </a:r>
            <a:r>
              <a:rPr b="1" lang="en" sz="1200">
                <a:solidFill>
                  <a:schemeClr val="dk1"/>
                </a:solidFill>
                <a:latin typeface="Lora"/>
                <a:ea typeface="Lora"/>
                <a:cs typeface="Lora"/>
                <a:sym typeface="Lora"/>
              </a:rPr>
              <a:t>, </a:t>
            </a:r>
            <a:r>
              <a:rPr lang="en" sz="2400">
                <a:latin typeface="Lora"/>
                <a:ea typeface="Lora"/>
                <a:cs typeface="Lora"/>
                <a:sym typeface="Lora"/>
              </a:rPr>
              <a:t>Maintenance &amp; Drift Detection</a:t>
            </a:r>
            <a:endParaRPr sz="2400">
              <a:latin typeface="Lora"/>
              <a:ea typeface="Lora"/>
              <a:cs typeface="Lora"/>
              <a:sym typeface="Lora"/>
            </a:endParaRPr>
          </a:p>
        </p:txBody>
      </p:sp>
      <p:sp>
        <p:nvSpPr>
          <p:cNvPr id="344" name="Google Shape;344;p53"/>
          <p:cNvSpPr txBox="1"/>
          <p:nvPr/>
        </p:nvSpPr>
        <p:spPr>
          <a:xfrm>
            <a:off x="728850" y="873675"/>
            <a:ext cx="7896600" cy="365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Monitoring: </a:t>
            </a:r>
            <a:r>
              <a:rPr lang="en" sz="1200">
                <a:solidFill>
                  <a:schemeClr val="dk1"/>
                </a:solidFill>
                <a:latin typeface="Lora"/>
                <a:ea typeface="Lora"/>
                <a:cs typeface="Lora"/>
                <a:sym typeface="Lora"/>
              </a:rPr>
              <a:t>Once a model is in production, you must </a:t>
            </a:r>
            <a:r>
              <a:rPr b="1" lang="en" sz="1200">
                <a:solidFill>
                  <a:schemeClr val="dk1"/>
                </a:solidFill>
                <a:latin typeface="Lora"/>
                <a:ea typeface="Lora"/>
                <a:cs typeface="Lora"/>
                <a:sym typeface="Lora"/>
              </a:rPr>
              <a:t>continuously track its performance</a:t>
            </a:r>
            <a:r>
              <a:rPr lang="en" sz="1100">
                <a:solidFill>
                  <a:schemeClr val="dk1"/>
                </a:solidFill>
              </a:rPr>
              <a:t>:</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Track model's business outcomes </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Monitor model performance metrics </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Monitor system metrics (latency, errors, resource usage).</a:t>
            </a:r>
            <a:endParaRPr sz="12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b="1" lang="en" sz="1200">
                <a:solidFill>
                  <a:schemeClr val="dk1"/>
                </a:solidFill>
                <a:latin typeface="Lora"/>
                <a:ea typeface="Lora"/>
                <a:cs typeface="Lora"/>
                <a:sym typeface="Lora"/>
              </a:rPr>
              <a:t>Tools:</a:t>
            </a:r>
            <a:r>
              <a:rPr lang="en" sz="1200">
                <a:solidFill>
                  <a:schemeClr val="dk1"/>
                </a:solidFill>
                <a:latin typeface="Lora"/>
                <a:ea typeface="Lora"/>
                <a:cs typeface="Lora"/>
                <a:sym typeface="Lora"/>
              </a:rPr>
              <a:t> Prometheus, Grafana, Evidently AI, AWS CloudWatch …</a:t>
            </a:r>
            <a:endParaRPr sz="1200">
              <a:solidFill>
                <a:schemeClr val="dk1"/>
              </a:solidFill>
              <a:latin typeface="Lora"/>
              <a:ea typeface="Lora"/>
              <a:cs typeface="Lora"/>
              <a:sym typeface="Lora"/>
            </a:endParaRPr>
          </a:p>
          <a:p>
            <a:pPr indent="0" lvl="0" marL="0" rtl="0" algn="l">
              <a:lnSpc>
                <a:spcPct val="115000"/>
              </a:lnSpc>
              <a:spcBef>
                <a:spcPts val="1400"/>
              </a:spcBef>
              <a:spcAft>
                <a:spcPts val="0"/>
              </a:spcAft>
              <a:buClr>
                <a:schemeClr val="dk1"/>
              </a:buClr>
              <a:buSzPts val="1100"/>
              <a:buFont typeface="Arial"/>
              <a:buNone/>
            </a:pPr>
            <a:r>
              <a:rPr b="1" lang="en" sz="1200">
                <a:solidFill>
                  <a:schemeClr val="dk1"/>
                </a:solidFill>
                <a:latin typeface="Lora"/>
                <a:ea typeface="Lora"/>
                <a:cs typeface="Lora"/>
                <a:sym typeface="Lora"/>
              </a:rPr>
              <a:t>Maintenance: </a:t>
            </a:r>
            <a:r>
              <a:rPr lang="en" sz="1200">
                <a:solidFill>
                  <a:schemeClr val="dk1"/>
                </a:solidFill>
                <a:latin typeface="Lora"/>
                <a:ea typeface="Lora"/>
                <a:cs typeface="Lora"/>
                <a:sym typeface="Lora"/>
              </a:rPr>
              <a:t>Models degrade over time due to:</a:t>
            </a:r>
            <a:endParaRPr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Changes in data</a:t>
            </a:r>
            <a:endParaRPr b="1"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New business requirements</a:t>
            </a:r>
            <a:endParaRPr b="1" sz="12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Lora"/>
                <a:ea typeface="Lora"/>
                <a:cs typeface="Lora"/>
                <a:sym typeface="Lora"/>
              </a:rPr>
              <a:t>Maintenance includes:</a:t>
            </a:r>
            <a:endParaRPr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Scheduled retraining</a:t>
            </a:r>
            <a:r>
              <a:rPr lang="en" sz="1200">
                <a:solidFill>
                  <a:schemeClr val="dk1"/>
                </a:solidFill>
                <a:latin typeface="Lora"/>
                <a:ea typeface="Lora"/>
                <a:cs typeface="Lora"/>
                <a:sym typeface="Lora"/>
              </a:rPr>
              <a:t> on fresh data.</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Feature updates</a:t>
            </a:r>
            <a:r>
              <a:rPr lang="en" sz="1200">
                <a:solidFill>
                  <a:schemeClr val="dk1"/>
                </a:solidFill>
                <a:latin typeface="Lora"/>
                <a:ea typeface="Lora"/>
                <a:cs typeface="Lora"/>
                <a:sym typeface="Lora"/>
              </a:rPr>
              <a:t> (adding/removing features).</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Hyperparameter re-tuning</a:t>
            </a:r>
            <a:r>
              <a:rPr lang="en" sz="1200">
                <a:solidFill>
                  <a:schemeClr val="dk1"/>
                </a:solidFill>
                <a:latin typeface="Lora"/>
                <a:ea typeface="Lora"/>
                <a:cs typeface="Lora"/>
                <a:sym typeface="Lora"/>
              </a:rPr>
              <a:t>.</a:t>
            </a:r>
            <a:endParaRPr sz="11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9. </a:t>
            </a:r>
            <a:r>
              <a:rPr lang="en" sz="2400">
                <a:solidFill>
                  <a:schemeClr val="dk1"/>
                </a:solidFill>
                <a:latin typeface="Lora"/>
                <a:ea typeface="Lora"/>
                <a:cs typeface="Lora"/>
                <a:sym typeface="Lora"/>
              </a:rPr>
              <a:t>Monitoring</a:t>
            </a:r>
            <a:r>
              <a:rPr b="1" lang="en" sz="1200">
                <a:solidFill>
                  <a:schemeClr val="dk1"/>
                </a:solidFill>
                <a:latin typeface="Lora"/>
                <a:ea typeface="Lora"/>
                <a:cs typeface="Lora"/>
                <a:sym typeface="Lora"/>
              </a:rPr>
              <a:t>, </a:t>
            </a:r>
            <a:r>
              <a:rPr lang="en" sz="2400">
                <a:latin typeface="Lora"/>
                <a:ea typeface="Lora"/>
                <a:cs typeface="Lora"/>
                <a:sym typeface="Lora"/>
              </a:rPr>
              <a:t>Maintenance &amp; Drift Detection</a:t>
            </a:r>
            <a:endParaRPr sz="2400">
              <a:latin typeface="Lora"/>
              <a:ea typeface="Lora"/>
              <a:cs typeface="Lora"/>
              <a:sym typeface="Lora"/>
            </a:endParaRPr>
          </a:p>
        </p:txBody>
      </p:sp>
      <p:sp>
        <p:nvSpPr>
          <p:cNvPr id="350" name="Google Shape;350;p54"/>
          <p:cNvSpPr txBox="1"/>
          <p:nvPr/>
        </p:nvSpPr>
        <p:spPr>
          <a:xfrm>
            <a:off x="728850" y="705400"/>
            <a:ext cx="78966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200">
                <a:solidFill>
                  <a:schemeClr val="dk1"/>
                </a:solidFill>
                <a:latin typeface="Lora"/>
                <a:ea typeface="Lora"/>
                <a:cs typeface="Lora"/>
                <a:sym typeface="Lora"/>
              </a:rPr>
              <a:t>D</a:t>
            </a:r>
            <a:r>
              <a:rPr b="1" lang="en" sz="1200">
                <a:solidFill>
                  <a:schemeClr val="dk1"/>
                </a:solidFill>
                <a:latin typeface="Lora"/>
                <a:ea typeface="Lora"/>
                <a:cs typeface="Lora"/>
                <a:sym typeface="Lora"/>
              </a:rPr>
              <a:t>rift</a:t>
            </a: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is the natural degradation of a model's predictive power over time because the real-world environment changes, making the original training data obsolete.</a:t>
            </a:r>
            <a:endParaRPr sz="1200">
              <a:solidFill>
                <a:schemeClr val="dk1"/>
              </a:solidFill>
              <a:latin typeface="Lora"/>
              <a:ea typeface="Lora"/>
              <a:cs typeface="Lora"/>
              <a:sym typeface="Lora"/>
            </a:endParaRPr>
          </a:p>
        </p:txBody>
      </p:sp>
      <p:sp>
        <p:nvSpPr>
          <p:cNvPr id="351" name="Google Shape;351;p54"/>
          <p:cNvSpPr txBox="1"/>
          <p:nvPr/>
        </p:nvSpPr>
        <p:spPr>
          <a:xfrm>
            <a:off x="652650" y="1495850"/>
            <a:ext cx="7896600" cy="22749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n" sz="1200">
                <a:solidFill>
                  <a:schemeClr val="dk1"/>
                </a:solidFill>
                <a:latin typeface="Lora"/>
                <a:ea typeface="Lora"/>
                <a:cs typeface="Lora"/>
                <a:sym typeface="Lora"/>
              </a:rPr>
              <a:t>Analogy</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Clr>
                <a:schemeClr val="dk1"/>
              </a:buClr>
              <a:buSzPts val="1100"/>
              <a:buFont typeface="Arial"/>
              <a:buNone/>
            </a:pPr>
            <a:r>
              <a:rPr lang="en" sz="1200">
                <a:solidFill>
                  <a:schemeClr val="dk1"/>
                </a:solidFill>
                <a:latin typeface="Lora"/>
                <a:ea typeface="Lora"/>
                <a:cs typeface="Lora"/>
                <a:sym typeface="Lora"/>
              </a:rPr>
              <a:t>Imagine it's 2020, and we build a machine learning model to predict whether a new AIMS student will pursue a career in academia (Ph.D., research) or industry. We train this model on data from all AIMS South Africa graduates from 2010 to 2019. The model learns the patterns from that decade and is very accurate.</a:t>
            </a:r>
            <a:endParaRPr sz="1200">
              <a:solidFill>
                <a:schemeClr val="dk1"/>
              </a:solidFill>
              <a:latin typeface="Lora"/>
              <a:ea typeface="Lora"/>
              <a:cs typeface="Lora"/>
              <a:sym typeface="Lora"/>
            </a:endParaRPr>
          </a:p>
          <a:p>
            <a:pPr indent="0" lvl="0" marL="0" rtl="0" algn="l">
              <a:lnSpc>
                <a:spcPct val="150000"/>
              </a:lnSpc>
              <a:spcBef>
                <a:spcPts val="1200"/>
              </a:spcBef>
              <a:spcAft>
                <a:spcPts val="1200"/>
              </a:spcAft>
              <a:buNone/>
            </a:pPr>
            <a:r>
              <a:rPr lang="en" sz="1200">
                <a:solidFill>
                  <a:schemeClr val="dk1"/>
                </a:solidFill>
                <a:latin typeface="Lora"/>
                <a:ea typeface="Lora"/>
                <a:cs typeface="Lora"/>
                <a:sym typeface="Lora"/>
              </a:rPr>
              <a:t>Now, we fast-forward to 2025 and use the same model on the current class. We find that its predictions are frequently wrong. The model's performance has degraded. This decline in accuracy because the world has changed is called </a:t>
            </a:r>
            <a:r>
              <a:rPr b="1" lang="en" sz="1200">
                <a:solidFill>
                  <a:schemeClr val="dk1"/>
                </a:solidFill>
                <a:latin typeface="Lora"/>
                <a:ea typeface="Lora"/>
                <a:cs typeface="Lora"/>
                <a:sym typeface="Lora"/>
              </a:rPr>
              <a:t>drift</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p:txBody>
      </p:sp>
      <p:sp>
        <p:nvSpPr>
          <p:cNvPr id="352" name="Google Shape;352;p54"/>
          <p:cNvSpPr txBox="1"/>
          <p:nvPr/>
        </p:nvSpPr>
        <p:spPr>
          <a:xfrm>
            <a:off x="652650" y="40827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Lora"/>
                <a:ea typeface="Lora"/>
                <a:cs typeface="Lora"/>
                <a:sym typeface="Lora"/>
              </a:rPr>
              <a:t>There are two primary types of drift</a:t>
            </a:r>
            <a:endParaRPr sz="1200">
              <a:latin typeface="Lora"/>
              <a:ea typeface="Lora"/>
              <a:cs typeface="Lora"/>
              <a:sym typeface="Lor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9. </a:t>
            </a:r>
            <a:r>
              <a:rPr lang="en" sz="2400">
                <a:solidFill>
                  <a:schemeClr val="dk1"/>
                </a:solidFill>
                <a:latin typeface="Lora"/>
                <a:ea typeface="Lora"/>
                <a:cs typeface="Lora"/>
                <a:sym typeface="Lora"/>
              </a:rPr>
              <a:t>Monitoring</a:t>
            </a:r>
            <a:r>
              <a:rPr b="1" lang="en" sz="1200">
                <a:solidFill>
                  <a:schemeClr val="dk1"/>
                </a:solidFill>
                <a:latin typeface="Lora"/>
                <a:ea typeface="Lora"/>
                <a:cs typeface="Lora"/>
                <a:sym typeface="Lora"/>
              </a:rPr>
              <a:t>, </a:t>
            </a:r>
            <a:r>
              <a:rPr lang="en" sz="2400">
                <a:latin typeface="Lora"/>
                <a:ea typeface="Lora"/>
                <a:cs typeface="Lora"/>
                <a:sym typeface="Lora"/>
              </a:rPr>
              <a:t>Maintenance &amp; Drift Detection</a:t>
            </a:r>
            <a:endParaRPr sz="2400">
              <a:latin typeface="Lora"/>
              <a:ea typeface="Lora"/>
              <a:cs typeface="Lora"/>
              <a:sym typeface="Lora"/>
            </a:endParaRPr>
          </a:p>
        </p:txBody>
      </p:sp>
      <p:sp>
        <p:nvSpPr>
          <p:cNvPr id="358" name="Google Shape;358;p55"/>
          <p:cNvSpPr txBox="1"/>
          <p:nvPr/>
        </p:nvSpPr>
        <p:spPr>
          <a:xfrm>
            <a:off x="728850" y="705400"/>
            <a:ext cx="78966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200">
                <a:solidFill>
                  <a:schemeClr val="dk1"/>
                </a:solidFill>
                <a:latin typeface="Lora"/>
                <a:ea typeface="Lora"/>
                <a:cs typeface="Lora"/>
                <a:sym typeface="Lora"/>
              </a:rPr>
              <a:t>Data Drift : </a:t>
            </a:r>
            <a:r>
              <a:rPr lang="en" sz="1200">
                <a:solidFill>
                  <a:schemeClr val="dk1"/>
                </a:solidFill>
                <a:latin typeface="Lora"/>
                <a:ea typeface="Lora"/>
                <a:cs typeface="Lora"/>
                <a:sym typeface="Lora"/>
              </a:rPr>
              <a:t>This happens when the </a:t>
            </a:r>
            <a:r>
              <a:rPr b="1" lang="en" sz="1200">
                <a:solidFill>
                  <a:schemeClr val="dk1"/>
                </a:solidFill>
                <a:latin typeface="Lora"/>
                <a:ea typeface="Lora"/>
                <a:cs typeface="Lora"/>
                <a:sym typeface="Lora"/>
              </a:rPr>
              <a:t>distribution of the input data changes</a:t>
            </a:r>
            <a:r>
              <a:rPr lang="en" sz="1200">
                <a:solidFill>
                  <a:schemeClr val="dk1"/>
                </a:solidFill>
                <a:latin typeface="Lora"/>
                <a:ea typeface="Lora"/>
                <a:cs typeface="Lora"/>
                <a:sym typeface="Lora"/>
              </a:rPr>
              <a:t>, even if the underlying meaning remains the same. In other words, the input data is different from what the model was trained on</a:t>
            </a:r>
            <a:endParaRPr b="1" sz="1200">
              <a:solidFill>
                <a:schemeClr val="dk1"/>
              </a:solidFill>
              <a:latin typeface="Lora"/>
              <a:ea typeface="Lora"/>
              <a:cs typeface="Lora"/>
              <a:sym typeface="Lora"/>
            </a:endParaRPr>
          </a:p>
        </p:txBody>
      </p:sp>
      <p:sp>
        <p:nvSpPr>
          <p:cNvPr id="359" name="Google Shape;359;p55"/>
          <p:cNvSpPr txBox="1"/>
          <p:nvPr/>
        </p:nvSpPr>
        <p:spPr>
          <a:xfrm>
            <a:off x="652650" y="1343450"/>
            <a:ext cx="7896600" cy="28290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n" sz="1200">
                <a:solidFill>
                  <a:schemeClr val="dk1"/>
                </a:solidFill>
                <a:latin typeface="Lora"/>
                <a:ea typeface="Lora"/>
                <a:cs typeface="Lora"/>
                <a:sym typeface="Lora"/>
              </a:rPr>
              <a:t>Analogy</a:t>
            </a:r>
            <a:endParaRPr sz="1200">
              <a:solidFill>
                <a:schemeClr val="dk1"/>
              </a:solidFill>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Char char="●"/>
            </a:pPr>
            <a:r>
              <a:rPr lang="en" sz="1200">
                <a:solidFill>
                  <a:schemeClr val="dk1"/>
                </a:solidFill>
                <a:latin typeface="Lora"/>
                <a:ea typeface="Lora"/>
                <a:cs typeface="Lora"/>
                <a:sym typeface="Lora"/>
              </a:rPr>
              <a:t>In 2010-2019 (Training Data): The majority of AIMS students came from a pure mathematics or theoretical physics background. Our model learned that this type of profile was a strong predictor of a future in academia.</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lang="en" sz="1200">
                <a:solidFill>
                  <a:schemeClr val="dk1"/>
                </a:solidFill>
                <a:latin typeface="Lora"/>
                <a:ea typeface="Lora"/>
                <a:cs typeface="Lora"/>
                <a:sym typeface="Lora"/>
              </a:rPr>
              <a:t>By 2025 (New Data): AIMS has become famous for its data science program. The new student cohort has a much higher percentage of students with backgrounds in computer science, statistics, and engineering.</a:t>
            </a:r>
            <a:endParaRPr sz="1200">
              <a:solidFill>
                <a:schemeClr val="dk1"/>
              </a:solidFill>
              <a:latin typeface="Lora"/>
              <a:ea typeface="Lora"/>
              <a:cs typeface="Lora"/>
              <a:sym typeface="Lora"/>
            </a:endParaRPr>
          </a:p>
          <a:p>
            <a:pPr indent="0" lvl="0" marL="0" rtl="0" algn="just">
              <a:lnSpc>
                <a:spcPct val="150000"/>
              </a:lnSpc>
              <a:spcBef>
                <a:spcPts val="1200"/>
              </a:spcBef>
              <a:spcAft>
                <a:spcPts val="1200"/>
              </a:spcAft>
              <a:buNone/>
            </a:pPr>
            <a:r>
              <a:rPr lang="en" sz="1200">
                <a:solidFill>
                  <a:schemeClr val="dk1"/>
                </a:solidFill>
                <a:latin typeface="Lora"/>
                <a:ea typeface="Lora"/>
                <a:cs typeface="Lora"/>
                <a:sym typeface="Lora"/>
              </a:rPr>
              <a:t>The model now sees all these new student profiles that it has little experience with. Because the distribution of student backgrounds has changed so much, its old patterns no longer apply well, and its predictions fail. </a:t>
            </a:r>
            <a:endParaRPr sz="1200">
              <a:solidFill>
                <a:schemeClr val="dk1"/>
              </a:solidFill>
              <a:latin typeface="Lora"/>
              <a:ea typeface="Lora"/>
              <a:cs typeface="Lora"/>
              <a:sym typeface="Lor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6"/>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9. </a:t>
            </a:r>
            <a:r>
              <a:rPr lang="en" sz="2400">
                <a:solidFill>
                  <a:schemeClr val="dk1"/>
                </a:solidFill>
                <a:latin typeface="Lora"/>
                <a:ea typeface="Lora"/>
                <a:cs typeface="Lora"/>
                <a:sym typeface="Lora"/>
              </a:rPr>
              <a:t>Monitoring</a:t>
            </a:r>
            <a:r>
              <a:rPr b="1" lang="en" sz="1200">
                <a:solidFill>
                  <a:schemeClr val="dk1"/>
                </a:solidFill>
                <a:latin typeface="Lora"/>
                <a:ea typeface="Lora"/>
                <a:cs typeface="Lora"/>
                <a:sym typeface="Lora"/>
              </a:rPr>
              <a:t>, </a:t>
            </a:r>
            <a:r>
              <a:rPr lang="en" sz="2400">
                <a:latin typeface="Lora"/>
                <a:ea typeface="Lora"/>
                <a:cs typeface="Lora"/>
                <a:sym typeface="Lora"/>
              </a:rPr>
              <a:t>Maintenance &amp; Drift Detection</a:t>
            </a:r>
            <a:endParaRPr sz="2400">
              <a:latin typeface="Lora"/>
              <a:ea typeface="Lora"/>
              <a:cs typeface="Lora"/>
              <a:sym typeface="Lora"/>
            </a:endParaRPr>
          </a:p>
        </p:txBody>
      </p:sp>
      <p:sp>
        <p:nvSpPr>
          <p:cNvPr id="365" name="Google Shape;365;p56"/>
          <p:cNvSpPr txBox="1"/>
          <p:nvPr/>
        </p:nvSpPr>
        <p:spPr>
          <a:xfrm>
            <a:off x="728850" y="705400"/>
            <a:ext cx="78966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200">
                <a:solidFill>
                  <a:schemeClr val="dk1"/>
                </a:solidFill>
                <a:latin typeface="Lora"/>
                <a:ea typeface="Lora"/>
                <a:cs typeface="Lora"/>
                <a:sym typeface="Lora"/>
              </a:rPr>
              <a:t>Concept Drift: </a:t>
            </a:r>
            <a:r>
              <a:rPr lang="en" sz="1200">
                <a:solidFill>
                  <a:schemeClr val="dk1"/>
                </a:solidFill>
                <a:latin typeface="Lora"/>
                <a:ea typeface="Lora"/>
                <a:cs typeface="Lora"/>
                <a:sym typeface="Lora"/>
              </a:rPr>
              <a:t>It happens when the </a:t>
            </a:r>
            <a:r>
              <a:rPr b="1" lang="en" sz="1200">
                <a:solidFill>
                  <a:schemeClr val="dk1"/>
                </a:solidFill>
                <a:latin typeface="Lora"/>
                <a:ea typeface="Lora"/>
                <a:cs typeface="Lora"/>
                <a:sym typeface="Lora"/>
              </a:rPr>
              <a:t>relationship between the input data and the target outcome changes</a:t>
            </a:r>
            <a:r>
              <a:rPr lang="en" sz="1200">
                <a:solidFill>
                  <a:schemeClr val="dk1"/>
                </a:solidFill>
                <a:latin typeface="Lora"/>
                <a:ea typeface="Lora"/>
                <a:cs typeface="Lora"/>
                <a:sym typeface="Lora"/>
              </a:rPr>
              <a:t>. The data might look the same, but what it </a:t>
            </a:r>
            <a:r>
              <a:rPr i="1" lang="en" sz="1200">
                <a:solidFill>
                  <a:schemeClr val="dk1"/>
                </a:solidFill>
                <a:latin typeface="Lora"/>
                <a:ea typeface="Lora"/>
                <a:cs typeface="Lora"/>
                <a:sym typeface="Lora"/>
              </a:rPr>
              <a:t>means</a:t>
            </a:r>
            <a:r>
              <a:rPr lang="en" sz="1200">
                <a:solidFill>
                  <a:schemeClr val="dk1"/>
                </a:solidFill>
                <a:latin typeface="Lora"/>
                <a:ea typeface="Lora"/>
                <a:cs typeface="Lora"/>
                <a:sym typeface="Lora"/>
              </a:rPr>
              <a:t> has changed</a:t>
            </a:r>
            <a:endParaRPr b="1" sz="1200">
              <a:solidFill>
                <a:schemeClr val="dk1"/>
              </a:solidFill>
              <a:latin typeface="Lora"/>
              <a:ea typeface="Lora"/>
              <a:cs typeface="Lora"/>
              <a:sym typeface="Lora"/>
            </a:endParaRPr>
          </a:p>
        </p:txBody>
      </p:sp>
      <p:sp>
        <p:nvSpPr>
          <p:cNvPr id="366" name="Google Shape;366;p56"/>
          <p:cNvSpPr txBox="1"/>
          <p:nvPr/>
        </p:nvSpPr>
        <p:spPr>
          <a:xfrm>
            <a:off x="652650" y="1343450"/>
            <a:ext cx="7896600" cy="31062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n" sz="1200">
                <a:solidFill>
                  <a:schemeClr val="dk1"/>
                </a:solidFill>
                <a:latin typeface="Lora"/>
                <a:ea typeface="Lora"/>
                <a:cs typeface="Lora"/>
                <a:sym typeface="Lora"/>
              </a:rPr>
              <a:t>Analogy</a:t>
            </a:r>
            <a:endParaRPr sz="1200">
              <a:solidFill>
                <a:schemeClr val="dk1"/>
              </a:solidFill>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In 2010-2019 (Old Meaning):</a:t>
            </a:r>
            <a:r>
              <a:rPr lang="en" sz="1200">
                <a:solidFill>
                  <a:schemeClr val="dk1"/>
                </a:solidFill>
                <a:latin typeface="Lora"/>
                <a:ea typeface="Lora"/>
                <a:cs typeface="Lora"/>
                <a:sym typeface="Lora"/>
              </a:rPr>
              <a:t> A student getting a top grade in the "Machine Learning" course was an almost certain indicator they were on a path to a Ph.D. program in the field. The relationship was: High ML Grade -&gt; Academia.</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By 2025 (New Meaning):</a:t>
            </a:r>
            <a:r>
              <a:rPr lang="en" sz="1200">
                <a:solidFill>
                  <a:schemeClr val="dk1"/>
                </a:solidFill>
                <a:latin typeface="Lora"/>
                <a:ea typeface="Lora"/>
                <a:cs typeface="Lora"/>
                <a:sym typeface="Lora"/>
              </a:rPr>
              <a:t> Major tech companies like Google and Amazon have opened large AI research labs in Cape Town. They actively recruit top AIMS graduates, offering large salaries. Now, getting a top grade in the "Machine Learning" course is an even stronger predictor of an immediate industry job.</a:t>
            </a:r>
            <a:endParaRPr sz="1200">
              <a:solidFill>
                <a:schemeClr val="dk1"/>
              </a:solidFill>
              <a:latin typeface="Lora"/>
              <a:ea typeface="Lora"/>
              <a:cs typeface="Lora"/>
              <a:sym typeface="Lora"/>
            </a:endParaRPr>
          </a:p>
          <a:p>
            <a:pPr indent="0" lvl="0" marL="0" rtl="0" algn="just">
              <a:lnSpc>
                <a:spcPct val="150000"/>
              </a:lnSpc>
              <a:spcBef>
                <a:spcPts val="1200"/>
              </a:spcBef>
              <a:spcAft>
                <a:spcPts val="1200"/>
              </a:spcAft>
              <a:buNone/>
            </a:pPr>
            <a:r>
              <a:rPr lang="en" sz="1200">
                <a:solidFill>
                  <a:schemeClr val="dk1"/>
                </a:solidFill>
                <a:latin typeface="Lora"/>
                <a:ea typeface="Lora"/>
                <a:cs typeface="Lora"/>
                <a:sym typeface="Lora"/>
              </a:rPr>
              <a:t>Here, the input data is the same (a high grade in a course), but the real-world outcome it points to has completely changed. The </a:t>
            </a:r>
            <a:r>
              <a:rPr i="1" lang="en" sz="1200">
                <a:solidFill>
                  <a:schemeClr val="dk1"/>
                </a:solidFill>
                <a:latin typeface="Lora"/>
                <a:ea typeface="Lora"/>
                <a:cs typeface="Lora"/>
                <a:sym typeface="Lora"/>
              </a:rPr>
              <a:t>concept</a:t>
            </a:r>
            <a:r>
              <a:rPr lang="en" sz="1200">
                <a:solidFill>
                  <a:schemeClr val="dk1"/>
                </a:solidFill>
                <a:latin typeface="Lora"/>
                <a:ea typeface="Lora"/>
                <a:cs typeface="Lora"/>
                <a:sym typeface="Lora"/>
              </a:rPr>
              <a:t> of what that high grade implies for a student's future has drifted from academia to industry.</a:t>
            </a:r>
            <a:endParaRPr sz="1300">
              <a:solidFill>
                <a:schemeClr val="dk1"/>
              </a:solidFill>
              <a:latin typeface="Lora"/>
              <a:ea typeface="Lora"/>
              <a:cs typeface="Lora"/>
              <a:sym typeface="Lor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7"/>
          <p:cNvSpPr txBox="1"/>
          <p:nvPr/>
        </p:nvSpPr>
        <p:spPr>
          <a:xfrm>
            <a:off x="612896" y="243588"/>
            <a:ext cx="8128500" cy="886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14. Conclusion &amp; Key Takeaways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372" name="Google Shape;372;p57"/>
          <p:cNvSpPr txBox="1"/>
          <p:nvPr/>
        </p:nvSpPr>
        <p:spPr>
          <a:xfrm>
            <a:off x="536250" y="700975"/>
            <a:ext cx="7896600" cy="1587600"/>
          </a:xfrm>
          <a:prstGeom prst="rect">
            <a:avLst/>
          </a:prstGeom>
          <a:noFill/>
          <a:ln>
            <a:noFill/>
          </a:ln>
        </p:spPr>
        <p:txBody>
          <a:bodyPr anchorCtr="0" anchor="t" bIns="91425" lIns="91425" spcFirstLastPara="1" rIns="91425" wrap="square" tIns="91425">
            <a:spAutoFit/>
          </a:bodyPr>
          <a:lstStyle/>
          <a:p>
            <a:pPr indent="-304800" lvl="0" marL="457200" rtl="0" algn="l">
              <a:lnSpc>
                <a:spcPct val="139979"/>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The End-to-End Machine Learning Lifecycle is a continuous, iterative process that spans from problem definition and data understanding to deployment, monitoring, and maintenance. Each phase is interconnected.</a:t>
            </a:r>
            <a:endParaRPr sz="1200">
              <a:solidFill>
                <a:schemeClr val="dk1"/>
              </a:solidFill>
              <a:latin typeface="Lora"/>
              <a:ea typeface="Lora"/>
              <a:cs typeface="Lora"/>
              <a:sym typeface="Lora"/>
            </a:endParaRPr>
          </a:p>
          <a:p>
            <a:pPr indent="-311150" lvl="0" marL="457200" rtl="0" algn="l">
              <a:lnSpc>
                <a:spcPct val="115000"/>
              </a:lnSpc>
              <a:spcBef>
                <a:spcPts val="0"/>
              </a:spcBef>
              <a:spcAft>
                <a:spcPts val="0"/>
              </a:spcAft>
              <a:buClr>
                <a:schemeClr val="dk1"/>
              </a:buClr>
              <a:buSzPts val="1300"/>
              <a:buFont typeface="Lora"/>
              <a:buChar char="●"/>
            </a:pPr>
            <a:r>
              <a:rPr lang="en" sz="1200">
                <a:solidFill>
                  <a:schemeClr val="dk1"/>
                </a:solidFill>
                <a:latin typeface="Lora"/>
                <a:ea typeface="Lora"/>
                <a:cs typeface="Lora"/>
                <a:sym typeface="Lora"/>
              </a:rPr>
              <a:t>Machine learning doesn’t end when the model is trained. Continuous monitoring, maintenance, and feedback loops are essential to keep the system accurate, fair, and aligned with business goals over time. Treat the lifecycle as a living process, not a one-time project.</a:t>
            </a:r>
            <a:endParaRPr sz="1200">
              <a:solidFill>
                <a:schemeClr val="dk1"/>
              </a:solidFill>
              <a:latin typeface="Lora"/>
              <a:ea typeface="Lora"/>
              <a:cs typeface="Lora"/>
              <a:sym typeface="Lor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8"/>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2</a:t>
            </a:r>
            <a:r>
              <a:rPr lang="en" sz="2400">
                <a:solidFill>
                  <a:schemeClr val="dk1"/>
                </a:solidFill>
                <a:latin typeface="Lora"/>
                <a:ea typeface="Lora"/>
                <a:cs typeface="Lora"/>
                <a:sym typeface="Lora"/>
              </a:rPr>
              <a:t> </a:t>
            </a:r>
            <a:endParaRPr sz="1200">
              <a:latin typeface="Lora"/>
              <a:ea typeface="Lora"/>
              <a:cs typeface="Lora"/>
              <a:sym typeface="Lora"/>
            </a:endParaRPr>
          </a:p>
        </p:txBody>
      </p:sp>
      <p:sp>
        <p:nvSpPr>
          <p:cNvPr id="378" name="Google Shape;378;p58"/>
          <p:cNvSpPr txBox="1"/>
          <p:nvPr/>
        </p:nvSpPr>
        <p:spPr>
          <a:xfrm>
            <a:off x="518050" y="614550"/>
            <a:ext cx="8223300" cy="3963900"/>
          </a:xfrm>
          <a:prstGeom prst="rect">
            <a:avLst/>
          </a:prstGeom>
          <a:noFill/>
          <a:ln>
            <a:noFill/>
          </a:ln>
        </p:spPr>
        <p:txBody>
          <a:bodyPr anchorCtr="0" anchor="t" bIns="91425" lIns="91425" spcFirstLastPara="1" rIns="91425" wrap="square" tIns="91425">
            <a:spAutoFit/>
          </a:bodyPr>
          <a:lstStyle/>
          <a:p>
            <a:pPr indent="0" lvl="0" marL="0" rtl="0" algn="ctr">
              <a:lnSpc>
                <a:spcPct val="139979"/>
              </a:lnSpc>
              <a:spcBef>
                <a:spcPts val="0"/>
              </a:spcBef>
              <a:spcAft>
                <a:spcPts val="0"/>
              </a:spcAft>
              <a:buNone/>
            </a:pPr>
            <a:r>
              <a:rPr b="1" lang="en" sz="1200">
                <a:solidFill>
                  <a:schemeClr val="dk1"/>
                </a:solidFill>
                <a:latin typeface="Lora"/>
                <a:ea typeface="Lora"/>
                <a:cs typeface="Lora"/>
                <a:sym typeface="Lora"/>
              </a:rPr>
              <a:t>Build an end-to-end Fraud Detection system with an Interactive UI</a:t>
            </a:r>
            <a:endParaRPr b="1" sz="1200">
              <a:solidFill>
                <a:schemeClr val="dk1"/>
              </a:solidFill>
              <a:latin typeface="Lora"/>
              <a:ea typeface="Lora"/>
              <a:cs typeface="Lora"/>
              <a:sym typeface="Lora"/>
            </a:endParaRPr>
          </a:p>
          <a:p>
            <a:pPr indent="0" lvl="0" marL="0" rtl="0" algn="ctr">
              <a:lnSpc>
                <a:spcPct val="139979"/>
              </a:lnSpc>
              <a:spcBef>
                <a:spcPts val="0"/>
              </a:spcBef>
              <a:spcAft>
                <a:spcPts val="0"/>
              </a:spcAft>
              <a:buNone/>
            </a:pPr>
            <a:r>
              <a:t/>
            </a:r>
            <a:endParaRPr b="1" sz="1200">
              <a:solidFill>
                <a:schemeClr val="dk1"/>
              </a:solidFill>
              <a:latin typeface="Lora"/>
              <a:ea typeface="Lora"/>
              <a:cs typeface="Lora"/>
              <a:sym typeface="Lora"/>
            </a:endParaRPr>
          </a:p>
          <a:p>
            <a:pPr indent="0" lvl="0" marL="0" rtl="0" algn="just">
              <a:lnSpc>
                <a:spcPct val="139979"/>
              </a:lnSpc>
              <a:spcBef>
                <a:spcPts val="0"/>
              </a:spcBef>
              <a:spcAft>
                <a:spcPts val="0"/>
              </a:spcAft>
              <a:buNone/>
            </a:pPr>
            <a:r>
              <a:rPr lang="en" sz="900">
                <a:solidFill>
                  <a:schemeClr val="dk1"/>
                </a:solidFill>
                <a:latin typeface="Lora"/>
                <a:ea typeface="Lora"/>
                <a:cs typeface="Lora"/>
                <a:sym typeface="Lora"/>
              </a:rPr>
              <a:t>The goal is to use the Dagster pipeline demonstrated in the course as inspiration to design and implement a completely new pipeline that trains, validates, and deploys a machine learning model for credit card fraud detection. </a:t>
            </a:r>
            <a:endParaRPr sz="900">
              <a:solidFill>
                <a:schemeClr val="dk1"/>
              </a:solidFill>
              <a:latin typeface="Lora"/>
              <a:ea typeface="Lora"/>
              <a:cs typeface="Lora"/>
              <a:sym typeface="Lora"/>
            </a:endParaRPr>
          </a:p>
          <a:p>
            <a:pPr indent="0" lvl="0" marL="0" rtl="0" algn="just">
              <a:lnSpc>
                <a:spcPct val="139979"/>
              </a:lnSpc>
              <a:spcBef>
                <a:spcPts val="0"/>
              </a:spcBef>
              <a:spcAft>
                <a:spcPts val="0"/>
              </a:spcAft>
              <a:buNone/>
            </a:pPr>
            <a:r>
              <a:rPr b="1" lang="en" sz="900">
                <a:solidFill>
                  <a:schemeClr val="dk1"/>
                </a:solidFill>
                <a:latin typeface="Lora"/>
                <a:ea typeface="Lora"/>
                <a:cs typeface="Lora"/>
                <a:sym typeface="Lora"/>
              </a:rPr>
              <a:t>Instructions</a:t>
            </a:r>
            <a:r>
              <a:rPr lang="en" sz="900">
                <a:solidFill>
                  <a:schemeClr val="dk1"/>
                </a:solidFill>
                <a:latin typeface="Lora"/>
                <a:ea typeface="Lora"/>
                <a:cs typeface="Lora"/>
                <a:sym typeface="Lora"/>
              </a:rPr>
              <a:t>:</a:t>
            </a:r>
            <a:endParaRPr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Use the dataset available at </a:t>
            </a:r>
            <a:r>
              <a:rPr lang="en" sz="900" u="sng">
                <a:solidFill>
                  <a:schemeClr val="hlink"/>
                </a:solidFill>
                <a:latin typeface="Lora"/>
                <a:ea typeface="Lora"/>
                <a:cs typeface="Lora"/>
                <a:sym typeface="Lora"/>
                <a:hlinkClick r:id="rId3"/>
              </a:rPr>
              <a:t>this </a:t>
            </a:r>
            <a:r>
              <a:rPr lang="en" sz="900" u="sng">
                <a:solidFill>
                  <a:schemeClr val="hlink"/>
                </a:solidFill>
                <a:latin typeface="Lora"/>
                <a:ea typeface="Lora"/>
                <a:cs typeface="Lora"/>
                <a:sym typeface="Lora"/>
                <a:hlinkClick r:id="rId4"/>
              </a:rPr>
              <a:t>link</a:t>
            </a:r>
            <a:r>
              <a:rPr lang="en" sz="900">
                <a:solidFill>
                  <a:schemeClr val="dk1"/>
                </a:solidFill>
                <a:latin typeface="Lora"/>
                <a:ea typeface="Lora"/>
                <a:cs typeface="Lora"/>
                <a:sym typeface="Lora"/>
              </a:rPr>
              <a:t>: use pd.read_csv(url) to read the data.</a:t>
            </a:r>
            <a:endParaRPr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Split the data into 80% training and 20% test. </a:t>
            </a:r>
            <a:endParaRPr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On the 80% training, use 3-fold cross-validation to tune the </a:t>
            </a:r>
            <a:r>
              <a:rPr lang="en" sz="900">
                <a:solidFill>
                  <a:schemeClr val="dk1"/>
                </a:solidFill>
                <a:latin typeface="Lora"/>
                <a:ea typeface="Lora"/>
                <a:cs typeface="Lora"/>
                <a:sym typeface="Lora"/>
              </a:rPr>
              <a:t>hyperparameters (gridsearch) using a RandomForest Classifier.</a:t>
            </a:r>
            <a:r>
              <a:rPr lang="en" sz="900">
                <a:solidFill>
                  <a:schemeClr val="dk1"/>
                </a:solidFill>
                <a:latin typeface="Lora"/>
                <a:ea typeface="Lora"/>
                <a:cs typeface="Lora"/>
                <a:sym typeface="Lora"/>
              </a:rPr>
              <a:t> Log all trials as MLflow nested runs ( Choose only one hyperparameter to tune). </a:t>
            </a:r>
            <a:r>
              <a:rPr b="1" lang="en" sz="900">
                <a:solidFill>
                  <a:schemeClr val="dk1"/>
                </a:solidFill>
                <a:latin typeface="Lora"/>
                <a:ea typeface="Lora"/>
                <a:cs typeface="Lora"/>
                <a:sym typeface="Lora"/>
              </a:rPr>
              <a:t>20 points (add relevant screenshots to your PR description on github)</a:t>
            </a:r>
            <a:endParaRPr b="1"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On the </a:t>
            </a:r>
            <a:r>
              <a:rPr lang="en" sz="900">
                <a:solidFill>
                  <a:schemeClr val="dk1"/>
                </a:solidFill>
                <a:latin typeface="Lora"/>
                <a:ea typeface="Lora"/>
                <a:cs typeface="Lora"/>
                <a:sym typeface="Lora"/>
              </a:rPr>
              <a:t>test</a:t>
            </a:r>
            <a:r>
              <a:rPr lang="en" sz="900">
                <a:solidFill>
                  <a:schemeClr val="dk1"/>
                </a:solidFill>
                <a:latin typeface="Lora"/>
                <a:ea typeface="Lora"/>
                <a:cs typeface="Lora"/>
                <a:sym typeface="Lora"/>
              </a:rPr>
              <a:t> asset (20% of data), generate a confusion matrix plot or any other useful plot for model evaluation and log it as an image artifact in MLflow. </a:t>
            </a:r>
            <a:r>
              <a:rPr b="1" lang="en" sz="900">
                <a:solidFill>
                  <a:schemeClr val="dk1"/>
                </a:solidFill>
                <a:latin typeface="Lora"/>
                <a:ea typeface="Lora"/>
                <a:cs typeface="Lora"/>
                <a:sym typeface="Lora"/>
              </a:rPr>
              <a:t>10 points (add relevant screenshots to your PR description on github)</a:t>
            </a:r>
            <a:endParaRPr b="1"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In the last asset in your dagster pipeline, send a message into the slack channel with the ML prediction performance on the test set (any classification metric of your choice, but indicate the metric in your slack message!) &amp;  your favourite emoji</a:t>
            </a:r>
            <a:r>
              <a:rPr lang="en" sz="900">
                <a:solidFill>
                  <a:schemeClr val="dk1"/>
                </a:solidFill>
                <a:latin typeface="Lora"/>
                <a:ea typeface="Lora"/>
                <a:cs typeface="Lora"/>
                <a:sym typeface="Lora"/>
              </a:rPr>
              <a:t>. Note that we don't care about the skill of your ML model! </a:t>
            </a:r>
            <a:r>
              <a:rPr b="1" lang="en" sz="900">
                <a:solidFill>
                  <a:schemeClr val="dk1"/>
                </a:solidFill>
                <a:latin typeface="Lora"/>
                <a:ea typeface="Lora"/>
                <a:cs typeface="Lora"/>
                <a:sym typeface="Lora"/>
              </a:rPr>
              <a:t>20 points</a:t>
            </a:r>
            <a:endParaRPr b="1" sz="900">
              <a:solidFill>
                <a:schemeClr val="dk1"/>
              </a:solidFill>
              <a:latin typeface="Lora"/>
              <a:ea typeface="Lora"/>
              <a:cs typeface="Lora"/>
              <a:sym typeface="Lora"/>
            </a:endParaRPr>
          </a:p>
          <a:p>
            <a:pPr indent="-285750" lvl="0" marL="457200" rtl="0" algn="just">
              <a:lnSpc>
                <a:spcPct val="115000"/>
              </a:lnSpc>
              <a:spcBef>
                <a:spcPts val="0"/>
              </a:spcBef>
              <a:spcAft>
                <a:spcPts val="0"/>
              </a:spcAft>
              <a:buClr>
                <a:schemeClr val="dk1"/>
              </a:buClr>
              <a:buSzPts val="900"/>
              <a:buFont typeface="Lora"/>
              <a:buChar char="●"/>
            </a:pPr>
            <a:r>
              <a:rPr lang="en" sz="900">
                <a:solidFill>
                  <a:schemeClr val="dk1"/>
                </a:solidFill>
                <a:highlight>
                  <a:schemeClr val="lt1"/>
                </a:highlight>
                <a:latin typeface="Lora"/>
                <a:ea typeface="Lora"/>
                <a:cs typeface="Lora"/>
                <a:sym typeface="Lora"/>
              </a:rPr>
              <a:t>Start a local server that listens on a specified port to serve your model. Test your model from the terminal and record a screenshot of the response. </a:t>
            </a:r>
            <a:r>
              <a:rPr b="1" lang="en" sz="900">
                <a:solidFill>
                  <a:schemeClr val="dk1"/>
                </a:solidFill>
                <a:highlight>
                  <a:schemeClr val="lt1"/>
                </a:highlight>
                <a:latin typeface="Lora"/>
                <a:ea typeface="Lora"/>
                <a:cs typeface="Lora"/>
                <a:sym typeface="Lora"/>
              </a:rPr>
              <a:t>20 points (add relevant screenshots to your PR description on github)</a:t>
            </a:r>
            <a:endParaRPr b="1" sz="900">
              <a:solidFill>
                <a:schemeClr val="dk1"/>
              </a:solidFill>
              <a:highlight>
                <a:schemeClr val="lt1"/>
              </a:highlight>
              <a:latin typeface="Lora"/>
              <a:ea typeface="Lora"/>
              <a:cs typeface="Lora"/>
              <a:sym typeface="Lora"/>
            </a:endParaRPr>
          </a:p>
          <a:p>
            <a:pPr indent="-285750" lvl="0" marL="457200" rtl="0" algn="just">
              <a:lnSpc>
                <a:spcPct val="115000"/>
              </a:lnSpc>
              <a:spcBef>
                <a:spcPts val="0"/>
              </a:spcBef>
              <a:spcAft>
                <a:spcPts val="0"/>
              </a:spcAft>
              <a:buClr>
                <a:schemeClr val="dk1"/>
              </a:buClr>
              <a:buSzPts val="900"/>
              <a:buFont typeface="Lora"/>
              <a:buChar char="●"/>
            </a:pPr>
            <a:r>
              <a:rPr lang="en" sz="900">
                <a:solidFill>
                  <a:schemeClr val="dk1"/>
                </a:solidFill>
                <a:highlight>
                  <a:schemeClr val="lt1"/>
                </a:highlight>
                <a:latin typeface="Lora"/>
                <a:ea typeface="Lora"/>
                <a:cs typeface="Lora"/>
                <a:sym typeface="Lora"/>
              </a:rPr>
              <a:t>Deploy the last promoted model from MLflow, into a gradio application (see gradio heart disease app for inspiration). </a:t>
            </a:r>
            <a:r>
              <a:rPr b="1" lang="en" sz="900">
                <a:solidFill>
                  <a:schemeClr val="dk1"/>
                </a:solidFill>
                <a:highlight>
                  <a:schemeClr val="lt1"/>
                </a:highlight>
                <a:latin typeface="Lora"/>
                <a:ea typeface="Lora"/>
                <a:cs typeface="Lora"/>
                <a:sym typeface="Lora"/>
              </a:rPr>
              <a:t>20 points (include link to OpenAPI URL on GCP in your PR description on github)</a:t>
            </a:r>
            <a:endParaRPr b="1" sz="900">
              <a:solidFill>
                <a:schemeClr val="dk1"/>
              </a:solidFill>
              <a:highlight>
                <a:schemeClr val="lt1"/>
              </a:highlight>
              <a:latin typeface="Lora"/>
              <a:ea typeface="Lora"/>
              <a:cs typeface="Lora"/>
              <a:sym typeface="Lora"/>
            </a:endParaRPr>
          </a:p>
          <a:p>
            <a:pPr indent="-285750" lvl="0" marL="457200" rtl="0" algn="just">
              <a:lnSpc>
                <a:spcPct val="115000"/>
              </a:lnSpc>
              <a:spcBef>
                <a:spcPts val="0"/>
              </a:spcBef>
              <a:spcAft>
                <a:spcPts val="0"/>
              </a:spcAft>
              <a:buClr>
                <a:schemeClr val="dk1"/>
              </a:buClr>
              <a:buSzPts val="900"/>
              <a:buFont typeface="Lora"/>
              <a:buChar char="●"/>
            </a:pPr>
            <a:r>
              <a:rPr lang="en" sz="900">
                <a:solidFill>
                  <a:schemeClr val="dk1"/>
                </a:solidFill>
                <a:highlight>
                  <a:schemeClr val="lt1"/>
                </a:highlight>
                <a:latin typeface="Lora"/>
                <a:ea typeface="Lora"/>
                <a:cs typeface="Lora"/>
                <a:sym typeface="Lora"/>
              </a:rPr>
              <a:t>Add anything else you can think of — be creative. </a:t>
            </a:r>
            <a:r>
              <a:rPr b="1" lang="en" sz="900">
                <a:solidFill>
                  <a:schemeClr val="dk1"/>
                </a:solidFill>
                <a:highlight>
                  <a:schemeClr val="lt1"/>
                </a:highlight>
                <a:latin typeface="Lora"/>
                <a:ea typeface="Lora"/>
                <a:cs typeface="Lora"/>
                <a:sym typeface="Lora"/>
              </a:rPr>
              <a:t>10 points (mention your addition in your PR description on github)</a:t>
            </a:r>
            <a:endParaRPr b="1" sz="900">
              <a:solidFill>
                <a:schemeClr val="dk1"/>
              </a:solidFill>
              <a:highlight>
                <a:schemeClr val="lt1"/>
              </a:highlight>
              <a:latin typeface="Lora"/>
              <a:ea typeface="Lora"/>
              <a:cs typeface="Lora"/>
              <a:sym typeface="Lora"/>
            </a:endParaRPr>
          </a:p>
          <a:p>
            <a:pPr indent="-285750" lvl="0" marL="457200" rtl="0" algn="just">
              <a:lnSpc>
                <a:spcPct val="115000"/>
              </a:lnSpc>
              <a:spcBef>
                <a:spcPts val="0"/>
              </a:spcBef>
              <a:spcAft>
                <a:spcPts val="0"/>
              </a:spcAft>
              <a:buClr>
                <a:schemeClr val="dk1"/>
              </a:buClr>
              <a:buSzPts val="900"/>
              <a:buFont typeface="Lora"/>
              <a:buChar char="●"/>
            </a:pPr>
            <a:r>
              <a:rPr b="1" lang="en" sz="900">
                <a:solidFill>
                  <a:schemeClr val="dk1"/>
                </a:solidFill>
                <a:highlight>
                  <a:schemeClr val="lt1"/>
                </a:highlight>
                <a:latin typeface="Lora"/>
                <a:ea typeface="Lora"/>
                <a:cs typeface="Lora"/>
                <a:sym typeface="Lora"/>
              </a:rPr>
              <a:t>Final submission: in the slack channel, send us a link to your merged  PR in github with all relevant screenshots &amp; the GCP URL. </a:t>
            </a:r>
            <a:endParaRPr b="1" sz="900">
              <a:solidFill>
                <a:schemeClr val="dk1"/>
              </a:solidFill>
              <a:highlight>
                <a:schemeClr val="lt1"/>
              </a:highlight>
              <a:latin typeface="Lora"/>
              <a:ea typeface="Lora"/>
              <a:cs typeface="Lora"/>
              <a:sym typeface="Lora"/>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9"/>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2 </a:t>
            </a:r>
            <a:endParaRPr sz="1200">
              <a:latin typeface="Lora"/>
              <a:ea typeface="Lora"/>
              <a:cs typeface="Lora"/>
              <a:sym typeface="Lora"/>
            </a:endParaRPr>
          </a:p>
        </p:txBody>
      </p:sp>
      <p:sp>
        <p:nvSpPr>
          <p:cNvPr id="384" name="Google Shape;384;p59"/>
          <p:cNvSpPr txBox="1"/>
          <p:nvPr/>
        </p:nvSpPr>
        <p:spPr>
          <a:xfrm>
            <a:off x="518050" y="690750"/>
            <a:ext cx="8223300" cy="3909000"/>
          </a:xfrm>
          <a:prstGeom prst="rect">
            <a:avLst/>
          </a:prstGeom>
          <a:noFill/>
          <a:ln>
            <a:noFill/>
          </a:ln>
        </p:spPr>
        <p:txBody>
          <a:bodyPr anchorCtr="0" anchor="t" bIns="91425" lIns="91425" spcFirstLastPara="1" rIns="91425" wrap="square" tIns="91425">
            <a:spAutoFit/>
          </a:bodyPr>
          <a:lstStyle/>
          <a:p>
            <a:pPr indent="0" lvl="0" marL="0" rtl="0" algn="just">
              <a:lnSpc>
                <a:spcPct val="139979"/>
              </a:lnSpc>
              <a:spcBef>
                <a:spcPts val="0"/>
              </a:spcBef>
              <a:spcAft>
                <a:spcPts val="0"/>
              </a:spcAft>
              <a:buNone/>
            </a:pPr>
            <a:r>
              <a:rPr b="1" lang="en" sz="1100">
                <a:solidFill>
                  <a:schemeClr val="dk1"/>
                </a:solidFill>
                <a:latin typeface="Lora"/>
                <a:ea typeface="Lora"/>
                <a:cs typeface="Lora"/>
                <a:sym typeface="Lora"/>
              </a:rPr>
              <a:t>Guidelines</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Make sure you are working from your feature branch</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Create a new folder in the dagster folder, and call it "ml_fraud"</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Create new dagster files in the "ml_fraud" folder. Be inspired by the code already in the "ml" folder</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Create a new Dagster job called "fraud_detection" and add it to the main "Definitions" concept, so that it appears in the jobs tab in the Dagster UI</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Make sure you edit definition.py file to include the new resources you added in your </a:t>
            </a:r>
            <a:r>
              <a:rPr lang="en" sz="1100">
                <a:solidFill>
                  <a:schemeClr val="dk1"/>
                </a:solidFill>
                <a:latin typeface="Lora"/>
                <a:ea typeface="Lora"/>
                <a:cs typeface="Lora"/>
                <a:sym typeface="Lora"/>
              </a:rPr>
              <a:t>"ml_fraud" folder</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highlight>
                  <a:schemeClr val="lt1"/>
                </a:highlight>
                <a:latin typeface="Lora"/>
                <a:ea typeface="Lora"/>
                <a:cs typeface="Lora"/>
                <a:sym typeface="Lora"/>
              </a:rPr>
              <a:t>Don't recreate this mlflow_resource in the resources.py file in the ml_fraud folder. Instead import directly from the ml folder</a:t>
            </a:r>
            <a:endParaRPr sz="1100">
              <a:solidFill>
                <a:schemeClr val="dk1"/>
              </a:solidFill>
              <a:highlight>
                <a:schemeClr val="lt1"/>
              </a:highlight>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Tip: start small with one asset, then run the job in the Dagster UI. If it works, add another asset, and so on.</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Raise a PR to merge your feature branch into the development branch</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Merge the PR</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b="1" lang="en" sz="1100">
                <a:solidFill>
                  <a:schemeClr val="dk1"/>
                </a:solidFill>
                <a:latin typeface="Lora"/>
                <a:ea typeface="Lora"/>
                <a:cs typeface="Lora"/>
                <a:sym typeface="Lora"/>
              </a:rPr>
              <a:t>Delete your feature branch from github immediately after merging</a:t>
            </a:r>
            <a:endParaRPr b="1"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b="1" lang="en" sz="1100">
                <a:solidFill>
                  <a:schemeClr val="dk1"/>
                </a:solidFill>
                <a:latin typeface="Lora"/>
                <a:ea typeface="Lora"/>
                <a:cs typeface="Lora"/>
                <a:sym typeface="Lora"/>
              </a:rPr>
              <a:t>Final submission: in the slack channel, send us a link to your merged PR in github with all relevant screenshots &amp; the GCP URL. </a:t>
            </a:r>
            <a:endParaRPr b="1" sz="1100">
              <a:solidFill>
                <a:schemeClr val="dk1"/>
              </a:solidFill>
              <a:latin typeface="Lora"/>
              <a:ea typeface="Lora"/>
              <a:cs typeface="Lora"/>
              <a:sym typeface="Lora"/>
            </a:endParaRPr>
          </a:p>
          <a:p>
            <a:pPr indent="0" lvl="0" marL="0" rtl="0" algn="l">
              <a:lnSpc>
                <a:spcPct val="139979"/>
              </a:lnSpc>
              <a:spcBef>
                <a:spcPts val="0"/>
              </a:spcBef>
              <a:spcAft>
                <a:spcPts val="0"/>
              </a:spcAft>
              <a:buNone/>
            </a:pPr>
            <a:r>
              <a:rPr b="1" lang="en" sz="1100">
                <a:solidFill>
                  <a:schemeClr val="dk1"/>
                </a:solidFill>
                <a:latin typeface="Lora"/>
                <a:ea typeface="Lora"/>
                <a:cs typeface="Lora"/>
                <a:sym typeface="Lora"/>
              </a:rPr>
              <a:t>TIP</a:t>
            </a:r>
            <a:r>
              <a:rPr lang="en" sz="1100">
                <a:solidFill>
                  <a:schemeClr val="dk1"/>
                </a:solidFill>
                <a:latin typeface="Lora"/>
                <a:ea typeface="Lora"/>
                <a:cs typeface="Lora"/>
                <a:sym typeface="Lora"/>
              </a:rPr>
              <a:t>: use GenAI to help you. But beware — it often gives rubbish code, especially dagster code since it is a new framework!</a:t>
            </a:r>
            <a:endParaRPr sz="1100">
              <a:solidFill>
                <a:schemeClr val="dk1"/>
              </a:solidFill>
              <a:latin typeface="Lora"/>
              <a:ea typeface="Lora"/>
              <a:cs typeface="Lora"/>
              <a:sym typeface="Lor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0"/>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2</a:t>
            </a:r>
            <a:r>
              <a:rPr lang="en" sz="2400">
                <a:solidFill>
                  <a:schemeClr val="dk1"/>
                </a:solidFill>
                <a:latin typeface="Lora"/>
                <a:ea typeface="Lora"/>
                <a:cs typeface="Lora"/>
                <a:sym typeface="Lora"/>
              </a:rPr>
              <a:t> </a:t>
            </a:r>
            <a:endParaRPr sz="1200">
              <a:latin typeface="Lora"/>
              <a:ea typeface="Lora"/>
              <a:cs typeface="Lora"/>
              <a:sym typeface="Lora"/>
            </a:endParaRPr>
          </a:p>
        </p:txBody>
      </p:sp>
      <p:pic>
        <p:nvPicPr>
          <p:cNvPr id="390" name="Google Shape;390;p60"/>
          <p:cNvPicPr preferRelativeResize="0"/>
          <p:nvPr/>
        </p:nvPicPr>
        <p:blipFill>
          <a:blip r:embed="rId3">
            <a:alphaModFix/>
          </a:blip>
          <a:stretch>
            <a:fillRect/>
          </a:stretch>
        </p:blipFill>
        <p:spPr>
          <a:xfrm>
            <a:off x="152400" y="689095"/>
            <a:ext cx="8839204" cy="2999632"/>
          </a:xfrm>
          <a:prstGeom prst="rect">
            <a:avLst/>
          </a:prstGeom>
          <a:noFill/>
          <a:ln>
            <a:noFill/>
          </a:ln>
        </p:spPr>
      </p:pic>
      <p:sp>
        <p:nvSpPr>
          <p:cNvPr id="391" name="Google Shape;391;p60"/>
          <p:cNvSpPr txBox="1"/>
          <p:nvPr/>
        </p:nvSpPr>
        <p:spPr>
          <a:xfrm>
            <a:off x="5094300" y="689100"/>
            <a:ext cx="1442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ora"/>
                <a:ea typeface="Lora"/>
                <a:cs typeface="Lora"/>
                <a:sym typeface="Lora"/>
              </a:rPr>
              <a:t>Full starting </a:t>
            </a:r>
            <a:endParaRPr sz="1200">
              <a:solidFill>
                <a:schemeClr val="dk1"/>
              </a:solidFill>
              <a:latin typeface="Lora"/>
              <a:ea typeface="Lora"/>
              <a:cs typeface="Lora"/>
              <a:sym typeface="Lora"/>
            </a:endParaRPr>
          </a:p>
          <a:p>
            <a:pPr indent="0" lvl="0" marL="0" rtl="0" algn="l">
              <a:spcBef>
                <a:spcPts val="0"/>
              </a:spcBef>
              <a:spcAft>
                <a:spcPts val="0"/>
              </a:spcAft>
              <a:buNone/>
            </a:pPr>
            <a:r>
              <a:rPr lang="en" sz="1200">
                <a:solidFill>
                  <a:schemeClr val="dk1"/>
                </a:solidFill>
                <a:latin typeface="Lora"/>
                <a:ea typeface="Lora"/>
                <a:cs typeface="Lora"/>
                <a:sym typeface="Lora"/>
              </a:rPr>
              <a:t>dataset</a:t>
            </a:r>
            <a:endParaRPr sz="1200">
              <a:solidFill>
                <a:schemeClr val="dk1"/>
              </a:solidFill>
              <a:latin typeface="Lora"/>
              <a:ea typeface="Lora"/>
              <a:cs typeface="Lora"/>
              <a:sym typeface="Lor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1"/>
          <p:cNvSpPr txBox="1"/>
          <p:nvPr/>
        </p:nvSpPr>
        <p:spPr>
          <a:xfrm>
            <a:off x="612896" y="243588"/>
            <a:ext cx="8128500" cy="4506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Q&amp;A</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397" name="Google Shape;397;p61"/>
          <p:cNvSpPr txBox="1"/>
          <p:nvPr/>
        </p:nvSpPr>
        <p:spPr>
          <a:xfrm>
            <a:off x="486900" y="700975"/>
            <a:ext cx="7896600" cy="26781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1"/>
              </a:buClr>
              <a:buSzPts val="1100"/>
              <a:buChar char="●"/>
            </a:pPr>
            <a:r>
              <a:rPr lang="en" sz="1100">
                <a:solidFill>
                  <a:schemeClr val="dk1"/>
                </a:solidFill>
              </a:rPr>
              <a:t>"Questions?"</a:t>
            </a:r>
            <a:endParaRPr sz="1100">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