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2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y="5143500" cx="9144000"/>
  <p:notesSz cx="6858000" cy="9144000"/>
  <p:embeddedFontLst>
    <p:embeddedFont>
      <p:font typeface="Montserrat"/>
      <p:regular r:id="rId31"/>
      <p:bold r:id="rId32"/>
      <p:italic r:id="rId33"/>
      <p:boldItalic r:id="rId34"/>
    </p:embeddedFont>
    <p:embeddedFont>
      <p:font typeface="Lora"/>
      <p:regular r:id="rId35"/>
      <p:bold r:id="rId36"/>
      <p:italic r:id="rId37"/>
      <p:boldItalic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D750944-538E-481D-A2F3-CD2584F47FC3}">
  <a:tblStyle styleId="{4D750944-538E-481D-A2F3-CD2584F47F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DA4846BF-35AD-4495-B0B3-F6E9F92FA0DE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regular.fntdata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4.xml"/><Relationship Id="rId32" Type="http://schemas.openxmlformats.org/officeDocument/2006/relationships/font" Target="fonts/Montserrat-bold.fntdata"/><Relationship Id="rId13" Type="http://schemas.openxmlformats.org/officeDocument/2006/relationships/slide" Target="slides/slide7.xml"/><Relationship Id="rId35" Type="http://schemas.openxmlformats.org/officeDocument/2006/relationships/font" Target="fonts/Lora-regular.fntdata"/><Relationship Id="rId12" Type="http://schemas.openxmlformats.org/officeDocument/2006/relationships/slide" Target="slides/slide6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9.xml"/><Relationship Id="rId37" Type="http://schemas.openxmlformats.org/officeDocument/2006/relationships/font" Target="fonts/Lora-italic.fntdata"/><Relationship Id="rId14" Type="http://schemas.openxmlformats.org/officeDocument/2006/relationships/slide" Target="slides/slide8.xml"/><Relationship Id="rId36" Type="http://schemas.openxmlformats.org/officeDocument/2006/relationships/font" Target="fonts/Lora-bold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38" Type="http://schemas.openxmlformats.org/officeDocument/2006/relationships/font" Target="fonts/Lora-boldItalic.fntdata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7e5bede65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0" name="Google Shape;60;g37e5bede65f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7d70996d1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7d70996d19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8ddb8cddc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3" name="Google Shape;73;g38ddb8cddce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667610437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6" name="Google Shape;86;g34667610437_0_37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74649b2509_0_8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g374649b2509_0_8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4649b2509_0_8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74649b2509_0_8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4649b2509_0_90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374649b2509_0_9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74649b2509_0_93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g374649b2509_0_9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74649b2509_0_9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g374649b2509_0_9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4649b2509_0_100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g374649b2509_0_10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74649b2509_0_102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g374649b2509_0_10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74649b2509_0_128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g374649b2509_0_12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74649b2509_0_10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g374649b2509_0_10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74649b2509_0_10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74649b2509_0_10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74649b2509_0_110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74649b2509_0_1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74649b2509_0_11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74649b2509_0_1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74649b2509_0_112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g374649b2509_0_11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74649b2509_0_113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74649b2509_0_11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74649b2509_0_114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g374649b2509_0_11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74649b2509_0_114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g374649b2509_0_11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e183c03f0_0_7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g38e183c03f0_0_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8e183c03f0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g38e183c03f0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8e183c03f0_0_7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8e183c03f0_0_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2 Content">
  <p:cSld name="Title and 2 Content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3"/>
          <p:cNvSpPr txBox="1"/>
          <p:nvPr>
            <p:ph idx="1" type="body"/>
          </p:nvPr>
        </p:nvSpPr>
        <p:spPr>
          <a:xfrm>
            <a:off x="503238" y="1517650"/>
            <a:ext cx="3960900" cy="29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/>
            </a:lvl2pPr>
            <a:lvl3pPr indent="-31432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2" type="body"/>
          </p:nvPr>
        </p:nvSpPr>
        <p:spPr>
          <a:xfrm>
            <a:off x="4679951" y="1517650"/>
            <a:ext cx="3960900" cy="29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800"/>
              <a:buChar char="–"/>
              <a:defRPr/>
            </a:lvl2pPr>
            <a:lvl3pPr indent="-314325" lvl="2" marL="137160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350"/>
              <a:buChar char="•"/>
              <a:defRPr/>
            </a:lvl3pPr>
            <a:lvl4pPr indent="-314325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50"/>
              <a:buChar char="–"/>
              <a:defRPr/>
            </a:lvl4pPr>
            <a:lvl5pPr indent="-314325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35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11" type="ftr"/>
          </p:nvPr>
        </p:nvSpPr>
        <p:spPr>
          <a:xfrm>
            <a:off x="518928" y="4784763"/>
            <a:ext cx="6032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b="0" i="0" sz="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" name="Google Shape;57;p13"/>
          <p:cNvSpPr txBox="1"/>
          <p:nvPr>
            <p:ph type="title"/>
          </p:nvPr>
        </p:nvSpPr>
        <p:spPr>
          <a:xfrm>
            <a:off x="503238" y="56272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6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1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ora"/>
              <a:buNone/>
              <a:defRPr sz="2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ora"/>
              <a:buChar char="●"/>
              <a:defRPr sz="18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●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○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ora"/>
              <a:buChar char="■"/>
              <a:defRPr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2148" y="4782312"/>
            <a:ext cx="1188720" cy="297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54577" y="4779825"/>
            <a:ext cx="1188721" cy="237744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s://gist.github.com/oliverangelil/170bf42bca47517e181f4315756b8695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github.com/apache/spark" TargetMode="External"/><Relationship Id="rId4" Type="http://schemas.openxmlformats.org/officeDocument/2006/relationships/hyperlink" Target="https://github.com/pola-rs/polars" TargetMode="External"/><Relationship Id="rId5" Type="http://schemas.openxmlformats.org/officeDocument/2006/relationships/hyperlink" Target="https://github.com/pandas-dev/pandas" TargetMode="Externa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pola-rs/polars?tab=readme-ov-file" TargetMode="External"/><Relationship Id="rId4" Type="http://schemas.openxmlformats.org/officeDocument/2006/relationships/hyperlink" Target="https://duckdblabs.github.io/db-benchmark/" TargetMode="External"/><Relationship Id="rId5" Type="http://schemas.openxmlformats.org/officeDocument/2006/relationships/image" Target="../media/image2.png"/><Relationship Id="rId6" Type="http://schemas.openxmlformats.org/officeDocument/2006/relationships/image" Target="../media/image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chatgpt.com/share/672f119b-eca0-8005-a9d4-cca44a093c49" TargetMode="External"/><Relationship Id="rId4" Type="http://schemas.openxmlformats.org/officeDocument/2006/relationships/image" Target="../media/image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github.com/oliverangelil/AIMS_course_Pandas_vs_Polar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10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486900" y="700975"/>
            <a:ext cx="7896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Please receive the quiz handout from Cyrille, Oliver, Vincent, Jan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Complete the quiz in silence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Hand the quiz back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10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191200" y="700975"/>
            <a:ext cx="47094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What is the primary function of the MLflow Tracking component?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serve as a central, versioned repository for models ready for deployment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deploy the model to a production environment for real-time inference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log parameters, code versions, metrics, and artifacts from machine learning code runs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provide a standard format for packaging machine learning models that can be easily deployed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Why might you avoid using mlflow.autolog() in production code?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 requires a paid subscription to use in a production environment.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 only works for the Scikit-learn library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 significantly slows down the model training process compared to manual logging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 logs everything by default, which can be noisy, and the hidden process makes debugging harder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MLflow CLI command is used to deploy a registered model as a local REST API endpoint for real-time predictions?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mlflow models predict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mlflow models deploy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mlflow ui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mlflow models serve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4682225" y="777175"/>
            <a:ext cx="41595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data scientist tries to re-run its training notebook with the same code, but gets different results. What is a primary cause for this Lack of Reproducibility in traditional ML workflows?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model's performance in production was drifting over time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colleague's computer has a different processor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exact library versions and data preprocessing steps were not saved and versioned with the experiment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colleague used a different algorithm to train the model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the primary benefit of using MLflow in conjunction with an orchestrator like Dagster</a:t>
            </a: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 automate &amp; log the end-to-end ML workflow, from experimentation to deployment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 be able to monitor concept &amp; data drift more reliably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 manage and version the source code in a Git repository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 provide a standard format for packaging machine learning models.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>
                <a:latin typeface="Lora"/>
                <a:ea typeface="Lora"/>
                <a:cs typeface="Lora"/>
                <a:sym typeface="Lora"/>
              </a:rPr>
              <a:t>Quiz on Lecture 10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 (Answers)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191200" y="700975"/>
            <a:ext cx="47094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What is the primary function of the MLflow Tracking component?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serve as a central, versioned repository for models ready for deployment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deploy the model to a production environment for real-time inference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log parameters, code versions, metrics, and artifacts from machine learning code runs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To provide a standard format for packaging machine learning models that can be easily deployed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Why might you avoid using mlflow.autolog() in production code?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 requires a paid subscription to use in a production environment.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 only works for the Scikit-learn library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 significantly slows down the model training process compared to manual logging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 logs everything by default, which can be noisy, and the hidden process makes debugging harder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Which MLflow CLI command is used to deploy a registered model as a local REST API endpoint for real-time predictions?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mlflow models predict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mlflow models deploy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mlflow ui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mlflow models serve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4682225" y="777175"/>
            <a:ext cx="4159500" cy="423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data scientist tries to re-run its training notebook with the same code, but gets different results. What is a primary cause for this Lack of Reproducibility in traditional ML workflows?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model's performance in production was drifting over time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colleague's computer has a different processor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exact library versions and data preprocessing steps were not saved and versioned with the experiment</a:t>
            </a:r>
            <a:endParaRPr b="1"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colleague used a different algorithm to train the model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rabicPeriod" startAt="4"/>
            </a:pPr>
            <a:r>
              <a:rPr lang="en" sz="10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the primary benefit of using MLflow in conjunction with an orchestrator like Dagster?</a:t>
            </a:r>
            <a:endParaRPr sz="10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b="1"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 automate &amp; log the end-to-end ML workflow, from experimentation to deployment</a:t>
            </a:r>
            <a:endParaRPr b="1"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 be able to monitor concept &amp; data drift more reliably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 manage and version the source code in a Git repository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  <a:p>
            <a:pPr indent="-2921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Lora"/>
              <a:buAutoNum type="alphaLcPeriod"/>
            </a:pP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  <a:latin typeface="Lora"/>
                <a:ea typeface="Lora"/>
                <a:cs typeface="Lora"/>
                <a:sym typeface="Lora"/>
              </a:rPr>
              <a:t>To provide a standard format for packaging machine learning models.</a:t>
            </a:r>
            <a:endParaRPr sz="1000">
              <a:solidFill>
                <a:schemeClr val="dk1"/>
              </a:solidFill>
              <a:highlight>
                <a:srgbClr val="FFFFFF"/>
              </a:highlight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-125" y="575250"/>
            <a:ext cx="9144000" cy="205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Designing and Deploying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end-to-end 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7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Production Grade ML Applications</a:t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7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 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Lecture </a:t>
            </a:r>
            <a:r>
              <a:rPr lang="en" sz="24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11: Distributed vs Single-thread Compute</a:t>
            </a:r>
            <a:endParaRPr sz="24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-117" y="3838750"/>
            <a:ext cx="9144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October 2025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Lora"/>
                <a:ea typeface="Lora"/>
                <a:cs typeface="Lora"/>
                <a:sym typeface="Lora"/>
              </a:rPr>
              <a:t>Oliver Angélil</a:t>
            </a:r>
            <a:endParaRPr sz="1600">
              <a:solidFill>
                <a:schemeClr val="dk2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/>
        </p:nvSpPr>
        <p:spPr>
          <a:xfrm>
            <a:off x="612896" y="243588"/>
            <a:ext cx="8128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i="0" lang="en" sz="2400" u="none" cap="none" strike="noStrike">
                <a:solidFill>
                  <a:srgbClr val="000000"/>
                </a:solidFill>
                <a:latin typeface="Lora"/>
                <a:ea typeface="Lora"/>
                <a:cs typeface="Lora"/>
                <a:sym typeface="Lora"/>
              </a:rPr>
              <a:t>Contents of </a:t>
            </a:r>
            <a:r>
              <a:rPr lang="en" sz="2400">
                <a:latin typeface="Lora"/>
                <a:ea typeface="Lora"/>
                <a:cs typeface="Lora"/>
                <a:sym typeface="Lora"/>
              </a:rPr>
              <a:t>this lecture</a:t>
            </a:r>
            <a:endParaRPr i="0" sz="700" u="none" cap="none" strike="noStrike">
              <a:solidFill>
                <a:srgbClr val="000000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89" name="Google Shape;89;p18"/>
          <p:cNvSpPr txBox="1"/>
          <p:nvPr/>
        </p:nvSpPr>
        <p:spPr>
          <a:xfrm>
            <a:off x="486900" y="624775"/>
            <a:ext cx="7896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is Spark and how does it work?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Why was Spark was created?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When and when not to use Spark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Scanning table sizes on Databricks workspaces at company X -&gt; Problem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Potential solutions &amp; Performance comparison with the best alternative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Conclusions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Lora"/>
              <a:buAutoNum type="arabicPeriod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Benchmarking Pandas (single thread) &amp; Polars (multi thread) — classroom exercise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5" name="Google Shape;95;p19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1. </a:t>
            </a:r>
            <a:r>
              <a:rPr lang="en" sz="2200">
                <a:latin typeface="Lora"/>
                <a:ea typeface="Lora"/>
                <a:cs typeface="Lora"/>
                <a:sym typeface="Lora"/>
              </a:rPr>
              <a:t>What is Spark and how does it work?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96" name="Google Shape;96;p19"/>
          <p:cNvSpPr txBox="1"/>
          <p:nvPr/>
        </p:nvSpPr>
        <p:spPr>
          <a:xfrm>
            <a:off x="443225" y="970100"/>
            <a:ext cx="85023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End-user perspective: pandas but for big data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(terabytes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&amp; beyond) 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Technological perspective: 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Spark is a distributed (i.e. multi-node) cluster computing framework for processing large amounts of data in parallel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97" name="Google Shape;97;p19"/>
          <p:cNvCxnSpPr/>
          <p:nvPr/>
        </p:nvCxnSpPr>
        <p:spPr>
          <a:xfrm>
            <a:off x="3253825" y="1806500"/>
            <a:ext cx="0" cy="282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9"/>
          <p:cNvSpPr/>
          <p:nvPr/>
        </p:nvSpPr>
        <p:spPr>
          <a:xfrm>
            <a:off x="519425" y="2361390"/>
            <a:ext cx="2165700" cy="13647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708100" y="1612379"/>
            <a:ext cx="18786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Y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our laptop has 1 node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1198057" y="2000817"/>
            <a:ext cx="1425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One</a:t>
            </a:r>
            <a:r>
              <a:rPr b="1" lang="en" sz="1000">
                <a:latin typeface="Montserrat"/>
                <a:ea typeface="Montserrat"/>
                <a:cs typeface="Montserrat"/>
                <a:sym typeface="Montserrat"/>
              </a:rPr>
              <a:t> Node</a:t>
            </a:r>
            <a:endParaRPr b="1"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1" name="Google Shape;101;p19"/>
          <p:cNvSpPr/>
          <p:nvPr/>
        </p:nvSpPr>
        <p:spPr>
          <a:xfrm>
            <a:off x="1613603" y="3088437"/>
            <a:ext cx="982500" cy="5442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storage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/>
          <p:nvPr/>
        </p:nvSpPr>
        <p:spPr>
          <a:xfrm>
            <a:off x="1613603" y="2484440"/>
            <a:ext cx="982500" cy="5442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memory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398025" y="3725700"/>
            <a:ext cx="26478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Cores determine the number of parallel tasks that can run concurrently. e.g. with 4 cores ("quad core"), 4 tasks can run in parallel, or more if there are multiple threads per core</a:t>
            </a:r>
            <a:endParaRPr i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Memory determines how much data can be loaded &amp; actively worked on at once</a:t>
            </a:r>
            <a:endParaRPr i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4" name="Google Shape;104;p19"/>
          <p:cNvSpPr txBox="1"/>
          <p:nvPr/>
        </p:nvSpPr>
        <p:spPr>
          <a:xfrm>
            <a:off x="4746700" y="1568575"/>
            <a:ext cx="2753100" cy="4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 Spark cluster has multiple nodes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05" name="Google Shape;105;p19"/>
          <p:cNvSpPr/>
          <p:nvPr/>
        </p:nvSpPr>
        <p:spPr>
          <a:xfrm>
            <a:off x="5705700" y="3036875"/>
            <a:ext cx="982500" cy="6156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Driver Node</a:t>
            </a:r>
            <a:endParaRPr sz="1000"/>
          </a:p>
        </p:txBody>
      </p:sp>
      <p:sp>
        <p:nvSpPr>
          <p:cNvPr id="106" name="Google Shape;106;p19"/>
          <p:cNvSpPr/>
          <p:nvPr/>
        </p:nvSpPr>
        <p:spPr>
          <a:xfrm>
            <a:off x="7610700" y="3036875"/>
            <a:ext cx="982500" cy="6156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Worker Node</a:t>
            </a:r>
            <a:endParaRPr sz="1000"/>
          </a:p>
        </p:txBody>
      </p:sp>
      <p:sp>
        <p:nvSpPr>
          <p:cNvPr id="107" name="Google Shape;107;p19"/>
          <p:cNvSpPr/>
          <p:nvPr/>
        </p:nvSpPr>
        <p:spPr>
          <a:xfrm>
            <a:off x="3800700" y="3036875"/>
            <a:ext cx="982500" cy="6156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Worker Node</a:t>
            </a:r>
            <a:endParaRPr sz="1000"/>
          </a:p>
        </p:txBody>
      </p:sp>
      <p:sp>
        <p:nvSpPr>
          <p:cNvPr id="108" name="Google Shape;108;p19"/>
          <p:cNvSpPr/>
          <p:nvPr/>
        </p:nvSpPr>
        <p:spPr>
          <a:xfrm>
            <a:off x="5705700" y="4103675"/>
            <a:ext cx="982500" cy="6156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Worker Node</a:t>
            </a:r>
            <a:endParaRPr sz="1000"/>
          </a:p>
        </p:txBody>
      </p:sp>
      <p:sp>
        <p:nvSpPr>
          <p:cNvPr id="109" name="Google Shape;109;p19"/>
          <p:cNvSpPr/>
          <p:nvPr/>
        </p:nvSpPr>
        <p:spPr>
          <a:xfrm>
            <a:off x="5705700" y="1970075"/>
            <a:ext cx="982500" cy="6156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/>
              <a:t>Worker Node</a:t>
            </a:r>
            <a:endParaRPr sz="1000"/>
          </a:p>
        </p:txBody>
      </p:sp>
      <p:cxnSp>
        <p:nvCxnSpPr>
          <p:cNvPr id="110" name="Google Shape;110;p19"/>
          <p:cNvCxnSpPr>
            <a:stCxn id="107" idx="3"/>
            <a:endCxn id="105" idx="1"/>
          </p:cNvCxnSpPr>
          <p:nvPr/>
        </p:nvCxnSpPr>
        <p:spPr>
          <a:xfrm>
            <a:off x="4783200" y="3344675"/>
            <a:ext cx="92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1" name="Google Shape;111;p19"/>
          <p:cNvSpPr/>
          <p:nvPr/>
        </p:nvSpPr>
        <p:spPr>
          <a:xfrm>
            <a:off x="559397" y="2428740"/>
            <a:ext cx="982500" cy="1253100"/>
          </a:xfrm>
          <a:prstGeom prst="roundRect">
            <a:avLst>
              <a:gd fmla="val 16667" name="adj"/>
            </a:avLst>
          </a:prstGeom>
          <a:solidFill>
            <a:srgbClr val="FFE599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599"/>
              </a:solidFill>
            </a:endParaRPr>
          </a:p>
        </p:txBody>
      </p:sp>
      <p:cxnSp>
        <p:nvCxnSpPr>
          <p:cNvPr id="112" name="Google Shape;112;p19"/>
          <p:cNvCxnSpPr>
            <a:stCxn id="105" idx="3"/>
            <a:endCxn id="106" idx="1"/>
          </p:cNvCxnSpPr>
          <p:nvPr/>
        </p:nvCxnSpPr>
        <p:spPr>
          <a:xfrm>
            <a:off x="6688200" y="3344675"/>
            <a:ext cx="922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3" name="Google Shape;113;p19"/>
          <p:cNvCxnSpPr>
            <a:stCxn id="108" idx="0"/>
            <a:endCxn id="105" idx="2"/>
          </p:cNvCxnSpPr>
          <p:nvPr/>
        </p:nvCxnSpPr>
        <p:spPr>
          <a:xfrm rot="10800000">
            <a:off x="6196950" y="3652475"/>
            <a:ext cx="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14" name="Google Shape;114;p19"/>
          <p:cNvCxnSpPr>
            <a:stCxn id="105" idx="0"/>
            <a:endCxn id="109" idx="2"/>
          </p:cNvCxnSpPr>
          <p:nvPr/>
        </p:nvCxnSpPr>
        <p:spPr>
          <a:xfrm rot="10800000">
            <a:off x="6196950" y="2585675"/>
            <a:ext cx="0" cy="451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115" name="Google Shape;115;p19"/>
          <p:cNvSpPr txBox="1"/>
          <p:nvPr/>
        </p:nvSpPr>
        <p:spPr>
          <a:xfrm>
            <a:off x="3366775" y="3829975"/>
            <a:ext cx="1990800" cy="7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This Spark cluster has 4 ("worker") nodes, but it can be scaled up to have many more 🚀</a:t>
            </a:r>
            <a:endParaRPr i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6" name="Google Shape;116;p19"/>
          <p:cNvSpPr txBox="1"/>
          <p:nvPr/>
        </p:nvSpPr>
        <p:spPr>
          <a:xfrm>
            <a:off x="6900750" y="3829975"/>
            <a:ext cx="2165700" cy="10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Each node is a standalone "computer" (VM) that is  spun up in real-time on the cloud</a:t>
            </a:r>
            <a:endParaRPr i="1"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17" name="Google Shape;117;p19"/>
          <p:cNvSpPr/>
          <p:nvPr/>
        </p:nvSpPr>
        <p:spPr>
          <a:xfrm>
            <a:off x="644623" y="2799434"/>
            <a:ext cx="352500" cy="3414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9"/>
          <p:cNvSpPr/>
          <p:nvPr/>
        </p:nvSpPr>
        <p:spPr>
          <a:xfrm>
            <a:off x="644623" y="3189478"/>
            <a:ext cx="352500" cy="3414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9"/>
          <p:cNvSpPr/>
          <p:nvPr/>
        </p:nvSpPr>
        <p:spPr>
          <a:xfrm>
            <a:off x="1047419" y="2799434"/>
            <a:ext cx="352500" cy="3414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19"/>
          <p:cNvSpPr/>
          <p:nvPr/>
        </p:nvSpPr>
        <p:spPr>
          <a:xfrm>
            <a:off x="1047419" y="3189478"/>
            <a:ext cx="352500" cy="341400"/>
          </a:xfrm>
          <a:prstGeom prst="roundRect">
            <a:avLst>
              <a:gd fmla="val 16667" name="adj"/>
            </a:avLst>
          </a:prstGeom>
          <a:solidFill>
            <a:srgbClr val="DD7E6B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9"/>
          <p:cNvSpPr txBox="1"/>
          <p:nvPr/>
        </p:nvSpPr>
        <p:spPr>
          <a:xfrm>
            <a:off x="1028065" y="2809117"/>
            <a:ext cx="41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1020557" y="3215657"/>
            <a:ext cx="41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3" name="Google Shape;123;p19"/>
          <p:cNvSpPr txBox="1"/>
          <p:nvPr/>
        </p:nvSpPr>
        <p:spPr>
          <a:xfrm>
            <a:off x="616751" y="3215657"/>
            <a:ext cx="41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4" name="Google Shape;124;p19"/>
          <p:cNvSpPr txBox="1"/>
          <p:nvPr/>
        </p:nvSpPr>
        <p:spPr>
          <a:xfrm>
            <a:off x="633787" y="2809117"/>
            <a:ext cx="413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8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5" name="Google Shape;125;p19"/>
          <p:cNvSpPr txBox="1"/>
          <p:nvPr/>
        </p:nvSpPr>
        <p:spPr>
          <a:xfrm>
            <a:off x="780050" y="2456740"/>
            <a:ext cx="609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CPU</a:t>
            </a:r>
            <a:endParaRPr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idx="12" type="sldNum"/>
          </p:nvPr>
        </p:nvSpPr>
        <p:spPr>
          <a:xfrm>
            <a:off x="70649" y="46323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1" name="Google Shape;131;p20"/>
          <p:cNvSpPr txBox="1"/>
          <p:nvPr/>
        </p:nvSpPr>
        <p:spPr>
          <a:xfrm>
            <a:off x="541550" y="893900"/>
            <a:ext cx="79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Performing a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left </a:t>
            </a: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join in a non-distributed fashion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graphicFrame>
        <p:nvGraphicFramePr>
          <p:cNvPr id="132" name="Google Shape;132;p20"/>
          <p:cNvGraphicFramePr/>
          <p:nvPr/>
        </p:nvGraphicFramePr>
        <p:xfrm>
          <a:off x="671400" y="166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45650"/>
                <a:gridCol w="7357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111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888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4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BC234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222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BC345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777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333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666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BC567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444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BC678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555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sp>
        <p:nvSpPr>
          <p:cNvPr id="133" name="Google Shape;133;p20"/>
          <p:cNvSpPr txBox="1"/>
          <p:nvPr/>
        </p:nvSpPr>
        <p:spPr>
          <a:xfrm>
            <a:off x="595200" y="1263675"/>
            <a:ext cx="197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A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4" name="Google Shape;134;p20"/>
          <p:cNvGraphicFramePr/>
          <p:nvPr/>
        </p:nvGraphicFramePr>
        <p:xfrm>
          <a:off x="3643200" y="166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696025"/>
                <a:gridCol w="121260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111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Porsche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222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Lamborghini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14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333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Alfa Romeo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444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Ferrari 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555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McLaren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666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Aston Martin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777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Audi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888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Mercedes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35" name="Google Shape;135;p20"/>
          <p:cNvSpPr txBox="1"/>
          <p:nvPr/>
        </p:nvSpPr>
        <p:spPr>
          <a:xfrm>
            <a:off x="3643200" y="1263675"/>
            <a:ext cx="2467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B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0"/>
          <p:cNvSpPr txBox="1"/>
          <p:nvPr/>
        </p:nvSpPr>
        <p:spPr>
          <a:xfrm>
            <a:off x="2553625" y="2678150"/>
            <a:ext cx="7185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➕</a:t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(join)</a:t>
            </a:r>
            <a:endParaRPr sz="16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7" name="Google Shape;137;p20"/>
          <p:cNvSpPr txBox="1"/>
          <p:nvPr/>
        </p:nvSpPr>
        <p:spPr>
          <a:xfrm>
            <a:off x="5601625" y="2678150"/>
            <a:ext cx="639900" cy="8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🟰</a:t>
            </a:r>
            <a:endParaRPr sz="44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138" name="Google Shape;138;p20"/>
          <p:cNvGraphicFramePr/>
          <p:nvPr/>
        </p:nvGraphicFramePr>
        <p:xfrm>
          <a:off x="6386400" y="166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66075"/>
                <a:gridCol w="564675"/>
                <a:gridCol w="991125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111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Porsche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888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Mercedes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142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BC234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222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Lamborghini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BC345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777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Audi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333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Alfa Romeo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666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Aston Martin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BC567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444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Ferrari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BC678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555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McLaren</a:t>
                      </a:r>
                      <a:endParaRPr sz="1000"/>
                    </a:p>
                  </a:txBody>
                  <a:tcPr marT="91425" marB="91425" marR="91425" marL="91425"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139" name="Google Shape;139;p20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1</a:t>
            </a:r>
            <a:r>
              <a:rPr lang="en" sz="2200">
                <a:latin typeface="Lora"/>
                <a:ea typeface="Lora"/>
                <a:cs typeface="Lora"/>
                <a:sym typeface="Lora"/>
              </a:rPr>
              <a:t>. </a:t>
            </a:r>
            <a:r>
              <a:rPr lang="en" sz="2200">
                <a:latin typeface="Lora"/>
                <a:ea typeface="Lora"/>
                <a:cs typeface="Lora"/>
                <a:sym typeface="Lora"/>
              </a:rPr>
              <a:t>What</a:t>
            </a:r>
            <a:r>
              <a:rPr lang="en" sz="2200">
                <a:latin typeface="Lora"/>
                <a:ea typeface="Lora"/>
                <a:cs typeface="Lora"/>
                <a:sym typeface="Lora"/>
              </a:rPr>
              <a:t> is Spark and how does it work?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3788425" y="4665175"/>
            <a:ext cx="1612200" cy="2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time complexity: O(N</a:t>
            </a:r>
            <a:r>
              <a:rPr baseline="30000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aseline="30000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0"/>
          <p:cNvSpPr txBox="1"/>
          <p:nvPr/>
        </p:nvSpPr>
        <p:spPr>
          <a:xfrm>
            <a:off x="6384550" y="1048225"/>
            <a:ext cx="1612200" cy="446400"/>
          </a:xfrm>
          <a:prstGeom prst="rect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Time complexity</a:t>
            </a: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: 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8x8 = 64 comparisons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1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1"/>
          <p:cNvSpPr txBox="1"/>
          <p:nvPr/>
        </p:nvSpPr>
        <p:spPr>
          <a:xfrm>
            <a:off x="541550" y="893900"/>
            <a:ext cx="793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Performing a left join in a distributed fashion (i.e. with Spark)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Step 1: Load parquet files into memory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8" name="Google Shape;148;p21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1. What is S</a:t>
            </a:r>
            <a:r>
              <a:rPr lang="en" sz="2200">
                <a:latin typeface="Lora"/>
                <a:ea typeface="Lora"/>
                <a:cs typeface="Lora"/>
                <a:sym typeface="Lora"/>
              </a:rPr>
              <a:t>park and how does it work?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49" name="Google Shape;149;p21"/>
          <p:cNvSpPr/>
          <p:nvPr/>
        </p:nvSpPr>
        <p:spPr>
          <a:xfrm>
            <a:off x="591950" y="1702450"/>
            <a:ext cx="37815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150" name="Google Shape;150;p21"/>
          <p:cNvGraphicFramePr/>
          <p:nvPr/>
        </p:nvGraphicFramePr>
        <p:xfrm>
          <a:off x="747600" y="189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45650"/>
                <a:gridCol w="7357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1" name="Google Shape;151;p21"/>
          <p:cNvGraphicFramePr/>
          <p:nvPr/>
        </p:nvGraphicFramePr>
        <p:xfrm>
          <a:off x="2531550" y="189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613150"/>
                <a:gridCol w="10682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Porsche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Lamborghini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52" name="Google Shape;152;p21"/>
          <p:cNvSpPr/>
          <p:nvPr/>
        </p:nvSpPr>
        <p:spPr>
          <a:xfrm>
            <a:off x="591950" y="3378850"/>
            <a:ext cx="37815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153" name="Google Shape;153;p21"/>
          <p:cNvGraphicFramePr/>
          <p:nvPr/>
        </p:nvGraphicFramePr>
        <p:xfrm>
          <a:off x="747600" y="35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45650"/>
                <a:gridCol w="7357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BC234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BC345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4" name="Google Shape;154;p21"/>
          <p:cNvGraphicFramePr/>
          <p:nvPr/>
        </p:nvGraphicFramePr>
        <p:xfrm>
          <a:off x="2531550" y="35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613150"/>
                <a:gridCol w="10682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Alfa Romeo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Ferrari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55" name="Google Shape;155;p21"/>
          <p:cNvSpPr/>
          <p:nvPr/>
        </p:nvSpPr>
        <p:spPr>
          <a:xfrm>
            <a:off x="4935350" y="1702450"/>
            <a:ext cx="37815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156" name="Google Shape;156;p21"/>
          <p:cNvGraphicFramePr/>
          <p:nvPr/>
        </p:nvGraphicFramePr>
        <p:xfrm>
          <a:off x="5091000" y="189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45650"/>
                <a:gridCol w="7357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7" name="Google Shape;157;p21"/>
          <p:cNvGraphicFramePr/>
          <p:nvPr/>
        </p:nvGraphicFramePr>
        <p:xfrm>
          <a:off x="6874950" y="1892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613150"/>
                <a:gridCol w="10682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McLaren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Aston Martin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58" name="Google Shape;158;p21"/>
          <p:cNvSpPr/>
          <p:nvPr/>
        </p:nvSpPr>
        <p:spPr>
          <a:xfrm>
            <a:off x="4935350" y="3378850"/>
            <a:ext cx="37815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159" name="Google Shape;159;p21"/>
          <p:cNvGraphicFramePr/>
          <p:nvPr/>
        </p:nvGraphicFramePr>
        <p:xfrm>
          <a:off x="5091000" y="35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45650"/>
                <a:gridCol w="7357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BC567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BC678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0" name="Google Shape;160;p21"/>
          <p:cNvGraphicFramePr/>
          <p:nvPr/>
        </p:nvGraphicFramePr>
        <p:xfrm>
          <a:off x="6874950" y="3568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613150"/>
                <a:gridCol w="10682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Audi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Mercedes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61" name="Google Shape;161;p21"/>
          <p:cNvSpPr txBox="1"/>
          <p:nvPr/>
        </p:nvSpPr>
        <p:spPr>
          <a:xfrm>
            <a:off x="875375" y="15923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A.1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1"/>
          <p:cNvSpPr txBox="1"/>
          <p:nvPr/>
        </p:nvSpPr>
        <p:spPr>
          <a:xfrm>
            <a:off x="2551775" y="15923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B.1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951575" y="32687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A.2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1"/>
          <p:cNvSpPr txBox="1"/>
          <p:nvPr/>
        </p:nvSpPr>
        <p:spPr>
          <a:xfrm>
            <a:off x="2627975" y="32687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B.2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21"/>
          <p:cNvSpPr txBox="1"/>
          <p:nvPr/>
        </p:nvSpPr>
        <p:spPr>
          <a:xfrm>
            <a:off x="5294975" y="32687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A.4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21"/>
          <p:cNvSpPr txBox="1"/>
          <p:nvPr/>
        </p:nvSpPr>
        <p:spPr>
          <a:xfrm>
            <a:off x="6971375" y="32687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B.4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1"/>
          <p:cNvSpPr txBox="1"/>
          <p:nvPr/>
        </p:nvSpPr>
        <p:spPr>
          <a:xfrm>
            <a:off x="5294975" y="15923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A.3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1"/>
          <p:cNvSpPr txBox="1"/>
          <p:nvPr/>
        </p:nvSpPr>
        <p:spPr>
          <a:xfrm>
            <a:off x="6971375" y="15923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B.3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21"/>
          <p:cNvSpPr txBox="1"/>
          <p:nvPr/>
        </p:nvSpPr>
        <p:spPr>
          <a:xfrm>
            <a:off x="1778625" y="13674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21"/>
          <p:cNvSpPr txBox="1"/>
          <p:nvPr/>
        </p:nvSpPr>
        <p:spPr>
          <a:xfrm>
            <a:off x="6198225" y="13674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1778625" y="30438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6198225" y="30438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3" name="Google Shape;173;p21"/>
          <p:cNvCxnSpPr/>
          <p:nvPr/>
        </p:nvCxnSpPr>
        <p:spPr>
          <a:xfrm flipH="1" rot="10800000">
            <a:off x="339360" y="2745825"/>
            <a:ext cx="1430100" cy="513300"/>
          </a:xfrm>
          <a:prstGeom prst="straightConnector1">
            <a:avLst/>
          </a:prstGeom>
          <a:noFill/>
          <a:ln cap="flat" cmpd="sng" w="28575">
            <a:solidFill>
              <a:srgbClr val="DC28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1"/>
          <p:cNvCxnSpPr/>
          <p:nvPr/>
        </p:nvCxnSpPr>
        <p:spPr>
          <a:xfrm flipH="1" rot="10800000">
            <a:off x="5495235" y="4412275"/>
            <a:ext cx="1430100" cy="513300"/>
          </a:xfrm>
          <a:prstGeom prst="straightConnector1">
            <a:avLst/>
          </a:prstGeom>
          <a:noFill/>
          <a:ln cap="flat" cmpd="sng" w="28575">
            <a:solidFill>
              <a:srgbClr val="DC281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5" name="Google Shape;175;p21"/>
          <p:cNvSpPr txBox="1"/>
          <p:nvPr/>
        </p:nvSpPr>
        <p:spPr>
          <a:xfrm>
            <a:off x="6460750" y="895825"/>
            <a:ext cx="2392500" cy="482400"/>
          </a:xfrm>
          <a:prstGeom prst="rect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Whoops! Join keys are on different nodes 😟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1" name="Google Shape;181;p22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1. </a:t>
            </a:r>
            <a:r>
              <a:rPr lang="en" sz="2200">
                <a:latin typeface="Lora"/>
                <a:ea typeface="Lora"/>
                <a:cs typeface="Lora"/>
                <a:sym typeface="Lora"/>
              </a:rPr>
              <a:t>What is Spark and how does it work?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182" name="Google Shape;182;p22"/>
          <p:cNvSpPr/>
          <p:nvPr/>
        </p:nvSpPr>
        <p:spPr>
          <a:xfrm>
            <a:off x="439550" y="1550050"/>
            <a:ext cx="37815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183" name="Google Shape;183;p22"/>
          <p:cNvGraphicFramePr/>
          <p:nvPr/>
        </p:nvGraphicFramePr>
        <p:xfrm>
          <a:off x="595200" y="174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45650"/>
                <a:gridCol w="7357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4" name="Google Shape;184;p22"/>
          <p:cNvGraphicFramePr/>
          <p:nvPr/>
        </p:nvGraphicFramePr>
        <p:xfrm>
          <a:off x="2379150" y="174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613150"/>
                <a:gridCol w="10682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Porsche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Mercedes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85" name="Google Shape;185;p22"/>
          <p:cNvSpPr/>
          <p:nvPr/>
        </p:nvSpPr>
        <p:spPr>
          <a:xfrm>
            <a:off x="439550" y="3302650"/>
            <a:ext cx="37815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186" name="Google Shape;186;p22"/>
          <p:cNvGraphicFramePr/>
          <p:nvPr/>
        </p:nvGraphicFramePr>
        <p:xfrm>
          <a:off x="595200" y="349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45650"/>
                <a:gridCol w="7357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BC234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BC345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7" name="Google Shape;187;p22"/>
          <p:cNvGraphicFramePr/>
          <p:nvPr/>
        </p:nvGraphicFramePr>
        <p:xfrm>
          <a:off x="2379150" y="349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613150"/>
                <a:gridCol w="10682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333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Alfa Romeo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Audi</a:t>
                      </a:r>
                      <a:r>
                        <a:rPr lang="en" sz="1000"/>
                        <a:t> 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88" name="Google Shape;188;p22"/>
          <p:cNvSpPr/>
          <p:nvPr/>
        </p:nvSpPr>
        <p:spPr>
          <a:xfrm>
            <a:off x="5087750" y="1550050"/>
            <a:ext cx="37815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189" name="Google Shape;189;p22"/>
          <p:cNvGraphicFramePr/>
          <p:nvPr/>
        </p:nvGraphicFramePr>
        <p:xfrm>
          <a:off x="5243400" y="174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45650"/>
                <a:gridCol w="7357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0" name="Google Shape;190;p22"/>
          <p:cNvGraphicFramePr/>
          <p:nvPr/>
        </p:nvGraphicFramePr>
        <p:xfrm>
          <a:off x="7027350" y="174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613150"/>
                <a:gridCol w="10682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Alfa Romeo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Aston Martin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91" name="Google Shape;191;p22"/>
          <p:cNvSpPr/>
          <p:nvPr/>
        </p:nvSpPr>
        <p:spPr>
          <a:xfrm>
            <a:off x="5087750" y="3302650"/>
            <a:ext cx="37815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192" name="Google Shape;192;p22"/>
          <p:cNvGraphicFramePr/>
          <p:nvPr/>
        </p:nvGraphicFramePr>
        <p:xfrm>
          <a:off x="5243400" y="349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45650"/>
                <a:gridCol w="7357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BC567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BC678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3" name="Google Shape;193;p22"/>
          <p:cNvGraphicFramePr/>
          <p:nvPr/>
        </p:nvGraphicFramePr>
        <p:xfrm>
          <a:off x="7027350" y="349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613150"/>
                <a:gridCol w="10682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Ferrari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McLaren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E599"/>
                    </a:solidFill>
                  </a:tcPr>
                </a:tc>
              </a:tr>
            </a:tbl>
          </a:graphicData>
        </a:graphic>
      </p:graphicFrame>
      <p:sp>
        <p:nvSpPr>
          <p:cNvPr id="194" name="Google Shape;194;p22"/>
          <p:cNvSpPr txBox="1"/>
          <p:nvPr/>
        </p:nvSpPr>
        <p:spPr>
          <a:xfrm>
            <a:off x="722975" y="14399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A.1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2"/>
          <p:cNvSpPr txBox="1"/>
          <p:nvPr/>
        </p:nvSpPr>
        <p:spPr>
          <a:xfrm>
            <a:off x="2399375" y="14399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B.1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2"/>
          <p:cNvSpPr txBox="1"/>
          <p:nvPr/>
        </p:nvSpPr>
        <p:spPr>
          <a:xfrm>
            <a:off x="799175" y="31925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A.2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2"/>
          <p:cNvSpPr txBox="1"/>
          <p:nvPr/>
        </p:nvSpPr>
        <p:spPr>
          <a:xfrm>
            <a:off x="2475575" y="31925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B.2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2"/>
          <p:cNvSpPr txBox="1"/>
          <p:nvPr/>
        </p:nvSpPr>
        <p:spPr>
          <a:xfrm>
            <a:off x="5447375" y="31925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A.4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22"/>
          <p:cNvSpPr txBox="1"/>
          <p:nvPr/>
        </p:nvSpPr>
        <p:spPr>
          <a:xfrm>
            <a:off x="7123775" y="31925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parquet file B.4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2"/>
          <p:cNvSpPr txBox="1"/>
          <p:nvPr/>
        </p:nvSpPr>
        <p:spPr>
          <a:xfrm>
            <a:off x="5447375" y="14399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A.3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2"/>
          <p:cNvSpPr txBox="1"/>
          <p:nvPr/>
        </p:nvSpPr>
        <p:spPr>
          <a:xfrm>
            <a:off x="7123775" y="14399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B.3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2"/>
          <p:cNvSpPr txBox="1"/>
          <p:nvPr/>
        </p:nvSpPr>
        <p:spPr>
          <a:xfrm>
            <a:off x="1626225" y="12150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2"/>
          <p:cNvSpPr txBox="1"/>
          <p:nvPr/>
        </p:nvSpPr>
        <p:spPr>
          <a:xfrm>
            <a:off x="6350625" y="12150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2"/>
          <p:cNvSpPr txBox="1"/>
          <p:nvPr/>
        </p:nvSpPr>
        <p:spPr>
          <a:xfrm>
            <a:off x="1626225" y="29676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22"/>
          <p:cNvSpPr txBox="1"/>
          <p:nvPr/>
        </p:nvSpPr>
        <p:spPr>
          <a:xfrm>
            <a:off x="6350625" y="29676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22"/>
          <p:cNvSpPr txBox="1"/>
          <p:nvPr/>
        </p:nvSpPr>
        <p:spPr>
          <a:xfrm>
            <a:off x="541550" y="893900"/>
            <a:ext cx="793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Performing a left join in a distributed fashion (i.e. with Spark)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Step 2: 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Shuffle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rows across machines so join keys are together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07" name="Google Shape;207;p22"/>
          <p:cNvSpPr txBox="1"/>
          <p:nvPr/>
        </p:nvSpPr>
        <p:spPr>
          <a:xfrm>
            <a:off x="2098750" y="4724400"/>
            <a:ext cx="4618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 hash of join key is taken, and records within some range are sent to same node </a:t>
            </a:r>
            <a:endParaRPr baseline="30000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2"/>
          <p:cNvSpPr txBox="1"/>
          <p:nvPr/>
        </p:nvSpPr>
        <p:spPr>
          <a:xfrm>
            <a:off x="6155900" y="749350"/>
            <a:ext cx="2476500" cy="554100"/>
          </a:xfrm>
          <a:prstGeom prst="rect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25" lIns="91425" spcFirstLastPara="1" rIns="9125" wrap="square" tIns="91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Time complexity</a:t>
            </a: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: 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2x2x4 = 16 comparisons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4x less than non-distributed! 😎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09" name="Google Shape;209;p22"/>
          <p:cNvCxnSpPr/>
          <p:nvPr/>
        </p:nvCxnSpPr>
        <p:spPr>
          <a:xfrm flipH="1" rot="10800000">
            <a:off x="4809435" y="4336075"/>
            <a:ext cx="1430100" cy="513300"/>
          </a:xfrm>
          <a:prstGeom prst="straightConnector1">
            <a:avLst/>
          </a:prstGeom>
          <a:noFill/>
          <a:ln cap="flat" cmpd="sng" w="28575">
            <a:solidFill>
              <a:srgbClr val="DC281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0" name="Google Shape;210;p22"/>
          <p:cNvCxnSpPr/>
          <p:nvPr/>
        </p:nvCxnSpPr>
        <p:spPr>
          <a:xfrm flipH="1" rot="10800000">
            <a:off x="5647635" y="4336075"/>
            <a:ext cx="1430100" cy="513300"/>
          </a:xfrm>
          <a:prstGeom prst="straightConnector1">
            <a:avLst/>
          </a:prstGeom>
          <a:noFill/>
          <a:ln cap="flat" cmpd="sng" w="28575">
            <a:solidFill>
              <a:srgbClr val="DC281D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3"/>
          <p:cNvSpPr txBox="1"/>
          <p:nvPr>
            <p:ph idx="12" type="sldNum"/>
          </p:nvPr>
        </p:nvSpPr>
        <p:spPr>
          <a:xfrm>
            <a:off x="70649" y="47085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6" name="Google Shape;216;p23"/>
          <p:cNvSpPr txBox="1"/>
          <p:nvPr>
            <p:ph type="title"/>
          </p:nvPr>
        </p:nvSpPr>
        <p:spPr>
          <a:xfrm>
            <a:off x="503238" y="16317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Lora"/>
                <a:ea typeface="Lora"/>
                <a:cs typeface="Lora"/>
                <a:sym typeface="Lora"/>
              </a:rPr>
              <a:t>1. </a:t>
            </a:r>
            <a:r>
              <a:rPr lang="en" sz="2200">
                <a:latin typeface="Lora"/>
                <a:ea typeface="Lora"/>
                <a:cs typeface="Lora"/>
                <a:sym typeface="Lora"/>
              </a:rPr>
              <a:t>What is Spark and how does it work?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579394" y="1550050"/>
            <a:ext cx="30192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218" name="Google Shape;218;p23"/>
          <p:cNvGraphicFramePr/>
          <p:nvPr/>
        </p:nvGraphicFramePr>
        <p:xfrm>
          <a:off x="735044" y="174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1031025"/>
                <a:gridCol w="690050"/>
                <a:gridCol w="895775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111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Porsche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BC123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222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Lamborghini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219" name="Google Shape;219;p23"/>
          <p:cNvSpPr/>
          <p:nvPr/>
        </p:nvSpPr>
        <p:spPr>
          <a:xfrm>
            <a:off x="579394" y="3302650"/>
            <a:ext cx="31341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220" name="Google Shape;220;p23"/>
          <p:cNvGraphicFramePr/>
          <p:nvPr/>
        </p:nvGraphicFramePr>
        <p:xfrm>
          <a:off x="735044" y="349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1031025"/>
                <a:gridCol w="766250"/>
                <a:gridCol w="989950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BC234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333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Alfa Romeo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BC345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444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Ferrari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221" name="Google Shape;221;p23"/>
          <p:cNvSpPr/>
          <p:nvPr/>
        </p:nvSpPr>
        <p:spPr>
          <a:xfrm>
            <a:off x="5318948" y="1550050"/>
            <a:ext cx="30192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rgbClr val="2B4140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222" name="Google Shape;222;p23"/>
          <p:cNvGraphicFramePr/>
          <p:nvPr/>
        </p:nvGraphicFramePr>
        <p:xfrm>
          <a:off x="5550798" y="181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968000"/>
                <a:gridCol w="615575"/>
                <a:gridCol w="1033275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555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McLaren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BC456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666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Aston Martin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223" name="Google Shape;223;p23"/>
          <p:cNvSpPr/>
          <p:nvPr/>
        </p:nvSpPr>
        <p:spPr>
          <a:xfrm>
            <a:off x="5318948" y="3302650"/>
            <a:ext cx="3019200" cy="1368300"/>
          </a:xfrm>
          <a:prstGeom prst="roundRect">
            <a:avLst>
              <a:gd fmla="val 16667" name="adj"/>
            </a:avLst>
          </a:prstGeom>
          <a:solidFill>
            <a:srgbClr val="8E7CC3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32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graphicFrame>
        <p:nvGraphicFramePr>
          <p:cNvPr id="224" name="Google Shape;224;p23"/>
          <p:cNvGraphicFramePr/>
          <p:nvPr/>
        </p:nvGraphicFramePr>
        <p:xfrm>
          <a:off x="5474598" y="3492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1040875"/>
                <a:gridCol w="809825"/>
                <a:gridCol w="809825"/>
              </a:tblGrid>
              <a:tr h="255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Employee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ID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Car Name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BC567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777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Audi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BC678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888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Mercedes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4C2F4"/>
                    </a:solidFill>
                  </a:tcPr>
                </a:tc>
              </a:tr>
            </a:tbl>
          </a:graphicData>
        </a:graphic>
      </p:graphicFrame>
      <p:sp>
        <p:nvSpPr>
          <p:cNvPr id="225" name="Google Shape;225;p23"/>
          <p:cNvSpPr txBox="1"/>
          <p:nvPr/>
        </p:nvSpPr>
        <p:spPr>
          <a:xfrm>
            <a:off x="1472419" y="14399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C.1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/>
        </p:nvSpPr>
        <p:spPr>
          <a:xfrm>
            <a:off x="1472419" y="31925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C.2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3"/>
          <p:cNvSpPr txBox="1"/>
          <p:nvPr/>
        </p:nvSpPr>
        <p:spPr>
          <a:xfrm>
            <a:off x="6288173" y="3192500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C.4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3"/>
          <p:cNvSpPr txBox="1"/>
          <p:nvPr/>
        </p:nvSpPr>
        <p:spPr>
          <a:xfrm>
            <a:off x="6211973" y="1477535"/>
            <a:ext cx="1593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parquet file C.3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3"/>
          <p:cNvSpPr txBox="1"/>
          <p:nvPr/>
        </p:nvSpPr>
        <p:spPr>
          <a:xfrm>
            <a:off x="1385069" y="12150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3"/>
          <p:cNvSpPr txBox="1"/>
          <p:nvPr/>
        </p:nvSpPr>
        <p:spPr>
          <a:xfrm>
            <a:off x="6048423" y="12150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3"/>
          <p:cNvSpPr txBox="1"/>
          <p:nvPr/>
        </p:nvSpPr>
        <p:spPr>
          <a:xfrm>
            <a:off x="1308869" y="29676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3"/>
          <p:cNvSpPr txBox="1"/>
          <p:nvPr/>
        </p:nvSpPr>
        <p:spPr>
          <a:xfrm>
            <a:off x="6124623" y="2967625"/>
            <a:ext cx="1756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Worker Node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 txBox="1"/>
          <p:nvPr/>
        </p:nvSpPr>
        <p:spPr>
          <a:xfrm>
            <a:off x="541550" y="817700"/>
            <a:ext cx="793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Performing a left join in a distributed fashion (i.e. with Spark)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Step 3: Perform join in parallel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34" name="Google Shape;234;p23"/>
          <p:cNvSpPr txBox="1"/>
          <p:nvPr/>
        </p:nvSpPr>
        <p:spPr>
          <a:xfrm>
            <a:off x="5873350" y="724525"/>
            <a:ext cx="3134100" cy="490500"/>
          </a:xfrm>
          <a:prstGeom prst="rect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27425" lIns="91425" spcFirstLastPara="1" rIns="91425" wrap="square" tIns="27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Spark was invented by a group of nerds that founded Databricks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Clever way to process large tables! 😻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 txBox="1"/>
          <p:nvPr>
            <p:ph idx="1" type="body"/>
          </p:nvPr>
        </p:nvSpPr>
        <p:spPr>
          <a:xfrm>
            <a:off x="5608650" y="1111725"/>
            <a:ext cx="3272700" cy="3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Overarching goal → close the data-value gap</a:t>
            </a:r>
            <a:endParaRPr sz="1200"/>
          </a:p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Some companies have large tables that can only be processed in a distributed fashion. </a:t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Examples of companies currently using Spark: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Alibaba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Amazon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Linkedin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Netflix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Shopify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Uber</a:t>
            </a:r>
            <a:endParaRPr sz="1200"/>
          </a:p>
          <a:p>
            <a:pPr indent="-30480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Yahoo</a:t>
            </a:r>
            <a:endParaRPr sz="1200"/>
          </a:p>
        </p:txBody>
      </p:sp>
      <p:sp>
        <p:nvSpPr>
          <p:cNvPr id="240" name="Google Shape;240;p24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1" name="Google Shape;241;p24"/>
          <p:cNvSpPr txBox="1"/>
          <p:nvPr>
            <p:ph type="title"/>
          </p:nvPr>
        </p:nvSpPr>
        <p:spPr>
          <a:xfrm>
            <a:off x="503238" y="10552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2. </a:t>
            </a:r>
            <a:r>
              <a:rPr lang="en" sz="2200">
                <a:latin typeface="Lora"/>
                <a:ea typeface="Lora"/>
                <a:cs typeface="Lora"/>
                <a:sym typeface="Lora"/>
              </a:rPr>
              <a:t>Why was Spark was created?</a:t>
            </a:r>
            <a:endParaRPr sz="2200"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42" name="Google Shape;242;p24"/>
          <p:cNvSpPr/>
          <p:nvPr/>
        </p:nvSpPr>
        <p:spPr>
          <a:xfrm>
            <a:off x="629625" y="1641775"/>
            <a:ext cx="3639625" cy="2780250"/>
          </a:xfrm>
          <a:custGeom>
            <a:rect b="b" l="l" r="r" t="t"/>
            <a:pathLst>
              <a:path extrusionOk="0" h="111210" w="145585">
                <a:moveTo>
                  <a:pt x="0" y="111210"/>
                </a:moveTo>
                <a:cubicBezTo>
                  <a:pt x="5982" y="110283"/>
                  <a:pt x="24601" y="108430"/>
                  <a:pt x="35891" y="105650"/>
                </a:cubicBezTo>
                <a:cubicBezTo>
                  <a:pt x="47181" y="102870"/>
                  <a:pt x="57375" y="99584"/>
                  <a:pt x="67738" y="94529"/>
                </a:cubicBezTo>
                <a:cubicBezTo>
                  <a:pt x="78101" y="89474"/>
                  <a:pt x="89138" y="82987"/>
                  <a:pt x="98068" y="75320"/>
                </a:cubicBezTo>
                <a:cubicBezTo>
                  <a:pt x="106999" y="67653"/>
                  <a:pt x="115087" y="57037"/>
                  <a:pt x="121321" y="48528"/>
                </a:cubicBezTo>
                <a:cubicBezTo>
                  <a:pt x="127556" y="40019"/>
                  <a:pt x="131431" y="32352"/>
                  <a:pt x="135475" y="24264"/>
                </a:cubicBezTo>
                <a:cubicBezTo>
                  <a:pt x="139519" y="16176"/>
                  <a:pt x="143900" y="4044"/>
                  <a:pt x="145585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243" name="Google Shape;243;p24"/>
          <p:cNvSpPr/>
          <p:nvPr/>
        </p:nvSpPr>
        <p:spPr>
          <a:xfrm>
            <a:off x="692825" y="3992350"/>
            <a:ext cx="3487975" cy="442325"/>
          </a:xfrm>
          <a:custGeom>
            <a:rect b="b" l="l" r="r" t="t"/>
            <a:pathLst>
              <a:path extrusionOk="0" h="17693" w="139519">
                <a:moveTo>
                  <a:pt x="0" y="17693"/>
                </a:moveTo>
                <a:cubicBezTo>
                  <a:pt x="7920" y="17440"/>
                  <a:pt x="32521" y="17356"/>
                  <a:pt x="47517" y="16176"/>
                </a:cubicBezTo>
                <a:cubicBezTo>
                  <a:pt x="62514" y="14997"/>
                  <a:pt x="78100" y="12385"/>
                  <a:pt x="89979" y="10616"/>
                </a:cubicBezTo>
                <a:cubicBezTo>
                  <a:pt x="101858" y="8847"/>
                  <a:pt x="110536" y="7330"/>
                  <a:pt x="118793" y="5561"/>
                </a:cubicBezTo>
                <a:cubicBezTo>
                  <a:pt x="127050" y="3792"/>
                  <a:pt x="136065" y="927"/>
                  <a:pt x="139519" y="0"/>
                </a:cubicBezTo>
              </a:path>
            </a:pathLst>
          </a:custGeom>
          <a:noFill/>
          <a:ln cap="flat" cmpd="sng" w="19050">
            <a:solidFill>
              <a:srgbClr val="6AA84F"/>
            </a:solidFill>
            <a:prstDash val="solid"/>
            <a:round/>
            <a:headEnd len="med" w="med" type="none"/>
            <a:tailEnd len="med" w="med" type="triangle"/>
          </a:ln>
        </p:spPr>
      </p:sp>
      <p:cxnSp>
        <p:nvCxnSpPr>
          <p:cNvPr id="244" name="Google Shape;244;p24"/>
          <p:cNvCxnSpPr/>
          <p:nvPr/>
        </p:nvCxnSpPr>
        <p:spPr>
          <a:xfrm rot="10800000">
            <a:off x="592475" y="1375950"/>
            <a:ext cx="0" cy="310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5" name="Google Shape;245;p24"/>
          <p:cNvCxnSpPr/>
          <p:nvPr/>
        </p:nvCxnSpPr>
        <p:spPr>
          <a:xfrm flipH="1" rot="10800000">
            <a:off x="592475" y="4459650"/>
            <a:ext cx="4081800" cy="25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46" name="Google Shape;246;p24"/>
          <p:cNvSpPr txBox="1"/>
          <p:nvPr/>
        </p:nvSpPr>
        <p:spPr>
          <a:xfrm>
            <a:off x="2247250" y="4459200"/>
            <a:ext cx="695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4"/>
          <p:cNvSpPr txBox="1"/>
          <p:nvPr/>
        </p:nvSpPr>
        <p:spPr>
          <a:xfrm rot="-5400000">
            <a:off x="-301550" y="2722500"/>
            <a:ext cx="139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Volume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8" name="Google Shape;248;p24"/>
          <p:cNvCxnSpPr/>
          <p:nvPr/>
        </p:nvCxnSpPr>
        <p:spPr>
          <a:xfrm flipH="1" rot="10800000">
            <a:off x="4171950" y="2033650"/>
            <a:ext cx="21600" cy="1803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49" name="Google Shape;249;p24"/>
          <p:cNvSpPr txBox="1"/>
          <p:nvPr/>
        </p:nvSpPr>
        <p:spPr>
          <a:xfrm>
            <a:off x="4319425" y="2476225"/>
            <a:ext cx="1263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Insight Gap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24"/>
          <p:cNvCxnSpPr/>
          <p:nvPr/>
        </p:nvCxnSpPr>
        <p:spPr>
          <a:xfrm>
            <a:off x="959900" y="1590100"/>
            <a:ext cx="745500" cy="126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1" name="Google Shape;251;p24"/>
          <p:cNvSpPr txBox="1"/>
          <p:nvPr/>
        </p:nvSpPr>
        <p:spPr>
          <a:xfrm>
            <a:off x="1691750" y="1386775"/>
            <a:ext cx="1061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total data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2" name="Google Shape;252;p24"/>
          <p:cNvCxnSpPr/>
          <p:nvPr/>
        </p:nvCxnSpPr>
        <p:spPr>
          <a:xfrm>
            <a:off x="959900" y="1894900"/>
            <a:ext cx="745500" cy="12600"/>
          </a:xfrm>
          <a:prstGeom prst="straightConnector1">
            <a:avLst/>
          </a:prstGeom>
          <a:noFill/>
          <a:ln cap="flat" cmpd="sng" w="2857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24"/>
          <p:cNvSpPr txBox="1"/>
          <p:nvPr/>
        </p:nvSpPr>
        <p:spPr>
          <a:xfrm>
            <a:off x="1691750" y="1691575"/>
            <a:ext cx="170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24"/>
          <p:cNvCxnSpPr/>
          <p:nvPr/>
        </p:nvCxnSpPr>
        <p:spPr>
          <a:xfrm rot="10800000">
            <a:off x="4205325" y="4099527"/>
            <a:ext cx="9000" cy="29250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255" name="Google Shape;255;p24"/>
          <p:cNvSpPr txBox="1"/>
          <p:nvPr/>
        </p:nvSpPr>
        <p:spPr>
          <a:xfrm>
            <a:off x="4319425" y="4076425"/>
            <a:ext cx="11883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rgbClr val="6AA84F"/>
                </a:solidFill>
                <a:latin typeface="Calibri"/>
                <a:ea typeface="Calibri"/>
                <a:cs typeface="Calibri"/>
                <a:sym typeface="Calibri"/>
              </a:rPr>
              <a:t>Business Value</a:t>
            </a:r>
            <a:endParaRPr b="1" sz="1000">
              <a:solidFill>
                <a:srgbClr val="6AA8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5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25"/>
          <p:cNvSpPr txBox="1"/>
          <p:nvPr>
            <p:ph type="title"/>
          </p:nvPr>
        </p:nvSpPr>
        <p:spPr>
          <a:xfrm>
            <a:off x="503238" y="10552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3. When and when not to use Spark?</a:t>
            </a:r>
            <a:endParaRPr sz="2200"/>
          </a:p>
        </p:txBody>
      </p:sp>
      <p:sp>
        <p:nvSpPr>
          <p:cNvPr id="262" name="Google Shape;262;p25"/>
          <p:cNvSpPr/>
          <p:nvPr/>
        </p:nvSpPr>
        <p:spPr>
          <a:xfrm>
            <a:off x="1538875" y="1299750"/>
            <a:ext cx="4829842" cy="2889369"/>
          </a:xfrm>
          <a:custGeom>
            <a:rect b="b" l="l" r="r" t="t"/>
            <a:pathLst>
              <a:path extrusionOk="0" h="109394" w="141007">
                <a:moveTo>
                  <a:pt x="0" y="0"/>
                </a:moveTo>
                <a:cubicBezTo>
                  <a:pt x="1087" y="5185"/>
                  <a:pt x="3616" y="22268"/>
                  <a:pt x="6523" y="31112"/>
                </a:cubicBezTo>
                <a:cubicBezTo>
                  <a:pt x="9430" y="39956"/>
                  <a:pt x="11923" y="45369"/>
                  <a:pt x="17443" y="53063"/>
                </a:cubicBezTo>
                <a:cubicBezTo>
                  <a:pt x="22963" y="60757"/>
                  <a:pt x="31008" y="70315"/>
                  <a:pt x="39642" y="77278"/>
                </a:cubicBezTo>
                <a:cubicBezTo>
                  <a:pt x="48276" y="84241"/>
                  <a:pt x="58209" y="89990"/>
                  <a:pt x="69249" y="94841"/>
                </a:cubicBezTo>
                <a:cubicBezTo>
                  <a:pt x="80289" y="99692"/>
                  <a:pt x="93921" y="103958"/>
                  <a:pt x="105881" y="106383"/>
                </a:cubicBezTo>
                <a:cubicBezTo>
                  <a:pt x="117841" y="108809"/>
                  <a:pt x="135153" y="108892"/>
                  <a:pt x="141007" y="10939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63" name="Google Shape;263;p25"/>
          <p:cNvCxnSpPr/>
          <p:nvPr/>
        </p:nvCxnSpPr>
        <p:spPr>
          <a:xfrm rot="10800000">
            <a:off x="1278275" y="1299750"/>
            <a:ext cx="0" cy="310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64" name="Google Shape;264;p25"/>
          <p:cNvCxnSpPr/>
          <p:nvPr/>
        </p:nvCxnSpPr>
        <p:spPr>
          <a:xfrm flipH="1" rot="10800000">
            <a:off x="1278275" y="4402350"/>
            <a:ext cx="5830500" cy="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p25"/>
          <p:cNvSpPr txBox="1"/>
          <p:nvPr/>
        </p:nvSpPr>
        <p:spPr>
          <a:xfrm>
            <a:off x="2933050" y="4383000"/>
            <a:ext cx="130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Tables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 txBox="1"/>
          <p:nvPr/>
        </p:nvSpPr>
        <p:spPr>
          <a:xfrm rot="-5400000">
            <a:off x="384250" y="2798700"/>
            <a:ext cx="139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Size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 txBox="1"/>
          <p:nvPr/>
        </p:nvSpPr>
        <p:spPr>
          <a:xfrm>
            <a:off x="541550" y="893900"/>
            <a:ext cx="79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Typical distribution of data in most companies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68" name="Google Shape;268;p25"/>
          <p:cNvCxnSpPr/>
          <p:nvPr/>
        </p:nvCxnSpPr>
        <p:spPr>
          <a:xfrm>
            <a:off x="1287975" y="1981200"/>
            <a:ext cx="674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69" name="Google Shape;269;p25"/>
          <p:cNvSpPr txBox="1"/>
          <p:nvPr/>
        </p:nvSpPr>
        <p:spPr>
          <a:xfrm>
            <a:off x="544075" y="1804650"/>
            <a:ext cx="58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16GB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25"/>
          <p:cNvSpPr txBox="1"/>
          <p:nvPr/>
        </p:nvSpPr>
        <p:spPr>
          <a:xfrm>
            <a:off x="4525000" y="1439900"/>
            <a:ext cx="357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"big data" -&gt; Spark necessary &amp; performant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1" name="Google Shape;271;p25"/>
          <p:cNvCxnSpPr/>
          <p:nvPr/>
        </p:nvCxnSpPr>
        <p:spPr>
          <a:xfrm rot="10800000">
            <a:off x="4325750" y="1453475"/>
            <a:ext cx="0" cy="38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2" name="Google Shape;272;p25"/>
          <p:cNvCxnSpPr/>
          <p:nvPr/>
        </p:nvCxnSpPr>
        <p:spPr>
          <a:xfrm flipH="1">
            <a:off x="4324850" y="2070875"/>
            <a:ext cx="900" cy="4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3" name="Google Shape;273;p25"/>
          <p:cNvSpPr txBox="1"/>
          <p:nvPr/>
        </p:nvSpPr>
        <p:spPr>
          <a:xfrm>
            <a:off x="4521350" y="2049500"/>
            <a:ext cx="454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"small data" -&gt; Spark unnecessary &amp; non-performant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4" name="Google Shape;274;p25"/>
          <p:cNvCxnSpPr/>
          <p:nvPr/>
        </p:nvCxnSpPr>
        <p:spPr>
          <a:xfrm>
            <a:off x="5710900" y="3596450"/>
            <a:ext cx="252600" cy="51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5" name="Google Shape;275;p25"/>
          <p:cNvCxnSpPr/>
          <p:nvPr/>
        </p:nvCxnSpPr>
        <p:spPr>
          <a:xfrm flipH="1">
            <a:off x="5210800" y="3596450"/>
            <a:ext cx="195300" cy="49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6" name="Google Shape;276;p25"/>
          <p:cNvCxnSpPr/>
          <p:nvPr/>
        </p:nvCxnSpPr>
        <p:spPr>
          <a:xfrm flipH="1">
            <a:off x="4115875" y="3436425"/>
            <a:ext cx="652200" cy="32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77" name="Google Shape;277;p25"/>
          <p:cNvCxnSpPr/>
          <p:nvPr/>
        </p:nvCxnSpPr>
        <p:spPr>
          <a:xfrm flipH="1">
            <a:off x="2866600" y="3191900"/>
            <a:ext cx="1813200" cy="8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78" name="Google Shape;278;p25"/>
          <p:cNvSpPr txBox="1"/>
          <p:nvPr/>
        </p:nvSpPr>
        <p:spPr>
          <a:xfrm>
            <a:off x="70650" y="2017000"/>
            <a:ext cx="12174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(~1 billion rows depending on table) *[1]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5806150" y="667225"/>
            <a:ext cx="3201300" cy="544200"/>
          </a:xfrm>
          <a:prstGeom prst="rect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Definition of "big data":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Anything too big to run on a single node</a:t>
            </a:r>
            <a:endParaRPr i="1"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1528350" y="4653550"/>
            <a:ext cx="689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*[1] assuming a typical compute node with 16GB memory. Azure offers VMs with memory up to 32'000 GB (M896ixds32)</a:t>
            </a:r>
            <a:endParaRPr sz="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4679950" y="2863550"/>
            <a:ext cx="20850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is often used to process datasets here, which is unnecessary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6"/>
          <p:cNvSpPr txBox="1"/>
          <p:nvPr>
            <p:ph idx="12" type="sldNum"/>
          </p:nvPr>
        </p:nvSpPr>
        <p:spPr>
          <a:xfrm>
            <a:off x="70649" y="4784763"/>
            <a:ext cx="365700" cy="13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87" name="Google Shape;287;p26"/>
          <p:cNvSpPr txBox="1"/>
          <p:nvPr>
            <p:ph type="title"/>
          </p:nvPr>
        </p:nvSpPr>
        <p:spPr>
          <a:xfrm>
            <a:off x="503238" y="105524"/>
            <a:ext cx="81375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3. When and when not to use Spark?</a:t>
            </a:r>
            <a:endParaRPr sz="2200"/>
          </a:p>
        </p:txBody>
      </p:sp>
      <p:sp>
        <p:nvSpPr>
          <p:cNvPr id="288" name="Google Shape;288;p26"/>
          <p:cNvSpPr/>
          <p:nvPr/>
        </p:nvSpPr>
        <p:spPr>
          <a:xfrm>
            <a:off x="1538875" y="1299750"/>
            <a:ext cx="4829842" cy="2889369"/>
          </a:xfrm>
          <a:custGeom>
            <a:rect b="b" l="l" r="r" t="t"/>
            <a:pathLst>
              <a:path extrusionOk="0" h="109394" w="141007">
                <a:moveTo>
                  <a:pt x="0" y="0"/>
                </a:moveTo>
                <a:cubicBezTo>
                  <a:pt x="1087" y="5185"/>
                  <a:pt x="3616" y="22268"/>
                  <a:pt x="6523" y="31112"/>
                </a:cubicBezTo>
                <a:cubicBezTo>
                  <a:pt x="9430" y="39956"/>
                  <a:pt x="11923" y="45369"/>
                  <a:pt x="17443" y="53063"/>
                </a:cubicBezTo>
                <a:cubicBezTo>
                  <a:pt x="22963" y="60757"/>
                  <a:pt x="31008" y="70315"/>
                  <a:pt x="39642" y="77278"/>
                </a:cubicBezTo>
                <a:cubicBezTo>
                  <a:pt x="48276" y="84241"/>
                  <a:pt x="58209" y="89990"/>
                  <a:pt x="69249" y="94841"/>
                </a:cubicBezTo>
                <a:cubicBezTo>
                  <a:pt x="80289" y="99692"/>
                  <a:pt x="93921" y="103958"/>
                  <a:pt x="105881" y="106383"/>
                </a:cubicBezTo>
                <a:cubicBezTo>
                  <a:pt x="117841" y="108809"/>
                  <a:pt x="135153" y="108892"/>
                  <a:pt x="141007" y="109394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cxnSp>
        <p:nvCxnSpPr>
          <p:cNvPr id="289" name="Google Shape;289;p26"/>
          <p:cNvCxnSpPr/>
          <p:nvPr/>
        </p:nvCxnSpPr>
        <p:spPr>
          <a:xfrm rot="10800000">
            <a:off x="1278275" y="1299750"/>
            <a:ext cx="0" cy="3108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0" name="Google Shape;290;p26"/>
          <p:cNvCxnSpPr/>
          <p:nvPr/>
        </p:nvCxnSpPr>
        <p:spPr>
          <a:xfrm flipH="1" rot="10800000">
            <a:off x="1278275" y="4402350"/>
            <a:ext cx="5830500" cy="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1" name="Google Shape;291;p26"/>
          <p:cNvSpPr txBox="1"/>
          <p:nvPr/>
        </p:nvSpPr>
        <p:spPr>
          <a:xfrm>
            <a:off x="2933050" y="4383000"/>
            <a:ext cx="1302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 Tables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6"/>
          <p:cNvSpPr txBox="1"/>
          <p:nvPr/>
        </p:nvSpPr>
        <p:spPr>
          <a:xfrm rot="-5400000">
            <a:off x="384250" y="2798700"/>
            <a:ext cx="1399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Size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6"/>
          <p:cNvSpPr txBox="1"/>
          <p:nvPr/>
        </p:nvSpPr>
        <p:spPr>
          <a:xfrm>
            <a:off x="541550" y="893900"/>
            <a:ext cx="7938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Typical distribution of data in most companies</a:t>
            </a:r>
            <a:endParaRPr i="1"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294" name="Google Shape;294;p26"/>
          <p:cNvCxnSpPr/>
          <p:nvPr/>
        </p:nvCxnSpPr>
        <p:spPr>
          <a:xfrm>
            <a:off x="1287975" y="1981200"/>
            <a:ext cx="67494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95" name="Google Shape;295;p26"/>
          <p:cNvSpPr txBox="1"/>
          <p:nvPr/>
        </p:nvSpPr>
        <p:spPr>
          <a:xfrm>
            <a:off x="544075" y="1804650"/>
            <a:ext cx="589500" cy="3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16GB</a:t>
            </a:r>
            <a:endParaRPr sz="12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26"/>
          <p:cNvSpPr txBox="1"/>
          <p:nvPr/>
        </p:nvSpPr>
        <p:spPr>
          <a:xfrm>
            <a:off x="4525000" y="1439900"/>
            <a:ext cx="3576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"big data" -&gt; Spark necessary &amp; performant 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7" name="Google Shape;297;p26"/>
          <p:cNvCxnSpPr/>
          <p:nvPr/>
        </p:nvCxnSpPr>
        <p:spPr>
          <a:xfrm rot="10800000">
            <a:off x="4325750" y="1453475"/>
            <a:ext cx="0" cy="3888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98" name="Google Shape;298;p26"/>
          <p:cNvCxnSpPr/>
          <p:nvPr/>
        </p:nvCxnSpPr>
        <p:spPr>
          <a:xfrm flipH="1">
            <a:off x="4324850" y="2070875"/>
            <a:ext cx="900" cy="469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99" name="Google Shape;299;p26"/>
          <p:cNvSpPr txBox="1"/>
          <p:nvPr/>
        </p:nvSpPr>
        <p:spPr>
          <a:xfrm>
            <a:off x="4521350" y="2049500"/>
            <a:ext cx="4542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"small data" -&gt; Spark unnecessary &amp; non-performant</a:t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0" name="Google Shape;300;p26"/>
          <p:cNvCxnSpPr/>
          <p:nvPr/>
        </p:nvCxnSpPr>
        <p:spPr>
          <a:xfrm>
            <a:off x="5710900" y="3596450"/>
            <a:ext cx="252600" cy="518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1" name="Google Shape;301;p26"/>
          <p:cNvCxnSpPr/>
          <p:nvPr/>
        </p:nvCxnSpPr>
        <p:spPr>
          <a:xfrm flipH="1">
            <a:off x="5210800" y="3596450"/>
            <a:ext cx="195300" cy="4932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2" name="Google Shape;302;p26"/>
          <p:cNvCxnSpPr/>
          <p:nvPr/>
        </p:nvCxnSpPr>
        <p:spPr>
          <a:xfrm flipH="1">
            <a:off x="4115875" y="3436425"/>
            <a:ext cx="652200" cy="3261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03" name="Google Shape;303;p26"/>
          <p:cNvCxnSpPr/>
          <p:nvPr/>
        </p:nvCxnSpPr>
        <p:spPr>
          <a:xfrm flipH="1">
            <a:off x="2866600" y="3191900"/>
            <a:ext cx="1813200" cy="825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4" name="Google Shape;304;p26"/>
          <p:cNvSpPr txBox="1"/>
          <p:nvPr/>
        </p:nvSpPr>
        <p:spPr>
          <a:xfrm>
            <a:off x="70650" y="2017000"/>
            <a:ext cx="12174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(~1 billion rows depending on table) *[1]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 txBox="1"/>
          <p:nvPr/>
        </p:nvSpPr>
        <p:spPr>
          <a:xfrm>
            <a:off x="5806150" y="667225"/>
            <a:ext cx="3201300" cy="544200"/>
          </a:xfrm>
          <a:prstGeom prst="rect">
            <a:avLst/>
          </a:prstGeom>
          <a:noFill/>
          <a:ln cap="flat" cmpd="sng" w="19050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Definition of "big data":</a:t>
            </a:r>
            <a:endParaRPr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000">
                <a:solidFill>
                  <a:schemeClr val="accent3"/>
                </a:solidFill>
                <a:latin typeface="Lora"/>
                <a:ea typeface="Lora"/>
                <a:cs typeface="Lora"/>
                <a:sym typeface="Lora"/>
              </a:rPr>
              <a:t>Anything too big to run on a single node</a:t>
            </a:r>
            <a:endParaRPr i="1" sz="1000">
              <a:solidFill>
                <a:schemeClr val="accent3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06" name="Google Shape;306;p26"/>
          <p:cNvSpPr txBox="1"/>
          <p:nvPr/>
        </p:nvSpPr>
        <p:spPr>
          <a:xfrm>
            <a:off x="1528350" y="4653550"/>
            <a:ext cx="68934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*[1] assuming a typical compute node with 16GB memory. Azure offers VMs with memory up to 32'000 GB (M896ixds32)</a:t>
            </a:r>
            <a:endParaRPr sz="8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cxnSp>
        <p:nvCxnSpPr>
          <p:cNvPr id="307" name="Google Shape;307;p26"/>
          <p:cNvCxnSpPr/>
          <p:nvPr/>
        </p:nvCxnSpPr>
        <p:spPr>
          <a:xfrm flipH="1">
            <a:off x="6737625" y="2823575"/>
            <a:ext cx="489300" cy="138000"/>
          </a:xfrm>
          <a:prstGeom prst="straightConnector1">
            <a:avLst/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08" name="Google Shape;308;p26"/>
          <p:cNvSpPr txBox="1"/>
          <p:nvPr/>
        </p:nvSpPr>
        <p:spPr>
          <a:xfrm>
            <a:off x="7337375" y="2555500"/>
            <a:ext cx="1672800" cy="12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accent3"/>
                </a:solidFill>
                <a:latin typeface="Calibri"/>
                <a:ea typeface="Calibri"/>
                <a:cs typeface="Calibri"/>
                <a:sym typeface="Calibri"/>
              </a:rPr>
              <a:t>let's fact check this by scanning sizes of all bronze, silver, and gold tables on 3 Databricks workspaces</a:t>
            </a:r>
            <a:endParaRPr sz="1100">
              <a:solidFill>
                <a:schemeClr val="accent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6"/>
          <p:cNvSpPr txBox="1"/>
          <p:nvPr/>
        </p:nvSpPr>
        <p:spPr>
          <a:xfrm>
            <a:off x="4679950" y="2863550"/>
            <a:ext cx="2085000" cy="6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Spark is often used to process datasets here, which is unnecessary</a:t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 txBox="1"/>
          <p:nvPr>
            <p:ph type="title"/>
          </p:nvPr>
        </p:nvSpPr>
        <p:spPr>
          <a:xfrm>
            <a:off x="503250" y="105525"/>
            <a:ext cx="8583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4. Scanning table sizes on Databricks workspaces at Company X</a:t>
            </a:r>
            <a:endParaRPr sz="2200"/>
          </a:p>
        </p:txBody>
      </p:sp>
      <p:sp>
        <p:nvSpPr>
          <p:cNvPr id="315" name="Google Shape;315;p27"/>
          <p:cNvSpPr txBox="1"/>
          <p:nvPr>
            <p:ph idx="1" type="body"/>
          </p:nvPr>
        </p:nvSpPr>
        <p:spPr>
          <a:xfrm>
            <a:off x="503250" y="1033475"/>
            <a:ext cx="7877400" cy="3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Task:</a:t>
            </a:r>
            <a:endParaRPr sz="1400"/>
          </a:p>
          <a:p>
            <a:pPr indent="-3175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Recursively scan all bronze, silver, and gold Catalogs on 3 different Databricks workspaces:</a:t>
            </a:r>
            <a:endParaRPr sz="1400"/>
          </a:p>
          <a:p>
            <a:pPr indent="-3175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/>
              <a:t>Team #1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/>
              <a:t>Team #2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/>
              <a:t>Team #3</a:t>
            </a:r>
            <a:endParaRPr>
              <a:solidFill>
                <a:schemeClr val="dk1"/>
              </a:solidFill>
            </a:endParaRPr>
          </a:p>
          <a:p>
            <a:pPr indent="-317500" lvl="0" marL="4572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400"/>
              <a:t>For each table retrieve:</a:t>
            </a:r>
            <a:endParaRPr sz="1400"/>
          </a:p>
          <a:p>
            <a:pPr indent="-3175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/>
              <a:t>rows in table</a:t>
            </a:r>
            <a:endParaRPr/>
          </a:p>
          <a:p>
            <a:pPr indent="-317500" lvl="1" marL="9144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/>
              <a:t>size of table in bytes</a:t>
            </a:r>
            <a:br>
              <a:rPr lang="en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Find generic </a:t>
            </a:r>
            <a:r>
              <a:rPr lang="en" sz="1400" u="sng">
                <a:solidFill>
                  <a:schemeClr val="hlink"/>
                </a:solidFill>
                <a:hlinkClick r:id="rId3"/>
              </a:rPr>
              <a:t>code on my github</a:t>
            </a:r>
            <a:r>
              <a:rPr lang="en" sz="1400"/>
              <a:t> that performs this. </a:t>
            </a:r>
            <a:endParaRPr sz="14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910075"/>
            <a:ext cx="7201075" cy="3736475"/>
          </a:xfrm>
          <a:prstGeom prst="rect">
            <a:avLst/>
          </a:prstGeom>
          <a:noFill/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321" name="Google Shape;321;p28"/>
          <p:cNvSpPr/>
          <p:nvPr/>
        </p:nvSpPr>
        <p:spPr>
          <a:xfrm>
            <a:off x="1931950" y="4591525"/>
            <a:ext cx="225300" cy="14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28"/>
          <p:cNvSpPr/>
          <p:nvPr/>
        </p:nvSpPr>
        <p:spPr>
          <a:xfrm>
            <a:off x="4381556" y="4591525"/>
            <a:ext cx="225300" cy="14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28"/>
          <p:cNvSpPr/>
          <p:nvPr/>
        </p:nvSpPr>
        <p:spPr>
          <a:xfrm>
            <a:off x="6779551" y="4591525"/>
            <a:ext cx="325200" cy="143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28"/>
          <p:cNvSpPr txBox="1"/>
          <p:nvPr>
            <p:ph type="title"/>
          </p:nvPr>
        </p:nvSpPr>
        <p:spPr>
          <a:xfrm>
            <a:off x="503250" y="105525"/>
            <a:ext cx="85830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/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4. Scanning table sizes on Databricks workspaces at Company X</a:t>
            </a:r>
            <a:endParaRPr sz="22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9"/>
          <p:cNvSpPr txBox="1"/>
          <p:nvPr>
            <p:ph type="title"/>
          </p:nvPr>
        </p:nvSpPr>
        <p:spPr>
          <a:xfrm>
            <a:off x="503250" y="185700"/>
            <a:ext cx="8137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5. Potential solutions &amp; Performance comparison with the best alternative</a:t>
            </a:r>
            <a:endParaRPr sz="1800"/>
          </a:p>
        </p:txBody>
      </p:sp>
      <p:sp>
        <p:nvSpPr>
          <p:cNvPr id="330" name="Google Shape;330;p29"/>
          <p:cNvSpPr txBox="1"/>
          <p:nvPr>
            <p:ph idx="1" type="body"/>
          </p:nvPr>
        </p:nvSpPr>
        <p:spPr>
          <a:xfrm>
            <a:off x="503250" y="851050"/>
            <a:ext cx="8091300" cy="6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Use Spark on single node compute when working with tables less than ~16 GB (~1 billion rows)…</a:t>
            </a:r>
            <a:endParaRPr sz="1200"/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an odd solution since negates the very purpose Spark was designed for: distributed compute ❌</a:t>
            </a:r>
            <a:endParaRPr sz="1200"/>
          </a:p>
          <a:p>
            <a:pPr indent="-30480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 sz="1200"/>
              <a:t>slow and complex compared to alternatives ❌</a:t>
            </a:r>
            <a:endParaRPr sz="1200"/>
          </a:p>
          <a:p>
            <a:pPr indent="-3048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</a:pPr>
            <a:r>
              <a:rPr lang="en" sz="1200"/>
              <a:t>Use pandas or polars instead of Spark ✅</a:t>
            </a:r>
            <a:endParaRPr sz="1200"/>
          </a:p>
        </p:txBody>
      </p:sp>
      <p:graphicFrame>
        <p:nvGraphicFramePr>
          <p:cNvPr id="331" name="Google Shape;331;p29"/>
          <p:cNvGraphicFramePr/>
          <p:nvPr/>
        </p:nvGraphicFramePr>
        <p:xfrm>
          <a:off x="698875" y="1924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{4D750944-538E-481D-A2F3-CD2584F47FC3}</a:tableStyleId>
              </a:tblPr>
              <a:tblGrid>
                <a:gridCol w="1202775"/>
                <a:gridCol w="2014450"/>
                <a:gridCol w="2270275"/>
                <a:gridCol w="2270275"/>
              </a:tblGrid>
              <a:tr h="286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latin typeface="Lora"/>
                          <a:ea typeface="Lora"/>
                          <a:cs typeface="Lora"/>
                          <a:sym typeface="Lora"/>
                        </a:rPr>
                        <a:t>Criteria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Lora"/>
                          <a:ea typeface="Lora"/>
                          <a:cs typeface="Lora"/>
                          <a:sym typeface="Lora"/>
                          <a:hlinkClick r:id="rId3"/>
                        </a:rPr>
                        <a:t>Spark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Lora"/>
                          <a:ea typeface="Lora"/>
                          <a:cs typeface="Lora"/>
                          <a:sym typeface="Lora"/>
                          <a:hlinkClick r:id="rId4"/>
                        </a:rPr>
                        <a:t>Polars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u="sng">
                          <a:solidFill>
                            <a:schemeClr val="hlink"/>
                          </a:solidFill>
                          <a:latin typeface="Lora"/>
                          <a:ea typeface="Lora"/>
                          <a:cs typeface="Lora"/>
                          <a:sym typeface="Lora"/>
                          <a:hlinkClick r:id="rId5"/>
                        </a:rPr>
                        <a:t>Pandas</a:t>
                      </a:r>
                      <a:endParaRPr sz="11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  <a:tr h="23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Github Stars (as of Oct 2025)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42K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36K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47K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Parallelized?  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Yes, across cores on many nodes</a:t>
                      </a:r>
                      <a:endParaRPr sz="700">
                        <a:solidFill>
                          <a:schemeClr val="dk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Yes, across cores on one node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No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384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Scalability 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Scales horizontally across many nodes ("cluster computing")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Primarily scales vertically (single node)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Does not scale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</a:tr>
              <a:tr h="333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Cost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Typically incurs higher costs due to the need for distributed computing resources &amp; storage</a:t>
                      </a:r>
                      <a:endParaRPr sz="700">
                        <a:solidFill>
                          <a:schemeClr val="dk1"/>
                        </a:solidFill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latin typeface="Lora"/>
                          <a:ea typeface="Lora"/>
                          <a:cs typeface="Lora"/>
                          <a:sym typeface="Lora"/>
                        </a:rPr>
                        <a:t>Low: single node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00">
                          <a:solidFill>
                            <a:schemeClr val="dk1"/>
                          </a:solidFill>
                          <a:latin typeface="Lora"/>
                          <a:ea typeface="Lora"/>
                          <a:cs typeface="Lora"/>
                          <a:sym typeface="Lora"/>
                        </a:rPr>
                        <a:t>Low: single node</a:t>
                      </a:r>
                      <a:endParaRPr sz="700">
                        <a:latin typeface="Lora"/>
                        <a:ea typeface="Lora"/>
                        <a:cs typeface="Lora"/>
                        <a:sym typeface="Lora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36" name="Google Shape;336;p30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37" name="Google Shape;337;p30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38" name="Google Shape;338;p30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39" name="Google Shape;339;p30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0" name="Google Shape;340;p30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1" name="Google Shape;341;p30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id="342" name="Google Shape;34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" y="802200"/>
            <a:ext cx="6581306" cy="41889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0"/>
          <p:cNvSpPr txBox="1"/>
          <p:nvPr>
            <p:ph type="title"/>
          </p:nvPr>
        </p:nvSpPr>
        <p:spPr>
          <a:xfrm>
            <a:off x="503250" y="185700"/>
            <a:ext cx="8137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5. Potential solutions &amp; Performance comparison with the best alternative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48" name="Google Shape;348;p3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49" name="Google Shape;349;p3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0" name="Google Shape;350;p3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1" name="Google Shape;351;p3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2" name="Google Shape;352;p3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353" name="Google Shape;353;p31"/>
          <p:cNvGraphicFramePr/>
          <p:nvPr/>
        </p:nvGraphicFramePr>
        <p:xfrm>
          <a:off x="304800" y="304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{DA4846BF-35AD-4495-B0B3-F6E9F92FA0DE}</a:tableStyleId>
              </a:tblPr>
              <a:tblGrid>
                <a:gridCol w="19050"/>
              </a:tblGrid>
              <a:tr h="19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354" name="Google Shape;354;p31"/>
          <p:cNvSpPr txBox="1"/>
          <p:nvPr>
            <p:ph idx="1" type="body"/>
          </p:nvPr>
        </p:nvSpPr>
        <p:spPr>
          <a:xfrm>
            <a:off x="579450" y="774850"/>
            <a:ext cx="8091300" cy="3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Polars is the fastest growing open source data project I am aware of</a:t>
            </a:r>
            <a:endParaRPr sz="1400"/>
          </a:p>
        </p:txBody>
      </p:sp>
      <p:pic>
        <p:nvPicPr>
          <p:cNvPr id="355" name="Google Shape;355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225" y="1056900"/>
            <a:ext cx="5447267" cy="3703251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 txBox="1"/>
          <p:nvPr>
            <p:ph type="title"/>
          </p:nvPr>
        </p:nvSpPr>
        <p:spPr>
          <a:xfrm>
            <a:off x="503250" y="185700"/>
            <a:ext cx="8137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5. Potential solutions &amp; Performance comparison with the best alternative</a:t>
            </a:r>
            <a:endParaRPr sz="18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2"/>
          <p:cNvSpPr txBox="1"/>
          <p:nvPr/>
        </p:nvSpPr>
        <p:spPr>
          <a:xfrm>
            <a:off x="838625" y="864575"/>
            <a:ext cx="8181900" cy="8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ora"/>
              <a:buChar char="●"/>
            </a:pPr>
            <a:r>
              <a:rPr lang="en" sz="12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3"/>
              </a:rPr>
              <a:t>polars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is a popular (35K+ github stars) library written in Rust for processing data in-memory on a single node, using pandas-like syntax.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benchmark performed on 5GB &amp; 50GB tables (see full results </a:t>
            </a:r>
            <a:r>
              <a:rPr lang="en" sz="12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4"/>
              </a:rPr>
              <a:t>here</a:t>
            </a: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): 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sp>
        <p:nvSpPr>
          <p:cNvPr id="362" name="Google Shape;362;p32"/>
          <p:cNvSpPr txBox="1"/>
          <p:nvPr/>
        </p:nvSpPr>
        <p:spPr>
          <a:xfrm>
            <a:off x="6057150" y="1660500"/>
            <a:ext cx="3086700" cy="327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~3x cheaper than default Spark cluster on Databricks / Microsoft Fabric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~6x faster than Spark for "small data"</a:t>
            </a:r>
            <a:endParaRPr sz="12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63" name="Google Shape;363;p32"/>
          <p:cNvPicPr preferRelativeResize="0"/>
          <p:nvPr/>
        </p:nvPicPr>
        <p:blipFill rotWithShape="1">
          <a:blip r:embed="rId5">
            <a:alphaModFix/>
          </a:blip>
          <a:srcRect b="0" l="0" r="19374" t="0"/>
          <a:stretch/>
        </p:blipFill>
        <p:spPr>
          <a:xfrm>
            <a:off x="152400" y="1775975"/>
            <a:ext cx="2843451" cy="31609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2"/>
          <p:cNvPicPr preferRelativeResize="0"/>
          <p:nvPr/>
        </p:nvPicPr>
        <p:blipFill rotWithShape="1">
          <a:blip r:embed="rId6">
            <a:alphaModFix/>
          </a:blip>
          <a:srcRect b="0" l="0" r="18817" t="0"/>
          <a:stretch/>
        </p:blipFill>
        <p:spPr>
          <a:xfrm>
            <a:off x="2995850" y="1852175"/>
            <a:ext cx="2959774" cy="3086124"/>
          </a:xfrm>
          <a:prstGeom prst="rect">
            <a:avLst/>
          </a:prstGeom>
          <a:noFill/>
          <a:ln>
            <a:noFill/>
          </a:ln>
        </p:spPr>
      </p:pic>
      <p:sp>
        <p:nvSpPr>
          <p:cNvPr id="365" name="Google Shape;365;p32"/>
          <p:cNvSpPr txBox="1"/>
          <p:nvPr>
            <p:ph type="title"/>
          </p:nvPr>
        </p:nvSpPr>
        <p:spPr>
          <a:xfrm>
            <a:off x="503250" y="185700"/>
            <a:ext cx="8137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5. Potential solutions &amp; Performance comparison with the best alternative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3"/>
          <p:cNvSpPr txBox="1"/>
          <p:nvPr/>
        </p:nvSpPr>
        <p:spPr>
          <a:xfrm>
            <a:off x="685800" y="1109675"/>
            <a:ext cx="8458200" cy="321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What does ChatGPT think?</a:t>
            </a:r>
            <a:endParaRPr b="1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Find full answer </a:t>
            </a:r>
            <a:r>
              <a:rPr lang="en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3"/>
              </a:rPr>
              <a:t>here</a:t>
            </a:r>
            <a:r>
              <a:rPr lang="en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. </a:t>
            </a:r>
            <a:endParaRPr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  <p:pic>
        <p:nvPicPr>
          <p:cNvPr id="371" name="Google Shape;371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2000" y="1500125"/>
            <a:ext cx="7182573" cy="2282051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33"/>
          <p:cNvSpPr txBox="1"/>
          <p:nvPr>
            <p:ph type="title"/>
          </p:nvPr>
        </p:nvSpPr>
        <p:spPr>
          <a:xfrm>
            <a:off x="503250" y="185700"/>
            <a:ext cx="8137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5. Potential solutions &amp; Performance comparison with the best alternative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4"/>
          <p:cNvSpPr txBox="1"/>
          <p:nvPr>
            <p:ph type="title"/>
          </p:nvPr>
        </p:nvSpPr>
        <p:spPr>
          <a:xfrm>
            <a:off x="503250" y="261900"/>
            <a:ext cx="8137500" cy="464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6</a:t>
            </a:r>
            <a:r>
              <a:rPr lang="en" sz="2200"/>
              <a:t>. Conclusions</a:t>
            </a:r>
            <a:endParaRPr sz="2200"/>
          </a:p>
        </p:txBody>
      </p:sp>
      <p:sp>
        <p:nvSpPr>
          <p:cNvPr id="378" name="Google Shape;378;p34"/>
          <p:cNvSpPr txBox="1"/>
          <p:nvPr/>
        </p:nvSpPr>
        <p:spPr>
          <a:xfrm>
            <a:off x="685800" y="746107"/>
            <a:ext cx="8334600" cy="3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300"/>
              <a:buFont typeface="Lora"/>
              <a:buChar char="●"/>
            </a:pPr>
            <a:r>
              <a:rPr lang="en" sz="12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"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Big data" means data greater than what can fit into memory on 1 compute node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Any table under 16GB (~1 billion rows) is generally not considered big data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Memory on 1 Azure VM  can be increased up to 32'000 GB (M896ixds32) ⇨ ~ 2 trillion rows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Company X hardly has big data (no tables above 1 TB): average table size on Databricks is under 1GB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Spark is necessary and performant on big data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Spark is unnecessary; non-performant; &amp; expensive on "small data" (see previous slides that backup this statement)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~6x slower than polars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~3x more expensive than polars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Oliver loves polars because: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It's fast (written in rust)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It's usually all you need: runs on only 1 node and most data we work with on a day to day basis is not "big data"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If your data size grows, you can vertically scale your VM (i.e. get more memory). Some VMs now have terabytes of memory! 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35"/>
          <p:cNvSpPr txBox="1"/>
          <p:nvPr>
            <p:ph type="title"/>
          </p:nvPr>
        </p:nvSpPr>
        <p:spPr>
          <a:xfrm>
            <a:off x="503250" y="303350"/>
            <a:ext cx="81375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7</a:t>
            </a:r>
            <a:r>
              <a:rPr lang="en" sz="1600"/>
              <a:t>. </a:t>
            </a:r>
            <a:r>
              <a:rPr lang="en" sz="1600"/>
              <a:t>Benchmarking Pandas (single thread) vs Polars (multi thread) — classroom exercise</a:t>
            </a:r>
            <a:endParaRPr sz="1600"/>
          </a:p>
        </p:txBody>
      </p:sp>
      <p:sp>
        <p:nvSpPr>
          <p:cNvPr id="384" name="Google Shape;384;p35"/>
          <p:cNvSpPr txBox="1"/>
          <p:nvPr/>
        </p:nvSpPr>
        <p:spPr>
          <a:xfrm>
            <a:off x="503250" y="798175"/>
            <a:ext cx="8421300" cy="382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parallel compute logic (e.g. how joins or groupbys are distributed) between Spark &amp; Polars is similar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Clone this repo locally: </a:t>
            </a:r>
            <a:r>
              <a:rPr lang="en" sz="1100" u="sng">
                <a:solidFill>
                  <a:schemeClr val="hlink"/>
                </a:solidFill>
                <a:latin typeface="Lora"/>
                <a:ea typeface="Lora"/>
                <a:cs typeface="Lora"/>
                <a:sym typeface="Lora"/>
                <a:hlinkClick r:id="rId3"/>
              </a:rPr>
              <a:t>https://github.com/oliverangelil/AIMS_course_Pandas_vs_Polars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Follow installation instructions in the README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●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Benchmarking steps: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Work in teams of 3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Don't change any code &amp; run all cells with the default number of threads available. A figure will be saved to your computer.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Limit the threads to 1, by adjusting POLARS_MAX_THREADS. Restart kernel &amp; run all. A new figure will be saved.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Add a new 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benchmarking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 operation (parallelized, if you're on the l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eft hand side of the class when facing front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; 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non-parallelized, if you're on the </a:t>
            </a: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right side) </a:t>
            </a:r>
            <a:endParaRPr b="1"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1" marL="9144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○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rename your .ipynb files to include the surnames of your team members, and send the following privately in slack to oliver, cyrille, &amp; vincent </a:t>
            </a:r>
            <a:r>
              <a:rPr b="1"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before 10:00am:</a:t>
            </a:r>
            <a:endParaRPr b="1"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2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■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the .ipynb file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2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■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 .png figures for the groupby operation (1 figure for default thread count; 1 figure for 1 thread). ~10 minutes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  <a:p>
            <a:pPr indent="-298450" lvl="2" marL="13716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Lora"/>
              <a:buChar char="■"/>
            </a:pPr>
            <a:r>
              <a:rPr lang="en" sz="1100">
                <a:solidFill>
                  <a:schemeClr val="dk1"/>
                </a:solidFill>
                <a:latin typeface="Lora"/>
                <a:ea typeface="Lora"/>
                <a:cs typeface="Lora"/>
                <a:sym typeface="Lora"/>
              </a:rPr>
              <a:t>2 .png figures for the your new operation (1 figure for default thread count; 1 figure for 1 thread). ~40 minutes</a:t>
            </a:r>
            <a:endParaRPr sz="1100">
              <a:solidFill>
                <a:schemeClr val="dk1"/>
              </a:solidFill>
              <a:latin typeface="Lora"/>
              <a:ea typeface="Lora"/>
              <a:cs typeface="Lora"/>
              <a:sym typeface="Lora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36"/>
          <p:cNvSpPr txBox="1"/>
          <p:nvPr>
            <p:ph type="title"/>
          </p:nvPr>
        </p:nvSpPr>
        <p:spPr>
          <a:xfrm>
            <a:off x="503250" y="303350"/>
            <a:ext cx="81375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7</a:t>
            </a:r>
            <a:r>
              <a:rPr lang="en" sz="1600"/>
              <a:t>. Benchmarking Pandas (single thread) vs Polars (multi thread) — classroom exercise</a:t>
            </a:r>
            <a:endParaRPr sz="1600"/>
          </a:p>
        </p:txBody>
      </p:sp>
      <p:pic>
        <p:nvPicPr>
          <p:cNvPr id="390" name="Google Shape;390;p36" title="benchmarking_groupby_8threa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2450"/>
            <a:ext cx="4494000" cy="337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36" title="benchmarking_groupby_1threa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325" y="926575"/>
            <a:ext cx="4364100" cy="3273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7"/>
          <p:cNvSpPr txBox="1"/>
          <p:nvPr>
            <p:ph type="title"/>
          </p:nvPr>
        </p:nvSpPr>
        <p:spPr>
          <a:xfrm>
            <a:off x="503250" y="303350"/>
            <a:ext cx="8137500" cy="4167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7</a:t>
            </a:r>
            <a:r>
              <a:rPr lang="en" sz="1600"/>
              <a:t>. Benchmarking Pandas (single thread) vs Polars (multi thread) — classroom exercise</a:t>
            </a:r>
            <a:endParaRPr sz="1600"/>
          </a:p>
        </p:txBody>
      </p:sp>
      <p:pic>
        <p:nvPicPr>
          <p:cNvPr id="397" name="Google Shape;397;p37" title="benchmarking_cumulativesum_8thread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2450"/>
            <a:ext cx="4378526" cy="32838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37" title="benchmarking_cumulativesum_1threads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3326" y="872450"/>
            <a:ext cx="4308274" cy="3231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