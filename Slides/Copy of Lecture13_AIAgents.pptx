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Lst>
  <p:sldSz cy="5143500" cx="9144000"/>
  <p:notesSz cx="6858000" cy="9144000"/>
  <p:embeddedFontLst>
    <p:embeddedFont>
      <p:font typeface="Lora"/>
      <p:regular r:id="rId35"/>
      <p:bold r:id="rId36"/>
      <p:italic r:id="rId37"/>
      <p:boldItalic r:id="rId38"/>
    </p:embeddedFont>
    <p:embeddedFont>
      <p:font typeface="Pacifico"/>
      <p:regular r:id="rId39"/>
    </p:embeddedFont>
    <p:embeddedFont>
      <p:font typeface="Roboto Mono"/>
      <p:regular r:id="rId40"/>
      <p:bold r:id="rId41"/>
      <p:italic r:id="rId42"/>
      <p:boldItalic r:id="rId4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regular.fntdata"/><Relationship Id="rId20" Type="http://schemas.openxmlformats.org/officeDocument/2006/relationships/slide" Target="slides/slide15.xml"/><Relationship Id="rId42" Type="http://schemas.openxmlformats.org/officeDocument/2006/relationships/font" Target="fonts/RobotoMono-italic.fntdata"/><Relationship Id="rId41" Type="http://schemas.openxmlformats.org/officeDocument/2006/relationships/font" Target="fonts/RobotoMono-bold.fntdata"/><Relationship Id="rId22" Type="http://schemas.openxmlformats.org/officeDocument/2006/relationships/slide" Target="slides/slide17.xml"/><Relationship Id="rId21" Type="http://schemas.openxmlformats.org/officeDocument/2006/relationships/slide" Target="slides/slide16.xml"/><Relationship Id="rId43" Type="http://schemas.openxmlformats.org/officeDocument/2006/relationships/font" Target="fonts/RobotoMono-boldItalic.fntdata"/><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Lora-regular.fntdata"/><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Lora-italic.fntdata"/><Relationship Id="rId14" Type="http://schemas.openxmlformats.org/officeDocument/2006/relationships/slide" Target="slides/slide9.xml"/><Relationship Id="rId36" Type="http://schemas.openxmlformats.org/officeDocument/2006/relationships/font" Target="fonts/Lora-bold.fntdata"/><Relationship Id="rId17" Type="http://schemas.openxmlformats.org/officeDocument/2006/relationships/slide" Target="slides/slide12.xml"/><Relationship Id="rId39" Type="http://schemas.openxmlformats.org/officeDocument/2006/relationships/font" Target="fonts/Pacifico-regular.fntdata"/><Relationship Id="rId16" Type="http://schemas.openxmlformats.org/officeDocument/2006/relationships/slide" Target="slides/slide11.xml"/><Relationship Id="rId38" Type="http://schemas.openxmlformats.org/officeDocument/2006/relationships/font" Target="fonts/Lora-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7e5d11aba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0" name="Google Shape;60;g37e5d11aba5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733db9d2c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6" name="Google Shape;66;g3733db9d2c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9bda14984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3" name="Google Shape;73;g39bda149844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4a3d2fad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6" name="Google Shape;86;g364a3d2fad1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64a3d2fad1_0_6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g364a3d2fad1_0_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4588e84b4d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g34588e84b4d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68fb0edb5f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g368fb0edb5f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4588e84b4d_0_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g34588e84b4d_0_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64a3d2fad1_0_1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g364a3d2fad1_0_1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7f221be41e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g37f221be41e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7f221be41e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g37f221be41e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64a3d2fad1_0_12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g364a3d2fad1_0_1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8042cf8871_0_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g38042cf8871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7f221be41e_0_6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7f221be41e_0_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042cf8871_0_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g38042cf8871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64a3d2fad1_0_13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g364a3d2fad1_0_1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7f221be41e_0_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g37f221be41e_0_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7f221be41e_0_80: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g37f221be41e_0_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8042cf8871_0_1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g38042cf8871_0_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64a3d2fad1_0_14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64a3d2fad1_0_1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64a3d2fad1_0_15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g364a3d2fad1_0_1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64a3d2fad1_0_161: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g364a3d2fad1_0_1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8042cf8871_0_36: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8042cf8871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64a3d2fad1_0_167: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g364a3d2fad1_0_1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64a3d2fad1_0_173: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364a3d2fad1_0_1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364a3d2fad1_0_17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g364a3d2fad1_0_1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64a3d2fad1_0_185: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g364a3d2fad1_0_1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8633b24054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g38633b24054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3" name="Google Shape;13;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4" name="Google Shape;14;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1" name="Google Shape;21;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 name="Google Shape;29;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6" name="Google Shape;36;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0" name="Google Shape;40;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8" name="Google Shape;48;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2 Content">
  <p:cSld name="Title and 2 Content">
    <p:spTree>
      <p:nvGrpSpPr>
        <p:cNvPr id="52" name="Shape 52"/>
        <p:cNvGrpSpPr/>
        <p:nvPr/>
      </p:nvGrpSpPr>
      <p:grpSpPr>
        <a:xfrm>
          <a:off x="0" y="0"/>
          <a:ext cx="0" cy="0"/>
          <a:chOff x="0" y="0"/>
          <a:chExt cx="0" cy="0"/>
        </a:xfrm>
      </p:grpSpPr>
      <p:sp>
        <p:nvSpPr>
          <p:cNvPr id="53" name="Google Shape;53;p13"/>
          <p:cNvSpPr txBox="1"/>
          <p:nvPr>
            <p:ph idx="1" type="body"/>
          </p:nvPr>
        </p:nvSpPr>
        <p:spPr>
          <a:xfrm>
            <a:off x="503238" y="1517650"/>
            <a:ext cx="3960900" cy="29988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0"/>
              </a:spcBef>
              <a:spcAft>
                <a:spcPts val="0"/>
              </a:spcAft>
              <a:buClr>
                <a:schemeClr val="dk1"/>
              </a:buClr>
              <a:buSzPts val="1800"/>
              <a:buChar char="•"/>
              <a:defRPr/>
            </a:lvl1pPr>
            <a:lvl2pPr indent="-342900" lvl="1" marL="914400" algn="l">
              <a:lnSpc>
                <a:spcPct val="90000"/>
              </a:lnSpc>
              <a:spcBef>
                <a:spcPts val="0"/>
              </a:spcBef>
              <a:spcAft>
                <a:spcPts val="0"/>
              </a:spcAft>
              <a:buClr>
                <a:srgbClr val="262626"/>
              </a:buClr>
              <a:buSzPts val="1800"/>
              <a:buChar char="–"/>
              <a:defRPr/>
            </a:lvl2pPr>
            <a:lvl3pPr indent="-314325" lvl="2" marL="1371600" algn="l">
              <a:lnSpc>
                <a:spcPct val="90000"/>
              </a:lnSpc>
              <a:spcBef>
                <a:spcPts val="600"/>
              </a:spcBef>
              <a:spcAft>
                <a:spcPts val="0"/>
              </a:spcAft>
              <a:buSzPts val="1350"/>
              <a:buChar char="•"/>
              <a:defRPr/>
            </a:lvl3pPr>
            <a:lvl4pPr indent="-314325" lvl="3" marL="1828800" algn="l">
              <a:lnSpc>
                <a:spcPct val="100000"/>
              </a:lnSpc>
              <a:spcBef>
                <a:spcPts val="0"/>
              </a:spcBef>
              <a:spcAft>
                <a:spcPts val="0"/>
              </a:spcAft>
              <a:buSzPts val="1350"/>
              <a:buChar char="–"/>
              <a:defRPr/>
            </a:lvl4pPr>
            <a:lvl5pPr indent="-314325" lvl="4" marL="2286000" algn="l">
              <a:lnSpc>
                <a:spcPct val="100000"/>
              </a:lnSpc>
              <a:spcBef>
                <a:spcPts val="300"/>
              </a:spcBef>
              <a:spcAft>
                <a:spcPts val="0"/>
              </a:spcAft>
              <a:buSzPts val="1350"/>
              <a:buChar char="»"/>
              <a:defRPr/>
            </a:lvl5pPr>
            <a:lvl6pPr indent="-342900" lvl="5" marL="2743200" algn="l">
              <a:lnSpc>
                <a:spcPct val="100000"/>
              </a:lnSpc>
              <a:spcBef>
                <a:spcPts val="400"/>
              </a:spcBef>
              <a:spcAft>
                <a:spcPts val="0"/>
              </a:spcAft>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4" name="Google Shape;54;p13"/>
          <p:cNvSpPr txBox="1"/>
          <p:nvPr>
            <p:ph idx="2" type="body"/>
          </p:nvPr>
        </p:nvSpPr>
        <p:spPr>
          <a:xfrm>
            <a:off x="4679951" y="1517650"/>
            <a:ext cx="3960900" cy="2998800"/>
          </a:xfrm>
          <a:prstGeom prst="rect">
            <a:avLst/>
          </a:prstGeom>
          <a:noFill/>
          <a:ln>
            <a:noFill/>
          </a:ln>
        </p:spPr>
        <p:txBody>
          <a:bodyPr anchorCtr="0" anchor="t" bIns="0" lIns="0" spcFirstLastPara="1" rIns="0" wrap="square" tIns="0">
            <a:normAutofit/>
          </a:bodyPr>
          <a:lstStyle>
            <a:lvl1pPr indent="-342900" lvl="0" marL="457200" algn="l">
              <a:lnSpc>
                <a:spcPct val="90000"/>
              </a:lnSpc>
              <a:spcBef>
                <a:spcPts val="0"/>
              </a:spcBef>
              <a:spcAft>
                <a:spcPts val="0"/>
              </a:spcAft>
              <a:buClr>
                <a:schemeClr val="dk1"/>
              </a:buClr>
              <a:buSzPts val="1800"/>
              <a:buChar char="•"/>
              <a:defRPr/>
            </a:lvl1pPr>
            <a:lvl2pPr indent="-342900" lvl="1" marL="914400" algn="l">
              <a:lnSpc>
                <a:spcPct val="90000"/>
              </a:lnSpc>
              <a:spcBef>
                <a:spcPts val="0"/>
              </a:spcBef>
              <a:spcAft>
                <a:spcPts val="0"/>
              </a:spcAft>
              <a:buClr>
                <a:srgbClr val="262626"/>
              </a:buClr>
              <a:buSzPts val="1800"/>
              <a:buChar char="–"/>
              <a:defRPr/>
            </a:lvl2pPr>
            <a:lvl3pPr indent="-314325" lvl="2" marL="1371600" algn="l">
              <a:lnSpc>
                <a:spcPct val="90000"/>
              </a:lnSpc>
              <a:spcBef>
                <a:spcPts val="600"/>
              </a:spcBef>
              <a:spcAft>
                <a:spcPts val="0"/>
              </a:spcAft>
              <a:buSzPts val="1350"/>
              <a:buChar char="•"/>
              <a:defRPr/>
            </a:lvl3pPr>
            <a:lvl4pPr indent="-314325" lvl="3" marL="1828800" algn="l">
              <a:lnSpc>
                <a:spcPct val="100000"/>
              </a:lnSpc>
              <a:spcBef>
                <a:spcPts val="0"/>
              </a:spcBef>
              <a:spcAft>
                <a:spcPts val="0"/>
              </a:spcAft>
              <a:buSzPts val="1350"/>
              <a:buChar char="–"/>
              <a:defRPr/>
            </a:lvl4pPr>
            <a:lvl5pPr indent="-314325" lvl="4" marL="2286000" algn="l">
              <a:lnSpc>
                <a:spcPct val="100000"/>
              </a:lnSpc>
              <a:spcBef>
                <a:spcPts val="300"/>
              </a:spcBef>
              <a:spcAft>
                <a:spcPts val="0"/>
              </a:spcAft>
              <a:buSzPts val="1350"/>
              <a:buChar char="»"/>
              <a:defRPr/>
            </a:lvl5pPr>
            <a:lvl6pPr indent="-342900" lvl="5" marL="2743200" algn="l">
              <a:lnSpc>
                <a:spcPct val="100000"/>
              </a:lnSpc>
              <a:spcBef>
                <a:spcPts val="400"/>
              </a:spcBef>
              <a:spcAft>
                <a:spcPts val="0"/>
              </a:spcAft>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55" name="Google Shape;55;p13"/>
          <p:cNvSpPr txBox="1"/>
          <p:nvPr>
            <p:ph idx="11" type="ftr"/>
          </p:nvPr>
        </p:nvSpPr>
        <p:spPr>
          <a:xfrm>
            <a:off x="518928" y="4784763"/>
            <a:ext cx="6032700" cy="135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7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
        <p:nvSpPr>
          <p:cNvPr id="56" name="Google Shape;56;p13"/>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600"/>
              <a:buFont typeface="Arial"/>
              <a:buNone/>
              <a:defRPr b="0" i="0" sz="6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
        <p:nvSpPr>
          <p:cNvPr id="57" name="Google Shape;57;p13"/>
          <p:cNvSpPr txBox="1"/>
          <p:nvPr>
            <p:ph type="title"/>
          </p:nvPr>
        </p:nvSpPr>
        <p:spPr>
          <a:xfrm>
            <a:off x="503238" y="562724"/>
            <a:ext cx="8137500" cy="544200"/>
          </a:xfrm>
          <a:prstGeom prst="rect">
            <a:avLst/>
          </a:prstGeom>
          <a:noFill/>
          <a:ln>
            <a:noFill/>
          </a:ln>
        </p:spPr>
        <p:txBody>
          <a:bodyPr anchorCtr="0" anchor="b" bIns="0" lIns="0" spcFirstLastPara="1" rIns="0" wrap="square" tIns="0">
            <a:normAutofit/>
          </a:bodyPr>
          <a:lstStyle>
            <a:lvl1pPr lvl="0" algn="l">
              <a:lnSpc>
                <a:spcPct val="80000"/>
              </a:lnSpc>
              <a:spcBef>
                <a:spcPts val="0"/>
              </a:spcBef>
              <a:spcAft>
                <a:spcPts val="0"/>
              </a:spcAft>
              <a:buClr>
                <a:schemeClr val="dk1"/>
              </a:buClr>
              <a:buSzPts val="1800"/>
              <a:buNone/>
              <a:defRPr/>
            </a:lvl1pPr>
            <a:lvl2pPr lvl="1" algn="l">
              <a:lnSpc>
                <a:spcPct val="100000"/>
              </a:lnSpc>
              <a:spcBef>
                <a:spcPts val="0"/>
              </a:spcBef>
              <a:spcAft>
                <a:spcPts val="0"/>
              </a:spcAft>
              <a:buSzPts val="700"/>
              <a:buNone/>
              <a:defRPr/>
            </a:lvl2pPr>
            <a:lvl3pPr lvl="2" algn="l">
              <a:lnSpc>
                <a:spcPct val="100000"/>
              </a:lnSpc>
              <a:spcBef>
                <a:spcPts val="0"/>
              </a:spcBef>
              <a:spcAft>
                <a:spcPts val="0"/>
              </a:spcAft>
              <a:buSzPts val="700"/>
              <a:buNone/>
              <a:defRPr/>
            </a:lvl3pPr>
            <a:lvl4pPr lvl="3" algn="l">
              <a:lnSpc>
                <a:spcPct val="100000"/>
              </a:lnSpc>
              <a:spcBef>
                <a:spcPts val="0"/>
              </a:spcBef>
              <a:spcAft>
                <a:spcPts val="0"/>
              </a:spcAft>
              <a:buSzPts val="700"/>
              <a:buNone/>
              <a:defRPr/>
            </a:lvl4pPr>
            <a:lvl5pPr lvl="4" algn="l">
              <a:lnSpc>
                <a:spcPct val="100000"/>
              </a:lnSpc>
              <a:spcBef>
                <a:spcPts val="0"/>
              </a:spcBef>
              <a:spcAft>
                <a:spcPts val="0"/>
              </a:spcAft>
              <a:buSzPts val="700"/>
              <a:buNone/>
              <a:defRPr/>
            </a:lvl5pPr>
            <a:lvl6pPr lvl="5" algn="l">
              <a:lnSpc>
                <a:spcPct val="100000"/>
              </a:lnSpc>
              <a:spcBef>
                <a:spcPts val="0"/>
              </a:spcBef>
              <a:spcAft>
                <a:spcPts val="0"/>
              </a:spcAft>
              <a:buSzPts val="700"/>
              <a:buNone/>
              <a:defRPr/>
            </a:lvl6pPr>
            <a:lvl7pPr lvl="6" algn="l">
              <a:lnSpc>
                <a:spcPct val="100000"/>
              </a:lnSpc>
              <a:spcBef>
                <a:spcPts val="0"/>
              </a:spcBef>
              <a:spcAft>
                <a:spcPts val="0"/>
              </a:spcAft>
              <a:buSzPts val="700"/>
              <a:buNone/>
              <a:defRPr/>
            </a:lvl7pPr>
            <a:lvl8pPr lvl="7" algn="l">
              <a:lnSpc>
                <a:spcPct val="100000"/>
              </a:lnSpc>
              <a:spcBef>
                <a:spcPts val="0"/>
              </a:spcBef>
              <a:spcAft>
                <a:spcPts val="0"/>
              </a:spcAft>
              <a:buSzPts val="700"/>
              <a:buNone/>
              <a:defRPr/>
            </a:lvl8pPr>
            <a:lvl9pPr lvl="8" algn="l">
              <a:lnSpc>
                <a:spcPct val="100000"/>
              </a:lnSpc>
              <a:spcBef>
                <a:spcPts val="0"/>
              </a:spcBef>
              <a:spcAft>
                <a:spcPts val="0"/>
              </a:spcAft>
              <a:buSzPts val="7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9.xml"/><Relationship Id="rId10" Type="http://schemas.openxmlformats.org/officeDocument/2006/relationships/slideLayout" Target="../slideLayouts/slideLayout8.xml"/><Relationship Id="rId13" Type="http://schemas.openxmlformats.org/officeDocument/2006/relationships/slideLayout" Target="../slideLayouts/slideLayout11.xml"/><Relationship Id="rId12" Type="http://schemas.openxmlformats.org/officeDocument/2006/relationships/slideLayout" Target="../slideLayouts/slideLayout10.xml"/><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9" Type="http://schemas.openxmlformats.org/officeDocument/2006/relationships/slideLayout" Target="../slideLayouts/slideLayout7.xml"/><Relationship Id="rId15" Type="http://schemas.openxmlformats.org/officeDocument/2006/relationships/theme" Target="../theme/theme2.xml"/><Relationship Id="rId14" Type="http://schemas.openxmlformats.org/officeDocument/2006/relationships/slideLayout" Target="../slideLayouts/slideLayout1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Lora"/>
              <a:buNone/>
              <a:defRPr sz="2800">
                <a:solidFill>
                  <a:schemeClr val="dk1"/>
                </a:solidFill>
                <a:latin typeface="Lora"/>
                <a:ea typeface="Lora"/>
                <a:cs typeface="Lora"/>
                <a:sym typeface="Lora"/>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ora"/>
              <a:buChar char="●"/>
              <a:defRPr sz="1800">
                <a:solidFill>
                  <a:schemeClr val="dk2"/>
                </a:solidFill>
                <a:latin typeface="Lora"/>
                <a:ea typeface="Lora"/>
                <a:cs typeface="Lora"/>
                <a:sym typeface="Lora"/>
              </a:defRPr>
            </a:lvl1pPr>
            <a:lvl2pPr indent="-317500" lvl="1" marL="914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2pPr>
            <a:lvl3pPr indent="-317500" lvl="2" marL="1371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3pPr>
            <a:lvl4pPr indent="-317500" lvl="3" marL="1828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4pPr>
            <a:lvl5pPr indent="-317500" lvl="4" marL="22860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5pPr>
            <a:lvl6pPr indent="-317500" lvl="5" marL="27432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6pPr>
            <a:lvl7pPr indent="-317500" lvl="6" marL="32004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7pPr>
            <a:lvl8pPr indent="-317500" lvl="7" marL="36576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8pPr>
            <a:lvl9pPr indent="-317500" lvl="8" marL="4114800">
              <a:lnSpc>
                <a:spcPct val="115000"/>
              </a:lnSpc>
              <a:spcBef>
                <a:spcPts val="0"/>
              </a:spcBef>
              <a:spcAft>
                <a:spcPts val="0"/>
              </a:spcAft>
              <a:buClr>
                <a:schemeClr val="dk2"/>
              </a:buClr>
              <a:buSzPts val="1400"/>
              <a:buFont typeface="Lora"/>
              <a:buChar char="■"/>
              <a:defRPr>
                <a:solidFill>
                  <a:schemeClr val="dk2"/>
                </a:solidFill>
                <a:latin typeface="Lora"/>
                <a:ea typeface="Lora"/>
                <a:cs typeface="Lora"/>
                <a:sym typeface="Lor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pic>
        <p:nvPicPr>
          <p:cNvPr id="9" name="Google Shape;9;p1"/>
          <p:cNvPicPr preferRelativeResize="0"/>
          <p:nvPr/>
        </p:nvPicPr>
        <p:blipFill>
          <a:blip r:embed="rId1">
            <a:alphaModFix/>
          </a:blip>
          <a:stretch>
            <a:fillRect/>
          </a:stretch>
        </p:blipFill>
        <p:spPr>
          <a:xfrm>
            <a:off x="7692148" y="4782312"/>
            <a:ext cx="1188720" cy="297180"/>
          </a:xfrm>
          <a:prstGeom prst="rect">
            <a:avLst/>
          </a:prstGeom>
          <a:noFill/>
          <a:ln>
            <a:noFill/>
          </a:ln>
        </p:spPr>
      </p:pic>
      <p:pic>
        <p:nvPicPr>
          <p:cNvPr id="10" name="Google Shape;10;p1"/>
          <p:cNvPicPr preferRelativeResize="0"/>
          <p:nvPr/>
        </p:nvPicPr>
        <p:blipFill>
          <a:blip r:embed="rId2">
            <a:alphaModFix/>
          </a:blip>
          <a:stretch>
            <a:fillRect/>
          </a:stretch>
        </p:blipFill>
        <p:spPr>
          <a:xfrm>
            <a:off x="154577" y="4779825"/>
            <a:ext cx="1188721" cy="23774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 Id="rId3" Type="http://schemas.openxmlformats.org/officeDocument/2006/relationships/hyperlink" Target="http://readme.md"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12</a:t>
            </a:r>
            <a:endParaRPr i="0" sz="700" u="none" cap="none" strike="noStrike">
              <a:solidFill>
                <a:srgbClr val="000000"/>
              </a:solidFill>
              <a:latin typeface="Lora"/>
              <a:ea typeface="Lora"/>
              <a:cs typeface="Lora"/>
              <a:sym typeface="Lora"/>
            </a:endParaRPr>
          </a:p>
        </p:txBody>
      </p:sp>
      <p:sp>
        <p:nvSpPr>
          <p:cNvPr id="63" name="Google Shape;63;p14"/>
          <p:cNvSpPr txBox="1"/>
          <p:nvPr/>
        </p:nvSpPr>
        <p:spPr>
          <a:xfrm>
            <a:off x="486900" y="700975"/>
            <a:ext cx="7896600" cy="9234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Please receive the quiz handout from Cyrille, Oliver, Vincent, Jan</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Complete the quiz in silence</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Hand the quiz back</a:t>
            </a:r>
            <a:endParaRPr sz="1200">
              <a:solidFill>
                <a:schemeClr val="dk1"/>
              </a:solidFill>
              <a:latin typeface="Lora"/>
              <a:ea typeface="Lora"/>
              <a:cs typeface="Lora"/>
              <a:sym typeface="Lor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12</a:t>
            </a:r>
            <a:endParaRPr i="0" sz="700" u="none" cap="none" strike="noStrike">
              <a:solidFill>
                <a:srgbClr val="000000"/>
              </a:solidFill>
              <a:latin typeface="Lora"/>
              <a:ea typeface="Lora"/>
              <a:cs typeface="Lora"/>
              <a:sym typeface="Lora"/>
            </a:endParaRPr>
          </a:p>
        </p:txBody>
      </p:sp>
      <p:sp>
        <p:nvSpPr>
          <p:cNvPr id="69" name="Google Shape;69;p15"/>
          <p:cNvSpPr txBox="1"/>
          <p:nvPr/>
        </p:nvSpPr>
        <p:spPr>
          <a:xfrm>
            <a:off x="191200" y="700975"/>
            <a:ext cx="4709400" cy="3524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are tokens in the context of LLMs: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Full words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Parts of words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Single letters/numbers or punctuation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All/any of the above</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When operating with word embeddings, you can add or subtract the embedding vectors from one another. If you calculate Nairobi-Kenya+Japan, you are most likely to get the embedding for which word?</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Tokyo</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Paris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Abuja</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Japan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Which option is NOT considered a good prompting best practice?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Role assignment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Few-shot learning</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Chain of thought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Vague instructions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Delimiters</a:t>
            </a:r>
            <a:endParaRPr sz="1000">
              <a:solidFill>
                <a:schemeClr val="dk1"/>
              </a:solidFill>
              <a:latin typeface="Lora"/>
              <a:ea typeface="Lora"/>
              <a:cs typeface="Lora"/>
              <a:sym typeface="Lora"/>
            </a:endParaRPr>
          </a:p>
        </p:txBody>
      </p:sp>
      <p:sp>
        <p:nvSpPr>
          <p:cNvPr id="70" name="Google Shape;70;p15"/>
          <p:cNvSpPr txBox="1"/>
          <p:nvPr/>
        </p:nvSpPr>
        <p:spPr>
          <a:xfrm>
            <a:off x="4830300" y="777175"/>
            <a:ext cx="3923700" cy="38790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Why is using structured output better than asking the model to give a certain structure using only a prompt</a:t>
            </a:r>
            <a:r>
              <a:rPr lang="en" sz="1000">
                <a:solidFill>
                  <a:schemeClr val="dk1"/>
                </a:solidFill>
                <a:latin typeface="Lora"/>
                <a:ea typeface="Lora"/>
                <a:cs typeface="Lora"/>
                <a:sym typeface="Lora"/>
              </a:rPr>
              <a: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Using structured output is faster because the model doesn't need to think</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Structured output improves the model's creativity and imagination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When using only the prompt, the model may still give an inaccurate structure or add </a:t>
            </a:r>
            <a:r>
              <a:rPr lang="en" sz="1000">
                <a:solidFill>
                  <a:schemeClr val="dk1"/>
                </a:solidFill>
                <a:latin typeface="Lora"/>
                <a:ea typeface="Lora"/>
                <a:cs typeface="Lora"/>
                <a:sym typeface="Lora"/>
              </a:rPr>
              <a:t>additional</a:t>
            </a:r>
            <a:r>
              <a:rPr lang="en" sz="1000">
                <a:solidFill>
                  <a:schemeClr val="dk1"/>
                </a:solidFill>
                <a:latin typeface="Lora"/>
                <a:ea typeface="Lora"/>
                <a:cs typeface="Lora"/>
                <a:sym typeface="Lora"/>
              </a:rPr>
              <a:t> text, but using structured output forces the model to output the correct structure.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Structured output can read the user's mind better than prompts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What is the one thing you need to add to your code to make a fully functional chatbot which is aware of the conversation context and does not forget what you talked about?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highlight>
                  <a:srgbClr val="FFFFFF"/>
                </a:highlight>
                <a:latin typeface="Lora"/>
                <a:ea typeface="Lora"/>
                <a:cs typeface="Lora"/>
                <a:sym typeface="Lora"/>
              </a:rPr>
              <a:t>Function calling</a:t>
            </a:r>
            <a:endParaRPr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highlight>
                  <a:srgbClr val="FFFFFF"/>
                </a:highlight>
                <a:latin typeface="Lora"/>
                <a:ea typeface="Lora"/>
                <a:cs typeface="Lora"/>
                <a:sym typeface="Lora"/>
              </a:rPr>
              <a:t>Structured output</a:t>
            </a:r>
            <a:endParaRPr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highlight>
                  <a:srgbClr val="FFFFFF"/>
                </a:highlight>
                <a:latin typeface="Lora"/>
                <a:ea typeface="Lora"/>
                <a:cs typeface="Lora"/>
                <a:sym typeface="Lora"/>
              </a:rPr>
              <a:t>Conversation history</a:t>
            </a:r>
            <a:endParaRPr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Arms and legs</a:t>
            </a:r>
            <a:endParaRPr sz="1000">
              <a:solidFill>
                <a:schemeClr val="dk1"/>
              </a:solidFill>
              <a:latin typeface="Lora"/>
              <a:ea typeface="Lora"/>
              <a:cs typeface="Lora"/>
              <a:sym typeface="Lor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latin typeface="Lora"/>
                <a:ea typeface="Lora"/>
                <a:cs typeface="Lora"/>
                <a:sym typeface="Lora"/>
              </a:rPr>
              <a:t>Quiz on Lecture 12</a:t>
            </a:r>
            <a:endParaRPr i="0" sz="700" u="none" cap="none" strike="noStrike">
              <a:solidFill>
                <a:srgbClr val="000000"/>
              </a:solidFill>
              <a:latin typeface="Lora"/>
              <a:ea typeface="Lora"/>
              <a:cs typeface="Lora"/>
              <a:sym typeface="Lora"/>
            </a:endParaRPr>
          </a:p>
        </p:txBody>
      </p:sp>
      <p:sp>
        <p:nvSpPr>
          <p:cNvPr id="76" name="Google Shape;76;p16"/>
          <p:cNvSpPr txBox="1"/>
          <p:nvPr/>
        </p:nvSpPr>
        <p:spPr>
          <a:xfrm>
            <a:off x="191200" y="700975"/>
            <a:ext cx="4709400" cy="35247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What are tokens in the context of LLMs: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Full words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Parts of words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Single letters/numbers or punctuation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All/any of the above</a:t>
            </a:r>
            <a:endParaRPr b="1"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When operating with word embeddings, you can add or subtract the embedding vectors from one another. If you calculate Nairobi-Kenya+Japan, you are most likely to get the embedding for which word?</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Tokyo</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Paris</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Abuja</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Japan</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a:pPr>
            <a:r>
              <a:rPr lang="en" sz="1000">
                <a:solidFill>
                  <a:schemeClr val="dk1"/>
                </a:solidFill>
                <a:latin typeface="Lora"/>
                <a:ea typeface="Lora"/>
                <a:cs typeface="Lora"/>
                <a:sym typeface="Lora"/>
              </a:rPr>
              <a:t>Which option is NOT considered a good prompting best practice?</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Role assignment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Few-shot learning</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Chain of thought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Vague instructions</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Delimiters</a:t>
            </a:r>
            <a:endParaRPr sz="1000">
              <a:solidFill>
                <a:schemeClr val="dk1"/>
              </a:solidFill>
              <a:latin typeface="Lora"/>
              <a:ea typeface="Lora"/>
              <a:cs typeface="Lora"/>
              <a:sym typeface="Lora"/>
            </a:endParaRPr>
          </a:p>
        </p:txBody>
      </p:sp>
      <p:sp>
        <p:nvSpPr>
          <p:cNvPr id="77" name="Google Shape;77;p16"/>
          <p:cNvSpPr txBox="1"/>
          <p:nvPr/>
        </p:nvSpPr>
        <p:spPr>
          <a:xfrm>
            <a:off x="4830300" y="777175"/>
            <a:ext cx="3923700" cy="3879000"/>
          </a:xfrm>
          <a:prstGeom prst="rect">
            <a:avLst/>
          </a:prstGeom>
          <a:noFill/>
          <a:ln>
            <a:noFill/>
          </a:ln>
        </p:spPr>
        <p:txBody>
          <a:bodyPr anchorCtr="0" anchor="t" bIns="91425" lIns="91425" spcFirstLastPara="1" rIns="91425" wrap="square" tIns="91425">
            <a:spAutoFit/>
          </a:bodyPr>
          <a:lstStyle/>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Why is using structured output better than asking the model to give a certain structure using only a prompt:</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Using structured output is faster because the model doesn't need to think</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Structured output improves the model's creativity and imagination</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latin typeface="Lora"/>
                <a:ea typeface="Lora"/>
                <a:cs typeface="Lora"/>
                <a:sym typeface="Lora"/>
              </a:rPr>
              <a:t>When using only the prompt, the model may still give an inaccurate structure or add additional text, but using structured output forces the model to output the correct structure.</a:t>
            </a:r>
            <a:endParaRPr b="1"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Structured output can read the user's mind better than prompts</a:t>
            </a:r>
            <a:endParaRPr sz="1000">
              <a:solidFill>
                <a:schemeClr val="dk1"/>
              </a:solidFill>
              <a:latin typeface="Lora"/>
              <a:ea typeface="Lora"/>
              <a:cs typeface="Lora"/>
              <a:sym typeface="Lora"/>
            </a:endParaRPr>
          </a:p>
          <a:p>
            <a:pPr indent="-292100" lvl="0" marL="457200" rtl="0" algn="l">
              <a:lnSpc>
                <a:spcPct val="115000"/>
              </a:lnSpc>
              <a:spcBef>
                <a:spcPts val="0"/>
              </a:spcBef>
              <a:spcAft>
                <a:spcPts val="0"/>
              </a:spcAft>
              <a:buClr>
                <a:schemeClr val="dk1"/>
              </a:buClr>
              <a:buSzPts val="1000"/>
              <a:buFont typeface="Lora"/>
              <a:buAutoNum type="arabicPeriod" startAt="4"/>
            </a:pPr>
            <a:r>
              <a:rPr lang="en" sz="1000">
                <a:solidFill>
                  <a:schemeClr val="dk1"/>
                </a:solidFill>
                <a:latin typeface="Lora"/>
                <a:ea typeface="Lora"/>
                <a:cs typeface="Lora"/>
                <a:sym typeface="Lora"/>
              </a:rPr>
              <a:t>What is the one thing you need to add to your code to make a fully functional chatbot which is aware of the conversation context and does not forget what you talked about earlier?</a:t>
            </a:r>
            <a:endParaRPr sz="1000">
              <a:solidFill>
                <a:schemeClr val="dk1"/>
              </a:solidFill>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highlight>
                  <a:srgbClr val="FFFFFF"/>
                </a:highlight>
                <a:latin typeface="Lora"/>
                <a:ea typeface="Lora"/>
                <a:cs typeface="Lora"/>
                <a:sym typeface="Lora"/>
              </a:rPr>
              <a:t>Function calling</a:t>
            </a:r>
            <a:endParaRPr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highlight>
                  <a:srgbClr val="FFFFFF"/>
                </a:highlight>
                <a:latin typeface="Lora"/>
                <a:ea typeface="Lora"/>
                <a:cs typeface="Lora"/>
                <a:sym typeface="Lora"/>
              </a:rPr>
              <a:t>Structured output</a:t>
            </a:r>
            <a:endParaRPr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b="1" lang="en" sz="1000">
                <a:solidFill>
                  <a:schemeClr val="dk1"/>
                </a:solidFill>
                <a:highlight>
                  <a:srgbClr val="FFFFFF"/>
                </a:highlight>
                <a:latin typeface="Lora"/>
                <a:ea typeface="Lora"/>
                <a:cs typeface="Lora"/>
                <a:sym typeface="Lora"/>
              </a:rPr>
              <a:t>Conversation history</a:t>
            </a:r>
            <a:endParaRPr b="1" sz="1000">
              <a:solidFill>
                <a:schemeClr val="dk1"/>
              </a:solidFill>
              <a:highlight>
                <a:srgbClr val="FFFFFF"/>
              </a:highlight>
              <a:latin typeface="Lora"/>
              <a:ea typeface="Lora"/>
              <a:cs typeface="Lora"/>
              <a:sym typeface="Lora"/>
            </a:endParaRPr>
          </a:p>
          <a:p>
            <a:pPr indent="-292100" lvl="1" marL="914400" rtl="0" algn="l">
              <a:lnSpc>
                <a:spcPct val="115000"/>
              </a:lnSpc>
              <a:spcBef>
                <a:spcPts val="0"/>
              </a:spcBef>
              <a:spcAft>
                <a:spcPts val="0"/>
              </a:spcAft>
              <a:buClr>
                <a:schemeClr val="dk1"/>
              </a:buClr>
              <a:buSzPts val="1000"/>
              <a:buFont typeface="Lora"/>
              <a:buAutoNum type="alphaLcPeriod"/>
            </a:pPr>
            <a:r>
              <a:rPr lang="en" sz="1000">
                <a:solidFill>
                  <a:schemeClr val="dk1"/>
                </a:solidFill>
                <a:latin typeface="Lora"/>
                <a:ea typeface="Lora"/>
                <a:cs typeface="Lora"/>
                <a:sym typeface="Lora"/>
              </a:rPr>
              <a:t>Arms and legs</a:t>
            </a:r>
            <a:endParaRPr sz="1000">
              <a:solidFill>
                <a:schemeClr val="dk1"/>
              </a:solidFill>
              <a:latin typeface="Lora"/>
              <a:ea typeface="Lora"/>
              <a:cs typeface="Lora"/>
              <a:sym typeface="L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nvSpPr>
        <p:spPr>
          <a:xfrm>
            <a:off x="-125" y="575250"/>
            <a:ext cx="9144000" cy="205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3700">
                <a:solidFill>
                  <a:schemeClr val="dk2"/>
                </a:solidFill>
                <a:latin typeface="Lora"/>
                <a:ea typeface="Lora"/>
                <a:cs typeface="Lora"/>
                <a:sym typeface="Lora"/>
              </a:rPr>
              <a:t>Designing and Deploying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end-to-end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3700">
                <a:solidFill>
                  <a:schemeClr val="dk2"/>
                </a:solidFill>
                <a:latin typeface="Lora"/>
                <a:ea typeface="Lora"/>
                <a:cs typeface="Lora"/>
                <a:sym typeface="Lora"/>
              </a:rPr>
              <a:t>Production Grade ML Applications</a:t>
            </a:r>
            <a:endParaRPr sz="3700">
              <a:solidFill>
                <a:schemeClr val="dk2"/>
              </a:solidFill>
              <a:latin typeface="Lora"/>
              <a:ea typeface="Lora"/>
              <a:cs typeface="Lora"/>
              <a:sym typeface="Lora"/>
            </a:endParaRPr>
          </a:p>
          <a:p>
            <a:pPr indent="0" lvl="0" marL="0" rtl="0" algn="ctr">
              <a:spcBef>
                <a:spcPts val="0"/>
              </a:spcBef>
              <a:spcAft>
                <a:spcPts val="0"/>
              </a:spcAft>
              <a:buNone/>
            </a:pPr>
            <a:r>
              <a:t/>
            </a:r>
            <a:endParaRPr sz="3700">
              <a:solidFill>
                <a:schemeClr val="dk2"/>
              </a:solidFill>
              <a:latin typeface="Lora"/>
              <a:ea typeface="Lora"/>
              <a:cs typeface="Lora"/>
              <a:sym typeface="Lora"/>
            </a:endParaRPr>
          </a:p>
          <a:p>
            <a:pPr indent="0" lvl="0" marL="0" rtl="0" algn="ctr">
              <a:spcBef>
                <a:spcPts val="0"/>
              </a:spcBef>
              <a:spcAft>
                <a:spcPts val="0"/>
              </a:spcAft>
              <a:buNone/>
            </a:pPr>
            <a:r>
              <a:rPr lang="en" sz="2400">
                <a:solidFill>
                  <a:schemeClr val="dk2"/>
                </a:solidFill>
                <a:latin typeface="Lora"/>
                <a:ea typeface="Lora"/>
                <a:cs typeface="Lora"/>
                <a:sym typeface="Lora"/>
              </a:rPr>
              <a:t> </a:t>
            </a:r>
            <a:r>
              <a:rPr lang="en" sz="2400">
                <a:solidFill>
                  <a:schemeClr val="dk2"/>
                </a:solidFill>
                <a:latin typeface="Lora"/>
                <a:ea typeface="Lora"/>
                <a:cs typeface="Lora"/>
                <a:sym typeface="Lora"/>
              </a:rPr>
              <a:t>Lecture </a:t>
            </a:r>
            <a:r>
              <a:rPr lang="en" sz="2400">
                <a:solidFill>
                  <a:schemeClr val="dk2"/>
                </a:solidFill>
                <a:latin typeface="Lora"/>
                <a:ea typeface="Lora"/>
                <a:cs typeface="Lora"/>
                <a:sym typeface="Lora"/>
              </a:rPr>
              <a:t>13: AI Agents</a:t>
            </a:r>
            <a:endParaRPr sz="2400">
              <a:solidFill>
                <a:schemeClr val="dk2"/>
              </a:solidFill>
              <a:latin typeface="Lora"/>
              <a:ea typeface="Lora"/>
              <a:cs typeface="Lora"/>
              <a:sym typeface="Lora"/>
            </a:endParaRPr>
          </a:p>
        </p:txBody>
      </p:sp>
      <p:sp>
        <p:nvSpPr>
          <p:cNvPr id="83" name="Google Shape;83;p17"/>
          <p:cNvSpPr txBox="1"/>
          <p:nvPr/>
        </p:nvSpPr>
        <p:spPr>
          <a:xfrm>
            <a:off x="-117" y="3838750"/>
            <a:ext cx="9144000" cy="8004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October 2025</a:t>
            </a:r>
            <a:endParaRPr sz="1600">
              <a:solidFill>
                <a:schemeClr val="dk2"/>
              </a:solidFill>
              <a:latin typeface="Lora"/>
              <a:ea typeface="Lora"/>
              <a:cs typeface="Lora"/>
              <a:sym typeface="Lora"/>
            </a:endParaRPr>
          </a:p>
          <a:p>
            <a:pPr indent="0" lvl="0" marL="0" rtl="0" algn="ctr">
              <a:lnSpc>
                <a:spcPct val="150000"/>
              </a:lnSpc>
              <a:spcBef>
                <a:spcPts val="0"/>
              </a:spcBef>
              <a:spcAft>
                <a:spcPts val="0"/>
              </a:spcAft>
              <a:buNone/>
            </a:pPr>
            <a:r>
              <a:rPr lang="en" sz="1600">
                <a:solidFill>
                  <a:schemeClr val="dk2"/>
                </a:solidFill>
                <a:latin typeface="Lora"/>
                <a:ea typeface="Lora"/>
                <a:cs typeface="Lora"/>
                <a:sym typeface="Lora"/>
              </a:rPr>
              <a:t>Jan Ravnik &amp; Oliver Angélil</a:t>
            </a:r>
            <a:endParaRPr sz="1600">
              <a:solidFill>
                <a:schemeClr val="dk2"/>
              </a:solidFill>
              <a:latin typeface="Lora"/>
              <a:ea typeface="Lora"/>
              <a:cs typeface="Lora"/>
              <a:sym typeface="Lor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8"/>
          <p:cNvSpPr txBox="1"/>
          <p:nvPr/>
        </p:nvSpPr>
        <p:spPr>
          <a:xfrm>
            <a:off x="486900" y="624775"/>
            <a:ext cx="7896600" cy="42483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12: Fundamentals of LLMs and Basic Chatbot Construction</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Introduction to LLMs: History, architecture and training</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API calls and text completions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Prompt engineering techniques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Structured output and function calling</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13: Advanced Techniques with LangChain and React Agents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What is agentic AI?</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LangChain modules for app development</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React agents, reasoning and decision-making</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Stateful agents</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Lecture 14: Complex Systems and Swarm Intelligence</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Explore LangGraph for multi-agent systems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Swarm intelligence principles and applications</a:t>
            </a:r>
            <a:endParaRPr sz="1200">
              <a:solidFill>
                <a:schemeClr val="dk1"/>
              </a:solidFill>
              <a:latin typeface="Lora"/>
              <a:ea typeface="Lora"/>
              <a:cs typeface="Lora"/>
              <a:sym typeface="Lora"/>
            </a:endParaRPr>
          </a:p>
          <a:p>
            <a:pPr indent="-304800" lvl="1" marL="914400" rtl="0" algn="l">
              <a:lnSpc>
                <a:spcPct val="150000"/>
              </a:lnSpc>
              <a:spcBef>
                <a:spcPts val="0"/>
              </a:spcBef>
              <a:spcAft>
                <a:spcPts val="0"/>
              </a:spcAft>
              <a:buClr>
                <a:schemeClr val="dk1"/>
              </a:buClr>
              <a:buSzPts val="1200"/>
              <a:buFont typeface="Lora"/>
              <a:buAutoNum type="arabicPeriod"/>
            </a:pPr>
            <a:r>
              <a:rPr lang="en" sz="1200">
                <a:solidFill>
                  <a:schemeClr val="dk1"/>
                </a:solidFill>
                <a:latin typeface="Lora"/>
                <a:ea typeface="Lora"/>
                <a:cs typeface="Lora"/>
                <a:sym typeface="Lora"/>
              </a:rPr>
              <a:t>AI challenges in collective behavior</a:t>
            </a:r>
            <a:endParaRPr sz="1200">
              <a:solidFill>
                <a:schemeClr val="dk1"/>
              </a:solidFill>
              <a:latin typeface="Lora"/>
              <a:ea typeface="Lora"/>
              <a:cs typeface="Lora"/>
              <a:sym typeface="Lora"/>
            </a:endParaRPr>
          </a:p>
          <a:p>
            <a:pPr indent="-304800" lvl="0" marL="457200" rtl="0" algn="l">
              <a:lnSpc>
                <a:spcPct val="150000"/>
              </a:lnSpc>
              <a:spcBef>
                <a:spcPts val="0"/>
              </a:spcBef>
              <a:spcAft>
                <a:spcPts val="0"/>
              </a:spcAft>
              <a:buClr>
                <a:schemeClr val="dk1"/>
              </a:buClr>
              <a:buSzPts val="1200"/>
              <a:buFont typeface="Lora"/>
              <a:buAutoNum type="arabicPeriod"/>
            </a:pPr>
            <a:r>
              <a:t/>
            </a:r>
            <a:endParaRPr sz="1200">
              <a:solidFill>
                <a:schemeClr val="dk1"/>
              </a:solidFill>
              <a:latin typeface="Lora"/>
              <a:ea typeface="Lora"/>
              <a:cs typeface="Lora"/>
              <a:sym typeface="Lora"/>
            </a:endParaRPr>
          </a:p>
        </p:txBody>
      </p:sp>
      <p:sp>
        <p:nvSpPr>
          <p:cNvPr id="89" name="Google Shape;89;p18"/>
          <p:cNvSpPr/>
          <p:nvPr/>
        </p:nvSpPr>
        <p:spPr>
          <a:xfrm>
            <a:off x="612900" y="2057581"/>
            <a:ext cx="5312700" cy="1379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Lora"/>
              <a:ea typeface="Lora"/>
              <a:cs typeface="Lora"/>
              <a:sym typeface="Lora"/>
            </a:endParaRPr>
          </a:p>
        </p:txBody>
      </p:sp>
      <p:sp>
        <p:nvSpPr>
          <p:cNvPr id="90" name="Google Shape;90;p18"/>
          <p:cNvSpPr txBox="1"/>
          <p:nvPr/>
        </p:nvSpPr>
        <p:spPr>
          <a:xfrm>
            <a:off x="612896" y="243588"/>
            <a:ext cx="8128500" cy="3693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i="0" lang="en" sz="2400" u="none" cap="none" strike="noStrike">
                <a:solidFill>
                  <a:srgbClr val="000000"/>
                </a:solidFill>
                <a:latin typeface="Lora"/>
                <a:ea typeface="Lora"/>
                <a:cs typeface="Lora"/>
                <a:sym typeface="Lora"/>
              </a:rPr>
              <a:t>Contents of </a:t>
            </a:r>
            <a:r>
              <a:rPr lang="en" sz="2400">
                <a:latin typeface="Lora"/>
                <a:ea typeface="Lora"/>
                <a:cs typeface="Lora"/>
                <a:sym typeface="Lora"/>
              </a:rPr>
              <a:t>three</a:t>
            </a:r>
            <a:r>
              <a:rPr i="0" lang="en" sz="2400" u="none" cap="none" strike="noStrike">
                <a:solidFill>
                  <a:srgbClr val="000000"/>
                </a:solidFill>
                <a:latin typeface="Lora"/>
                <a:ea typeface="Lora"/>
                <a:cs typeface="Lora"/>
                <a:sym typeface="Lora"/>
              </a:rPr>
              <a:t> </a:t>
            </a:r>
            <a:r>
              <a:rPr lang="en" sz="2400">
                <a:latin typeface="Lora"/>
                <a:ea typeface="Lora"/>
                <a:cs typeface="Lora"/>
                <a:sym typeface="Lora"/>
              </a:rPr>
              <a:t>AI Agents Lectures:</a:t>
            </a:r>
            <a:endParaRPr i="0" sz="700" u="none" cap="none" strike="noStrike">
              <a:solidFill>
                <a:srgbClr val="000000"/>
              </a:solidFill>
              <a:latin typeface="Lora"/>
              <a:ea typeface="Lora"/>
              <a:cs typeface="Lora"/>
              <a:sym typeface="Lora"/>
            </a:endParaRPr>
          </a:p>
        </p:txBody>
      </p:sp>
      <p:sp>
        <p:nvSpPr>
          <p:cNvPr id="91" name="Google Shape;91;p18"/>
          <p:cNvSpPr txBox="1"/>
          <p:nvPr/>
        </p:nvSpPr>
        <p:spPr>
          <a:xfrm>
            <a:off x="6540275" y="2789350"/>
            <a:ext cx="12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rgbClr val="FF0000"/>
                </a:solidFill>
                <a:latin typeface="Pacifico"/>
                <a:ea typeface="Pacifico"/>
                <a:cs typeface="Pacifico"/>
                <a:sym typeface="Pacifico"/>
              </a:rPr>
              <a:t>this lecture</a:t>
            </a:r>
            <a:endParaRPr sz="1600">
              <a:solidFill>
                <a:srgbClr val="FF0000"/>
              </a:solidFill>
              <a:latin typeface="Pacifico"/>
              <a:ea typeface="Pacifico"/>
              <a:cs typeface="Pacifico"/>
              <a:sym typeface="Pacific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p:nvPr/>
        </p:nvSpPr>
        <p:spPr>
          <a:xfrm>
            <a:off x="5546350" y="843673"/>
            <a:ext cx="3187200" cy="3467400"/>
          </a:xfrm>
          <a:prstGeom prst="roundRect">
            <a:avLst>
              <a:gd fmla="val 6971" name="adj"/>
            </a:avLst>
          </a:prstGeom>
          <a:solidFill>
            <a:srgbClr val="FFF9E7"/>
          </a:solidFill>
          <a:ln cap="flat" cmpd="sng" w="38100">
            <a:solidFill>
              <a:srgbClr val="F1C232"/>
            </a:solidFill>
            <a:prstDash val="dash"/>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t/>
            </a:r>
            <a:endParaRPr sz="1013"/>
          </a:p>
        </p:txBody>
      </p:sp>
      <p:sp>
        <p:nvSpPr>
          <p:cNvPr id="97" name="Google Shape;97;p19"/>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98" name="Google Shape;98;p19"/>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What is Agentic AI</a:t>
            </a:r>
            <a:endParaRPr sz="2200">
              <a:latin typeface="Lora"/>
              <a:ea typeface="Lora"/>
              <a:cs typeface="Lora"/>
              <a:sym typeface="Lora"/>
            </a:endParaRPr>
          </a:p>
        </p:txBody>
      </p:sp>
      <p:sp>
        <p:nvSpPr>
          <p:cNvPr id="99" name="Google Shape;99;p19"/>
          <p:cNvSpPr txBox="1"/>
          <p:nvPr/>
        </p:nvSpPr>
        <p:spPr>
          <a:xfrm>
            <a:off x="443225" y="970100"/>
            <a:ext cx="29652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Autonomous software systems that can: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Perceive their environment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Make decisions based on goals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Take actions independently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Learn and adapt over time</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They are: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Built with a reasoning engine (typically an LLM)</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Enhanced with tools (APIs, search, databases)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Can maintain memory across interactions</a:t>
            </a:r>
            <a:endParaRPr i="1" sz="1200">
              <a:solidFill>
                <a:schemeClr val="dk1"/>
              </a:solidFill>
              <a:latin typeface="Lora"/>
              <a:ea typeface="Lora"/>
              <a:cs typeface="Lora"/>
              <a:sym typeface="Lora"/>
            </a:endParaRPr>
          </a:p>
        </p:txBody>
      </p:sp>
      <p:pic>
        <p:nvPicPr>
          <p:cNvPr id="100" name="Google Shape;100;p19"/>
          <p:cNvPicPr preferRelativeResize="0"/>
          <p:nvPr/>
        </p:nvPicPr>
        <p:blipFill>
          <a:blip r:embed="rId3">
            <a:alphaModFix/>
          </a:blip>
          <a:stretch>
            <a:fillRect/>
          </a:stretch>
        </p:blipFill>
        <p:spPr>
          <a:xfrm>
            <a:off x="3765035" y="1991722"/>
            <a:ext cx="1150824" cy="1150824"/>
          </a:xfrm>
          <a:prstGeom prst="rect">
            <a:avLst/>
          </a:prstGeom>
          <a:noFill/>
          <a:ln>
            <a:noFill/>
          </a:ln>
        </p:spPr>
      </p:pic>
      <p:sp>
        <p:nvSpPr>
          <p:cNvPr id="101" name="Google Shape;101;p19"/>
          <p:cNvSpPr/>
          <p:nvPr/>
        </p:nvSpPr>
        <p:spPr>
          <a:xfrm>
            <a:off x="5716024" y="2034032"/>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813"/>
              <a:t>LLM</a:t>
            </a:r>
            <a:endParaRPr sz="1813"/>
          </a:p>
        </p:txBody>
      </p:sp>
      <p:sp>
        <p:nvSpPr>
          <p:cNvPr id="102" name="Google Shape;102;p19"/>
          <p:cNvSpPr txBox="1"/>
          <p:nvPr/>
        </p:nvSpPr>
        <p:spPr>
          <a:xfrm>
            <a:off x="4775250" y="2168267"/>
            <a:ext cx="832800" cy="31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Lora"/>
                <a:ea typeface="Lora"/>
                <a:cs typeface="Lora"/>
                <a:sym typeface="Lora"/>
              </a:rPr>
              <a:t>Question</a:t>
            </a:r>
            <a:endParaRPr sz="1200">
              <a:solidFill>
                <a:schemeClr val="dk2"/>
              </a:solidFill>
              <a:latin typeface="Lora"/>
              <a:ea typeface="Lora"/>
              <a:cs typeface="Lora"/>
              <a:sym typeface="Lora"/>
            </a:endParaRPr>
          </a:p>
        </p:txBody>
      </p:sp>
      <p:sp>
        <p:nvSpPr>
          <p:cNvPr id="103" name="Google Shape;103;p19"/>
          <p:cNvSpPr txBox="1"/>
          <p:nvPr/>
        </p:nvSpPr>
        <p:spPr>
          <a:xfrm>
            <a:off x="4775250" y="2684942"/>
            <a:ext cx="832800" cy="31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Lora"/>
                <a:ea typeface="Lora"/>
                <a:cs typeface="Lora"/>
                <a:sym typeface="Lora"/>
              </a:rPr>
              <a:t>Answer</a:t>
            </a:r>
            <a:endParaRPr sz="1200">
              <a:solidFill>
                <a:schemeClr val="dk2"/>
              </a:solidFill>
              <a:latin typeface="Lora"/>
              <a:ea typeface="Lora"/>
              <a:cs typeface="Lora"/>
              <a:sym typeface="Lora"/>
            </a:endParaRPr>
          </a:p>
        </p:txBody>
      </p:sp>
      <p:cxnSp>
        <p:nvCxnSpPr>
          <p:cNvPr id="104" name="Google Shape;104;p19"/>
          <p:cNvCxnSpPr/>
          <p:nvPr/>
        </p:nvCxnSpPr>
        <p:spPr>
          <a:xfrm>
            <a:off x="4844650" y="2522985"/>
            <a:ext cx="701700" cy="0"/>
          </a:xfrm>
          <a:prstGeom prst="straightConnector1">
            <a:avLst/>
          </a:prstGeom>
          <a:noFill/>
          <a:ln cap="flat" cmpd="sng" w="9525">
            <a:solidFill>
              <a:schemeClr val="dk2"/>
            </a:solidFill>
            <a:prstDash val="solid"/>
            <a:round/>
            <a:headEnd len="med" w="med" type="none"/>
            <a:tailEnd len="med" w="med" type="triangle"/>
          </a:ln>
        </p:spPr>
      </p:cxnSp>
      <p:cxnSp>
        <p:nvCxnSpPr>
          <p:cNvPr id="105" name="Google Shape;105;p19"/>
          <p:cNvCxnSpPr/>
          <p:nvPr/>
        </p:nvCxnSpPr>
        <p:spPr>
          <a:xfrm>
            <a:off x="4844650" y="2684935"/>
            <a:ext cx="701700" cy="0"/>
          </a:xfrm>
          <a:prstGeom prst="straightConnector1">
            <a:avLst/>
          </a:prstGeom>
          <a:noFill/>
          <a:ln cap="flat" cmpd="sng" w="9525">
            <a:solidFill>
              <a:schemeClr val="dk2"/>
            </a:solidFill>
            <a:prstDash val="solid"/>
            <a:round/>
            <a:headEnd len="med" w="med" type="triangle"/>
            <a:tailEnd len="med" w="med" type="none"/>
          </a:ln>
        </p:spPr>
      </p:cxnSp>
      <p:sp>
        <p:nvSpPr>
          <p:cNvPr id="106" name="Google Shape;106;p19"/>
          <p:cNvSpPr/>
          <p:nvPr/>
        </p:nvSpPr>
        <p:spPr>
          <a:xfrm>
            <a:off x="7325874" y="1006582"/>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313"/>
              <a:t>Tools</a:t>
            </a:r>
            <a:endParaRPr sz="1313"/>
          </a:p>
          <a:p>
            <a:pPr indent="0" lvl="0" marL="0" rtl="0" algn="ctr">
              <a:spcBef>
                <a:spcPts val="0"/>
              </a:spcBef>
              <a:spcAft>
                <a:spcPts val="0"/>
              </a:spcAft>
              <a:buNone/>
            </a:pPr>
            <a:r>
              <a:rPr lang="en" sz="1313"/>
              <a:t>(function calls, APIs, databases…</a:t>
            </a:r>
            <a:endParaRPr sz="1313"/>
          </a:p>
        </p:txBody>
      </p:sp>
      <p:sp>
        <p:nvSpPr>
          <p:cNvPr id="107" name="Google Shape;107;p19"/>
          <p:cNvSpPr/>
          <p:nvPr/>
        </p:nvSpPr>
        <p:spPr>
          <a:xfrm>
            <a:off x="7325874" y="3057807"/>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313">
                <a:solidFill>
                  <a:schemeClr val="dk1"/>
                </a:solidFill>
              </a:rPr>
              <a:t>Other (Agentic) AI system(s)</a:t>
            </a:r>
            <a:endParaRPr b="1" sz="1313"/>
          </a:p>
        </p:txBody>
      </p:sp>
      <p:cxnSp>
        <p:nvCxnSpPr>
          <p:cNvPr id="108" name="Google Shape;108;p19"/>
          <p:cNvCxnSpPr/>
          <p:nvPr/>
        </p:nvCxnSpPr>
        <p:spPr>
          <a:xfrm flipH="1" rot="10800000">
            <a:off x="6947975" y="1954207"/>
            <a:ext cx="293100" cy="123300"/>
          </a:xfrm>
          <a:prstGeom prst="straightConnector1">
            <a:avLst/>
          </a:prstGeom>
          <a:noFill/>
          <a:ln cap="flat" cmpd="sng" w="9525">
            <a:solidFill>
              <a:schemeClr val="dk2"/>
            </a:solidFill>
            <a:prstDash val="solid"/>
            <a:round/>
            <a:headEnd len="med" w="med" type="none"/>
            <a:tailEnd len="med" w="med" type="triangle"/>
          </a:ln>
        </p:spPr>
      </p:cxnSp>
      <p:cxnSp>
        <p:nvCxnSpPr>
          <p:cNvPr id="109" name="Google Shape;109;p19"/>
          <p:cNvCxnSpPr/>
          <p:nvPr/>
        </p:nvCxnSpPr>
        <p:spPr>
          <a:xfrm flipH="1" rot="10800000">
            <a:off x="7000127" y="2037204"/>
            <a:ext cx="293100" cy="123300"/>
          </a:xfrm>
          <a:prstGeom prst="straightConnector1">
            <a:avLst/>
          </a:prstGeom>
          <a:noFill/>
          <a:ln cap="flat" cmpd="sng" w="9525">
            <a:solidFill>
              <a:schemeClr val="dk2"/>
            </a:solidFill>
            <a:prstDash val="solid"/>
            <a:round/>
            <a:headEnd len="med" w="med" type="triangle"/>
            <a:tailEnd len="med" w="med" type="none"/>
          </a:ln>
        </p:spPr>
      </p:cxnSp>
      <p:cxnSp>
        <p:nvCxnSpPr>
          <p:cNvPr id="110" name="Google Shape;110;p19"/>
          <p:cNvCxnSpPr/>
          <p:nvPr/>
        </p:nvCxnSpPr>
        <p:spPr>
          <a:xfrm>
            <a:off x="6971575" y="3120385"/>
            <a:ext cx="293100" cy="116100"/>
          </a:xfrm>
          <a:prstGeom prst="straightConnector1">
            <a:avLst/>
          </a:prstGeom>
          <a:noFill/>
          <a:ln cap="flat" cmpd="sng" w="9525">
            <a:solidFill>
              <a:schemeClr val="dk2"/>
            </a:solidFill>
            <a:prstDash val="solid"/>
            <a:round/>
            <a:headEnd len="med" w="med" type="none"/>
            <a:tailEnd len="med" w="med" type="triangle"/>
          </a:ln>
        </p:spPr>
      </p:cxnSp>
      <p:cxnSp>
        <p:nvCxnSpPr>
          <p:cNvPr id="111" name="Google Shape;111;p19"/>
          <p:cNvCxnSpPr/>
          <p:nvPr/>
        </p:nvCxnSpPr>
        <p:spPr>
          <a:xfrm>
            <a:off x="7023726" y="3042373"/>
            <a:ext cx="293100" cy="116100"/>
          </a:xfrm>
          <a:prstGeom prst="straightConnector1">
            <a:avLst/>
          </a:prstGeom>
          <a:noFill/>
          <a:ln cap="flat" cmpd="sng" w="9525">
            <a:solidFill>
              <a:schemeClr val="dk2"/>
            </a:solidFill>
            <a:prstDash val="solid"/>
            <a:round/>
            <a:headEnd len="med" w="med" type="triangle"/>
            <a:tailEnd len="med" w="med" type="none"/>
          </a:ln>
        </p:spPr>
      </p:cxnSp>
      <p:cxnSp>
        <p:nvCxnSpPr>
          <p:cNvPr id="112" name="Google Shape;112;p19"/>
          <p:cNvCxnSpPr/>
          <p:nvPr/>
        </p:nvCxnSpPr>
        <p:spPr>
          <a:xfrm>
            <a:off x="7927307" y="2224023"/>
            <a:ext cx="0" cy="7479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19"/>
          <p:cNvCxnSpPr/>
          <p:nvPr/>
        </p:nvCxnSpPr>
        <p:spPr>
          <a:xfrm>
            <a:off x="8004407" y="2224023"/>
            <a:ext cx="0" cy="747900"/>
          </a:xfrm>
          <a:prstGeom prst="straightConnector1">
            <a:avLst/>
          </a:prstGeom>
          <a:noFill/>
          <a:ln cap="flat" cmpd="sng" w="9525">
            <a:solidFill>
              <a:schemeClr val="dk2"/>
            </a:solidFill>
            <a:prstDash val="solid"/>
            <a:round/>
            <a:headEnd len="med" w="med" type="triangle"/>
            <a:tailEnd len="med" w="med" type="none"/>
          </a:ln>
        </p:spPr>
      </p:cxnSp>
      <p:sp>
        <p:nvSpPr>
          <p:cNvPr id="114" name="Google Shape;114;p19"/>
          <p:cNvSpPr txBox="1"/>
          <p:nvPr/>
        </p:nvSpPr>
        <p:spPr>
          <a:xfrm>
            <a:off x="5643271" y="904820"/>
            <a:ext cx="1392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Agentic AI</a:t>
            </a:r>
            <a:endParaRPr sz="1800"/>
          </a:p>
        </p:txBody>
      </p:sp>
      <p:sp>
        <p:nvSpPr>
          <p:cNvPr id="115" name="Google Shape;115;p19"/>
          <p:cNvSpPr txBox="1"/>
          <p:nvPr/>
        </p:nvSpPr>
        <p:spPr>
          <a:xfrm>
            <a:off x="5643271" y="2665170"/>
            <a:ext cx="139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Orchestrator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0"/>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21" name="Google Shape;121;p20"/>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Why is Agentic AI Useful?</a:t>
            </a:r>
            <a:endParaRPr sz="2200">
              <a:latin typeface="Lora"/>
              <a:ea typeface="Lora"/>
              <a:cs typeface="Lora"/>
              <a:sym typeface="Lora"/>
            </a:endParaRPr>
          </a:p>
        </p:txBody>
      </p:sp>
      <p:sp>
        <p:nvSpPr>
          <p:cNvPr id="122" name="Google Shape;122;p20"/>
          <p:cNvSpPr txBox="1"/>
          <p:nvPr/>
        </p:nvSpPr>
        <p:spPr>
          <a:xfrm>
            <a:off x="443225" y="970100"/>
            <a:ext cx="3150300" cy="24012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Overcome limitations of static AI systems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Solve complex problems by breaking them into steps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Connect multiple systems and data sources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Perform sequences of actions without human intervention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Adapt to new situations using reasoning abilities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Deliver more personalized and contextual assistance</a:t>
            </a:r>
            <a:endParaRPr i="1" sz="1200">
              <a:solidFill>
                <a:schemeClr val="dk1"/>
              </a:solidFill>
              <a:latin typeface="Lora"/>
              <a:ea typeface="Lora"/>
              <a:cs typeface="Lora"/>
              <a:sym typeface="Lora"/>
            </a:endParaRPr>
          </a:p>
        </p:txBody>
      </p:sp>
      <p:sp>
        <p:nvSpPr>
          <p:cNvPr id="123" name="Google Shape;123;p20"/>
          <p:cNvSpPr/>
          <p:nvPr/>
        </p:nvSpPr>
        <p:spPr>
          <a:xfrm>
            <a:off x="5546350" y="843673"/>
            <a:ext cx="3187200" cy="3467400"/>
          </a:xfrm>
          <a:prstGeom prst="roundRect">
            <a:avLst>
              <a:gd fmla="val 6971" name="adj"/>
            </a:avLst>
          </a:prstGeom>
          <a:solidFill>
            <a:srgbClr val="FFF9E7"/>
          </a:solidFill>
          <a:ln cap="flat" cmpd="sng" w="38100">
            <a:solidFill>
              <a:srgbClr val="F1C232"/>
            </a:solidFill>
            <a:prstDash val="dash"/>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t/>
            </a:r>
            <a:endParaRPr sz="1013"/>
          </a:p>
        </p:txBody>
      </p:sp>
      <p:pic>
        <p:nvPicPr>
          <p:cNvPr id="124" name="Google Shape;124;p20"/>
          <p:cNvPicPr preferRelativeResize="0"/>
          <p:nvPr/>
        </p:nvPicPr>
        <p:blipFill>
          <a:blip r:embed="rId3">
            <a:alphaModFix/>
          </a:blip>
          <a:stretch>
            <a:fillRect/>
          </a:stretch>
        </p:blipFill>
        <p:spPr>
          <a:xfrm>
            <a:off x="3765035" y="1991722"/>
            <a:ext cx="1150824" cy="1150824"/>
          </a:xfrm>
          <a:prstGeom prst="rect">
            <a:avLst/>
          </a:prstGeom>
          <a:noFill/>
          <a:ln>
            <a:noFill/>
          </a:ln>
        </p:spPr>
      </p:pic>
      <p:sp>
        <p:nvSpPr>
          <p:cNvPr id="125" name="Google Shape;125;p20"/>
          <p:cNvSpPr/>
          <p:nvPr/>
        </p:nvSpPr>
        <p:spPr>
          <a:xfrm>
            <a:off x="5716024" y="2034032"/>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813"/>
              <a:t>LLM</a:t>
            </a:r>
            <a:endParaRPr sz="1813"/>
          </a:p>
        </p:txBody>
      </p:sp>
      <p:sp>
        <p:nvSpPr>
          <p:cNvPr id="126" name="Google Shape;126;p20"/>
          <p:cNvSpPr txBox="1"/>
          <p:nvPr/>
        </p:nvSpPr>
        <p:spPr>
          <a:xfrm>
            <a:off x="4775250" y="2168267"/>
            <a:ext cx="832800" cy="31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Lora"/>
                <a:ea typeface="Lora"/>
                <a:cs typeface="Lora"/>
                <a:sym typeface="Lora"/>
              </a:rPr>
              <a:t>Question</a:t>
            </a:r>
            <a:endParaRPr sz="1200">
              <a:solidFill>
                <a:schemeClr val="dk2"/>
              </a:solidFill>
              <a:latin typeface="Lora"/>
              <a:ea typeface="Lora"/>
              <a:cs typeface="Lora"/>
              <a:sym typeface="Lora"/>
            </a:endParaRPr>
          </a:p>
        </p:txBody>
      </p:sp>
      <p:sp>
        <p:nvSpPr>
          <p:cNvPr id="127" name="Google Shape;127;p20"/>
          <p:cNvSpPr txBox="1"/>
          <p:nvPr/>
        </p:nvSpPr>
        <p:spPr>
          <a:xfrm>
            <a:off x="4775250" y="2684942"/>
            <a:ext cx="832800" cy="31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2"/>
                </a:solidFill>
                <a:latin typeface="Lora"/>
                <a:ea typeface="Lora"/>
                <a:cs typeface="Lora"/>
                <a:sym typeface="Lora"/>
              </a:rPr>
              <a:t>Answer</a:t>
            </a:r>
            <a:endParaRPr sz="1200">
              <a:solidFill>
                <a:schemeClr val="dk2"/>
              </a:solidFill>
              <a:latin typeface="Lora"/>
              <a:ea typeface="Lora"/>
              <a:cs typeface="Lora"/>
              <a:sym typeface="Lora"/>
            </a:endParaRPr>
          </a:p>
        </p:txBody>
      </p:sp>
      <p:cxnSp>
        <p:nvCxnSpPr>
          <p:cNvPr id="128" name="Google Shape;128;p20"/>
          <p:cNvCxnSpPr/>
          <p:nvPr/>
        </p:nvCxnSpPr>
        <p:spPr>
          <a:xfrm>
            <a:off x="4844650" y="2522985"/>
            <a:ext cx="701700" cy="0"/>
          </a:xfrm>
          <a:prstGeom prst="straightConnector1">
            <a:avLst/>
          </a:prstGeom>
          <a:noFill/>
          <a:ln cap="flat" cmpd="sng" w="9525">
            <a:solidFill>
              <a:schemeClr val="dk2"/>
            </a:solidFill>
            <a:prstDash val="solid"/>
            <a:round/>
            <a:headEnd len="med" w="med" type="none"/>
            <a:tailEnd len="med" w="med" type="triangle"/>
          </a:ln>
        </p:spPr>
      </p:cxnSp>
      <p:cxnSp>
        <p:nvCxnSpPr>
          <p:cNvPr id="129" name="Google Shape;129;p20"/>
          <p:cNvCxnSpPr/>
          <p:nvPr/>
        </p:nvCxnSpPr>
        <p:spPr>
          <a:xfrm>
            <a:off x="4844650" y="2684935"/>
            <a:ext cx="701700" cy="0"/>
          </a:xfrm>
          <a:prstGeom prst="straightConnector1">
            <a:avLst/>
          </a:prstGeom>
          <a:noFill/>
          <a:ln cap="flat" cmpd="sng" w="9525">
            <a:solidFill>
              <a:schemeClr val="dk2"/>
            </a:solidFill>
            <a:prstDash val="solid"/>
            <a:round/>
            <a:headEnd len="med" w="med" type="triangle"/>
            <a:tailEnd len="med" w="med" type="none"/>
          </a:ln>
        </p:spPr>
      </p:cxnSp>
      <p:sp>
        <p:nvSpPr>
          <p:cNvPr id="130" name="Google Shape;130;p20"/>
          <p:cNvSpPr/>
          <p:nvPr/>
        </p:nvSpPr>
        <p:spPr>
          <a:xfrm>
            <a:off x="7325874" y="1006582"/>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313"/>
              <a:t>Tools</a:t>
            </a:r>
            <a:endParaRPr sz="1313"/>
          </a:p>
          <a:p>
            <a:pPr indent="0" lvl="0" marL="0" rtl="0" algn="ctr">
              <a:spcBef>
                <a:spcPts val="0"/>
              </a:spcBef>
              <a:spcAft>
                <a:spcPts val="0"/>
              </a:spcAft>
              <a:buNone/>
            </a:pPr>
            <a:r>
              <a:rPr lang="en" sz="1313"/>
              <a:t>(function calls, APIs, databases…</a:t>
            </a:r>
            <a:endParaRPr sz="1313"/>
          </a:p>
        </p:txBody>
      </p:sp>
      <p:sp>
        <p:nvSpPr>
          <p:cNvPr id="131" name="Google Shape;131;p20"/>
          <p:cNvSpPr/>
          <p:nvPr/>
        </p:nvSpPr>
        <p:spPr>
          <a:xfrm>
            <a:off x="7325874" y="3057807"/>
            <a:ext cx="1246500" cy="1108500"/>
          </a:xfrm>
          <a:prstGeom prst="roundRect">
            <a:avLst>
              <a:gd fmla="val 16667" name="adj"/>
            </a:avLst>
          </a:prstGeom>
          <a:solidFill>
            <a:srgbClr val="EEEEEE"/>
          </a:solidFill>
          <a:ln cap="flat" cmpd="sng" w="5500">
            <a:solidFill>
              <a:srgbClr val="595959"/>
            </a:solidFill>
            <a:prstDash val="solid"/>
            <a:round/>
            <a:headEnd len="sm" w="sm" type="none"/>
            <a:tailEnd len="sm" w="sm" type="none"/>
          </a:ln>
        </p:spPr>
        <p:txBody>
          <a:bodyPr anchorCtr="0" anchor="ctr" bIns="72725" lIns="72725" spcFirstLastPara="1" rIns="72725" wrap="square" tIns="72725">
            <a:noAutofit/>
          </a:bodyPr>
          <a:lstStyle/>
          <a:p>
            <a:pPr indent="0" lvl="0" marL="0" rtl="0" algn="ctr">
              <a:spcBef>
                <a:spcPts val="0"/>
              </a:spcBef>
              <a:spcAft>
                <a:spcPts val="0"/>
              </a:spcAft>
              <a:buNone/>
            </a:pPr>
            <a:r>
              <a:rPr b="1" lang="en" sz="1313"/>
              <a:t>Other (Agentic) AI system(s)</a:t>
            </a:r>
            <a:endParaRPr sz="1313"/>
          </a:p>
        </p:txBody>
      </p:sp>
      <p:cxnSp>
        <p:nvCxnSpPr>
          <p:cNvPr id="132" name="Google Shape;132;p20"/>
          <p:cNvCxnSpPr/>
          <p:nvPr/>
        </p:nvCxnSpPr>
        <p:spPr>
          <a:xfrm flipH="1" rot="10800000">
            <a:off x="6947975" y="1954207"/>
            <a:ext cx="293100" cy="123300"/>
          </a:xfrm>
          <a:prstGeom prst="straightConnector1">
            <a:avLst/>
          </a:prstGeom>
          <a:noFill/>
          <a:ln cap="flat" cmpd="sng" w="9525">
            <a:solidFill>
              <a:schemeClr val="dk2"/>
            </a:solidFill>
            <a:prstDash val="solid"/>
            <a:round/>
            <a:headEnd len="med" w="med" type="none"/>
            <a:tailEnd len="med" w="med" type="triangle"/>
          </a:ln>
        </p:spPr>
      </p:cxnSp>
      <p:cxnSp>
        <p:nvCxnSpPr>
          <p:cNvPr id="133" name="Google Shape;133;p20"/>
          <p:cNvCxnSpPr/>
          <p:nvPr/>
        </p:nvCxnSpPr>
        <p:spPr>
          <a:xfrm flipH="1" rot="10800000">
            <a:off x="7000127" y="2037204"/>
            <a:ext cx="293100" cy="123300"/>
          </a:xfrm>
          <a:prstGeom prst="straightConnector1">
            <a:avLst/>
          </a:prstGeom>
          <a:noFill/>
          <a:ln cap="flat" cmpd="sng" w="9525">
            <a:solidFill>
              <a:schemeClr val="dk2"/>
            </a:solidFill>
            <a:prstDash val="solid"/>
            <a:round/>
            <a:headEnd len="med" w="med" type="triangle"/>
            <a:tailEnd len="med" w="med" type="none"/>
          </a:ln>
        </p:spPr>
      </p:cxnSp>
      <p:cxnSp>
        <p:nvCxnSpPr>
          <p:cNvPr id="134" name="Google Shape;134;p20"/>
          <p:cNvCxnSpPr/>
          <p:nvPr/>
        </p:nvCxnSpPr>
        <p:spPr>
          <a:xfrm>
            <a:off x="6971575" y="3120385"/>
            <a:ext cx="293100" cy="116100"/>
          </a:xfrm>
          <a:prstGeom prst="straightConnector1">
            <a:avLst/>
          </a:prstGeom>
          <a:noFill/>
          <a:ln cap="flat" cmpd="sng" w="9525">
            <a:solidFill>
              <a:schemeClr val="dk2"/>
            </a:solidFill>
            <a:prstDash val="solid"/>
            <a:round/>
            <a:headEnd len="med" w="med" type="none"/>
            <a:tailEnd len="med" w="med" type="triangle"/>
          </a:ln>
        </p:spPr>
      </p:cxnSp>
      <p:cxnSp>
        <p:nvCxnSpPr>
          <p:cNvPr id="135" name="Google Shape;135;p20"/>
          <p:cNvCxnSpPr/>
          <p:nvPr/>
        </p:nvCxnSpPr>
        <p:spPr>
          <a:xfrm>
            <a:off x="7023726" y="3042373"/>
            <a:ext cx="293100" cy="116100"/>
          </a:xfrm>
          <a:prstGeom prst="straightConnector1">
            <a:avLst/>
          </a:prstGeom>
          <a:noFill/>
          <a:ln cap="flat" cmpd="sng" w="9525">
            <a:solidFill>
              <a:schemeClr val="dk2"/>
            </a:solidFill>
            <a:prstDash val="solid"/>
            <a:round/>
            <a:headEnd len="med" w="med" type="triangle"/>
            <a:tailEnd len="med" w="med" type="none"/>
          </a:ln>
        </p:spPr>
      </p:cxnSp>
      <p:cxnSp>
        <p:nvCxnSpPr>
          <p:cNvPr id="136" name="Google Shape;136;p20"/>
          <p:cNvCxnSpPr/>
          <p:nvPr/>
        </p:nvCxnSpPr>
        <p:spPr>
          <a:xfrm>
            <a:off x="7927307" y="2224023"/>
            <a:ext cx="0" cy="747900"/>
          </a:xfrm>
          <a:prstGeom prst="straightConnector1">
            <a:avLst/>
          </a:prstGeom>
          <a:noFill/>
          <a:ln cap="flat" cmpd="sng" w="9525">
            <a:solidFill>
              <a:schemeClr val="dk2"/>
            </a:solidFill>
            <a:prstDash val="solid"/>
            <a:round/>
            <a:headEnd len="med" w="med" type="none"/>
            <a:tailEnd len="med" w="med" type="triangle"/>
          </a:ln>
        </p:spPr>
      </p:cxnSp>
      <p:cxnSp>
        <p:nvCxnSpPr>
          <p:cNvPr id="137" name="Google Shape;137;p20"/>
          <p:cNvCxnSpPr/>
          <p:nvPr/>
        </p:nvCxnSpPr>
        <p:spPr>
          <a:xfrm>
            <a:off x="8004407" y="2224023"/>
            <a:ext cx="0" cy="747900"/>
          </a:xfrm>
          <a:prstGeom prst="straightConnector1">
            <a:avLst/>
          </a:prstGeom>
          <a:noFill/>
          <a:ln cap="flat" cmpd="sng" w="9525">
            <a:solidFill>
              <a:schemeClr val="dk2"/>
            </a:solidFill>
            <a:prstDash val="solid"/>
            <a:round/>
            <a:headEnd len="med" w="med" type="triangle"/>
            <a:tailEnd len="med" w="med" type="none"/>
          </a:ln>
        </p:spPr>
      </p:cxnSp>
      <p:sp>
        <p:nvSpPr>
          <p:cNvPr id="138" name="Google Shape;138;p20"/>
          <p:cNvSpPr txBox="1"/>
          <p:nvPr/>
        </p:nvSpPr>
        <p:spPr>
          <a:xfrm>
            <a:off x="5643271" y="904820"/>
            <a:ext cx="13920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t>Agentic AI</a:t>
            </a:r>
            <a:endParaRPr sz="1800"/>
          </a:p>
        </p:txBody>
      </p:sp>
      <p:sp>
        <p:nvSpPr>
          <p:cNvPr id="139" name="Google Shape;139;p20"/>
          <p:cNvSpPr txBox="1"/>
          <p:nvPr/>
        </p:nvSpPr>
        <p:spPr>
          <a:xfrm>
            <a:off x="5643271" y="2665170"/>
            <a:ext cx="13920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Orchestrator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1"/>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45" name="Google Shape;145;p21"/>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Agentic AI patterns</a:t>
            </a:r>
            <a:endParaRPr sz="2200">
              <a:latin typeface="Lora"/>
              <a:ea typeface="Lora"/>
              <a:cs typeface="Lora"/>
              <a:sym typeface="Lora"/>
            </a:endParaRPr>
          </a:p>
        </p:txBody>
      </p:sp>
      <p:sp>
        <p:nvSpPr>
          <p:cNvPr id="146" name="Google Shape;146;p21"/>
          <p:cNvSpPr txBox="1"/>
          <p:nvPr/>
        </p:nvSpPr>
        <p:spPr>
          <a:xfrm>
            <a:off x="443225" y="970100"/>
            <a:ext cx="5255400" cy="2401200"/>
          </a:xfrm>
          <a:prstGeom prst="rect">
            <a:avLst/>
          </a:prstGeom>
          <a:noFill/>
          <a:ln>
            <a:noFill/>
          </a:ln>
        </p:spPr>
        <p:txBody>
          <a:bodyPr anchorCtr="0" anchor="t" bIns="91425" lIns="91425" spcFirstLastPara="1" rIns="91425" wrap="square" tIns="91425">
            <a:spAutoFit/>
          </a:bodyPr>
          <a:lstStyle/>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Reflection</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Let the system think about its output and reflect on it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Tool use</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Use of various tools to gather information</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We did this yesterday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Planning</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Give answer in multiple steps - start by planning how the answer should look like and then improve (iterate on it).</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Much like what a human does - you don’t write a full essay from scratch</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Multi-agent collaboration</a:t>
            </a:r>
            <a:endParaRPr i="1" sz="1200">
              <a:solidFill>
                <a:schemeClr val="dk1"/>
              </a:solidFill>
              <a:latin typeface="Lora"/>
              <a:ea typeface="Lora"/>
              <a:cs typeface="Lora"/>
              <a:sym typeface="Lora"/>
            </a:endParaRPr>
          </a:p>
          <a:p>
            <a:pPr indent="-304800" lvl="1" marL="9144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Use different LLMs with different assigned roles</a:t>
            </a:r>
            <a:endParaRPr i="1" sz="1200">
              <a:solidFill>
                <a:schemeClr val="dk1"/>
              </a:solidFill>
              <a:latin typeface="Lora"/>
              <a:ea typeface="Lora"/>
              <a:cs typeface="Lora"/>
              <a:sym typeface="Lora"/>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22"/>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Clr>
                <a:srgbClr val="000000"/>
              </a:buClr>
              <a:buSzPts val="600"/>
              <a:buFont typeface="Arial"/>
              <a:buNone/>
            </a:pPr>
            <a:fld id="{00000000-1234-1234-1234-123412341234}" type="slidenum">
              <a:rPr lang="en"/>
              <a:t>‹#›</a:t>
            </a:fld>
            <a:endParaRPr/>
          </a:p>
        </p:txBody>
      </p:sp>
      <p:sp>
        <p:nvSpPr>
          <p:cNvPr id="152" name="Google Shape;152;p22"/>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and React Agents</a:t>
            </a:r>
            <a:endParaRPr sz="2200">
              <a:latin typeface="Lora"/>
              <a:ea typeface="Lora"/>
              <a:cs typeface="Lora"/>
              <a:sym typeface="Lora"/>
            </a:endParaRPr>
          </a:p>
        </p:txBody>
      </p:sp>
      <p:sp>
        <p:nvSpPr>
          <p:cNvPr id="153" name="Google Shape;153;p22"/>
          <p:cNvSpPr txBox="1"/>
          <p:nvPr/>
        </p:nvSpPr>
        <p:spPr>
          <a:xfrm>
            <a:off x="443225" y="970100"/>
            <a:ext cx="85023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Today's focus: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LangChain framework components for application development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React agents: Reasoning, Acting, and Thinking</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Building stateful agents that maintain context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Practical implementation patterns and examples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Learning goals: Understand how to build advanced AI applications that can reason and make decisions</a:t>
            </a:r>
            <a:endParaRPr i="1" sz="1200">
              <a:solidFill>
                <a:schemeClr val="dk1"/>
              </a:solidFill>
              <a:latin typeface="Lora"/>
              <a:ea typeface="Lora"/>
              <a:cs typeface="Lora"/>
              <a:sym typeface="Lora"/>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3"/>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59" name="Google Shape;159;p23"/>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What is it?</a:t>
            </a:r>
            <a:endParaRPr sz="2200">
              <a:latin typeface="Lora"/>
              <a:ea typeface="Lora"/>
              <a:cs typeface="Lora"/>
              <a:sym typeface="Lora"/>
            </a:endParaRPr>
          </a:p>
        </p:txBody>
      </p:sp>
      <p:sp>
        <p:nvSpPr>
          <p:cNvPr id="160" name="Google Shape;160;p23"/>
          <p:cNvSpPr txBox="1"/>
          <p:nvPr/>
        </p:nvSpPr>
        <p:spPr>
          <a:xfrm>
            <a:off x="443225" y="970100"/>
            <a:ext cx="3250500" cy="3509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LangChain simplifies every stage of the LLM application lifecycle: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Development: </a:t>
            </a:r>
            <a:r>
              <a:rPr i="1" lang="en" sz="1200">
                <a:solidFill>
                  <a:schemeClr val="dk1"/>
                </a:solidFill>
                <a:latin typeface="Lora"/>
                <a:ea typeface="Lora"/>
                <a:cs typeface="Lora"/>
                <a:sym typeface="Lora"/>
              </a:rPr>
              <a:t>Build your applications using </a:t>
            </a:r>
            <a:r>
              <a:rPr b="1" i="1" lang="en" sz="1200">
                <a:solidFill>
                  <a:schemeClr val="dk1"/>
                </a:solidFill>
                <a:latin typeface="Lora"/>
                <a:ea typeface="Lora"/>
                <a:cs typeface="Lora"/>
                <a:sym typeface="Lora"/>
              </a:rPr>
              <a:t>LangChain</a:t>
            </a:r>
            <a:r>
              <a:rPr i="1" lang="en" sz="1200">
                <a:solidFill>
                  <a:schemeClr val="dk1"/>
                </a:solidFill>
                <a:latin typeface="Lora"/>
                <a:ea typeface="Lora"/>
                <a:cs typeface="Lora"/>
                <a:sym typeface="Lora"/>
              </a:rPr>
              <a:t>'s open-source components and third-party integrations. Use </a:t>
            </a:r>
            <a:r>
              <a:rPr b="1" i="1" lang="en" sz="1200">
                <a:solidFill>
                  <a:schemeClr val="dk1"/>
                </a:solidFill>
                <a:latin typeface="Lora"/>
                <a:ea typeface="Lora"/>
                <a:cs typeface="Lora"/>
                <a:sym typeface="Lora"/>
              </a:rPr>
              <a:t>LangGraph</a:t>
            </a:r>
            <a:r>
              <a:rPr i="1" lang="en" sz="1200">
                <a:solidFill>
                  <a:schemeClr val="dk1"/>
                </a:solidFill>
                <a:latin typeface="Lora"/>
                <a:ea typeface="Lora"/>
                <a:cs typeface="Lora"/>
                <a:sym typeface="Lora"/>
              </a:rPr>
              <a:t> to build stateful agents with first-class streaming and human-in-the-loop support.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Productionization: </a:t>
            </a:r>
            <a:r>
              <a:rPr i="1" lang="en" sz="1200">
                <a:solidFill>
                  <a:schemeClr val="dk1"/>
                </a:solidFill>
                <a:latin typeface="Lora"/>
                <a:ea typeface="Lora"/>
                <a:cs typeface="Lora"/>
                <a:sym typeface="Lora"/>
              </a:rPr>
              <a:t>Use </a:t>
            </a:r>
            <a:r>
              <a:rPr b="1" i="1" lang="en" sz="1200">
                <a:solidFill>
                  <a:schemeClr val="dk1"/>
                </a:solidFill>
                <a:latin typeface="Lora"/>
                <a:ea typeface="Lora"/>
                <a:cs typeface="Lora"/>
                <a:sym typeface="Lora"/>
              </a:rPr>
              <a:t>LangSmith </a:t>
            </a:r>
            <a:r>
              <a:rPr i="1" lang="en" sz="1200">
                <a:solidFill>
                  <a:schemeClr val="dk1"/>
                </a:solidFill>
                <a:latin typeface="Lora"/>
                <a:ea typeface="Lora"/>
                <a:cs typeface="Lora"/>
                <a:sym typeface="Lora"/>
              </a:rPr>
              <a:t>to inspect, monitor and evaluate your applications, so that you can continuously optimize and deploy with confidence.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Deployment: </a:t>
            </a:r>
            <a:r>
              <a:rPr i="1" lang="en" sz="1200">
                <a:solidFill>
                  <a:schemeClr val="dk1"/>
                </a:solidFill>
                <a:latin typeface="Lora"/>
                <a:ea typeface="Lora"/>
                <a:cs typeface="Lora"/>
                <a:sym typeface="Lora"/>
              </a:rPr>
              <a:t>Turn your LangGraph applications into production-ready APIs and Assistants with </a:t>
            </a:r>
            <a:r>
              <a:rPr b="1" i="1" lang="en" sz="1200">
                <a:solidFill>
                  <a:schemeClr val="dk1"/>
                </a:solidFill>
                <a:latin typeface="Lora"/>
                <a:ea typeface="Lora"/>
                <a:cs typeface="Lora"/>
                <a:sym typeface="Lora"/>
              </a:rPr>
              <a:t>LangGraph Platform</a:t>
            </a:r>
            <a:r>
              <a:rPr i="1" lang="en" sz="1200">
                <a:solidFill>
                  <a:schemeClr val="dk1"/>
                </a:solidFill>
                <a:latin typeface="Lora"/>
                <a:ea typeface="Lora"/>
                <a:cs typeface="Lora"/>
                <a:sym typeface="Lora"/>
              </a:rPr>
              <a:t>.</a:t>
            </a:r>
            <a:endParaRPr i="1" sz="1200">
              <a:solidFill>
                <a:schemeClr val="dk1"/>
              </a:solidFill>
              <a:latin typeface="Lora"/>
              <a:ea typeface="Lora"/>
              <a:cs typeface="Lora"/>
              <a:sym typeface="Lora"/>
            </a:endParaRPr>
          </a:p>
        </p:txBody>
      </p:sp>
      <p:pic>
        <p:nvPicPr>
          <p:cNvPr id="161" name="Google Shape;161;p23"/>
          <p:cNvPicPr preferRelativeResize="0"/>
          <p:nvPr/>
        </p:nvPicPr>
        <p:blipFill>
          <a:blip r:embed="rId3">
            <a:alphaModFix/>
          </a:blip>
          <a:stretch>
            <a:fillRect/>
          </a:stretch>
        </p:blipFill>
        <p:spPr>
          <a:xfrm>
            <a:off x="3563500" y="854425"/>
            <a:ext cx="5580501" cy="37492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4"/>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67" name="Google Shape;167;p24"/>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a:t>
            </a:r>
            <a:r>
              <a:rPr lang="en" sz="2200"/>
              <a:t>A Framework for LLM Applications</a:t>
            </a:r>
            <a:endParaRPr sz="2200">
              <a:latin typeface="Lora"/>
              <a:ea typeface="Lora"/>
              <a:cs typeface="Lora"/>
              <a:sym typeface="Lora"/>
            </a:endParaRPr>
          </a:p>
        </p:txBody>
      </p:sp>
      <p:pic>
        <p:nvPicPr>
          <p:cNvPr id="168" name="Google Shape;168;p24"/>
          <p:cNvPicPr preferRelativeResize="0"/>
          <p:nvPr/>
        </p:nvPicPr>
        <p:blipFill>
          <a:blip r:embed="rId3">
            <a:alphaModFix/>
          </a:blip>
          <a:stretch>
            <a:fillRect/>
          </a:stretch>
        </p:blipFill>
        <p:spPr>
          <a:xfrm>
            <a:off x="3563500" y="854425"/>
            <a:ext cx="5580501" cy="3749275"/>
          </a:xfrm>
          <a:prstGeom prst="rect">
            <a:avLst/>
          </a:prstGeom>
          <a:noFill/>
          <a:ln>
            <a:noFill/>
          </a:ln>
        </p:spPr>
      </p:pic>
      <p:sp>
        <p:nvSpPr>
          <p:cNvPr id="169" name="Google Shape;169;p24"/>
          <p:cNvSpPr txBox="1"/>
          <p:nvPr/>
        </p:nvSpPr>
        <p:spPr>
          <a:xfrm>
            <a:off x="443225" y="970100"/>
            <a:ext cx="3204300" cy="295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LangChain provides modular components for building LLM applications: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Core components: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Models</a:t>
            </a:r>
            <a:r>
              <a:rPr i="1" lang="en" sz="1200">
                <a:solidFill>
                  <a:schemeClr val="dk1"/>
                </a:solidFill>
                <a:latin typeface="Lora"/>
                <a:ea typeface="Lora"/>
                <a:cs typeface="Lora"/>
                <a:sym typeface="Lora"/>
              </a:rPr>
              <a:t>: Interface with various LLMs (OpenAI, Anthropic, local models)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Prompts</a:t>
            </a:r>
            <a:r>
              <a:rPr i="1" lang="en" sz="1200">
                <a:solidFill>
                  <a:schemeClr val="dk1"/>
                </a:solidFill>
                <a:latin typeface="Lora"/>
                <a:ea typeface="Lora"/>
                <a:cs typeface="Lora"/>
                <a:sym typeface="Lora"/>
              </a:rPr>
              <a:t>: Template management and prompt engineering</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Output Parsers</a:t>
            </a:r>
            <a:r>
              <a:rPr i="1" lang="en" sz="1200">
                <a:solidFill>
                  <a:schemeClr val="dk1"/>
                </a:solidFill>
                <a:latin typeface="Lora"/>
                <a:ea typeface="Lora"/>
                <a:cs typeface="Lora"/>
                <a:sym typeface="Lora"/>
              </a:rPr>
              <a:t>: Structure LLM outputs into usable formats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Memory</a:t>
            </a:r>
            <a:r>
              <a:rPr i="1" lang="en" sz="1200">
                <a:solidFill>
                  <a:schemeClr val="dk1"/>
                </a:solidFill>
                <a:latin typeface="Lora"/>
                <a:ea typeface="Lora"/>
                <a:cs typeface="Lora"/>
                <a:sym typeface="Lora"/>
              </a:rPr>
              <a:t>: Maintain conversation history and context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Chains</a:t>
            </a:r>
            <a:r>
              <a:rPr i="1" lang="en" sz="1200">
                <a:solidFill>
                  <a:schemeClr val="dk1"/>
                </a:solidFill>
                <a:latin typeface="Lora"/>
                <a:ea typeface="Lora"/>
                <a:cs typeface="Lora"/>
                <a:sym typeface="Lora"/>
              </a:rPr>
              <a:t>: Combine components into reusable pipelines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Agents</a:t>
            </a:r>
            <a:r>
              <a:rPr i="1" lang="en" sz="1200">
                <a:solidFill>
                  <a:schemeClr val="dk1"/>
                </a:solidFill>
                <a:latin typeface="Lora"/>
                <a:ea typeface="Lora"/>
                <a:cs typeface="Lora"/>
                <a:sym typeface="Lora"/>
              </a:rPr>
              <a:t>: Enable LLMs to reason and use tools</a:t>
            </a:r>
            <a:endParaRPr i="1" sz="1200">
              <a:solidFill>
                <a:schemeClr val="dk1"/>
              </a:solidFill>
              <a:latin typeface="Lora"/>
              <a:ea typeface="Lora"/>
              <a:cs typeface="Lora"/>
              <a:sym typeface="Lor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5"/>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75" name="Google Shape;175;p25"/>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Basic use cases</a:t>
            </a:r>
            <a:endParaRPr sz="2200">
              <a:latin typeface="Lora"/>
              <a:ea typeface="Lora"/>
              <a:cs typeface="Lora"/>
              <a:sym typeface="Lora"/>
            </a:endParaRPr>
          </a:p>
        </p:txBody>
      </p:sp>
      <p:sp>
        <p:nvSpPr>
          <p:cNvPr id="176" name="Google Shape;176;p25"/>
          <p:cNvSpPr/>
          <p:nvPr/>
        </p:nvSpPr>
        <p:spPr>
          <a:xfrm>
            <a:off x="436350" y="1303226"/>
            <a:ext cx="3508200" cy="3203700"/>
          </a:xfrm>
          <a:prstGeom prst="roundRect">
            <a:avLst>
              <a:gd fmla="val 13698"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llms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OpenAI</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prompts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PromptTemplate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chains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LLMChain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OpenAI</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temperature</a:t>
            </a:r>
            <a:r>
              <a:rPr b="1" lang="en" sz="1100">
                <a:solidFill>
                  <a:srgbClr val="EE11FF"/>
                </a:solidFill>
                <a:latin typeface="Roboto Mono"/>
                <a:ea typeface="Roboto Mono"/>
                <a:cs typeface="Roboto Mono"/>
                <a:sym typeface="Roboto Mono"/>
              </a:rPr>
              <a:t>=</a:t>
            </a:r>
            <a:r>
              <a:rPr lang="en" sz="1100">
                <a:solidFill>
                  <a:srgbClr val="106040"/>
                </a:solidFill>
                <a:latin typeface="Roboto Mono"/>
                <a:ea typeface="Roboto Mono"/>
                <a:cs typeface="Roboto Mono"/>
                <a:sym typeface="Roboto Mono"/>
              </a:rPr>
              <a:t>0.7</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prompt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input_variables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"topic"</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template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"Write a short paragraph about {topic}."</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LLMChain</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prompt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Output </a:t>
            </a:r>
            <a:r>
              <a:rPr b="1" lang="en" sz="1100">
                <a:solidFill>
                  <a:srgbClr val="EE11FF"/>
                </a:solidFill>
                <a:latin typeface="Roboto Mono"/>
                <a:ea typeface="Roboto Mono"/>
                <a:cs typeface="Roboto Mono"/>
                <a:sym typeface="Roboto Mono"/>
              </a:rPr>
              <a:t>=</a:t>
            </a:r>
            <a:r>
              <a:rPr lang="en" sz="1100">
                <a:solidFill>
                  <a:schemeClr val="dk1"/>
                </a:solidFill>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chain</a:t>
            </a:r>
            <a:r>
              <a:rPr lang="en" sz="1100">
                <a:solidFill>
                  <a:schemeClr val="dk1"/>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"AI"</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
        <p:nvSpPr>
          <p:cNvPr id="177" name="Google Shape;177;p25"/>
          <p:cNvSpPr txBox="1"/>
          <p:nvPr/>
        </p:nvSpPr>
        <p:spPr>
          <a:xfrm>
            <a:off x="436350" y="728250"/>
            <a:ext cx="3204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See how easy it is to create a chatbot compared to the code from yesterday!</a:t>
            </a:r>
            <a:endParaRPr i="1" sz="1200">
              <a:solidFill>
                <a:schemeClr val="dk1"/>
              </a:solidFill>
              <a:latin typeface="Lora"/>
              <a:ea typeface="Lora"/>
              <a:cs typeface="Lora"/>
              <a:sym typeface="Lora"/>
            </a:endParaRPr>
          </a:p>
        </p:txBody>
      </p:sp>
      <p:sp>
        <p:nvSpPr>
          <p:cNvPr id="178" name="Google Shape;178;p25"/>
          <p:cNvSpPr/>
          <p:nvPr/>
        </p:nvSpPr>
        <p:spPr>
          <a:xfrm>
            <a:off x="4211575" y="163175"/>
            <a:ext cx="4596900" cy="4343700"/>
          </a:xfrm>
          <a:prstGeom prst="roundRect">
            <a:avLst>
              <a:gd fmla="val 10083"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chat_models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ChatOpenAI</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prompts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ChatPromptTemplate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a chat model</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chat_model</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ChatOpenAI</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temperature</a:t>
            </a:r>
            <a:r>
              <a:rPr b="1" lang="en" sz="1100">
                <a:solidFill>
                  <a:srgbClr val="EE11FF"/>
                </a:solidFill>
                <a:latin typeface="Roboto Mono"/>
                <a:ea typeface="Roboto Mono"/>
                <a:cs typeface="Roboto Mono"/>
                <a:sym typeface="Roboto Mono"/>
              </a:rPr>
              <a:t>=</a:t>
            </a:r>
            <a:r>
              <a:rPr lang="en" sz="1100">
                <a:solidFill>
                  <a:srgbClr val="106040"/>
                </a:solidFill>
                <a:latin typeface="Roboto Mono"/>
                <a:ea typeface="Roboto Mono"/>
                <a:cs typeface="Roboto Mono"/>
                <a:sym typeface="Roboto Mono"/>
              </a:rPr>
              <a:t>0.3</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a chat prompt template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chat_prompt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ChatPromptTemplate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from_messages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"system"</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"You are a helpful assistant specializing in {domain}."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"human"</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"Can you explain {concept} in simple terms?"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Format the prompt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formatted_prompt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chat_prompt</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format_messages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domain</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"machine learning"</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concept</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"neural networks"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Get response from model</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response</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chat_model</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invoke</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formatted_prompt</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
        <p:nvSpPr>
          <p:cNvPr id="179" name="Google Shape;179;p25"/>
          <p:cNvSpPr txBox="1"/>
          <p:nvPr/>
        </p:nvSpPr>
        <p:spPr>
          <a:xfrm>
            <a:off x="1945700" y="4740275"/>
            <a:ext cx="48159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Don’t take this as ground truth! The library changes all the time!!!</a:t>
            </a:r>
            <a:endParaRPr i="1" sz="1200">
              <a:solidFill>
                <a:schemeClr val="dk1"/>
              </a:solidFill>
              <a:latin typeface="Lora"/>
              <a:ea typeface="Lora"/>
              <a:cs typeface="Lora"/>
              <a:sym typeface="Lor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6"/>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85" name="Google Shape;185;p26"/>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Chains</a:t>
            </a:r>
            <a:endParaRPr sz="2200">
              <a:latin typeface="Lora"/>
              <a:ea typeface="Lora"/>
              <a:cs typeface="Lora"/>
              <a:sym typeface="Lora"/>
            </a:endParaRPr>
          </a:p>
        </p:txBody>
      </p:sp>
      <p:sp>
        <p:nvSpPr>
          <p:cNvPr id="186" name="Google Shape;186;p26"/>
          <p:cNvSpPr txBox="1"/>
          <p:nvPr/>
        </p:nvSpPr>
        <p:spPr>
          <a:xfrm>
            <a:off x="443225" y="970100"/>
            <a:ext cx="37209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Chains connect multiple components into workflows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Common chain types: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LLMChain</a:t>
            </a:r>
            <a:r>
              <a:rPr i="1" lang="en" sz="1200">
                <a:solidFill>
                  <a:schemeClr val="dk1"/>
                </a:solidFill>
                <a:latin typeface="Lora"/>
                <a:ea typeface="Lora"/>
                <a:cs typeface="Lora"/>
                <a:sym typeface="Lora"/>
              </a:rPr>
              <a:t>: Basic prompt → LLM → output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SequentialChain</a:t>
            </a:r>
            <a:r>
              <a:rPr i="1" lang="en" sz="1200">
                <a:solidFill>
                  <a:schemeClr val="dk1"/>
                </a:solidFill>
                <a:latin typeface="Lora"/>
                <a:ea typeface="Lora"/>
                <a:cs typeface="Lora"/>
                <a:sym typeface="Lora"/>
              </a:rPr>
              <a:t>: Output of one chain becomes input to next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RouterChain</a:t>
            </a:r>
            <a:r>
              <a:rPr i="1" lang="en" sz="1200">
                <a:solidFill>
                  <a:schemeClr val="dk1"/>
                </a:solidFill>
                <a:latin typeface="Lora"/>
                <a:ea typeface="Lora"/>
                <a:cs typeface="Lora"/>
                <a:sym typeface="Lora"/>
              </a:rPr>
              <a:t>: Directs inputs to specialized chains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Custom chains for complex logic and processing</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Chain composition for modular application design</a:t>
            </a:r>
            <a:endParaRPr i="1" sz="1200">
              <a:solidFill>
                <a:schemeClr val="dk1"/>
              </a:solidFill>
              <a:latin typeface="Lora"/>
              <a:ea typeface="Lora"/>
              <a:cs typeface="Lora"/>
              <a:sym typeface="Lora"/>
            </a:endParaRPr>
          </a:p>
        </p:txBody>
      </p:sp>
      <p:sp>
        <p:nvSpPr>
          <p:cNvPr id="187" name="Google Shape;187;p26"/>
          <p:cNvSpPr/>
          <p:nvPr/>
        </p:nvSpPr>
        <p:spPr>
          <a:xfrm>
            <a:off x="4164125" y="259875"/>
            <a:ext cx="4814700" cy="43638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chains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SimpleSequentialChain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First chain generates a topic</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first_chain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LLMChain</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input_variables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"subject"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template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"Generate a specific topic about {subject}:"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Second chain writes content about that topic</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second_chain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LLMChain</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input_variables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"topic"</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template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"Write a paragraph about {topic}:"</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Combine chains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overall_chain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SimpleSequentialChain</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chains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first_chain</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second_chain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overall_chain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"artificial intelligence"</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7"/>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193" name="Google Shape;193;p27"/>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Chains</a:t>
            </a:r>
            <a:endParaRPr sz="2200">
              <a:latin typeface="Lora"/>
              <a:ea typeface="Lora"/>
              <a:cs typeface="Lora"/>
              <a:sym typeface="Lora"/>
            </a:endParaRPr>
          </a:p>
        </p:txBody>
      </p:sp>
      <p:pic>
        <p:nvPicPr>
          <p:cNvPr id="194" name="Google Shape;194;p27"/>
          <p:cNvPicPr preferRelativeResize="0"/>
          <p:nvPr/>
        </p:nvPicPr>
        <p:blipFill>
          <a:blip r:embed="rId3">
            <a:alphaModFix/>
          </a:blip>
          <a:stretch>
            <a:fillRect/>
          </a:stretch>
        </p:blipFill>
        <p:spPr>
          <a:xfrm>
            <a:off x="152400" y="2571749"/>
            <a:ext cx="8839204" cy="2050108"/>
          </a:xfrm>
          <a:prstGeom prst="rect">
            <a:avLst/>
          </a:prstGeom>
          <a:noFill/>
          <a:ln>
            <a:noFill/>
          </a:ln>
        </p:spPr>
      </p:pic>
      <p:pic>
        <p:nvPicPr>
          <p:cNvPr id="195" name="Google Shape;195;p27"/>
          <p:cNvPicPr preferRelativeResize="0"/>
          <p:nvPr/>
        </p:nvPicPr>
        <p:blipFill>
          <a:blip r:embed="rId4">
            <a:alphaModFix/>
          </a:blip>
          <a:stretch>
            <a:fillRect/>
          </a:stretch>
        </p:blipFill>
        <p:spPr>
          <a:xfrm>
            <a:off x="152400" y="933899"/>
            <a:ext cx="8839204" cy="14113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8"/>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1" name="Google Shape;201;p28"/>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LangChain: Chains - Router Chain</a:t>
            </a:r>
            <a:endParaRPr sz="2200">
              <a:latin typeface="Lora"/>
              <a:ea typeface="Lora"/>
              <a:cs typeface="Lora"/>
              <a:sym typeface="Lora"/>
            </a:endParaRPr>
          </a:p>
        </p:txBody>
      </p:sp>
      <p:sp>
        <p:nvSpPr>
          <p:cNvPr id="202" name="Google Shape;202;p28"/>
          <p:cNvSpPr/>
          <p:nvPr/>
        </p:nvSpPr>
        <p:spPr>
          <a:xfrm>
            <a:off x="779600" y="824400"/>
            <a:ext cx="8026500" cy="3887400"/>
          </a:xfrm>
          <a:prstGeom prst="roundRect">
            <a:avLst>
              <a:gd fmla="val 8715"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default_</a:t>
            </a:r>
            <a:r>
              <a:rPr lang="en" sz="1100">
                <a:solidFill>
                  <a:srgbClr val="1AB1CD"/>
                </a:solidFill>
                <a:latin typeface="Roboto Mono"/>
                <a:ea typeface="Roboto Mono"/>
                <a:cs typeface="Roboto Mono"/>
                <a:sym typeface="Roboto Mono"/>
              </a:rPr>
              <a:t>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LLMChain</a:t>
            </a:r>
            <a:r>
              <a:rPr lang="en" sz="1100">
                <a:latin typeface="Roboto Mono"/>
                <a:ea typeface="Roboto Mono"/>
                <a:cs typeface="Roboto Mono"/>
                <a:sym typeface="Roboto Mono"/>
              </a:rPr>
              <a:t>( # Make three of these! You need the math, history and default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template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"Answer the following question: {input}"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input_variables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"input"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Define router prompt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router_template</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"""Given a question, select the appropriate destination: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A01010"/>
                </a:solidFill>
                <a:latin typeface="Roboto Mono"/>
                <a:ea typeface="Roboto Mono"/>
                <a:cs typeface="Roboto Mono"/>
                <a:sym typeface="Roboto Mono"/>
              </a:rPr>
              <a:t>1. math - For questions about mathematics and related topics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A01010"/>
                </a:solidFill>
                <a:latin typeface="Roboto Mono"/>
                <a:ea typeface="Roboto Mono"/>
                <a:cs typeface="Roboto Mono"/>
                <a:sym typeface="Roboto Mono"/>
              </a:rPr>
              <a:t>2. history - For questions about historical topics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A01010"/>
                </a:solidFill>
                <a:latin typeface="Roboto Mono"/>
                <a:ea typeface="Roboto Mono"/>
                <a:cs typeface="Roboto Mono"/>
                <a:sym typeface="Roboto Mono"/>
              </a:rPr>
              <a:t>User question: {input}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A01010"/>
                </a:solidFill>
                <a:latin typeface="Roboto Mono"/>
                <a:ea typeface="Roboto Mono"/>
                <a:cs typeface="Roboto Mono"/>
                <a:sym typeface="Roboto Mono"/>
              </a:rPr>
              <a:t>Destination:"""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router_prompt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template</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router_template</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input_variables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"input"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router_chain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LLMRouterChain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from_llm</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router_prompt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MultiPromptChain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router_chain</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router_chain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destination_chains</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"math"</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math_chain</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"history"</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history_chain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default_chain</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default_chain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08" name="Google Shape;208;p29"/>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Output Parsers in LangChain</a:t>
            </a:r>
            <a:endParaRPr sz="2200">
              <a:latin typeface="Lora"/>
              <a:ea typeface="Lora"/>
              <a:cs typeface="Lora"/>
              <a:sym typeface="Lora"/>
            </a:endParaRPr>
          </a:p>
        </p:txBody>
      </p:sp>
      <p:sp>
        <p:nvSpPr>
          <p:cNvPr id="209" name="Google Shape;209;p29"/>
          <p:cNvSpPr txBox="1"/>
          <p:nvPr/>
        </p:nvSpPr>
        <p:spPr>
          <a:xfrm>
            <a:off x="443225" y="970100"/>
            <a:ext cx="8502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Output parsers convert LLM text responses into structured data</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Common parsers: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StringOutputParser</a:t>
            </a:r>
            <a:r>
              <a:rPr i="1" lang="en" sz="1200">
                <a:solidFill>
                  <a:schemeClr val="dk1"/>
                </a:solidFill>
                <a:latin typeface="Lora"/>
                <a:ea typeface="Lora"/>
                <a:cs typeface="Lora"/>
                <a:sym typeface="Lora"/>
              </a:rPr>
              <a:t>: Extracts plain text from LLM responses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CommaSeparatedListOutputParser</a:t>
            </a:r>
            <a:r>
              <a:rPr i="1" lang="en" sz="1200">
                <a:solidFill>
                  <a:schemeClr val="dk1"/>
                </a:solidFill>
                <a:latin typeface="Lora"/>
                <a:ea typeface="Lora"/>
                <a:cs typeface="Lora"/>
                <a:sym typeface="Lora"/>
              </a:rPr>
              <a:t>: Parses lists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JsonOutputParser</a:t>
            </a:r>
            <a:r>
              <a:rPr i="1" lang="en" sz="1200">
                <a:solidFill>
                  <a:schemeClr val="dk1"/>
                </a:solidFill>
                <a:latin typeface="Lora"/>
                <a:ea typeface="Lora"/>
                <a:cs typeface="Lora"/>
                <a:sym typeface="Lora"/>
              </a:rPr>
              <a:t>: Converts responses to JSON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PydanticOutputParser</a:t>
            </a:r>
            <a:r>
              <a:rPr i="1" lang="en" sz="1200">
                <a:solidFill>
                  <a:schemeClr val="dk1"/>
                </a:solidFill>
                <a:latin typeface="Lora"/>
                <a:ea typeface="Lora"/>
                <a:cs typeface="Lora"/>
                <a:sym typeface="Lora"/>
              </a:rPr>
              <a:t>: Maps to Pydantic models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Parser chaining for complex transformations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Error handling and retry mechanisms</a:t>
            </a:r>
            <a:endParaRPr i="1" sz="1200">
              <a:solidFill>
                <a:schemeClr val="dk1"/>
              </a:solidFill>
              <a:latin typeface="Lora"/>
              <a:ea typeface="Lora"/>
              <a:cs typeface="Lora"/>
              <a:sym typeface="Lora"/>
            </a:endParaRPr>
          </a:p>
        </p:txBody>
      </p:sp>
      <p:sp>
        <p:nvSpPr>
          <p:cNvPr id="210" name="Google Shape;210;p29"/>
          <p:cNvSpPr/>
          <p:nvPr/>
        </p:nvSpPr>
        <p:spPr>
          <a:xfrm>
            <a:off x="1863600" y="2632400"/>
            <a:ext cx="5416800" cy="14316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schema</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output_parser</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StrOutputParser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String output parser (most common)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string_parser</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StrOutputParser</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string_parser</a:t>
            </a:r>
            <a:endParaRPr sz="1100">
              <a:solidFill>
                <a:srgbClr val="1AB1CD"/>
              </a:solidFill>
              <a:latin typeface="Roboto Mono"/>
              <a:ea typeface="Roboto Mono"/>
              <a:cs typeface="Roboto Mono"/>
              <a:sym typeface="Roboto Mon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30"/>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16" name="Google Shape;216;p30"/>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Output Parsers in LangChain</a:t>
            </a:r>
            <a:endParaRPr sz="2200">
              <a:latin typeface="Lora"/>
              <a:ea typeface="Lora"/>
              <a:cs typeface="Lora"/>
              <a:sym typeface="Lora"/>
            </a:endParaRPr>
          </a:p>
        </p:txBody>
      </p:sp>
      <p:pic>
        <p:nvPicPr>
          <p:cNvPr id="217" name="Google Shape;217;p30" title="1739080492971.jpg"/>
          <p:cNvPicPr preferRelativeResize="0"/>
          <p:nvPr/>
        </p:nvPicPr>
        <p:blipFill>
          <a:blip r:embed="rId3">
            <a:alphaModFix/>
          </a:blip>
          <a:stretch>
            <a:fillRect/>
          </a:stretch>
        </p:blipFill>
        <p:spPr>
          <a:xfrm>
            <a:off x="1386274" y="796178"/>
            <a:ext cx="6129140" cy="4131327"/>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1"/>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23" name="Google Shape;223;p31"/>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Output Parsers in LangChain</a:t>
            </a:r>
            <a:endParaRPr sz="2200">
              <a:latin typeface="Lora"/>
              <a:ea typeface="Lora"/>
              <a:cs typeface="Lora"/>
              <a:sym typeface="Lora"/>
            </a:endParaRPr>
          </a:p>
        </p:txBody>
      </p:sp>
      <p:sp>
        <p:nvSpPr>
          <p:cNvPr id="224" name="Google Shape;224;p31"/>
          <p:cNvSpPr txBox="1"/>
          <p:nvPr/>
        </p:nvSpPr>
        <p:spPr>
          <a:xfrm>
            <a:off x="443225" y="970100"/>
            <a:ext cx="8502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Output parsers convert LLM text responses into structured data</a:t>
            </a:r>
            <a:endParaRPr i="1" sz="12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Common parsers: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StringOutputParser</a:t>
            </a:r>
            <a:r>
              <a:rPr i="1" lang="en" sz="1200">
                <a:solidFill>
                  <a:schemeClr val="dk1"/>
                </a:solidFill>
                <a:latin typeface="Lora"/>
                <a:ea typeface="Lora"/>
                <a:cs typeface="Lora"/>
                <a:sym typeface="Lora"/>
              </a:rPr>
              <a:t>: Extracts plain text from LLM responses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CommaSeparatedListOutputParser</a:t>
            </a:r>
            <a:r>
              <a:rPr i="1" lang="en" sz="1200">
                <a:solidFill>
                  <a:schemeClr val="dk1"/>
                </a:solidFill>
                <a:latin typeface="Lora"/>
                <a:ea typeface="Lora"/>
                <a:cs typeface="Lora"/>
                <a:sym typeface="Lora"/>
              </a:rPr>
              <a:t>: Parses lists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JsonOutputParser</a:t>
            </a:r>
            <a:r>
              <a:rPr i="1" lang="en" sz="1200">
                <a:solidFill>
                  <a:schemeClr val="dk1"/>
                </a:solidFill>
                <a:latin typeface="Lora"/>
                <a:ea typeface="Lora"/>
                <a:cs typeface="Lora"/>
                <a:sym typeface="Lora"/>
              </a:rPr>
              <a:t>: Converts responses to JSON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PydanticOutputParser</a:t>
            </a:r>
            <a:r>
              <a:rPr i="1" lang="en" sz="1200">
                <a:solidFill>
                  <a:schemeClr val="dk1"/>
                </a:solidFill>
                <a:latin typeface="Lora"/>
                <a:ea typeface="Lora"/>
                <a:cs typeface="Lora"/>
                <a:sym typeface="Lora"/>
              </a:rPr>
              <a:t>: Maps to Pydantic models</a:t>
            </a:r>
            <a:endParaRPr i="1" sz="12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Parser chaining for complex transformations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Error handling and retry mechanisms</a:t>
            </a:r>
            <a:endParaRPr i="1" sz="1200">
              <a:solidFill>
                <a:schemeClr val="dk1"/>
              </a:solidFill>
              <a:latin typeface="Lora"/>
              <a:ea typeface="Lora"/>
              <a:cs typeface="Lora"/>
              <a:sym typeface="Lora"/>
            </a:endParaRPr>
          </a:p>
        </p:txBody>
      </p:sp>
      <p:sp>
        <p:nvSpPr>
          <p:cNvPr id="225" name="Google Shape;225;p31"/>
          <p:cNvSpPr/>
          <p:nvPr/>
        </p:nvSpPr>
        <p:spPr>
          <a:xfrm>
            <a:off x="1863600" y="2632400"/>
            <a:ext cx="5416800" cy="2152500"/>
          </a:xfrm>
          <a:prstGeom prst="roundRect">
            <a:avLst>
              <a:gd fmla="val 12316"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output_parsers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CommaSeparatedListOutputParser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list_parser</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CommaSeparatedListOutputParser</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list_chain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from_template</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"List 5 {topic} separated by commas:"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list_parser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fruits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list_chain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invoke</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"topic"</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"fruits"</a:t>
            </a:r>
            <a:r>
              <a:rPr lang="en" sz="1100">
                <a:latin typeface="Roboto Mono"/>
                <a:ea typeface="Roboto Mono"/>
                <a:cs typeface="Roboto Mono"/>
                <a:sym typeface="Roboto Mono"/>
              </a:rPr>
              <a:t>})  </a:t>
            </a:r>
            <a:r>
              <a:rPr i="1" lang="en" sz="1100">
                <a:solidFill>
                  <a:srgbClr val="A05000"/>
                </a:solidFill>
                <a:latin typeface="Roboto Mono"/>
                <a:ea typeface="Roboto Mono"/>
                <a:cs typeface="Roboto Mono"/>
                <a:sym typeface="Roboto Mono"/>
              </a:rPr>
              <a:t># Returns a Python list</a:t>
            </a:r>
            <a:endParaRPr i="1" sz="1100">
              <a:solidFill>
                <a:srgbClr val="A05000"/>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32"/>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1" name="Google Shape;231;p32"/>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Output Parsers in LangChain</a:t>
            </a:r>
            <a:endParaRPr sz="2200">
              <a:latin typeface="Lora"/>
              <a:ea typeface="Lora"/>
              <a:cs typeface="Lora"/>
              <a:sym typeface="Lora"/>
            </a:endParaRPr>
          </a:p>
        </p:txBody>
      </p:sp>
      <p:sp>
        <p:nvSpPr>
          <p:cNvPr id="232" name="Google Shape;232;p32"/>
          <p:cNvSpPr txBox="1"/>
          <p:nvPr/>
        </p:nvSpPr>
        <p:spPr>
          <a:xfrm>
            <a:off x="443225" y="970100"/>
            <a:ext cx="8502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Output parsers convert LLM text responses into structured data</a:t>
            </a:r>
            <a:endParaRPr i="1" sz="12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Common parsers: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StringOutputParser</a:t>
            </a:r>
            <a:r>
              <a:rPr i="1" lang="en" sz="1200">
                <a:solidFill>
                  <a:schemeClr val="dk1"/>
                </a:solidFill>
                <a:latin typeface="Lora"/>
                <a:ea typeface="Lora"/>
                <a:cs typeface="Lora"/>
                <a:sym typeface="Lora"/>
              </a:rPr>
              <a:t>: Extracts plain text from LLM responses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CommaSeparatedListOutputParser</a:t>
            </a:r>
            <a:r>
              <a:rPr i="1" lang="en" sz="1200">
                <a:solidFill>
                  <a:schemeClr val="dk1"/>
                </a:solidFill>
                <a:latin typeface="Lora"/>
                <a:ea typeface="Lora"/>
                <a:cs typeface="Lora"/>
                <a:sym typeface="Lora"/>
              </a:rPr>
              <a:t>: Parses lists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JsonOutputParser</a:t>
            </a:r>
            <a:r>
              <a:rPr i="1" lang="en" sz="1200">
                <a:solidFill>
                  <a:schemeClr val="dk1"/>
                </a:solidFill>
                <a:latin typeface="Lora"/>
                <a:ea typeface="Lora"/>
                <a:cs typeface="Lora"/>
                <a:sym typeface="Lora"/>
              </a:rPr>
              <a:t>: Converts responses to JSON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PydanticOutputParser</a:t>
            </a:r>
            <a:r>
              <a:rPr i="1" lang="en" sz="1200">
                <a:solidFill>
                  <a:schemeClr val="dk1"/>
                </a:solidFill>
                <a:latin typeface="Lora"/>
                <a:ea typeface="Lora"/>
                <a:cs typeface="Lora"/>
                <a:sym typeface="Lora"/>
              </a:rPr>
              <a:t>: Maps to Pydantic models</a:t>
            </a:r>
            <a:endParaRPr i="1" sz="1200">
              <a:solidFill>
                <a:schemeClr val="dk1"/>
              </a:solidFill>
              <a:latin typeface="Lora"/>
              <a:ea typeface="Lora"/>
              <a:cs typeface="Lora"/>
              <a:sym typeface="Lora"/>
            </a:endParaRPr>
          </a:p>
          <a:p>
            <a:pPr indent="0" lvl="0" marL="0" rtl="0" algn="l">
              <a:spcBef>
                <a:spcPts val="0"/>
              </a:spcBef>
              <a:spcAft>
                <a:spcPts val="0"/>
              </a:spcAft>
              <a:buClr>
                <a:schemeClr val="dk1"/>
              </a:buClr>
              <a:buSzPts val="1100"/>
              <a:buFont typeface="Arial"/>
              <a:buNone/>
            </a:pPr>
            <a:r>
              <a:rPr i="1" lang="en" sz="1200">
                <a:solidFill>
                  <a:schemeClr val="dk1"/>
                </a:solidFill>
                <a:latin typeface="Lora"/>
                <a:ea typeface="Lora"/>
                <a:cs typeface="Lora"/>
                <a:sym typeface="Lora"/>
              </a:rPr>
              <a:t>Parser chaining for complex transformations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Error handling and retry mechanisms</a:t>
            </a:r>
            <a:endParaRPr i="1" sz="1200">
              <a:solidFill>
                <a:schemeClr val="dk1"/>
              </a:solidFill>
              <a:latin typeface="Lora"/>
              <a:ea typeface="Lora"/>
              <a:cs typeface="Lora"/>
              <a:sym typeface="Lora"/>
            </a:endParaRPr>
          </a:p>
        </p:txBody>
      </p:sp>
      <p:sp>
        <p:nvSpPr>
          <p:cNvPr id="233" name="Google Shape;233;p32"/>
          <p:cNvSpPr/>
          <p:nvPr/>
        </p:nvSpPr>
        <p:spPr>
          <a:xfrm>
            <a:off x="1863600" y="2632400"/>
            <a:ext cx="5416800" cy="20244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langchain_core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output_parsers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JsonOutputParser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JSON 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json_parser</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JsonOutputParser</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json_chain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PromptTemplate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from_template</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"Generate JSON for {entity} with properties: {properties}"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json_parser</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3"/>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39" name="Google Shape;239;p33"/>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Memory in LangChain</a:t>
            </a:r>
            <a:endParaRPr sz="2200">
              <a:latin typeface="Lora"/>
              <a:ea typeface="Lora"/>
              <a:cs typeface="Lora"/>
              <a:sym typeface="Lora"/>
            </a:endParaRPr>
          </a:p>
        </p:txBody>
      </p:sp>
      <p:sp>
        <p:nvSpPr>
          <p:cNvPr id="240" name="Google Shape;240;p33"/>
          <p:cNvSpPr txBox="1"/>
          <p:nvPr/>
        </p:nvSpPr>
        <p:spPr>
          <a:xfrm>
            <a:off x="443225" y="970100"/>
            <a:ext cx="8502300" cy="1662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Memory components store conversation history and context</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Use </a:t>
            </a:r>
            <a:r>
              <a:rPr b="1" i="1" lang="en" sz="1200">
                <a:solidFill>
                  <a:schemeClr val="dk1"/>
                </a:solidFill>
                <a:latin typeface="Lora"/>
                <a:ea typeface="Lora"/>
                <a:cs typeface="Lora"/>
                <a:sym typeface="Lora"/>
              </a:rPr>
              <a:t>ConversationChain</a:t>
            </a:r>
            <a:r>
              <a:rPr i="1" lang="en" sz="1200">
                <a:solidFill>
                  <a:schemeClr val="dk1"/>
                </a:solidFill>
                <a:latin typeface="Lora"/>
                <a:ea typeface="Lora"/>
                <a:cs typeface="Lora"/>
                <a:sym typeface="Lora"/>
              </a:rPr>
              <a:t>, to create a chain with memory.</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Types of memory: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ConversationBufferMemory</a:t>
            </a:r>
            <a:r>
              <a:rPr i="1" lang="en" sz="1200">
                <a:solidFill>
                  <a:schemeClr val="dk1"/>
                </a:solidFill>
                <a:latin typeface="Lora"/>
                <a:ea typeface="Lora"/>
                <a:cs typeface="Lora"/>
                <a:sym typeface="Lora"/>
              </a:rPr>
              <a:t>: Stores all interactions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ConversationSummaryMemory</a:t>
            </a:r>
            <a:r>
              <a:rPr i="1" lang="en" sz="1200">
                <a:solidFill>
                  <a:schemeClr val="dk1"/>
                </a:solidFill>
                <a:latin typeface="Lora"/>
                <a:ea typeface="Lora"/>
                <a:cs typeface="Lora"/>
                <a:sym typeface="Lora"/>
              </a:rPr>
              <a:t>: Summarizes past interactions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ConversationBufferWindowMemory</a:t>
            </a:r>
            <a:r>
              <a:rPr i="1" lang="en" sz="1200">
                <a:solidFill>
                  <a:schemeClr val="dk1"/>
                </a:solidFill>
                <a:latin typeface="Lora"/>
                <a:ea typeface="Lora"/>
                <a:cs typeface="Lora"/>
                <a:sym typeface="Lora"/>
              </a:rPr>
              <a:t>: Keeps last n interactions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Memory integration with chains and agents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Custom memory implementations for specific use cases</a:t>
            </a:r>
            <a:endParaRPr i="1" sz="1200">
              <a:solidFill>
                <a:schemeClr val="dk1"/>
              </a:solidFill>
              <a:latin typeface="Lora"/>
              <a:ea typeface="Lora"/>
              <a:cs typeface="Lora"/>
              <a:sym typeface="Lora"/>
            </a:endParaRPr>
          </a:p>
        </p:txBody>
      </p:sp>
      <p:sp>
        <p:nvSpPr>
          <p:cNvPr id="241" name="Google Shape;241;p33"/>
          <p:cNvSpPr/>
          <p:nvPr/>
        </p:nvSpPr>
        <p:spPr>
          <a:xfrm>
            <a:off x="1863600" y="2632400"/>
            <a:ext cx="5416800" cy="2024400"/>
          </a:xfrm>
          <a:prstGeom prst="roundRect">
            <a:avLst>
              <a:gd fmla="val 16667"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memory</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ConversationBufferMemory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chains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ConversationChain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memory</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ConversationBufferMemory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conversation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ConversationChain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memory</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memory</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verbose</a:t>
            </a:r>
            <a:r>
              <a:rPr b="1" lang="en" sz="1100">
                <a:solidFill>
                  <a:srgbClr val="EE11FF"/>
                </a:solidFill>
                <a:latin typeface="Roboto Mono"/>
                <a:ea typeface="Roboto Mono"/>
                <a:cs typeface="Roboto Mono"/>
                <a:sym typeface="Roboto Mono"/>
              </a:rPr>
              <a:t>=</a:t>
            </a:r>
            <a:r>
              <a:rPr b="1" lang="en" sz="1100">
                <a:solidFill>
                  <a:srgbClr val="700080"/>
                </a:solidFill>
                <a:latin typeface="Roboto Mono"/>
                <a:ea typeface="Roboto Mono"/>
                <a:cs typeface="Roboto Mono"/>
                <a:sym typeface="Roboto Mono"/>
              </a:rPr>
              <a:t>True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conversation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predict</a:t>
            </a:r>
            <a:r>
              <a:rPr lang="en" sz="1100">
                <a:latin typeface="Roboto Mono"/>
                <a:ea typeface="Roboto Mono"/>
                <a:cs typeface="Roboto Mono"/>
                <a:sym typeface="Roboto Mono"/>
              </a:rPr>
              <a:t>(</a:t>
            </a:r>
            <a:r>
              <a:rPr lang="en" sz="1100">
                <a:solidFill>
                  <a:srgbClr val="3000A0"/>
                </a:solidFill>
                <a:latin typeface="Roboto Mono"/>
                <a:ea typeface="Roboto Mono"/>
                <a:cs typeface="Roboto Mono"/>
                <a:sym typeface="Roboto Mono"/>
              </a:rPr>
              <a:t>input</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"Hi, my name is Bob"</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conversation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predict</a:t>
            </a:r>
            <a:r>
              <a:rPr lang="en" sz="1100">
                <a:latin typeface="Roboto Mono"/>
                <a:ea typeface="Roboto Mono"/>
                <a:cs typeface="Roboto Mono"/>
                <a:sym typeface="Roboto Mono"/>
              </a:rPr>
              <a:t>(</a:t>
            </a:r>
            <a:r>
              <a:rPr lang="en" sz="1100">
                <a:solidFill>
                  <a:srgbClr val="3000A0"/>
                </a:solidFill>
                <a:latin typeface="Roboto Mono"/>
                <a:ea typeface="Roboto Mono"/>
                <a:cs typeface="Roboto Mono"/>
                <a:sym typeface="Roboto Mono"/>
              </a:rPr>
              <a:t>input</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"What's my name?"</a:t>
            </a:r>
            <a:r>
              <a:rPr lang="en" sz="1100">
                <a:latin typeface="Roboto Mono"/>
                <a:ea typeface="Roboto Mono"/>
                <a:cs typeface="Roboto Mono"/>
                <a:sym typeface="Roboto Mono"/>
              </a:rPr>
              <a:t>)  </a:t>
            </a:r>
            <a:r>
              <a:rPr i="1" lang="en" sz="1100">
                <a:solidFill>
                  <a:srgbClr val="A05000"/>
                </a:solidFill>
                <a:latin typeface="Roboto Mono"/>
                <a:ea typeface="Roboto Mono"/>
                <a:cs typeface="Roboto Mono"/>
                <a:sym typeface="Roboto Mono"/>
              </a:rPr>
              <a:t># Should remember "Bob"</a:t>
            </a:r>
            <a:endParaRPr sz="1100">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47" name="Google Shape;247;p34"/>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Question Answering with LangChain</a:t>
            </a:r>
            <a:endParaRPr sz="2200">
              <a:latin typeface="Lora"/>
              <a:ea typeface="Lora"/>
              <a:cs typeface="Lora"/>
              <a:sym typeface="Lora"/>
            </a:endParaRPr>
          </a:p>
        </p:txBody>
      </p:sp>
      <p:sp>
        <p:nvSpPr>
          <p:cNvPr id="248" name="Google Shape;248;p34"/>
          <p:cNvSpPr txBox="1"/>
          <p:nvPr/>
        </p:nvSpPr>
        <p:spPr>
          <a:xfrm>
            <a:off x="443225" y="970100"/>
            <a:ext cx="38211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QA systems combine: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Document retrieval (vector stores)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Context augmentation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-&gt; Retrieval Augmented Generation (</a:t>
            </a:r>
            <a:r>
              <a:rPr b="1" i="1" lang="en" sz="1200">
                <a:solidFill>
                  <a:schemeClr val="dk1"/>
                </a:solidFill>
                <a:latin typeface="Lora"/>
                <a:ea typeface="Lora"/>
                <a:cs typeface="Lora"/>
                <a:sym typeface="Lora"/>
              </a:rPr>
              <a:t>RAG</a:t>
            </a:r>
            <a:r>
              <a:rPr i="1" lang="en" sz="1200">
                <a:solidFill>
                  <a:schemeClr val="dk1"/>
                </a:solidFill>
                <a:latin typeface="Lora"/>
                <a:ea typeface="Lora"/>
                <a:cs typeface="Lora"/>
                <a:sym typeface="Lora"/>
              </a:rPr>
              <a:t>)</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Types of QA chains: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RetrievalQA</a:t>
            </a:r>
            <a:r>
              <a:rPr i="1" lang="en" sz="1200">
                <a:solidFill>
                  <a:schemeClr val="dk1"/>
                </a:solidFill>
                <a:latin typeface="Lora"/>
                <a:ea typeface="Lora"/>
                <a:cs typeface="Lora"/>
                <a:sym typeface="Lora"/>
              </a:rPr>
              <a:t>: Simple document → answer</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ConversationalRetrievalChain</a:t>
            </a:r>
            <a:r>
              <a:rPr i="1" lang="en" sz="1200">
                <a:solidFill>
                  <a:schemeClr val="dk1"/>
                </a:solidFill>
                <a:latin typeface="Lora"/>
                <a:ea typeface="Lora"/>
                <a:cs typeface="Lora"/>
                <a:sym typeface="Lora"/>
              </a:rPr>
              <a:t>: Maintains conversation history</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Handling sources and citations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Optimizing for accuracy and relevance</a:t>
            </a:r>
            <a:endParaRPr i="1" sz="1200">
              <a:solidFill>
                <a:schemeClr val="dk1"/>
              </a:solidFill>
              <a:latin typeface="Lora"/>
              <a:ea typeface="Lora"/>
              <a:cs typeface="Lora"/>
              <a:sym typeface="Lora"/>
            </a:endParaRPr>
          </a:p>
        </p:txBody>
      </p:sp>
      <p:sp>
        <p:nvSpPr>
          <p:cNvPr id="249" name="Google Shape;249;p34"/>
          <p:cNvSpPr/>
          <p:nvPr/>
        </p:nvSpPr>
        <p:spPr>
          <a:xfrm>
            <a:off x="4572000" y="970100"/>
            <a:ext cx="4294200" cy="3543000"/>
          </a:xfrm>
          <a:prstGeom prst="roundRect">
            <a:avLst>
              <a:gd fmla="val 12523"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chains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RetrievalQA</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vectorstores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Chroma</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embeddings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OpenAIEmbeddings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vector store from documents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embeddings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OpenAIEmbeddings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vectorstore</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Chroma</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from_documents</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documents</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embeddings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QA chain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qa_chain</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RetrievalQA</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from_chain_type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chain_type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"stuff"</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retriever</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vectorstore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as_retriever</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Ask a question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qa_chain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"What is the capital of France?"</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35"/>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55" name="Google Shape;255;p35"/>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Introduction to React Agents</a:t>
            </a:r>
            <a:endParaRPr sz="2200">
              <a:latin typeface="Lora"/>
              <a:ea typeface="Lora"/>
              <a:cs typeface="Lora"/>
              <a:sym typeface="Lora"/>
            </a:endParaRPr>
          </a:p>
        </p:txBody>
      </p:sp>
      <p:sp>
        <p:nvSpPr>
          <p:cNvPr id="256" name="Google Shape;256;p35"/>
          <p:cNvSpPr txBox="1"/>
          <p:nvPr/>
        </p:nvSpPr>
        <p:spPr>
          <a:xfrm>
            <a:off x="443225" y="970100"/>
            <a:ext cx="3929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 sz="1200">
                <a:solidFill>
                  <a:schemeClr val="dk1"/>
                </a:solidFill>
                <a:latin typeface="Lora"/>
                <a:ea typeface="Lora"/>
                <a:cs typeface="Lora"/>
                <a:sym typeface="Lora"/>
              </a:rPr>
              <a:t>ReAct </a:t>
            </a:r>
            <a:r>
              <a:rPr i="1" lang="en" sz="1200">
                <a:solidFill>
                  <a:schemeClr val="dk1"/>
                </a:solidFill>
                <a:latin typeface="Lora"/>
                <a:ea typeface="Lora"/>
                <a:cs typeface="Lora"/>
                <a:sym typeface="Lora"/>
              </a:rPr>
              <a:t>= Reasoning + Acting</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Agents combine: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LLM </a:t>
            </a:r>
            <a:r>
              <a:rPr i="1" lang="en" sz="1200">
                <a:solidFill>
                  <a:schemeClr val="dk1"/>
                </a:solidFill>
                <a:latin typeface="Lora"/>
                <a:ea typeface="Lora"/>
                <a:cs typeface="Lora"/>
                <a:sym typeface="Lora"/>
              </a:rPr>
              <a:t>as the reasoning engine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Tools </a:t>
            </a:r>
            <a:r>
              <a:rPr i="1" lang="en" sz="1200">
                <a:solidFill>
                  <a:schemeClr val="dk1"/>
                </a:solidFill>
                <a:latin typeface="Lora"/>
                <a:ea typeface="Lora"/>
                <a:cs typeface="Lora"/>
                <a:sym typeface="Lora"/>
              </a:rPr>
              <a:t>for interacting with external systems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Planning and execution </a:t>
            </a:r>
            <a:r>
              <a:rPr b="1" i="1" lang="en" sz="1200">
                <a:solidFill>
                  <a:schemeClr val="dk1"/>
                </a:solidFill>
                <a:latin typeface="Lora"/>
                <a:ea typeface="Lora"/>
                <a:cs typeface="Lora"/>
                <a:sym typeface="Lora"/>
              </a:rPr>
              <a:t>loops</a:t>
            </a:r>
            <a:endParaRPr b="1"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Agent types in LangChain: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ReAct</a:t>
            </a:r>
            <a:r>
              <a:rPr i="1" lang="en" sz="1200">
                <a:solidFill>
                  <a:schemeClr val="dk1"/>
                </a:solidFill>
                <a:latin typeface="Lora"/>
                <a:ea typeface="Lora"/>
                <a:cs typeface="Lora"/>
                <a:sym typeface="Lora"/>
              </a:rPr>
              <a:t>: Reasoning and Acting</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Plan-and-Execute</a:t>
            </a:r>
            <a:r>
              <a:rPr i="1" lang="en" sz="1200">
                <a:solidFill>
                  <a:schemeClr val="dk1"/>
                </a:solidFill>
                <a:latin typeface="Lora"/>
                <a:ea typeface="Lora"/>
                <a:cs typeface="Lora"/>
                <a:sym typeface="Lora"/>
              </a:rPr>
              <a:t>: Planning followed by execution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ReflexionAgent</a:t>
            </a:r>
            <a:r>
              <a:rPr i="1" lang="en" sz="1200">
                <a:solidFill>
                  <a:schemeClr val="dk1"/>
                </a:solidFill>
                <a:latin typeface="Lora"/>
                <a:ea typeface="Lora"/>
                <a:cs typeface="Lora"/>
                <a:sym typeface="Lora"/>
              </a:rPr>
              <a:t>: Self-reflection capabilities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When to use agents vs. chains: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Many cases can be covered by both</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No exact answer</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Chains = simple, agents = complex</a:t>
            </a:r>
            <a:endParaRPr i="1" sz="1200">
              <a:solidFill>
                <a:schemeClr val="dk1"/>
              </a:solidFill>
              <a:latin typeface="Lora"/>
              <a:ea typeface="Lora"/>
              <a:cs typeface="Lora"/>
              <a:sym typeface="Lora"/>
            </a:endParaRPr>
          </a:p>
        </p:txBody>
      </p:sp>
      <p:sp>
        <p:nvSpPr>
          <p:cNvPr id="257" name="Google Shape;257;p35"/>
          <p:cNvSpPr/>
          <p:nvPr/>
        </p:nvSpPr>
        <p:spPr>
          <a:xfrm>
            <a:off x="4707525" y="970100"/>
            <a:ext cx="4158900" cy="3543000"/>
          </a:xfrm>
          <a:prstGeom prst="roundRect">
            <a:avLst>
              <a:gd fmla="val 12523"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agents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load_tools</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initialize_agent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AgentType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llms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OpenAI</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Load tools for the agent to use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tools</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load_tools</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"serpapi"</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"llm-math"</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Initialize ReAct 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initialize_agent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tools</a:t>
            </a: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AgentType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ZERO_SHOT_REACT_DESCRIPTION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verbose</a:t>
            </a:r>
            <a:r>
              <a:rPr b="1" lang="en" sz="1100">
                <a:solidFill>
                  <a:srgbClr val="EE11FF"/>
                </a:solidFill>
                <a:latin typeface="Roboto Mono"/>
                <a:ea typeface="Roboto Mono"/>
                <a:cs typeface="Roboto Mono"/>
                <a:sym typeface="Roboto Mono"/>
              </a:rPr>
              <a:t>=</a:t>
            </a:r>
            <a:r>
              <a:rPr b="1" lang="en" sz="1100">
                <a:solidFill>
                  <a:srgbClr val="700080"/>
                </a:solidFill>
                <a:latin typeface="Roboto Mono"/>
                <a:ea typeface="Roboto Mono"/>
                <a:cs typeface="Roboto Mono"/>
                <a:sym typeface="Roboto Mono"/>
              </a:rPr>
              <a:t>True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"What was the high temperature in SF yesterday? What is that number raised to the .023 power?"</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6"/>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63" name="Google Shape;263;p36"/>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Agent Reasoning Process</a:t>
            </a:r>
            <a:endParaRPr sz="2200">
              <a:latin typeface="Lora"/>
              <a:ea typeface="Lora"/>
              <a:cs typeface="Lora"/>
              <a:sym typeface="Lora"/>
            </a:endParaRPr>
          </a:p>
        </p:txBody>
      </p:sp>
      <p:pic>
        <p:nvPicPr>
          <p:cNvPr id="264" name="Google Shape;264;p36"/>
          <p:cNvPicPr preferRelativeResize="0"/>
          <p:nvPr/>
        </p:nvPicPr>
        <p:blipFill>
          <a:blip r:embed="rId3">
            <a:alphaModFix/>
          </a:blip>
          <a:stretch>
            <a:fillRect/>
          </a:stretch>
        </p:blipFill>
        <p:spPr>
          <a:xfrm>
            <a:off x="932050" y="1792450"/>
            <a:ext cx="6890752" cy="3127324"/>
          </a:xfrm>
          <a:prstGeom prst="rect">
            <a:avLst/>
          </a:prstGeom>
          <a:noFill/>
          <a:ln>
            <a:noFill/>
          </a:ln>
        </p:spPr>
      </p:pic>
      <p:sp>
        <p:nvSpPr>
          <p:cNvPr id="265" name="Google Shape;265;p36"/>
          <p:cNvSpPr txBox="1"/>
          <p:nvPr/>
        </p:nvSpPr>
        <p:spPr>
          <a:xfrm>
            <a:off x="436350" y="767350"/>
            <a:ext cx="39909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The </a:t>
            </a:r>
            <a:r>
              <a:rPr b="1" i="1" lang="en" sz="1200">
                <a:solidFill>
                  <a:schemeClr val="dk1"/>
                </a:solidFill>
                <a:latin typeface="Lora"/>
                <a:ea typeface="Lora"/>
                <a:cs typeface="Lora"/>
                <a:sym typeface="Lora"/>
              </a:rPr>
              <a:t>ReAct framework</a:t>
            </a:r>
            <a:r>
              <a:rPr i="1" lang="en" sz="1200">
                <a:solidFill>
                  <a:schemeClr val="dk1"/>
                </a:solidFill>
                <a:latin typeface="Lora"/>
                <a:ea typeface="Lora"/>
                <a:cs typeface="Lora"/>
                <a:sym typeface="Lora"/>
              </a:rPr>
              <a: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Thought</a:t>
            </a:r>
            <a:r>
              <a:rPr i="1" lang="en" sz="1200">
                <a:solidFill>
                  <a:schemeClr val="dk1"/>
                </a:solidFill>
                <a:latin typeface="Lora"/>
                <a:ea typeface="Lora"/>
                <a:cs typeface="Lora"/>
                <a:sym typeface="Lora"/>
              </a:rPr>
              <a:t>: Agent's internal reasoning process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Action</a:t>
            </a:r>
            <a:r>
              <a:rPr i="1" lang="en" sz="1200">
                <a:solidFill>
                  <a:schemeClr val="dk1"/>
                </a:solidFill>
                <a:latin typeface="Lora"/>
                <a:ea typeface="Lora"/>
                <a:cs typeface="Lora"/>
                <a:sym typeface="Lora"/>
              </a:rPr>
              <a:t>: Tool selection based on reasoning</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Observation</a:t>
            </a:r>
            <a:r>
              <a:rPr i="1" lang="en" sz="1200">
                <a:solidFill>
                  <a:schemeClr val="dk1"/>
                </a:solidFill>
                <a:latin typeface="Lora"/>
                <a:ea typeface="Lora"/>
                <a:cs typeface="Lora"/>
                <a:sym typeface="Lora"/>
              </a:rPr>
              <a:t>: Results from tool execution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b="1" i="1" lang="en" sz="1200">
                <a:solidFill>
                  <a:schemeClr val="dk1"/>
                </a:solidFill>
                <a:latin typeface="Lora"/>
                <a:ea typeface="Lora"/>
                <a:cs typeface="Lora"/>
                <a:sym typeface="Lora"/>
              </a:rPr>
              <a:t>Final Answer</a:t>
            </a:r>
            <a:r>
              <a:rPr i="1" lang="en" sz="1200">
                <a:solidFill>
                  <a:schemeClr val="dk1"/>
                </a:solidFill>
                <a:latin typeface="Lora"/>
                <a:ea typeface="Lora"/>
                <a:cs typeface="Lora"/>
                <a:sym typeface="Lora"/>
              </a:rPr>
              <a:t>: Conclusion after reasoning loop</a:t>
            </a:r>
            <a:endParaRPr i="1" sz="1200">
              <a:solidFill>
                <a:schemeClr val="dk1"/>
              </a:solidFill>
              <a:latin typeface="Lora"/>
              <a:ea typeface="Lora"/>
              <a:cs typeface="Lora"/>
              <a:sym typeface="Lor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7"/>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1" name="Google Shape;271;p37"/>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Agent Reasoning Process</a:t>
            </a:r>
            <a:endParaRPr sz="2200">
              <a:latin typeface="Lora"/>
              <a:ea typeface="Lora"/>
              <a:cs typeface="Lora"/>
              <a:sym typeface="Lora"/>
            </a:endParaRPr>
          </a:p>
        </p:txBody>
      </p:sp>
      <p:pic>
        <p:nvPicPr>
          <p:cNvPr id="272" name="Google Shape;272;p37"/>
          <p:cNvPicPr preferRelativeResize="0"/>
          <p:nvPr/>
        </p:nvPicPr>
        <p:blipFill>
          <a:blip r:embed="rId3">
            <a:alphaModFix/>
          </a:blip>
          <a:stretch>
            <a:fillRect/>
          </a:stretch>
        </p:blipFill>
        <p:spPr>
          <a:xfrm>
            <a:off x="152400" y="859775"/>
            <a:ext cx="8839199" cy="3620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8"/>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78" name="Google Shape;278;p38"/>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Building Custom Tools for Agents</a:t>
            </a:r>
            <a:endParaRPr sz="2200">
              <a:latin typeface="Lora"/>
              <a:ea typeface="Lora"/>
              <a:cs typeface="Lora"/>
              <a:sym typeface="Lora"/>
            </a:endParaRPr>
          </a:p>
        </p:txBody>
      </p:sp>
      <p:sp>
        <p:nvSpPr>
          <p:cNvPr id="279" name="Google Shape;279;p38"/>
          <p:cNvSpPr txBox="1"/>
          <p:nvPr/>
        </p:nvSpPr>
        <p:spPr>
          <a:xfrm>
            <a:off x="443225" y="970100"/>
            <a:ext cx="37980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Tools are functions that agents can use to interact with the world</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Creating custom tools: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Define tool functionality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Create descriptive docstrings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Implement error handling</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Tool categories: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Information retrieval</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Computation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API interaction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Database operations</a:t>
            </a:r>
            <a:endParaRPr i="1" sz="1200">
              <a:solidFill>
                <a:schemeClr val="dk1"/>
              </a:solidFill>
              <a:latin typeface="Lora"/>
              <a:ea typeface="Lora"/>
              <a:cs typeface="Lora"/>
              <a:sym typeface="Lora"/>
            </a:endParaRPr>
          </a:p>
        </p:txBody>
      </p:sp>
      <p:sp>
        <p:nvSpPr>
          <p:cNvPr id="280" name="Google Shape;280;p38"/>
          <p:cNvSpPr/>
          <p:nvPr/>
        </p:nvSpPr>
        <p:spPr>
          <a:xfrm>
            <a:off x="4707525" y="970100"/>
            <a:ext cx="4158900" cy="3543000"/>
          </a:xfrm>
          <a:prstGeom prst="roundRect">
            <a:avLst>
              <a:gd fmla="val 12523"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agents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a custom database tool</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def</a:t>
            </a:r>
            <a:r>
              <a:rPr lang="en" sz="1100">
                <a:latin typeface="Roboto Mono"/>
                <a:ea typeface="Roboto Mono"/>
                <a:cs typeface="Roboto Mono"/>
                <a:sym typeface="Roboto Mono"/>
              </a:rPr>
              <a:t> </a:t>
            </a:r>
            <a:r>
              <a:rPr lang="en" sz="1100">
                <a:solidFill>
                  <a:srgbClr val="0000F0"/>
                </a:solidFill>
                <a:latin typeface="Roboto Mono"/>
                <a:ea typeface="Roboto Mono"/>
                <a:cs typeface="Roboto Mono"/>
                <a:sym typeface="Roboto Mono"/>
              </a:rPr>
              <a:t>query_database</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query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"""Run SQL query on the customer database"""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i="1" lang="en" sz="1100">
                <a:solidFill>
                  <a:srgbClr val="A05000"/>
                </a:solidFill>
                <a:latin typeface="Roboto Mono"/>
                <a:ea typeface="Roboto Mono"/>
                <a:cs typeface="Roboto Mono"/>
                <a:sym typeface="Roboto Mono"/>
              </a:rPr>
              <a:t># Database connection code here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return</a:t>
            </a: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f"Query results: </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results</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db_tool</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name</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"CustomerDatabase"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description</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"Query customer information from the database. Input should be a SQL query."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func</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query_database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Add tools to 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initialize_agent</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db_tool</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AgentType</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ZERO_SHOT_REACT_DESCRIPTION</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39"/>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39"/>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Agent Types and Selection</a:t>
            </a:r>
            <a:endParaRPr sz="2200">
              <a:latin typeface="Lora"/>
              <a:ea typeface="Lora"/>
              <a:cs typeface="Lora"/>
              <a:sym typeface="Lora"/>
            </a:endParaRPr>
          </a:p>
        </p:txBody>
      </p:sp>
      <p:sp>
        <p:nvSpPr>
          <p:cNvPr id="287" name="Google Shape;287;p39"/>
          <p:cNvSpPr txBox="1"/>
          <p:nvPr/>
        </p:nvSpPr>
        <p:spPr>
          <a:xfrm>
            <a:off x="443225" y="970100"/>
            <a:ext cx="8502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Different agent architectures for different tasks: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ZERO_SHOT_REACT_DESCRIPTION: No examples, good for general tasks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CONVERSATIONAL_REACT_DESCRIPTION: Optimized for dialogue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STRUCTURED_CHAT_ZERO_SHOT_REACT_DESCRIPTION: For structured outputs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Selecting the right agent type: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Task complexity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Interaction pattern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Output structure requirements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Custom agent prompts for specialized behaviors</a:t>
            </a:r>
            <a:endParaRPr i="1" sz="1200">
              <a:solidFill>
                <a:schemeClr val="dk1"/>
              </a:solidFill>
              <a:latin typeface="Lora"/>
              <a:ea typeface="Lora"/>
              <a:cs typeface="Lora"/>
              <a:sym typeface="Lora"/>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0"/>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293" name="Google Shape;293;p40"/>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Stateful Agents with Memory</a:t>
            </a:r>
            <a:endParaRPr sz="2200">
              <a:latin typeface="Lora"/>
              <a:ea typeface="Lora"/>
              <a:cs typeface="Lora"/>
              <a:sym typeface="Lora"/>
            </a:endParaRPr>
          </a:p>
        </p:txBody>
      </p:sp>
      <p:sp>
        <p:nvSpPr>
          <p:cNvPr id="294" name="Google Shape;294;p40"/>
          <p:cNvSpPr txBox="1"/>
          <p:nvPr/>
        </p:nvSpPr>
        <p:spPr>
          <a:xfrm>
            <a:off x="443225" y="970100"/>
            <a:ext cx="37596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Maintaining context across interactions: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Short-term memory (conversation history)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Long-term memory (vector stores)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Memory types for agents: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ConversationBufferMemory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ConversationSummaryMemory</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VectorStoreMemory</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Think about:</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Implementing persistent storage for agent state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Handling context window limitations</a:t>
            </a:r>
            <a:endParaRPr i="1" sz="1200">
              <a:solidFill>
                <a:schemeClr val="dk1"/>
              </a:solidFill>
              <a:latin typeface="Lora"/>
              <a:ea typeface="Lora"/>
              <a:cs typeface="Lora"/>
              <a:sym typeface="Lora"/>
            </a:endParaRPr>
          </a:p>
        </p:txBody>
      </p:sp>
      <p:sp>
        <p:nvSpPr>
          <p:cNvPr id="295" name="Google Shape;295;p40"/>
          <p:cNvSpPr/>
          <p:nvPr/>
        </p:nvSpPr>
        <p:spPr>
          <a:xfrm>
            <a:off x="4507275" y="241950"/>
            <a:ext cx="4569900" cy="4542900"/>
          </a:xfrm>
          <a:prstGeom prst="roundRect">
            <a:avLst>
              <a:gd fmla="val 9452"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memory</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ConversationSummaryMemory</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agents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AgentExecutor</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create_react_agent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Memory with summarization to handle longer conversations</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memory</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ConversationSummaryMemory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memory_key</a:t>
            </a:r>
            <a:r>
              <a:rPr b="1" lang="en" sz="1100">
                <a:solidFill>
                  <a:srgbClr val="EE11FF"/>
                </a:solidFill>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"chat_history"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return_messages</a:t>
            </a:r>
            <a:r>
              <a:rPr b="1" lang="en" sz="1100">
                <a:solidFill>
                  <a:srgbClr val="EE11FF"/>
                </a:solidFill>
                <a:latin typeface="Roboto Mono"/>
                <a:ea typeface="Roboto Mono"/>
                <a:cs typeface="Roboto Mono"/>
                <a:sym typeface="Roboto Mono"/>
              </a:rPr>
              <a:t>=</a:t>
            </a:r>
            <a:r>
              <a:rPr b="1" lang="en" sz="1100">
                <a:solidFill>
                  <a:srgbClr val="700080"/>
                </a:solidFill>
                <a:latin typeface="Roboto Mono"/>
                <a:ea typeface="Roboto Mono"/>
                <a:cs typeface="Roboto Mono"/>
                <a:sym typeface="Roboto Mono"/>
              </a:rPr>
              <a:t>True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agent_executor</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AgentExecutor</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from_agent_and_tools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agent</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create_react_agent</a:t>
            </a:r>
            <a:r>
              <a:rPr lang="en" sz="1100">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tools</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prompt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tools</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tools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memory</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memory</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verbose</a:t>
            </a:r>
            <a:r>
              <a:rPr b="1" lang="en" sz="1100">
                <a:solidFill>
                  <a:srgbClr val="EE11FF"/>
                </a:solidFill>
                <a:latin typeface="Roboto Mono"/>
                <a:ea typeface="Roboto Mono"/>
                <a:cs typeface="Roboto Mono"/>
                <a:sym typeface="Roboto Mono"/>
              </a:rPr>
              <a:t>=</a:t>
            </a:r>
            <a:r>
              <a:rPr b="1" lang="en" sz="1100">
                <a:solidFill>
                  <a:srgbClr val="700080"/>
                </a:solidFill>
                <a:latin typeface="Roboto Mono"/>
                <a:ea typeface="Roboto Mono"/>
                <a:cs typeface="Roboto Mono"/>
                <a:sym typeface="Roboto Mono"/>
              </a:rPr>
              <a:t>True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First interaction</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agent_executor</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"My name is Alice"</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Later interaction - agent should remember the name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agent_executor</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r>
              <a:rPr lang="en" sz="1100">
                <a:solidFill>
                  <a:srgbClr val="A01010"/>
                </a:solidFill>
                <a:latin typeface="Roboto Mono"/>
                <a:ea typeface="Roboto Mono"/>
                <a:cs typeface="Roboto Mono"/>
                <a:sym typeface="Roboto Mono"/>
              </a:rPr>
              <a:t>"What's my name?"</a:t>
            </a: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1"/>
          <p:cNvSpPr txBox="1"/>
          <p:nvPr>
            <p:ph idx="12" type="sldNum"/>
          </p:nvPr>
        </p:nvSpPr>
        <p:spPr>
          <a:xfrm>
            <a:off x="70649" y="4784763"/>
            <a:ext cx="365700" cy="135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301" name="Google Shape;301;p41"/>
          <p:cNvSpPr txBox="1"/>
          <p:nvPr>
            <p:ph type="title"/>
          </p:nvPr>
        </p:nvSpPr>
        <p:spPr>
          <a:xfrm>
            <a:off x="503238" y="163174"/>
            <a:ext cx="8137500" cy="544200"/>
          </a:xfrm>
          <a:prstGeom prst="rect">
            <a:avLst/>
          </a:prstGeom>
          <a:noFill/>
          <a:ln>
            <a:noFill/>
          </a:ln>
        </p:spPr>
        <p:txBody>
          <a:bodyPr anchorCtr="0" anchor="b" bIns="0" lIns="0" spcFirstLastPara="1" rIns="0" wrap="square" tIns="0">
            <a:normAutofit/>
          </a:bodyPr>
          <a:lstStyle/>
          <a:p>
            <a:pPr indent="0" lvl="0" marL="0" rtl="0" algn="l">
              <a:lnSpc>
                <a:spcPct val="80000"/>
              </a:lnSpc>
              <a:spcBef>
                <a:spcPts val="0"/>
              </a:spcBef>
              <a:spcAft>
                <a:spcPts val="0"/>
              </a:spcAft>
              <a:buNone/>
            </a:pPr>
            <a:r>
              <a:rPr lang="en" sz="2200"/>
              <a:t>Advanced Agent Patterns (more tomorrow!)</a:t>
            </a:r>
            <a:endParaRPr sz="2200">
              <a:latin typeface="Lora"/>
              <a:ea typeface="Lora"/>
              <a:cs typeface="Lora"/>
              <a:sym typeface="Lora"/>
            </a:endParaRPr>
          </a:p>
        </p:txBody>
      </p:sp>
      <p:sp>
        <p:nvSpPr>
          <p:cNvPr id="302" name="Google Shape;302;p41"/>
          <p:cNvSpPr txBox="1"/>
          <p:nvPr/>
        </p:nvSpPr>
        <p:spPr>
          <a:xfrm>
            <a:off x="443225" y="970100"/>
            <a:ext cx="8502300" cy="184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chemeClr val="dk1"/>
                </a:solidFill>
                <a:latin typeface="Lora"/>
                <a:ea typeface="Lora"/>
                <a:cs typeface="Lora"/>
                <a:sym typeface="Lora"/>
              </a:rPr>
              <a:t>Multi-agent systems: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Specialized agents for different tasks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Agent collaboration and communication</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Self-critique and reflection:</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Agents evaluating their own performance</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Iterative improvement of responses</a:t>
            </a:r>
            <a:endParaRPr i="1" sz="1200">
              <a:solidFill>
                <a:schemeClr val="dk1"/>
              </a:solidFill>
              <a:latin typeface="Lora"/>
              <a:ea typeface="Lora"/>
              <a:cs typeface="Lora"/>
              <a:sym typeface="Lora"/>
            </a:endParaRPr>
          </a:p>
          <a:p>
            <a:pPr indent="0" lvl="0" marL="0" rtl="0" algn="l">
              <a:spcBef>
                <a:spcPts val="0"/>
              </a:spcBef>
              <a:spcAft>
                <a:spcPts val="0"/>
              </a:spcAft>
              <a:buNone/>
            </a:pPr>
            <a:r>
              <a:rPr i="1" lang="en" sz="1200">
                <a:solidFill>
                  <a:schemeClr val="dk1"/>
                </a:solidFill>
                <a:latin typeface="Lora"/>
                <a:ea typeface="Lora"/>
                <a:cs typeface="Lora"/>
                <a:sym typeface="Lora"/>
              </a:rPr>
              <a:t>Planning agents: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Breaking complex tasks into subtasks</a:t>
            </a:r>
            <a:endParaRPr i="1" sz="1200">
              <a:solidFill>
                <a:schemeClr val="dk1"/>
              </a:solidFill>
              <a:latin typeface="Lora"/>
              <a:ea typeface="Lora"/>
              <a:cs typeface="Lora"/>
              <a:sym typeface="Lora"/>
            </a:endParaRPr>
          </a:p>
          <a:p>
            <a:pPr indent="-304800" lvl="0" marL="457200" rtl="0" algn="l">
              <a:spcBef>
                <a:spcPts val="0"/>
              </a:spcBef>
              <a:spcAft>
                <a:spcPts val="0"/>
              </a:spcAft>
              <a:buClr>
                <a:schemeClr val="dk1"/>
              </a:buClr>
              <a:buSzPts val="1200"/>
              <a:buFont typeface="Lora"/>
              <a:buChar char="●"/>
            </a:pPr>
            <a:r>
              <a:rPr i="1" lang="en" sz="1200">
                <a:solidFill>
                  <a:schemeClr val="dk1"/>
                </a:solidFill>
                <a:latin typeface="Lora"/>
                <a:ea typeface="Lora"/>
                <a:cs typeface="Lora"/>
                <a:sym typeface="Lora"/>
              </a:rPr>
              <a:t>Managing execution of subtask sequence</a:t>
            </a:r>
            <a:endParaRPr i="1" sz="1200">
              <a:solidFill>
                <a:schemeClr val="dk1"/>
              </a:solidFill>
              <a:latin typeface="Lora"/>
              <a:ea typeface="Lora"/>
              <a:cs typeface="Lora"/>
              <a:sym typeface="Lora"/>
            </a:endParaRPr>
          </a:p>
        </p:txBody>
      </p:sp>
      <p:sp>
        <p:nvSpPr>
          <p:cNvPr id="303" name="Google Shape;303;p41"/>
          <p:cNvSpPr/>
          <p:nvPr/>
        </p:nvSpPr>
        <p:spPr>
          <a:xfrm>
            <a:off x="4707525" y="970100"/>
            <a:ext cx="4158900" cy="3543000"/>
          </a:xfrm>
          <a:prstGeom prst="roundRect">
            <a:avLst>
              <a:gd fmla="val 12523" name="adj"/>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Example of a planning 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b="1" lang="en" sz="1100">
                <a:solidFill>
                  <a:srgbClr val="700080"/>
                </a:solidFill>
                <a:latin typeface="Roboto Mono"/>
                <a:ea typeface="Roboto Mono"/>
                <a:cs typeface="Roboto Mono"/>
                <a:sym typeface="Roboto Mono"/>
              </a:rPr>
              <a:t>from</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langchain</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agents</a:t>
            </a:r>
            <a:r>
              <a:rPr lang="en" sz="1100">
                <a:latin typeface="Roboto Mono"/>
                <a:ea typeface="Roboto Mono"/>
                <a:cs typeface="Roboto Mono"/>
                <a:sym typeface="Roboto Mono"/>
              </a:rPr>
              <a:t> </a:t>
            </a:r>
            <a:r>
              <a:rPr b="1" lang="en" sz="1100">
                <a:solidFill>
                  <a:srgbClr val="700080"/>
                </a:solidFill>
                <a:latin typeface="Roboto Mono"/>
                <a:ea typeface="Roboto Mono"/>
                <a:cs typeface="Roboto Mono"/>
                <a:sym typeface="Roboto Mono"/>
              </a:rPr>
              <a:t>import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create_plan_and_execute_agent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Create a planning agent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planning_agent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create_plan_and_execute_agent</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llm</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llm</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tools</a:t>
            </a:r>
            <a:r>
              <a:rPr b="1" lang="en" sz="1100">
                <a:solidFill>
                  <a:srgbClr val="EE11FF"/>
                </a:solidFill>
                <a:latin typeface="Roboto Mono"/>
                <a:ea typeface="Roboto Mono"/>
                <a:cs typeface="Roboto Mono"/>
                <a:sym typeface="Roboto Mono"/>
              </a:rPr>
              <a:t>=</a:t>
            </a:r>
            <a:r>
              <a:rPr lang="en" sz="1100">
                <a:solidFill>
                  <a:srgbClr val="1AB1CD"/>
                </a:solidFill>
                <a:latin typeface="Roboto Mono"/>
                <a:ea typeface="Roboto Mono"/>
                <a:cs typeface="Roboto Mono"/>
                <a:sym typeface="Roboto Mono"/>
              </a:rPr>
              <a:t>tools</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verbose</a:t>
            </a:r>
            <a:r>
              <a:rPr b="1" lang="en" sz="1100">
                <a:solidFill>
                  <a:srgbClr val="EE11FF"/>
                </a:solidFill>
                <a:latin typeface="Roboto Mono"/>
                <a:ea typeface="Roboto Mono"/>
                <a:cs typeface="Roboto Mono"/>
                <a:sym typeface="Roboto Mono"/>
              </a:rPr>
              <a:t>=</a:t>
            </a:r>
            <a:r>
              <a:rPr b="1" lang="en" sz="1100">
                <a:solidFill>
                  <a:srgbClr val="700080"/>
                </a:solidFill>
                <a:latin typeface="Roboto Mono"/>
                <a:ea typeface="Roboto Mono"/>
                <a:cs typeface="Roboto Mono"/>
                <a:sym typeface="Roboto Mono"/>
              </a:rPr>
              <a:t>True</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i="1" lang="en" sz="1100">
                <a:solidFill>
                  <a:srgbClr val="A05000"/>
                </a:solidFill>
                <a:latin typeface="Roboto Mono"/>
                <a:ea typeface="Roboto Mono"/>
                <a:cs typeface="Roboto Mono"/>
                <a:sym typeface="Roboto Mono"/>
              </a:rPr>
              <a:t># Complex task requiring planning</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solidFill>
                  <a:srgbClr val="1AB1CD"/>
                </a:solidFill>
                <a:latin typeface="Roboto Mono"/>
                <a:ea typeface="Roboto Mono"/>
                <a:cs typeface="Roboto Mono"/>
                <a:sym typeface="Roboto Mono"/>
              </a:rPr>
              <a:t>result</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r>
              <a:rPr lang="en" sz="1100">
                <a:latin typeface="Roboto Mono"/>
                <a:ea typeface="Roboto Mono"/>
                <a:cs typeface="Roboto Mono"/>
                <a:sym typeface="Roboto Mono"/>
              </a:rPr>
              <a:t> </a:t>
            </a:r>
            <a:r>
              <a:rPr lang="en" sz="1100">
                <a:solidFill>
                  <a:srgbClr val="1AB1CD"/>
                </a:solidFill>
                <a:latin typeface="Roboto Mono"/>
                <a:ea typeface="Roboto Mono"/>
                <a:cs typeface="Roboto Mono"/>
                <a:sym typeface="Roboto Mono"/>
              </a:rPr>
              <a:t>planning_agent</a:t>
            </a:r>
            <a:r>
              <a:rPr lang="en" sz="1100">
                <a:latin typeface="Roboto Mono"/>
                <a:ea typeface="Roboto Mono"/>
                <a:cs typeface="Roboto Mono"/>
                <a:sym typeface="Roboto Mono"/>
              </a:rPr>
              <a:t>.</a:t>
            </a:r>
            <a:r>
              <a:rPr lang="en" sz="1100">
                <a:solidFill>
                  <a:srgbClr val="572000"/>
                </a:solidFill>
                <a:latin typeface="Roboto Mono"/>
                <a:ea typeface="Roboto Mono"/>
                <a:cs typeface="Roboto Mono"/>
                <a:sym typeface="Roboto Mono"/>
              </a:rPr>
              <a:t>run</a:t>
            </a:r>
            <a:r>
              <a:rPr lang="en" sz="1100">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"Create a comprehensive market analysis for electric vehicles. "</a:t>
            </a:r>
            <a:r>
              <a:rPr lang="en" sz="1100">
                <a:latin typeface="Roboto Mono"/>
                <a:ea typeface="Roboto Mono"/>
                <a:cs typeface="Roboto Mono"/>
                <a:sym typeface="Roboto Mono"/>
              </a:rPr>
              <a:t> </a:t>
            </a:r>
            <a:r>
              <a:rPr b="1" lang="en" sz="1100">
                <a:solidFill>
                  <a:srgbClr val="EE11FF"/>
                </a:solidFill>
                <a:latin typeface="Roboto Mono"/>
                <a:ea typeface="Roboto Mono"/>
                <a:cs typeface="Roboto Mono"/>
                <a:sym typeface="Roboto Mono"/>
              </a:rPr>
              <a: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    </a:t>
            </a:r>
            <a:r>
              <a:rPr lang="en" sz="1100">
                <a:solidFill>
                  <a:srgbClr val="A01010"/>
                </a:solidFill>
                <a:latin typeface="Roboto Mono"/>
                <a:ea typeface="Roboto Mono"/>
                <a:cs typeface="Roboto Mono"/>
                <a:sym typeface="Roboto Mono"/>
              </a:rPr>
              <a:t>"Include current market leaders, growth projections, and regulatory environment."</a:t>
            </a:r>
            <a:endParaRPr sz="1100">
              <a:latin typeface="Roboto Mono"/>
              <a:ea typeface="Roboto Mono"/>
              <a:cs typeface="Roboto Mono"/>
              <a:sym typeface="Roboto Mono"/>
            </a:endParaRPr>
          </a:p>
          <a:p>
            <a:pPr indent="0" lvl="0" marL="0" rtl="0" algn="l">
              <a:spcBef>
                <a:spcPts val="0"/>
              </a:spcBef>
              <a:spcAft>
                <a:spcPts val="0"/>
              </a:spcAft>
              <a:buClr>
                <a:schemeClr val="dk1"/>
              </a:buClr>
              <a:buSzPts val="1100"/>
              <a:buFont typeface="Arial"/>
              <a:buNone/>
            </a:pPr>
            <a:r>
              <a:rPr lang="en" sz="1100">
                <a:latin typeface="Roboto Mono"/>
                <a:ea typeface="Roboto Mono"/>
                <a:cs typeface="Roboto Mono"/>
                <a:sym typeface="Roboto Mono"/>
              </a:rPr>
              <a:t>)</a:t>
            </a:r>
            <a:endParaRPr sz="1100">
              <a:latin typeface="Roboto Mono"/>
              <a:ea typeface="Roboto Mono"/>
              <a:cs typeface="Roboto Mono"/>
              <a:sym typeface="Roboto Mon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2"/>
          <p:cNvSpPr txBox="1"/>
          <p:nvPr/>
        </p:nvSpPr>
        <p:spPr>
          <a:xfrm>
            <a:off x="356225" y="167400"/>
            <a:ext cx="8595900" cy="4432500"/>
          </a:xfrm>
          <a:prstGeom prst="rect">
            <a:avLst/>
          </a:prstGeom>
          <a:noFill/>
          <a:ln>
            <a:noFill/>
          </a:ln>
        </p:spPr>
        <p:txBody>
          <a:bodyPr anchorCtr="0" anchor="t" bIns="0" lIns="0" spcFirstLastPara="1" rIns="0" wrap="square" tIns="0">
            <a:spAutoFit/>
          </a:bodyPr>
          <a:lstStyle/>
          <a:p>
            <a:pPr indent="0" lvl="0" marL="0" marR="0" rtl="0" algn="l">
              <a:lnSpc>
                <a:spcPct val="139979"/>
              </a:lnSpc>
              <a:spcBef>
                <a:spcPts val="0"/>
              </a:spcBef>
              <a:spcAft>
                <a:spcPts val="0"/>
              </a:spcAft>
              <a:buClr>
                <a:srgbClr val="000000"/>
              </a:buClr>
              <a:buSzPts val="2400"/>
              <a:buFont typeface="Arial"/>
              <a:buNone/>
            </a:pPr>
            <a:r>
              <a:rPr lang="en" sz="2400">
                <a:solidFill>
                  <a:schemeClr val="dk1"/>
                </a:solidFill>
                <a:latin typeface="Lora"/>
                <a:ea typeface="Lora"/>
                <a:cs typeface="Lora"/>
                <a:sym typeface="Lora"/>
              </a:rPr>
              <a:t>Assignment </a:t>
            </a:r>
            <a:r>
              <a:rPr lang="en" sz="2400">
                <a:solidFill>
                  <a:schemeClr val="dk1"/>
                </a:solidFill>
                <a:latin typeface="Lora"/>
                <a:ea typeface="Lora"/>
                <a:cs typeface="Lora"/>
                <a:sym typeface="Lora"/>
              </a:rPr>
              <a:t>3 </a:t>
            </a:r>
            <a:endParaRPr sz="2800">
              <a:latin typeface="Lora"/>
              <a:ea typeface="Lora"/>
              <a:cs typeface="Lora"/>
              <a:sym typeface="Lora"/>
            </a:endParaRPr>
          </a:p>
          <a:p>
            <a:pPr indent="0" lvl="0" marL="0" marR="0" rtl="0" algn="l">
              <a:lnSpc>
                <a:spcPct val="139979"/>
              </a:lnSpc>
              <a:spcBef>
                <a:spcPts val="0"/>
              </a:spcBef>
              <a:spcAft>
                <a:spcPts val="0"/>
              </a:spcAft>
              <a:buClr>
                <a:srgbClr val="000000"/>
              </a:buClr>
              <a:buSzPts val="2400"/>
              <a:buFont typeface="Arial"/>
              <a:buNone/>
            </a:pPr>
            <a:r>
              <a:rPr lang="en" sz="800">
                <a:latin typeface="Lora"/>
                <a:ea typeface="Lora"/>
                <a:cs typeface="Lora"/>
                <a:sym typeface="Lora"/>
              </a:rPr>
              <a:t>Build an agentic system to write a short report about one of the chosen topics you learned about in this course (CI/CD, MLops, APIs, Gradio, or anything of your choice).</a:t>
            </a:r>
            <a:endParaRPr sz="800">
              <a:latin typeface="Lora"/>
              <a:ea typeface="Lora"/>
              <a:cs typeface="Lora"/>
              <a:sym typeface="Lora"/>
            </a:endParaRPr>
          </a:p>
          <a:p>
            <a:pPr indent="0" lvl="0" marL="0" marR="0" rtl="0" algn="l">
              <a:lnSpc>
                <a:spcPct val="139979"/>
              </a:lnSpc>
              <a:spcBef>
                <a:spcPts val="0"/>
              </a:spcBef>
              <a:spcAft>
                <a:spcPts val="0"/>
              </a:spcAft>
              <a:buNone/>
            </a:pPr>
            <a:r>
              <a:rPr lang="en" sz="800">
                <a:latin typeface="Lora"/>
                <a:ea typeface="Lora"/>
                <a:cs typeface="Lora"/>
                <a:sym typeface="Lora"/>
              </a:rPr>
              <a:t>Report (</a:t>
            </a:r>
            <a:r>
              <a:rPr b="1" lang="en" sz="800">
                <a:latin typeface="Lora"/>
                <a:ea typeface="Lora"/>
                <a:cs typeface="Lora"/>
                <a:sym typeface="Lora"/>
              </a:rPr>
              <a:t>15  points total</a:t>
            </a:r>
            <a:r>
              <a:rPr lang="en" sz="800">
                <a:latin typeface="Lora"/>
                <a:ea typeface="Lora"/>
                <a:cs typeface="Lora"/>
                <a:sym typeface="Lora"/>
              </a:rPr>
              <a:t>):</a:t>
            </a:r>
            <a:endParaRPr sz="800">
              <a:latin typeface="Lora"/>
              <a:ea typeface="Lora"/>
              <a:cs typeface="Lora"/>
              <a:sym typeface="Lora"/>
            </a:endParaRPr>
          </a:p>
          <a:p>
            <a:pPr indent="-279400" lvl="1" marL="457200" marR="0" rtl="0" algn="l">
              <a:lnSpc>
                <a:spcPct val="139979"/>
              </a:lnSpc>
              <a:spcBef>
                <a:spcPts val="0"/>
              </a:spcBef>
              <a:spcAft>
                <a:spcPts val="0"/>
              </a:spcAft>
              <a:buSzPts val="800"/>
              <a:buFont typeface="Lora"/>
              <a:buChar char="○"/>
            </a:pPr>
            <a:r>
              <a:rPr lang="en" sz="800">
                <a:latin typeface="Lora"/>
                <a:ea typeface="Lora"/>
                <a:cs typeface="Lora"/>
                <a:sym typeface="Lora"/>
              </a:rPr>
              <a:t>Your software should be able to produce a report with 1000 words (+- 50 words). (</a:t>
            </a:r>
            <a:r>
              <a:rPr b="1" lang="en" sz="800">
                <a:latin typeface="Lora"/>
                <a:ea typeface="Lora"/>
                <a:cs typeface="Lora"/>
                <a:sym typeface="Lora"/>
              </a:rPr>
              <a:t>5 points</a:t>
            </a:r>
            <a:r>
              <a:rPr lang="en" sz="800">
                <a:latin typeface="Lora"/>
                <a:ea typeface="Lora"/>
                <a:cs typeface="Lora"/>
                <a:sym typeface="Lora"/>
              </a:rPr>
              <a:t>)</a:t>
            </a:r>
            <a:endParaRPr sz="800">
              <a:latin typeface="Lora"/>
              <a:ea typeface="Lora"/>
              <a:cs typeface="Lora"/>
              <a:sym typeface="Lora"/>
            </a:endParaRPr>
          </a:p>
          <a:p>
            <a:pPr indent="-279400" lvl="1" marL="457200" rtl="0" algn="l">
              <a:lnSpc>
                <a:spcPct val="139979"/>
              </a:lnSpc>
              <a:spcBef>
                <a:spcPts val="0"/>
              </a:spcBef>
              <a:spcAft>
                <a:spcPts val="0"/>
              </a:spcAft>
              <a:buSzPts val="800"/>
              <a:buFont typeface="Lora"/>
              <a:buChar char="○"/>
            </a:pPr>
            <a:r>
              <a:rPr lang="en" sz="800">
                <a:solidFill>
                  <a:schemeClr val="dk1"/>
                </a:solidFill>
                <a:latin typeface="Lora"/>
                <a:ea typeface="Lora"/>
                <a:cs typeface="Lora"/>
                <a:sym typeface="Lora"/>
              </a:rPr>
              <a:t>The report should be factually correct and </a:t>
            </a:r>
            <a:r>
              <a:rPr lang="en" sz="800">
                <a:latin typeface="Lora"/>
                <a:ea typeface="Lora"/>
                <a:cs typeface="Lora"/>
                <a:sym typeface="Lora"/>
              </a:rPr>
              <a:t>have a clear structure (introduction, main text, conclusion or similar), marked with clear titles. (</a:t>
            </a:r>
            <a:r>
              <a:rPr b="1" lang="en" sz="800">
                <a:latin typeface="Lora"/>
                <a:ea typeface="Lora"/>
                <a:cs typeface="Lora"/>
                <a:sym typeface="Lora"/>
              </a:rPr>
              <a:t>5 points</a:t>
            </a:r>
            <a:r>
              <a:rPr lang="en" sz="800">
                <a:latin typeface="Lora"/>
                <a:ea typeface="Lora"/>
                <a:cs typeface="Lora"/>
                <a:sym typeface="Lora"/>
              </a:rPr>
              <a:t>) </a:t>
            </a:r>
            <a:endParaRPr sz="800">
              <a:latin typeface="Lora"/>
              <a:ea typeface="Lora"/>
              <a:cs typeface="Lora"/>
              <a:sym typeface="Lora"/>
            </a:endParaRPr>
          </a:p>
          <a:p>
            <a:pPr indent="-279400" lvl="1" marL="457200" marR="0" rtl="0" algn="l">
              <a:lnSpc>
                <a:spcPct val="139979"/>
              </a:lnSpc>
              <a:spcBef>
                <a:spcPts val="0"/>
              </a:spcBef>
              <a:spcAft>
                <a:spcPts val="0"/>
              </a:spcAft>
              <a:buSzPts val="800"/>
              <a:buFont typeface="Lora"/>
              <a:buChar char="○"/>
            </a:pPr>
            <a:r>
              <a:rPr lang="en" sz="800">
                <a:latin typeface="Lora"/>
                <a:ea typeface="Lora"/>
                <a:cs typeface="Lora"/>
                <a:sym typeface="Lora"/>
              </a:rPr>
              <a:t>The topic of the report should be related to the course. (</a:t>
            </a:r>
            <a:r>
              <a:rPr b="1" lang="en" sz="800">
                <a:latin typeface="Lora"/>
                <a:ea typeface="Lora"/>
                <a:cs typeface="Lora"/>
                <a:sym typeface="Lora"/>
              </a:rPr>
              <a:t>5 points</a:t>
            </a:r>
            <a:r>
              <a:rPr lang="en" sz="800">
                <a:latin typeface="Lora"/>
                <a:ea typeface="Lora"/>
                <a:cs typeface="Lora"/>
                <a:sym typeface="Lora"/>
              </a:rPr>
              <a:t>)</a:t>
            </a:r>
            <a:endParaRPr sz="800">
              <a:latin typeface="Lora"/>
              <a:ea typeface="Lora"/>
              <a:cs typeface="Lora"/>
              <a:sym typeface="Lora"/>
            </a:endParaRPr>
          </a:p>
          <a:p>
            <a:pPr indent="0" lvl="0" marL="0" marR="0" rtl="0" algn="l">
              <a:lnSpc>
                <a:spcPct val="139979"/>
              </a:lnSpc>
              <a:spcBef>
                <a:spcPts val="0"/>
              </a:spcBef>
              <a:spcAft>
                <a:spcPts val="0"/>
              </a:spcAft>
              <a:buNone/>
            </a:pPr>
            <a:r>
              <a:rPr lang="en" sz="800">
                <a:latin typeface="Lora"/>
                <a:ea typeface="Lora"/>
                <a:cs typeface="Lora"/>
                <a:sym typeface="Lora"/>
              </a:rPr>
              <a:t>Agentic system (</a:t>
            </a:r>
            <a:r>
              <a:rPr b="1" lang="en" sz="800">
                <a:latin typeface="Lora"/>
                <a:ea typeface="Lora"/>
                <a:cs typeface="Lora"/>
                <a:sym typeface="Lora"/>
              </a:rPr>
              <a:t>65 points total</a:t>
            </a:r>
            <a:r>
              <a:rPr lang="en" sz="800">
                <a:latin typeface="Lora"/>
                <a:ea typeface="Lora"/>
                <a:cs typeface="Lora"/>
                <a:sym typeface="Lora"/>
              </a:rPr>
              <a:t>):</a:t>
            </a:r>
            <a:endParaRPr sz="800">
              <a:latin typeface="Lora"/>
              <a:ea typeface="Lora"/>
              <a:cs typeface="Lora"/>
              <a:sym typeface="Lora"/>
            </a:endParaRPr>
          </a:p>
          <a:p>
            <a:pPr indent="-279400" lvl="0" marL="457200" marR="0" rtl="0" algn="l">
              <a:lnSpc>
                <a:spcPct val="139979"/>
              </a:lnSpc>
              <a:spcBef>
                <a:spcPts val="0"/>
              </a:spcBef>
              <a:spcAft>
                <a:spcPts val="0"/>
              </a:spcAft>
              <a:buSzPts val="800"/>
              <a:buFont typeface="Lora"/>
              <a:buChar char="●"/>
            </a:pPr>
            <a:r>
              <a:rPr lang="en" sz="800">
                <a:latin typeface="Lora"/>
                <a:ea typeface="Lora"/>
                <a:cs typeface="Lora"/>
                <a:sym typeface="Lora"/>
              </a:rPr>
              <a:t>The prompts should be clear and follow the best prompting practices (</a:t>
            </a:r>
            <a:r>
              <a:rPr b="1" lang="en" sz="800">
                <a:latin typeface="Lora"/>
                <a:ea typeface="Lora"/>
                <a:cs typeface="Lora"/>
                <a:sym typeface="Lora"/>
              </a:rPr>
              <a:t>15 points</a:t>
            </a:r>
            <a:r>
              <a:rPr lang="en" sz="800">
                <a:latin typeface="Lora"/>
                <a:ea typeface="Lora"/>
                <a:cs typeface="Lora"/>
                <a:sym typeface="Lora"/>
              </a:rPr>
              <a:t>)</a:t>
            </a:r>
            <a:endParaRPr sz="800">
              <a:latin typeface="Lora"/>
              <a:ea typeface="Lora"/>
              <a:cs typeface="Lora"/>
              <a:sym typeface="Lora"/>
            </a:endParaRPr>
          </a:p>
          <a:p>
            <a:pPr indent="-279400" lvl="0" marL="457200" marR="0" rtl="0" algn="l">
              <a:lnSpc>
                <a:spcPct val="139979"/>
              </a:lnSpc>
              <a:spcBef>
                <a:spcPts val="0"/>
              </a:spcBef>
              <a:spcAft>
                <a:spcPts val="0"/>
              </a:spcAft>
              <a:buSzPts val="800"/>
              <a:buFont typeface="Lora"/>
              <a:buChar char="●"/>
            </a:pPr>
            <a:r>
              <a:rPr lang="en" sz="800">
                <a:latin typeface="Lora"/>
                <a:ea typeface="Lora"/>
                <a:cs typeface="Lora"/>
                <a:sym typeface="Lora"/>
              </a:rPr>
              <a:t>The model can use either a simple single call to an LLM (</a:t>
            </a:r>
            <a:r>
              <a:rPr b="1" lang="en" sz="800">
                <a:latin typeface="Lora"/>
                <a:ea typeface="Lora"/>
                <a:cs typeface="Lora"/>
                <a:sym typeface="Lora"/>
              </a:rPr>
              <a:t>5 points</a:t>
            </a:r>
            <a:r>
              <a:rPr lang="en" sz="800">
                <a:latin typeface="Lora"/>
                <a:ea typeface="Lora"/>
                <a:cs typeface="Lora"/>
                <a:sym typeface="Lora"/>
              </a:rPr>
              <a:t>) or a complex agentic system (</a:t>
            </a:r>
            <a:r>
              <a:rPr b="1" lang="en" sz="800">
                <a:latin typeface="Lora"/>
                <a:ea typeface="Lora"/>
                <a:cs typeface="Lora"/>
                <a:sym typeface="Lora"/>
              </a:rPr>
              <a:t>up to 50 points</a:t>
            </a:r>
            <a:r>
              <a:rPr lang="en" sz="800">
                <a:latin typeface="Lora"/>
                <a:ea typeface="Lora"/>
                <a:cs typeface="Lora"/>
                <a:sym typeface="Lora"/>
              </a:rPr>
              <a:t>). Be creative here. You can use LangChain or LangGraph, you can create multiple agents (one for writing, one for research, fact checking etc…). Find some examples and ideas online. Let the agent use tools. For example web search or RAG to find information on the given topic. You can use tools to check for the length of the report (remember that LLMs are not good at counting, but a python script can be very efficient).</a:t>
            </a:r>
            <a:endParaRPr sz="800">
              <a:latin typeface="Lora"/>
              <a:ea typeface="Lora"/>
              <a:cs typeface="Lora"/>
              <a:sym typeface="Lora"/>
            </a:endParaRPr>
          </a:p>
          <a:p>
            <a:pPr indent="0" lvl="0" marL="0" marR="0" rtl="0" algn="l">
              <a:lnSpc>
                <a:spcPct val="139979"/>
              </a:lnSpc>
              <a:spcBef>
                <a:spcPts val="0"/>
              </a:spcBef>
              <a:spcAft>
                <a:spcPts val="0"/>
              </a:spcAft>
              <a:buNone/>
            </a:pPr>
            <a:r>
              <a:rPr lang="en" sz="800">
                <a:latin typeface="Lora"/>
                <a:ea typeface="Lora"/>
                <a:cs typeface="Lora"/>
                <a:sym typeface="Lora"/>
              </a:rPr>
              <a:t>System diagram (</a:t>
            </a:r>
            <a:r>
              <a:rPr b="1" lang="en" sz="800">
                <a:latin typeface="Lora"/>
                <a:ea typeface="Lora"/>
                <a:cs typeface="Lora"/>
                <a:sym typeface="Lora"/>
              </a:rPr>
              <a:t>10 points total</a:t>
            </a:r>
            <a:r>
              <a:rPr lang="en" sz="800">
                <a:latin typeface="Lora"/>
                <a:ea typeface="Lora"/>
                <a:cs typeface="Lora"/>
                <a:sym typeface="Lora"/>
              </a:rPr>
              <a:t>):</a:t>
            </a:r>
            <a:endParaRPr sz="800">
              <a:latin typeface="Lora"/>
              <a:ea typeface="Lora"/>
              <a:cs typeface="Lora"/>
              <a:sym typeface="Lora"/>
            </a:endParaRPr>
          </a:p>
          <a:p>
            <a:pPr indent="-279400" lvl="0" marL="457200" marR="0" rtl="0" algn="l">
              <a:lnSpc>
                <a:spcPct val="139979"/>
              </a:lnSpc>
              <a:spcBef>
                <a:spcPts val="0"/>
              </a:spcBef>
              <a:spcAft>
                <a:spcPts val="0"/>
              </a:spcAft>
              <a:buSzPts val="800"/>
              <a:buFont typeface="Lora"/>
              <a:buChar char="●"/>
            </a:pPr>
            <a:r>
              <a:rPr lang="en" sz="800">
                <a:latin typeface="Lora"/>
                <a:ea typeface="Lora"/>
                <a:cs typeface="Lora"/>
                <a:sym typeface="Lora"/>
              </a:rPr>
              <a:t>Draw a diagram of your agentic workflow. (Note that some of the libraries like LangGraph can do this automatically. It doesnt matter how you do it, as long as you create some form of a diagram that shows how your system works)</a:t>
            </a:r>
            <a:endParaRPr sz="800">
              <a:latin typeface="Lora"/>
              <a:ea typeface="Lora"/>
              <a:cs typeface="Lora"/>
              <a:sym typeface="Lora"/>
            </a:endParaRPr>
          </a:p>
          <a:p>
            <a:pPr indent="0" lvl="0" marL="0" marR="0" rtl="0" algn="l">
              <a:lnSpc>
                <a:spcPct val="139979"/>
              </a:lnSpc>
              <a:spcBef>
                <a:spcPts val="0"/>
              </a:spcBef>
              <a:spcAft>
                <a:spcPts val="0"/>
              </a:spcAft>
              <a:buNone/>
            </a:pPr>
            <a:r>
              <a:rPr lang="en" sz="800">
                <a:latin typeface="Lora"/>
                <a:ea typeface="Lora"/>
                <a:cs typeface="Lora"/>
                <a:sym typeface="Lora"/>
              </a:rPr>
              <a:t>User interface (</a:t>
            </a:r>
            <a:r>
              <a:rPr b="1" lang="en" sz="800">
                <a:latin typeface="Lora"/>
                <a:ea typeface="Lora"/>
                <a:cs typeface="Lora"/>
                <a:sym typeface="Lora"/>
              </a:rPr>
              <a:t>10 points total</a:t>
            </a:r>
            <a:r>
              <a:rPr lang="en" sz="800">
                <a:latin typeface="Lora"/>
                <a:ea typeface="Lora"/>
                <a:cs typeface="Lora"/>
                <a:sym typeface="Lora"/>
              </a:rPr>
              <a:t>):</a:t>
            </a:r>
            <a:endParaRPr sz="800">
              <a:latin typeface="Lora"/>
              <a:ea typeface="Lora"/>
              <a:cs typeface="Lora"/>
              <a:sym typeface="Lora"/>
            </a:endParaRPr>
          </a:p>
          <a:p>
            <a:pPr indent="-279400" lvl="0" marL="457200" marR="0" rtl="0" algn="l">
              <a:lnSpc>
                <a:spcPct val="139979"/>
              </a:lnSpc>
              <a:spcBef>
                <a:spcPts val="0"/>
              </a:spcBef>
              <a:spcAft>
                <a:spcPts val="0"/>
              </a:spcAft>
              <a:buSzPts val="800"/>
              <a:buFont typeface="Lora"/>
              <a:buChar char="●"/>
            </a:pPr>
            <a:r>
              <a:rPr lang="en" sz="800">
                <a:latin typeface="Lora"/>
                <a:ea typeface="Lora"/>
                <a:cs typeface="Lora"/>
                <a:sym typeface="Lora"/>
              </a:rPr>
              <a:t>Create an interface in Gradio and deploy to GCP to be part of your OpenAPI project. Be creative. Choose your own things you want to display and control. For example you can let the user input the topic or control the temperature of the models. You can have the app display the report on screen or save it to a txt file (or both). (</a:t>
            </a:r>
            <a:r>
              <a:rPr b="1" lang="en" sz="800">
                <a:latin typeface="Lora"/>
                <a:ea typeface="Lora"/>
                <a:cs typeface="Lora"/>
                <a:sym typeface="Lora"/>
              </a:rPr>
              <a:t>10 points</a:t>
            </a:r>
            <a:r>
              <a:rPr lang="en" sz="800">
                <a:latin typeface="Lora"/>
                <a:ea typeface="Lora"/>
                <a:cs typeface="Lora"/>
                <a:sym typeface="Lora"/>
              </a:rPr>
              <a:t>)</a:t>
            </a:r>
            <a:endParaRPr sz="800">
              <a:latin typeface="Lora"/>
              <a:ea typeface="Lora"/>
              <a:cs typeface="Lora"/>
              <a:sym typeface="Lora"/>
            </a:endParaRPr>
          </a:p>
          <a:p>
            <a:pPr indent="-279400" lvl="0" marL="457200" marR="0" rtl="0" algn="l">
              <a:lnSpc>
                <a:spcPct val="139979"/>
              </a:lnSpc>
              <a:spcBef>
                <a:spcPts val="0"/>
              </a:spcBef>
              <a:spcAft>
                <a:spcPts val="0"/>
              </a:spcAft>
              <a:buSzPts val="800"/>
              <a:buFont typeface="Lora"/>
              <a:buChar char="●"/>
            </a:pPr>
            <a:r>
              <a:rPr lang="en" sz="800">
                <a:latin typeface="Lora"/>
                <a:ea typeface="Lora"/>
                <a:cs typeface="Lora"/>
                <a:sym typeface="Lora"/>
              </a:rPr>
              <a:t>(Optional) If you are feeling very creative, you can add a human in the loop component, where a human can edit the “working version” of the document before submitting it for future review to the agent. You can also let the user input additional prompts to modify how the agent behaves on the go (</a:t>
            </a:r>
            <a:r>
              <a:rPr b="1" lang="en" sz="800">
                <a:latin typeface="Lora"/>
                <a:ea typeface="Lora"/>
                <a:cs typeface="Lora"/>
                <a:sym typeface="Lora"/>
              </a:rPr>
              <a:t>bonus 10 points</a:t>
            </a:r>
            <a:r>
              <a:rPr lang="en" sz="800">
                <a:latin typeface="Lora"/>
                <a:ea typeface="Lora"/>
                <a:cs typeface="Lora"/>
                <a:sym typeface="Lora"/>
              </a:rPr>
              <a:t>)</a:t>
            </a:r>
            <a:endParaRPr sz="800">
              <a:latin typeface="Lora"/>
              <a:ea typeface="Lora"/>
              <a:cs typeface="Lora"/>
              <a:sym typeface="Lora"/>
            </a:endParaRPr>
          </a:p>
          <a:p>
            <a:pPr indent="0" lvl="0" marL="0" marR="0" rtl="0" algn="l">
              <a:lnSpc>
                <a:spcPct val="139979"/>
              </a:lnSpc>
              <a:spcBef>
                <a:spcPts val="0"/>
              </a:spcBef>
              <a:spcAft>
                <a:spcPts val="0"/>
              </a:spcAft>
              <a:buNone/>
            </a:pPr>
            <a:r>
              <a:rPr lang="en" sz="800">
                <a:latin typeface="Lora"/>
                <a:ea typeface="Lora"/>
                <a:cs typeface="Lora"/>
                <a:sym typeface="Lora"/>
              </a:rPr>
              <a:t>Since some of you might create interactive apps, please submit the code; the AI generated report together (the report can be a simple .txt file or whatever similar); and a URL to your OpenAPI project on GCP. In addition, please submit an image file showing the diagram of your agentic system. If your app allows to use different settings, please also include instructions (it can be in the app or in a </a:t>
            </a:r>
            <a:r>
              <a:rPr lang="en" sz="800" u="sng">
                <a:solidFill>
                  <a:schemeClr val="hlink"/>
                </a:solidFill>
                <a:latin typeface="Lora"/>
                <a:ea typeface="Lora"/>
                <a:cs typeface="Lora"/>
                <a:sym typeface="Lora"/>
                <a:hlinkClick r:id="rId3"/>
              </a:rPr>
              <a:t>readme.md</a:t>
            </a:r>
            <a:r>
              <a:rPr lang="en" sz="800">
                <a:latin typeface="Lora"/>
                <a:ea typeface="Lora"/>
                <a:cs typeface="Lora"/>
                <a:sym typeface="Lora"/>
              </a:rPr>
              <a:t> or similar file with the settings of your app that you used to produce the graded report). If there are any other comments/remarks/explanations you would like to make to accompany your submission, also put them into the readme file (optional).</a:t>
            </a:r>
            <a:endParaRPr sz="1200">
              <a:latin typeface="Lora"/>
              <a:ea typeface="Lora"/>
              <a:cs typeface="Lora"/>
              <a:sym typeface="Lora"/>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