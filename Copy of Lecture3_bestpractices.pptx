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Lora"/>
      <p:regular r:id="rId50"/>
      <p:bold r:id="rId51"/>
      <p:italic r:id="rId52"/>
      <p:boldItalic r:id="rId53"/>
    </p:embeddedFont>
    <p:embeddedFont>
      <p:font typeface="Roboto Mono"/>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ora-bold.fntdata"/><Relationship Id="rId50" Type="http://schemas.openxmlformats.org/officeDocument/2006/relationships/font" Target="fonts/Lora-regular.fntdata"/><Relationship Id="rId53" Type="http://schemas.openxmlformats.org/officeDocument/2006/relationships/font" Target="fonts/Lora-boldItalic.fntdata"/><Relationship Id="rId52" Type="http://schemas.openxmlformats.org/officeDocument/2006/relationships/font" Target="fonts/Lora-italic.fntdata"/><Relationship Id="rId11" Type="http://schemas.openxmlformats.org/officeDocument/2006/relationships/slide" Target="slides/slide6.xml"/><Relationship Id="rId55" Type="http://schemas.openxmlformats.org/officeDocument/2006/relationships/font" Target="fonts/RobotoMono-bold.fntdata"/><Relationship Id="rId10" Type="http://schemas.openxmlformats.org/officeDocument/2006/relationships/slide" Target="slides/slide5.xml"/><Relationship Id="rId54" Type="http://schemas.openxmlformats.org/officeDocument/2006/relationships/font" Target="fonts/RobotoMono-regular.fntdata"/><Relationship Id="rId13" Type="http://schemas.openxmlformats.org/officeDocument/2006/relationships/slide" Target="slides/slide8.xml"/><Relationship Id="rId57" Type="http://schemas.openxmlformats.org/officeDocument/2006/relationships/font" Target="fonts/RobotoMono-boldItalic.fntdata"/><Relationship Id="rId12" Type="http://schemas.openxmlformats.org/officeDocument/2006/relationships/slide" Target="slides/slide7.xml"/><Relationship Id="rId56" Type="http://schemas.openxmlformats.org/officeDocument/2006/relationships/font" Target="fonts/RobotoMon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7e5c01b661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g37e5c01b661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715105aa0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 name="Google Shape;60;g3715105aa0f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715105aa0f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g3715105aa0f_0_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a7e1ebc53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g34a7e1ebc53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a7e1ebc53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g34a7e1ebc53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a7e1ebc53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34a7e1ebc53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53fe7098bd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g353fe7098bd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53fe7098bd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g353fe7098bd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4e091565b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34e091565b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51278d142c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g351278d142c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4a7e1ebc53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4a7e1ebc53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51278d142c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g351278d142c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51278d142c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g351278d142c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51278d142c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g351278d142c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51278d142c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51278d142c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54bc1f3695_1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g354bc1f3695_1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4a7e1ebc53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g34a7e1ebc53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51278d142c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g351278d142c_0_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1278d142c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51278d142c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4a7e1ebc53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34a7e1ebc53_0_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51278d142c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g351278d142c_0_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51278d142c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g351278d142c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51278d142c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351278d142c_0_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51278d142c_0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g351278d142c_0_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819abc6b34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g3819abc6b34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819abc6b34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819abc6b34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819abc6b34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g3819abc6b34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51278d142c_0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g351278d142c_0_1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4a7e1ebc53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g34a7e1ebc53_0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4a7e1ebc53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g34a7e1ebc53_0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512a69296d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3512a69296d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54bc1f3695_1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g354bc1f3695_1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512a69296d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g3512a69296d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512a69296d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g3512a69296d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512a69296d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g3512a69296d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4a7e1ebc53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7" name="Google Shape;317;g34a7e1ebc53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5aa5edf8ee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5aa5edf8ee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5aa5edf8e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g35aa5edf8ee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512a69296d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6" name="Google Shape;336;g3512a69296d_1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512a69296d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g3512a69296d_1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57772d9d8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g357772d9d8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4a7e1ebc53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g34a7e1ebc53_0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4a7e1ebc53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3" name="Google Shape;363;g34a7e1ebc53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Lora"/>
              <a:buNone/>
              <a:defRPr sz="2800">
                <a:solidFill>
                  <a:schemeClr val="dk1"/>
                </a:solidFill>
                <a:latin typeface="Lora"/>
                <a:ea typeface="Lora"/>
                <a:cs typeface="Lora"/>
                <a:sym typeface="Lora"/>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ora"/>
              <a:buChar char="●"/>
              <a:defRPr sz="1800">
                <a:solidFill>
                  <a:schemeClr val="dk2"/>
                </a:solidFill>
                <a:latin typeface="Lora"/>
                <a:ea typeface="Lora"/>
                <a:cs typeface="Lora"/>
                <a:sym typeface="Lora"/>
              </a:defRPr>
            </a:lvl1pPr>
            <a:lvl2pPr indent="-317500" lvl="1" marL="914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2pPr>
            <a:lvl3pPr indent="-317500" lvl="2" marL="1371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3pPr>
            <a:lvl4pPr indent="-317500" lvl="3" marL="1828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4pPr>
            <a:lvl5pPr indent="-317500" lvl="4" marL="22860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5pPr>
            <a:lvl6pPr indent="-317500" lvl="5" marL="27432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6pPr>
            <a:lvl7pPr indent="-317500" lvl="6" marL="3200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7pPr>
            <a:lvl8pPr indent="-317500" lvl="7" marL="3657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8pPr>
            <a:lvl9pPr indent="-317500" lvl="8" marL="4114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7692148" y="4782312"/>
            <a:ext cx="1188720" cy="297180"/>
          </a:xfrm>
          <a:prstGeom prst="rect">
            <a:avLst/>
          </a:prstGeom>
          <a:noFill/>
          <a:ln>
            <a:noFill/>
          </a:ln>
        </p:spPr>
      </p:pic>
      <p:pic>
        <p:nvPicPr>
          <p:cNvPr id="10" name="Google Shape;10;p1"/>
          <p:cNvPicPr preferRelativeResize="0"/>
          <p:nvPr/>
        </p:nvPicPr>
        <p:blipFill>
          <a:blip r:embed="rId2">
            <a:alphaModFix/>
          </a:blip>
          <a:stretch>
            <a:fillRect/>
          </a:stretch>
        </p:blipFill>
        <p:spPr>
          <a:xfrm>
            <a:off x="154577" y="4779825"/>
            <a:ext cx="1188721" cy="23774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hyperlink" Target="https://www.python.org/dev/peps/pep-0008/"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hyperlink" Target="https://docs.github.com/en/get-started/using-github/github-flow" TargetMode="External"/><Relationship Id="rId4" Type="http://schemas.openxmlformats.org/officeDocument/2006/relationships/hyperlink" Target="https://docs.github.com/en/get-started/using-github/github-flow#create-a-pull-reques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 Id="rId3" Type="http://schemas.openxmlformats.org/officeDocument/2006/relationships/hyperlink" Target="https://gist.github.com/cyrille-feu/e4c8ee733b32dbfcb83bd6af98e8089a"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2</a:t>
            </a:r>
            <a:endParaRPr i="0" sz="700" u="none" cap="none" strike="noStrike">
              <a:solidFill>
                <a:srgbClr val="000000"/>
              </a:solidFill>
              <a:latin typeface="Lora"/>
              <a:ea typeface="Lora"/>
              <a:cs typeface="Lora"/>
              <a:sym typeface="Lora"/>
            </a:endParaRPr>
          </a:p>
        </p:txBody>
      </p:sp>
      <p:sp>
        <p:nvSpPr>
          <p:cNvPr id="57" name="Google Shape;57;p13"/>
          <p:cNvSpPr txBox="1"/>
          <p:nvPr/>
        </p:nvSpPr>
        <p:spPr>
          <a:xfrm>
            <a:off x="486900" y="700975"/>
            <a:ext cx="7896600" cy="9234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Please receive the quiz handout from Cyrille, Oliver, Vincent, Jan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Complete the quiz in silence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Hand the quiz back</a:t>
            </a:r>
            <a:endParaRPr sz="1200">
              <a:solidFill>
                <a:schemeClr val="dk1"/>
              </a:solidFill>
              <a:latin typeface="Lora"/>
              <a:ea typeface="Lora"/>
              <a:cs typeface="Lora"/>
              <a:sym typeface="L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2</a:t>
            </a:r>
            <a:endParaRPr i="0" sz="700" u="none" cap="none" strike="noStrike">
              <a:solidFill>
                <a:srgbClr val="000000"/>
              </a:solidFill>
              <a:latin typeface="Lora"/>
              <a:ea typeface="Lora"/>
              <a:cs typeface="Lora"/>
              <a:sym typeface="Lora"/>
            </a:endParaRPr>
          </a:p>
        </p:txBody>
      </p:sp>
      <p:sp>
        <p:nvSpPr>
          <p:cNvPr id="63" name="Google Shape;63;p14"/>
          <p:cNvSpPr txBox="1"/>
          <p:nvPr/>
        </p:nvSpPr>
        <p:spPr>
          <a:xfrm>
            <a:off x="191200" y="700975"/>
            <a:ext cx="4709400" cy="267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Which line defines what the URL for the endpoint will be</a:t>
            </a:r>
            <a:endParaRPr sz="1000">
              <a:solidFill>
                <a:schemeClr val="dk1"/>
              </a:solidFill>
              <a:latin typeface="Lora"/>
              <a:ea typeface="Lora"/>
              <a:cs typeface="Lora"/>
              <a:sym typeface="Lora"/>
            </a:endParaRPr>
          </a:p>
          <a:p>
            <a:pPr indent="-292100" lvl="1" marL="914400" rtl="0" algn="l">
              <a:lnSpc>
                <a:spcPct val="150000"/>
              </a:lnSpc>
              <a:spcBef>
                <a:spcPts val="0"/>
              </a:spcBef>
              <a:spcAft>
                <a:spcPts val="0"/>
              </a:spcAft>
              <a:buClr>
                <a:schemeClr val="dk1"/>
              </a:buClr>
              <a:buSzPts val="1000"/>
              <a:buFont typeface="Lora"/>
              <a:buAutoNum type="alphaLcPeriod"/>
            </a:pPr>
            <a:r>
              <a:rPr lang="en" sz="1000">
                <a:solidFill>
                  <a:srgbClr val="505050"/>
                </a:solidFill>
                <a:latin typeface="Roboto Mono"/>
                <a:ea typeface="Roboto Mono"/>
                <a:cs typeface="Roboto Mono"/>
                <a:sym typeface="Roboto Mono"/>
              </a:rPr>
              <a:t>@app</a:t>
            </a:r>
            <a:r>
              <a:rPr lang="en" sz="1000">
                <a:solidFill>
                  <a:schemeClr val="dk1"/>
                </a:solidFill>
                <a:latin typeface="Roboto Mono"/>
                <a:ea typeface="Roboto Mono"/>
                <a:cs typeface="Roboto Mono"/>
                <a:sym typeface="Roboto Mono"/>
              </a:rPr>
              <a:t>.</a:t>
            </a:r>
            <a:r>
              <a:rPr lang="en" sz="1000">
                <a:solidFill>
                  <a:srgbClr val="572000"/>
                </a:solidFill>
                <a:latin typeface="Roboto Mono"/>
                <a:ea typeface="Roboto Mono"/>
                <a:cs typeface="Roboto Mono"/>
                <a:sym typeface="Roboto Mono"/>
              </a:rPr>
              <a:t>get</a:t>
            </a:r>
            <a:r>
              <a:rPr lang="en" sz="1000">
                <a:solidFill>
                  <a:schemeClr val="dk1"/>
                </a:solidFill>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"/read_root"</a:t>
            </a:r>
            <a:r>
              <a:rPr lang="en" sz="1000">
                <a:solidFill>
                  <a:schemeClr val="dk1"/>
                </a:solidFill>
                <a:latin typeface="Roboto Mono"/>
                <a:ea typeface="Roboto Mono"/>
                <a:cs typeface="Roboto Mono"/>
                <a:sym typeface="Roboto Mono"/>
              </a:rPr>
              <a:t>)</a:t>
            </a:r>
            <a:endParaRPr sz="1000">
              <a:solidFill>
                <a:schemeClr val="dk1"/>
              </a:solidFill>
              <a:latin typeface="Roboto Mono"/>
              <a:ea typeface="Roboto Mono"/>
              <a:cs typeface="Roboto Mono"/>
              <a:sym typeface="Roboto Mono"/>
            </a:endParaRPr>
          </a:p>
          <a:p>
            <a:pPr indent="-292100" lvl="1" marL="914400" rtl="0" algn="l">
              <a:lnSpc>
                <a:spcPct val="150000"/>
              </a:lnSpc>
              <a:spcBef>
                <a:spcPts val="0"/>
              </a:spcBef>
              <a:spcAft>
                <a:spcPts val="0"/>
              </a:spcAft>
              <a:buClr>
                <a:schemeClr val="dk1"/>
              </a:buClr>
              <a:buSzPts val="1000"/>
              <a:buFont typeface="Lora"/>
              <a:buAutoNum type="alphaLcPeriod"/>
            </a:pPr>
            <a:r>
              <a:rPr b="1" lang="en" sz="1000">
                <a:solidFill>
                  <a:srgbClr val="700080"/>
                </a:solidFill>
                <a:latin typeface="Roboto Mono"/>
                <a:ea typeface="Roboto Mono"/>
                <a:cs typeface="Roboto Mono"/>
                <a:sym typeface="Roboto Mono"/>
              </a:rPr>
              <a:t>async</a:t>
            </a:r>
            <a:r>
              <a:rPr lang="en" sz="1000">
                <a:solidFill>
                  <a:schemeClr val="dk1"/>
                </a:solidFill>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def</a:t>
            </a:r>
            <a:r>
              <a:rPr lang="en" sz="1000">
                <a:solidFill>
                  <a:schemeClr val="dk1"/>
                </a:solidFill>
                <a:latin typeface="Roboto Mono"/>
                <a:ea typeface="Roboto Mono"/>
                <a:cs typeface="Roboto Mono"/>
                <a:sym typeface="Roboto Mono"/>
              </a:rPr>
              <a:t> </a:t>
            </a:r>
            <a:r>
              <a:rPr lang="en" sz="1000">
                <a:solidFill>
                  <a:srgbClr val="0000F0"/>
                </a:solidFill>
                <a:latin typeface="Roboto Mono"/>
                <a:ea typeface="Roboto Mono"/>
                <a:cs typeface="Roboto Mono"/>
                <a:sym typeface="Roboto Mono"/>
              </a:rPr>
              <a:t>read_root</a:t>
            </a:r>
            <a:r>
              <a:rPr lang="en" sz="1000">
                <a:solidFill>
                  <a:schemeClr val="dk1"/>
                </a:solidFill>
                <a:latin typeface="Roboto Mono"/>
                <a:ea typeface="Roboto Mono"/>
                <a:cs typeface="Roboto Mono"/>
                <a:sym typeface="Roboto Mono"/>
              </a:rPr>
              <a:t>():</a:t>
            </a:r>
            <a:endParaRPr sz="1000">
              <a:solidFill>
                <a:schemeClr val="dk1"/>
              </a:solidFill>
              <a:latin typeface="Roboto Mono"/>
              <a:ea typeface="Roboto Mono"/>
              <a:cs typeface="Roboto Mono"/>
              <a:sym typeface="Roboto Mono"/>
            </a:endParaRPr>
          </a:p>
          <a:p>
            <a:pPr indent="-292100" lvl="1" marL="914400" rtl="0" algn="l">
              <a:lnSpc>
                <a:spcPct val="150000"/>
              </a:lnSpc>
              <a:spcBef>
                <a:spcPts val="0"/>
              </a:spcBef>
              <a:spcAft>
                <a:spcPts val="0"/>
              </a:spcAft>
              <a:buClr>
                <a:schemeClr val="dk1"/>
              </a:buClr>
              <a:buSzPts val="1000"/>
              <a:buFont typeface="Lora"/>
              <a:buAutoNum type="alphaLcPeriod"/>
            </a:pPr>
            <a:r>
              <a:rPr lang="en" sz="1000">
                <a:solidFill>
                  <a:schemeClr val="dk1"/>
                </a:solidFill>
                <a:latin typeface="Roboto Mono"/>
                <a:ea typeface="Roboto Mono"/>
                <a:cs typeface="Roboto Mono"/>
                <a:sym typeface="Roboto Mono"/>
              </a:rPr>
              <a:t>   “””/read_root”””</a:t>
            </a:r>
            <a:endParaRPr sz="1000">
              <a:solidFill>
                <a:schemeClr val="dk1"/>
              </a:solidFill>
              <a:latin typeface="Roboto Mono"/>
              <a:ea typeface="Roboto Mono"/>
              <a:cs typeface="Roboto Mono"/>
              <a:sym typeface="Roboto Mono"/>
            </a:endParaRPr>
          </a:p>
          <a:p>
            <a:pPr indent="-292100" lvl="1" marL="914400" rtl="0" algn="l">
              <a:lnSpc>
                <a:spcPct val="150000"/>
              </a:lnSpc>
              <a:spcBef>
                <a:spcPts val="0"/>
              </a:spcBef>
              <a:spcAft>
                <a:spcPts val="0"/>
              </a:spcAft>
              <a:buClr>
                <a:schemeClr val="dk1"/>
              </a:buClr>
              <a:buSzPts val="1000"/>
              <a:buFont typeface="Lora"/>
              <a:buAutoNum type="alphaLcPeriod"/>
            </a:pPr>
            <a:r>
              <a:rPr lang="en" sz="1000">
                <a:solidFill>
                  <a:schemeClr val="dk1"/>
                </a:solidFill>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return</a:t>
            </a:r>
            <a:r>
              <a:rPr lang="en" sz="1000">
                <a:solidFill>
                  <a:schemeClr val="dk1"/>
                </a:solidFill>
                <a:latin typeface="Roboto Mono"/>
                <a:ea typeface="Roboto Mono"/>
                <a:cs typeface="Roboto Mono"/>
                <a:sym typeface="Roboto Mono"/>
              </a:rPr>
              <a:t> {</a:t>
            </a:r>
            <a:r>
              <a:rPr lang="en" sz="1000">
                <a:solidFill>
                  <a:srgbClr val="A01010"/>
                </a:solidFill>
                <a:latin typeface="Roboto Mono"/>
                <a:ea typeface="Roboto Mono"/>
                <a:cs typeface="Roboto Mono"/>
                <a:sym typeface="Roboto Mono"/>
              </a:rPr>
              <a:t>"/read_root”</a:t>
            </a:r>
            <a:r>
              <a:rPr lang="en" sz="1000">
                <a:solidFill>
                  <a:schemeClr val="dk1"/>
                </a:solidFill>
                <a:latin typeface="Roboto Mono"/>
                <a:ea typeface="Roboto Mono"/>
                <a:cs typeface="Roboto Mono"/>
                <a:sym typeface="Roboto Mono"/>
              </a:rPr>
              <a:t>}  </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a:t>
            </a:r>
            <a:r>
              <a:rPr lang="en" sz="1000">
                <a:solidFill>
                  <a:schemeClr val="dk1"/>
                </a:solidFill>
                <a:latin typeface="Lora"/>
                <a:ea typeface="Lora"/>
                <a:cs typeface="Lora"/>
                <a:sym typeface="Lora"/>
              </a:rPr>
              <a:t>hat is the generally recommended order for the following Dockerfile instructions when building a typical application?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COPY . . → FROM → WORKDIR → ENTRYPOINT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FROM → WORKDIR → COPY . . → ENTRYPOINT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ENTRYPOINT → FROM → COPY . . → WORKDIR</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FROM → COPY . . → WORKDIR → ENTRYPOINT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p:txBody>
      </p:sp>
      <p:sp>
        <p:nvSpPr>
          <p:cNvPr id="64" name="Google Shape;64;p14"/>
          <p:cNvSpPr txBox="1"/>
          <p:nvPr/>
        </p:nvSpPr>
        <p:spPr>
          <a:xfrm>
            <a:off x="4830300" y="777175"/>
            <a:ext cx="3923700" cy="44100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chemeClr val="dk1"/>
              </a:buClr>
              <a:buSzPts val="1000"/>
              <a:buFont typeface="Lora"/>
              <a:buAutoNum type="arabicPeriod" startAt="3"/>
            </a:pPr>
            <a:r>
              <a:rPr lang="en" sz="1000">
                <a:solidFill>
                  <a:schemeClr val="dk1"/>
                </a:solidFill>
                <a:latin typeface="Lora"/>
                <a:ea typeface="Lora"/>
                <a:cs typeface="Lora"/>
                <a:sym typeface="Lora"/>
              </a:rPr>
              <a:t>Which of the following is an analogy for how an API works?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 chef following a recipe to bake a cake.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 librarian organizing books on shelves.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 power outlet providing electricity to an appliance.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 painter mixing colors on a palette.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startAt="3"/>
            </a:pPr>
            <a:r>
              <a:rPr lang="en" sz="1000">
                <a:solidFill>
                  <a:schemeClr val="dk1"/>
                </a:solidFill>
                <a:latin typeface="Lora"/>
                <a:ea typeface="Lora"/>
                <a:cs typeface="Lora"/>
                <a:sym typeface="Lora"/>
              </a:rPr>
              <a:t>What is "REST" in "RESTful API"?</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 contract defining how software components interact </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 specific style of rules/standards for how to build an API</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GET, POST, PUT, DELETE methods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Locally on AIMS servers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startAt="3"/>
            </a:pPr>
            <a:r>
              <a:rPr lang="en" sz="1000">
                <a:solidFill>
                  <a:schemeClr val="dk1"/>
                </a:solidFill>
                <a:latin typeface="Lora"/>
                <a:ea typeface="Lora"/>
                <a:cs typeface="Lora"/>
                <a:sym typeface="Lora"/>
              </a:rPr>
              <a:t>Which of the following is a benefit of using a hypervisor virtualization over Docker containers?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Faster startup times and lower resource consumption.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Enhanced application portability and simplified dependency management.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More efficient sharing of the host operating system kernel.</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More efficient management of the hardware resources</a:t>
            </a:r>
            <a:endParaRPr sz="1000">
              <a:solidFill>
                <a:schemeClr val="dk1"/>
              </a:solidFill>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2 (Answers)</a:t>
            </a:r>
            <a:endParaRPr i="0" sz="700" u="none" cap="none" strike="noStrike">
              <a:solidFill>
                <a:srgbClr val="000000"/>
              </a:solidFill>
              <a:latin typeface="Lora"/>
              <a:ea typeface="Lora"/>
              <a:cs typeface="Lora"/>
              <a:sym typeface="Lora"/>
            </a:endParaRPr>
          </a:p>
        </p:txBody>
      </p:sp>
      <p:sp>
        <p:nvSpPr>
          <p:cNvPr id="70" name="Google Shape;70;p15"/>
          <p:cNvSpPr txBox="1"/>
          <p:nvPr/>
        </p:nvSpPr>
        <p:spPr>
          <a:xfrm>
            <a:off x="191200" y="700975"/>
            <a:ext cx="4709400" cy="250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Which line defines what the URL for the endpoint will be</a:t>
            </a:r>
            <a:endParaRPr sz="1000">
              <a:solidFill>
                <a:schemeClr val="dk1"/>
              </a:solidFill>
              <a:latin typeface="Lora"/>
              <a:ea typeface="Lora"/>
              <a:cs typeface="Lora"/>
              <a:sym typeface="Lora"/>
            </a:endParaRPr>
          </a:p>
          <a:p>
            <a:pPr indent="-292100" lvl="1" marL="914400" rtl="0" algn="l">
              <a:lnSpc>
                <a:spcPct val="150000"/>
              </a:lnSpc>
              <a:spcBef>
                <a:spcPts val="0"/>
              </a:spcBef>
              <a:spcAft>
                <a:spcPts val="0"/>
              </a:spcAft>
              <a:buClr>
                <a:schemeClr val="dk1"/>
              </a:buClr>
              <a:buSzPts val="1000"/>
              <a:buFont typeface="Lora"/>
              <a:buAutoNum type="alphaLcPeriod"/>
            </a:pPr>
            <a:r>
              <a:rPr b="1" lang="en" sz="1000">
                <a:solidFill>
                  <a:srgbClr val="505050"/>
                </a:solidFill>
                <a:latin typeface="Roboto Mono"/>
                <a:ea typeface="Roboto Mono"/>
                <a:cs typeface="Roboto Mono"/>
                <a:sym typeface="Roboto Mono"/>
              </a:rPr>
              <a:t>@app</a:t>
            </a:r>
            <a:r>
              <a:rPr b="1" lang="en" sz="1000">
                <a:solidFill>
                  <a:schemeClr val="dk1"/>
                </a:solidFill>
                <a:latin typeface="Roboto Mono"/>
                <a:ea typeface="Roboto Mono"/>
                <a:cs typeface="Roboto Mono"/>
                <a:sym typeface="Roboto Mono"/>
              </a:rPr>
              <a:t>.</a:t>
            </a:r>
            <a:r>
              <a:rPr b="1" lang="en" sz="1000">
                <a:solidFill>
                  <a:srgbClr val="572000"/>
                </a:solidFill>
                <a:latin typeface="Roboto Mono"/>
                <a:ea typeface="Roboto Mono"/>
                <a:cs typeface="Roboto Mono"/>
                <a:sym typeface="Roboto Mono"/>
              </a:rPr>
              <a:t>get</a:t>
            </a:r>
            <a:r>
              <a:rPr b="1" lang="en" sz="1000">
                <a:solidFill>
                  <a:schemeClr val="dk1"/>
                </a:solidFill>
                <a:latin typeface="Roboto Mono"/>
                <a:ea typeface="Roboto Mono"/>
                <a:cs typeface="Roboto Mono"/>
                <a:sym typeface="Roboto Mono"/>
              </a:rPr>
              <a:t>(</a:t>
            </a:r>
            <a:r>
              <a:rPr b="1" lang="en" sz="1000">
                <a:solidFill>
                  <a:srgbClr val="A01010"/>
                </a:solidFill>
                <a:latin typeface="Roboto Mono"/>
                <a:ea typeface="Roboto Mono"/>
                <a:cs typeface="Roboto Mono"/>
                <a:sym typeface="Roboto Mono"/>
              </a:rPr>
              <a:t>"/read_root"</a:t>
            </a:r>
            <a:r>
              <a:rPr b="1" lang="en" sz="1000">
                <a:solidFill>
                  <a:schemeClr val="dk1"/>
                </a:solidFill>
                <a:latin typeface="Roboto Mono"/>
                <a:ea typeface="Roboto Mono"/>
                <a:cs typeface="Roboto Mono"/>
                <a:sym typeface="Roboto Mono"/>
              </a:rPr>
              <a:t>)</a:t>
            </a:r>
            <a:endParaRPr b="1" sz="1000">
              <a:solidFill>
                <a:schemeClr val="dk1"/>
              </a:solidFill>
              <a:latin typeface="Roboto Mono"/>
              <a:ea typeface="Roboto Mono"/>
              <a:cs typeface="Roboto Mono"/>
              <a:sym typeface="Roboto Mono"/>
            </a:endParaRPr>
          </a:p>
          <a:p>
            <a:pPr indent="-292100" lvl="1" marL="914400" rtl="0" algn="l">
              <a:lnSpc>
                <a:spcPct val="150000"/>
              </a:lnSpc>
              <a:spcBef>
                <a:spcPts val="0"/>
              </a:spcBef>
              <a:spcAft>
                <a:spcPts val="0"/>
              </a:spcAft>
              <a:buClr>
                <a:schemeClr val="dk1"/>
              </a:buClr>
              <a:buSzPts val="1000"/>
              <a:buFont typeface="Lora"/>
              <a:buAutoNum type="alphaLcPeriod"/>
            </a:pPr>
            <a:r>
              <a:rPr b="1" lang="en" sz="1000">
                <a:solidFill>
                  <a:srgbClr val="700080"/>
                </a:solidFill>
                <a:latin typeface="Roboto Mono"/>
                <a:ea typeface="Roboto Mono"/>
                <a:cs typeface="Roboto Mono"/>
                <a:sym typeface="Roboto Mono"/>
              </a:rPr>
              <a:t>async</a:t>
            </a:r>
            <a:r>
              <a:rPr lang="en" sz="1000">
                <a:solidFill>
                  <a:schemeClr val="dk1"/>
                </a:solidFill>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def</a:t>
            </a:r>
            <a:r>
              <a:rPr lang="en" sz="1000">
                <a:solidFill>
                  <a:schemeClr val="dk1"/>
                </a:solidFill>
                <a:latin typeface="Roboto Mono"/>
                <a:ea typeface="Roboto Mono"/>
                <a:cs typeface="Roboto Mono"/>
                <a:sym typeface="Roboto Mono"/>
              </a:rPr>
              <a:t> </a:t>
            </a:r>
            <a:r>
              <a:rPr lang="en" sz="1000">
                <a:solidFill>
                  <a:srgbClr val="0000F0"/>
                </a:solidFill>
                <a:latin typeface="Roboto Mono"/>
                <a:ea typeface="Roboto Mono"/>
                <a:cs typeface="Roboto Mono"/>
                <a:sym typeface="Roboto Mono"/>
              </a:rPr>
              <a:t>read_root</a:t>
            </a:r>
            <a:r>
              <a:rPr lang="en" sz="1000">
                <a:solidFill>
                  <a:schemeClr val="dk1"/>
                </a:solidFill>
                <a:latin typeface="Roboto Mono"/>
                <a:ea typeface="Roboto Mono"/>
                <a:cs typeface="Roboto Mono"/>
                <a:sym typeface="Roboto Mono"/>
              </a:rPr>
              <a:t>():</a:t>
            </a:r>
            <a:endParaRPr sz="1000">
              <a:solidFill>
                <a:schemeClr val="dk1"/>
              </a:solidFill>
              <a:latin typeface="Roboto Mono"/>
              <a:ea typeface="Roboto Mono"/>
              <a:cs typeface="Roboto Mono"/>
              <a:sym typeface="Roboto Mono"/>
            </a:endParaRPr>
          </a:p>
          <a:p>
            <a:pPr indent="-292100" lvl="1" marL="914400" rtl="0" algn="l">
              <a:lnSpc>
                <a:spcPct val="150000"/>
              </a:lnSpc>
              <a:spcBef>
                <a:spcPts val="0"/>
              </a:spcBef>
              <a:spcAft>
                <a:spcPts val="0"/>
              </a:spcAft>
              <a:buClr>
                <a:schemeClr val="dk1"/>
              </a:buClr>
              <a:buSzPts val="1000"/>
              <a:buFont typeface="Lora"/>
              <a:buAutoNum type="alphaLcPeriod"/>
            </a:pPr>
            <a:r>
              <a:rPr lang="en" sz="1000">
                <a:solidFill>
                  <a:schemeClr val="dk1"/>
                </a:solidFill>
                <a:latin typeface="Roboto Mono"/>
                <a:ea typeface="Roboto Mono"/>
                <a:cs typeface="Roboto Mono"/>
                <a:sym typeface="Roboto Mono"/>
              </a:rPr>
              <a:t>   “””/read_root”””</a:t>
            </a:r>
            <a:endParaRPr sz="1000">
              <a:solidFill>
                <a:schemeClr val="dk1"/>
              </a:solidFill>
              <a:latin typeface="Roboto Mono"/>
              <a:ea typeface="Roboto Mono"/>
              <a:cs typeface="Roboto Mono"/>
              <a:sym typeface="Roboto Mono"/>
            </a:endParaRPr>
          </a:p>
          <a:p>
            <a:pPr indent="-292100" lvl="1" marL="914400" rtl="0" algn="l">
              <a:lnSpc>
                <a:spcPct val="150000"/>
              </a:lnSpc>
              <a:spcBef>
                <a:spcPts val="0"/>
              </a:spcBef>
              <a:spcAft>
                <a:spcPts val="0"/>
              </a:spcAft>
              <a:buClr>
                <a:schemeClr val="dk1"/>
              </a:buClr>
              <a:buSzPts val="1000"/>
              <a:buFont typeface="Lora"/>
              <a:buAutoNum type="alphaLcPeriod"/>
            </a:pPr>
            <a:r>
              <a:rPr lang="en" sz="1000">
                <a:solidFill>
                  <a:schemeClr val="dk1"/>
                </a:solidFill>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return</a:t>
            </a:r>
            <a:r>
              <a:rPr lang="en" sz="1000">
                <a:solidFill>
                  <a:schemeClr val="dk1"/>
                </a:solidFill>
                <a:latin typeface="Roboto Mono"/>
                <a:ea typeface="Roboto Mono"/>
                <a:cs typeface="Roboto Mono"/>
                <a:sym typeface="Roboto Mono"/>
              </a:rPr>
              <a:t> {</a:t>
            </a:r>
            <a:r>
              <a:rPr lang="en" sz="1000">
                <a:solidFill>
                  <a:srgbClr val="A01010"/>
                </a:solidFill>
                <a:latin typeface="Roboto Mono"/>
                <a:ea typeface="Roboto Mono"/>
                <a:cs typeface="Roboto Mono"/>
                <a:sym typeface="Roboto Mono"/>
              </a:rPr>
              <a:t>"/read_root”</a:t>
            </a:r>
            <a:r>
              <a:rPr lang="en" sz="1000">
                <a:solidFill>
                  <a:schemeClr val="dk1"/>
                </a:solidFill>
                <a:latin typeface="Roboto Mono"/>
                <a:ea typeface="Roboto Mono"/>
                <a:cs typeface="Roboto Mono"/>
                <a:sym typeface="Roboto Mono"/>
              </a:rPr>
              <a:t>}  </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What is the generally recommended order for the following Dockerfile instructions when building a typical application?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COPY . . → FROM → WORKDIR → ENTRYPOINT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FROM → WORKDIR → COPY . . → ENTRYPOINT</a:t>
            </a:r>
            <a:endParaRPr b="1"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ENTRYPOINT → FROM → COPY . . → WORKDIR</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FROM → COPY . . → WORKDIR → ENTRYPOINT</a:t>
            </a:r>
            <a:endParaRPr sz="1000">
              <a:solidFill>
                <a:schemeClr val="dk1"/>
              </a:solidFill>
              <a:latin typeface="Lora"/>
              <a:ea typeface="Lora"/>
              <a:cs typeface="Lora"/>
              <a:sym typeface="Lora"/>
            </a:endParaRPr>
          </a:p>
        </p:txBody>
      </p:sp>
      <p:sp>
        <p:nvSpPr>
          <p:cNvPr id="71" name="Google Shape;71;p15"/>
          <p:cNvSpPr txBox="1"/>
          <p:nvPr/>
        </p:nvSpPr>
        <p:spPr>
          <a:xfrm>
            <a:off x="4830300" y="777175"/>
            <a:ext cx="3923700" cy="44100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chemeClr val="dk1"/>
              </a:buClr>
              <a:buSzPts val="1000"/>
              <a:buFont typeface="Lora"/>
              <a:buAutoNum type="arabicPeriod" startAt="3"/>
            </a:pPr>
            <a:r>
              <a:rPr lang="en" sz="1000">
                <a:solidFill>
                  <a:schemeClr val="dk1"/>
                </a:solidFill>
                <a:latin typeface="Lora"/>
                <a:ea typeface="Lora"/>
                <a:cs typeface="Lora"/>
                <a:sym typeface="Lora"/>
              </a:rPr>
              <a:t>Which of the following is an analogy of how an API works?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 chef following a recipe to bake a cake.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 librarian organizing books on shelves.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A power outlet providing electricity to an appliance.</a:t>
            </a:r>
            <a:endParaRPr b="1"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 painter mixing colors on a palette.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startAt="3"/>
            </a:pPr>
            <a:r>
              <a:rPr lang="en" sz="1000">
                <a:solidFill>
                  <a:schemeClr val="dk1"/>
                </a:solidFill>
                <a:latin typeface="Lora"/>
                <a:ea typeface="Lora"/>
                <a:cs typeface="Lora"/>
                <a:sym typeface="Lora"/>
              </a:rPr>
              <a:t>What is "REST" in "RESTful API"?</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 contract defining how software components interact </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A specific style of rules/standards for how to build an API</a:t>
            </a:r>
            <a:endParaRPr b="1"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GET, POST, PUT, DELETE methods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Locally on AIMS servers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startAt="3"/>
            </a:pPr>
            <a:r>
              <a:rPr lang="en" sz="1000">
                <a:solidFill>
                  <a:schemeClr val="dk1"/>
                </a:solidFill>
                <a:latin typeface="Lora"/>
                <a:ea typeface="Lora"/>
                <a:cs typeface="Lora"/>
                <a:sym typeface="Lora"/>
              </a:rPr>
              <a:t>Which of the following is a benefit of using a hypervisor virtualization over Docker containers?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Faster startup times and lower resource consumption.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Enhanced application portability and simplified dependency management.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More efficient sharing of the host operating system kernel.</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More efficient management of the hardware resources</a:t>
            </a:r>
            <a:endParaRPr b="1" sz="1000">
              <a:solidFill>
                <a:schemeClr val="dk1"/>
              </a:solidFill>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125" y="575250"/>
            <a:ext cx="9144000" cy="14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700">
                <a:solidFill>
                  <a:schemeClr val="dk2"/>
                </a:solidFill>
                <a:latin typeface="Lora"/>
                <a:ea typeface="Lora"/>
                <a:cs typeface="Lora"/>
                <a:sym typeface="Lora"/>
              </a:rPr>
              <a:t>Designing and Deploying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end-to-end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Production Grade ML Applications</a:t>
            </a:r>
            <a:endParaRPr sz="3700">
              <a:solidFill>
                <a:schemeClr val="dk2"/>
              </a:solidFill>
              <a:latin typeface="Lora"/>
              <a:ea typeface="Lora"/>
              <a:cs typeface="Lora"/>
              <a:sym typeface="Lora"/>
            </a:endParaRPr>
          </a:p>
          <a:p>
            <a:pPr indent="0" lvl="0" marL="0" rtl="0" algn="ctr">
              <a:spcBef>
                <a:spcPts val="0"/>
              </a:spcBef>
              <a:spcAft>
                <a:spcPts val="0"/>
              </a:spcAft>
              <a:buNone/>
            </a:pPr>
            <a:r>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2800">
                <a:solidFill>
                  <a:schemeClr val="dk2"/>
                </a:solidFill>
                <a:latin typeface="Lora"/>
                <a:ea typeface="Lora"/>
                <a:cs typeface="Lora"/>
                <a:sym typeface="Lora"/>
              </a:rPr>
              <a:t> </a:t>
            </a:r>
            <a:r>
              <a:rPr lang="en" sz="2800">
                <a:solidFill>
                  <a:schemeClr val="dk2"/>
                </a:solidFill>
                <a:latin typeface="Lora"/>
                <a:ea typeface="Lora"/>
                <a:cs typeface="Lora"/>
                <a:sym typeface="Lora"/>
              </a:rPr>
              <a:t>Lecture 3</a:t>
            </a:r>
            <a:r>
              <a:rPr lang="en" sz="2800">
                <a:solidFill>
                  <a:schemeClr val="dk2"/>
                </a:solidFill>
                <a:latin typeface="Lora"/>
                <a:ea typeface="Lora"/>
                <a:cs typeface="Lora"/>
                <a:sym typeface="Lora"/>
              </a:rPr>
              <a:t>: Software Development Best Practices</a:t>
            </a:r>
            <a:endParaRPr sz="2800">
              <a:solidFill>
                <a:schemeClr val="dk2"/>
              </a:solidFill>
              <a:latin typeface="Lora"/>
              <a:ea typeface="Lora"/>
              <a:cs typeface="Lora"/>
              <a:sym typeface="Lora"/>
            </a:endParaRPr>
          </a:p>
          <a:p>
            <a:pPr indent="0" lvl="0" marL="0" rtl="0" algn="ctr">
              <a:spcBef>
                <a:spcPts val="0"/>
              </a:spcBef>
              <a:spcAft>
                <a:spcPts val="0"/>
              </a:spcAft>
              <a:buClr>
                <a:schemeClr val="dk1"/>
              </a:buClr>
              <a:buSzPts val="1100"/>
              <a:buFont typeface="Arial"/>
              <a:buNone/>
            </a:pPr>
            <a:r>
              <a:t/>
            </a:r>
            <a:endParaRPr sz="28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 </a:t>
            </a:r>
            <a:endParaRPr sz="3700">
              <a:solidFill>
                <a:schemeClr val="dk2"/>
              </a:solidFill>
              <a:latin typeface="Lora"/>
              <a:ea typeface="Lora"/>
              <a:cs typeface="Lora"/>
              <a:sym typeface="Lora"/>
            </a:endParaRPr>
          </a:p>
        </p:txBody>
      </p:sp>
      <p:sp>
        <p:nvSpPr>
          <p:cNvPr id="77" name="Google Shape;77;p16"/>
          <p:cNvSpPr txBox="1"/>
          <p:nvPr/>
        </p:nvSpPr>
        <p:spPr>
          <a:xfrm>
            <a:off x="-117" y="3762550"/>
            <a:ext cx="9144000" cy="800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October 2025</a:t>
            </a:r>
            <a:endParaRPr sz="1600">
              <a:solidFill>
                <a:schemeClr val="dk2"/>
              </a:solidFill>
              <a:latin typeface="Lora"/>
              <a:ea typeface="Lora"/>
              <a:cs typeface="Lora"/>
              <a:sym typeface="Lora"/>
            </a:endParaRPr>
          </a:p>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Cyrille Feudjio &amp; </a:t>
            </a:r>
            <a:r>
              <a:rPr lang="en" sz="1600">
                <a:solidFill>
                  <a:schemeClr val="dk2"/>
                </a:solidFill>
                <a:latin typeface="Lora"/>
                <a:ea typeface="Lora"/>
                <a:cs typeface="Lora"/>
                <a:sym typeface="Lora"/>
              </a:rPr>
              <a:t>Oliver Angélil </a:t>
            </a:r>
            <a:endParaRPr sz="1600">
              <a:solidFill>
                <a:schemeClr val="dk2"/>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i="0" lang="en" sz="2400" u="none" cap="none" strike="noStrike">
                <a:solidFill>
                  <a:srgbClr val="000000"/>
                </a:solidFill>
                <a:latin typeface="Lora"/>
                <a:ea typeface="Lora"/>
                <a:cs typeface="Lora"/>
                <a:sym typeface="Lora"/>
              </a:rPr>
              <a:t>Contents of this lecture</a:t>
            </a:r>
            <a:endParaRPr i="0" sz="700" u="none" cap="none" strike="noStrike">
              <a:solidFill>
                <a:srgbClr val="000000"/>
              </a:solidFill>
              <a:latin typeface="Lora"/>
              <a:ea typeface="Lora"/>
              <a:cs typeface="Lora"/>
              <a:sym typeface="Lora"/>
            </a:endParaRPr>
          </a:p>
        </p:txBody>
      </p:sp>
      <p:sp>
        <p:nvSpPr>
          <p:cNvPr id="83" name="Google Shape;83;p17"/>
          <p:cNvSpPr txBox="1"/>
          <p:nvPr/>
        </p:nvSpPr>
        <p:spPr>
          <a:xfrm>
            <a:off x="714025" y="794700"/>
            <a:ext cx="5760000" cy="2216400"/>
          </a:xfrm>
          <a:prstGeom prst="rect">
            <a:avLst/>
          </a:prstGeom>
          <a:noFill/>
          <a:ln>
            <a:noFill/>
          </a:ln>
        </p:spPr>
        <p:txBody>
          <a:bodyPr anchorCtr="0" anchor="t" bIns="91425" lIns="91425" spcFirstLastPara="1" rIns="91425" wrap="square" tIns="91425">
            <a:spAutoFit/>
          </a:bodyPr>
          <a:lstStyle/>
          <a:p>
            <a:pPr indent="-304800" lvl="0" marL="457200" rtl="0" algn="l">
              <a:lnSpc>
                <a:spcPct val="200000"/>
              </a:lnSpc>
              <a:spcBef>
                <a:spcPts val="1200"/>
              </a:spcBef>
              <a:spcAft>
                <a:spcPts val="0"/>
              </a:spcAft>
              <a:buSzPts val="1200"/>
              <a:buFont typeface="Lora"/>
              <a:buAutoNum type="arabicPeriod"/>
            </a:pPr>
            <a:r>
              <a:rPr lang="en" sz="1200">
                <a:latin typeface="Lora"/>
                <a:ea typeface="Lora"/>
                <a:cs typeface="Lora"/>
                <a:sym typeface="Lora"/>
              </a:rPr>
              <a:t>Why Best Practices Matter</a:t>
            </a:r>
            <a:endParaRPr sz="1200">
              <a:latin typeface="Lora"/>
              <a:ea typeface="Lora"/>
              <a:cs typeface="Lora"/>
              <a:sym typeface="Lora"/>
            </a:endParaRPr>
          </a:p>
          <a:p>
            <a:pPr indent="-304800" lvl="0" marL="457200" rtl="0" algn="l">
              <a:lnSpc>
                <a:spcPct val="200000"/>
              </a:lnSpc>
              <a:spcBef>
                <a:spcPts val="0"/>
              </a:spcBef>
              <a:spcAft>
                <a:spcPts val="0"/>
              </a:spcAft>
              <a:buSzPts val="1200"/>
              <a:buFont typeface="Lora"/>
              <a:buAutoNum type="arabicPeriod"/>
            </a:pPr>
            <a:r>
              <a:rPr lang="en" sz="1200">
                <a:latin typeface="Lora"/>
                <a:ea typeface="Lora"/>
                <a:cs typeface="Lora"/>
                <a:sym typeface="Lora"/>
              </a:rPr>
              <a:t>Writing Clean &amp; Maintainable Code</a:t>
            </a:r>
            <a:endParaRPr sz="1200">
              <a:latin typeface="Lora"/>
              <a:ea typeface="Lora"/>
              <a:cs typeface="Lora"/>
              <a:sym typeface="Lora"/>
            </a:endParaRPr>
          </a:p>
          <a:p>
            <a:pPr indent="-304800" lvl="0" marL="457200" rtl="0" algn="l">
              <a:lnSpc>
                <a:spcPct val="200000"/>
              </a:lnSpc>
              <a:spcBef>
                <a:spcPts val="0"/>
              </a:spcBef>
              <a:spcAft>
                <a:spcPts val="0"/>
              </a:spcAft>
              <a:buSzPts val="1200"/>
              <a:buFont typeface="Lora"/>
              <a:buAutoNum type="arabicPeriod"/>
            </a:pPr>
            <a:r>
              <a:rPr lang="en" sz="1200">
                <a:latin typeface="Lora"/>
                <a:ea typeface="Lora"/>
                <a:cs typeface="Lora"/>
                <a:sym typeface="Lora"/>
              </a:rPr>
              <a:t>Effective Testing Strategies</a:t>
            </a:r>
            <a:endParaRPr sz="1200">
              <a:latin typeface="Lora"/>
              <a:ea typeface="Lora"/>
              <a:cs typeface="Lora"/>
              <a:sym typeface="Lora"/>
            </a:endParaRPr>
          </a:p>
          <a:p>
            <a:pPr indent="-304800" lvl="0" marL="457200" rtl="0" algn="l">
              <a:lnSpc>
                <a:spcPct val="200000"/>
              </a:lnSpc>
              <a:spcBef>
                <a:spcPts val="0"/>
              </a:spcBef>
              <a:spcAft>
                <a:spcPts val="0"/>
              </a:spcAft>
              <a:buSzPts val="1200"/>
              <a:buFont typeface="Lora"/>
              <a:buAutoNum type="arabicPeriod"/>
            </a:pPr>
            <a:r>
              <a:rPr lang="en" sz="1200">
                <a:latin typeface="Lora"/>
                <a:ea typeface="Lora"/>
                <a:cs typeface="Lora"/>
                <a:sym typeface="Lora"/>
              </a:rPr>
              <a:t>Version Control &amp; Collaboration</a:t>
            </a:r>
            <a:endParaRPr sz="1200">
              <a:latin typeface="Lora"/>
              <a:ea typeface="Lora"/>
              <a:cs typeface="Lora"/>
              <a:sym typeface="Lora"/>
            </a:endParaRPr>
          </a:p>
          <a:p>
            <a:pPr indent="-304800" lvl="0" marL="457200" rtl="0" algn="l">
              <a:lnSpc>
                <a:spcPct val="200000"/>
              </a:lnSpc>
              <a:spcBef>
                <a:spcPts val="0"/>
              </a:spcBef>
              <a:spcAft>
                <a:spcPts val="0"/>
              </a:spcAft>
              <a:buSzPts val="1200"/>
              <a:buFont typeface="Lora"/>
              <a:buAutoNum type="arabicPeriod"/>
            </a:pPr>
            <a:r>
              <a:rPr lang="en" sz="1200">
                <a:solidFill>
                  <a:schemeClr val="dk1"/>
                </a:solidFill>
                <a:latin typeface="Lora"/>
                <a:ea typeface="Lora"/>
                <a:cs typeface="Lora"/>
                <a:sym typeface="Lora"/>
              </a:rPr>
              <a:t>Code Quality Checks</a:t>
            </a:r>
            <a:endParaRPr sz="1200">
              <a:latin typeface="Lora"/>
              <a:ea typeface="Lora"/>
              <a:cs typeface="Lora"/>
              <a:sym typeface="Lora"/>
            </a:endParaRPr>
          </a:p>
          <a:p>
            <a:pPr indent="-304800" lvl="0" marL="457200" rtl="0" algn="l">
              <a:lnSpc>
                <a:spcPct val="20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Conclusion &amp; Key Takeaways</a:t>
            </a:r>
            <a:endParaRPr sz="1200">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1. </a:t>
            </a:r>
            <a:r>
              <a:rPr lang="en" sz="2400">
                <a:solidFill>
                  <a:schemeClr val="dk1"/>
                </a:solidFill>
                <a:latin typeface="Lora"/>
                <a:ea typeface="Lora"/>
                <a:cs typeface="Lora"/>
                <a:sym typeface="Lora"/>
              </a:rPr>
              <a:t>Why</a:t>
            </a:r>
            <a:r>
              <a:rPr lang="en" sz="2400">
                <a:solidFill>
                  <a:schemeClr val="dk1"/>
                </a:solidFill>
                <a:latin typeface="Lora"/>
                <a:ea typeface="Lora"/>
                <a:cs typeface="Lora"/>
                <a:sym typeface="Lora"/>
              </a:rPr>
              <a:t> Do Best Practices Matter?</a:t>
            </a:r>
            <a:endParaRPr i="0" sz="2400" u="none" cap="none" strike="noStrike">
              <a:solidFill>
                <a:srgbClr val="000000"/>
              </a:solidFill>
              <a:latin typeface="Lora"/>
              <a:ea typeface="Lora"/>
              <a:cs typeface="Lora"/>
              <a:sym typeface="Lora"/>
            </a:endParaRPr>
          </a:p>
        </p:txBody>
      </p:sp>
      <p:sp>
        <p:nvSpPr>
          <p:cNvPr id="89" name="Google Shape;89;p18"/>
          <p:cNvSpPr txBox="1"/>
          <p:nvPr/>
        </p:nvSpPr>
        <p:spPr>
          <a:xfrm>
            <a:off x="612900" y="1094100"/>
            <a:ext cx="7473300" cy="2216400"/>
          </a:xfrm>
          <a:prstGeom prst="rect">
            <a:avLst/>
          </a:prstGeom>
          <a:noFill/>
          <a:ln>
            <a:noFill/>
          </a:ln>
        </p:spPr>
        <p:txBody>
          <a:bodyPr anchorCtr="0" anchor="t" bIns="91425" lIns="91425" spcFirstLastPara="1" rIns="91425" wrap="square" tIns="91425">
            <a:spAutoFit/>
          </a:bodyPr>
          <a:lstStyle/>
          <a:p>
            <a:pPr indent="-304800" lvl="0" marL="457200" rtl="0" algn="l">
              <a:lnSpc>
                <a:spcPct val="200000"/>
              </a:lnSpc>
              <a:spcBef>
                <a:spcPts val="1200"/>
              </a:spcBef>
              <a:spcAft>
                <a:spcPts val="0"/>
              </a:spcAft>
              <a:buSzPts val="1200"/>
              <a:buFont typeface="Lora"/>
              <a:buChar char="●"/>
            </a:pPr>
            <a:r>
              <a:rPr lang="en" sz="1200">
                <a:latin typeface="Lora"/>
                <a:ea typeface="Lora"/>
                <a:cs typeface="Lora"/>
                <a:sym typeface="Lora"/>
              </a:rPr>
              <a:t>Improved Code Quality &amp; Readability</a:t>
            </a:r>
            <a:endParaRPr sz="1200">
              <a:latin typeface="Lora"/>
              <a:ea typeface="Lora"/>
              <a:cs typeface="Lora"/>
              <a:sym typeface="Lora"/>
            </a:endParaRPr>
          </a:p>
          <a:p>
            <a:pPr indent="-304800" lvl="0" marL="457200" rtl="0" algn="l">
              <a:lnSpc>
                <a:spcPct val="200000"/>
              </a:lnSpc>
              <a:spcBef>
                <a:spcPts val="0"/>
              </a:spcBef>
              <a:spcAft>
                <a:spcPts val="0"/>
              </a:spcAft>
              <a:buSzPts val="1200"/>
              <a:buFont typeface="Lora"/>
              <a:buChar char="●"/>
            </a:pPr>
            <a:r>
              <a:rPr lang="en" sz="1200">
                <a:latin typeface="Lora"/>
                <a:ea typeface="Lora"/>
                <a:cs typeface="Lora"/>
                <a:sym typeface="Lora"/>
              </a:rPr>
              <a:t>Enhanced Maintainability &amp; Scalability </a:t>
            </a:r>
            <a:endParaRPr sz="1200">
              <a:latin typeface="Lora"/>
              <a:ea typeface="Lora"/>
              <a:cs typeface="Lora"/>
              <a:sym typeface="Lora"/>
            </a:endParaRPr>
          </a:p>
          <a:p>
            <a:pPr indent="-304800" lvl="0" marL="457200" rtl="0" algn="l">
              <a:lnSpc>
                <a:spcPct val="200000"/>
              </a:lnSpc>
              <a:spcBef>
                <a:spcPts val="0"/>
              </a:spcBef>
              <a:spcAft>
                <a:spcPts val="0"/>
              </a:spcAft>
              <a:buSzPts val="1200"/>
              <a:buFont typeface="Lora"/>
              <a:buChar char="●"/>
            </a:pPr>
            <a:r>
              <a:rPr lang="en" sz="1200">
                <a:latin typeface="Lora"/>
                <a:ea typeface="Lora"/>
                <a:cs typeface="Lora"/>
                <a:sym typeface="Lora"/>
              </a:rPr>
              <a:t>Reduced Bugs &amp; Faster Debugging </a:t>
            </a:r>
            <a:endParaRPr sz="1200">
              <a:latin typeface="Lora"/>
              <a:ea typeface="Lora"/>
              <a:cs typeface="Lora"/>
              <a:sym typeface="Lora"/>
            </a:endParaRPr>
          </a:p>
          <a:p>
            <a:pPr indent="-304800" lvl="0" marL="457200" rtl="0" algn="l">
              <a:lnSpc>
                <a:spcPct val="200000"/>
              </a:lnSpc>
              <a:spcBef>
                <a:spcPts val="0"/>
              </a:spcBef>
              <a:spcAft>
                <a:spcPts val="0"/>
              </a:spcAft>
              <a:buSzPts val="1200"/>
              <a:buFont typeface="Lora"/>
              <a:buChar char="●"/>
            </a:pPr>
            <a:r>
              <a:rPr lang="en" sz="1200">
                <a:latin typeface="Lora"/>
                <a:ea typeface="Lora"/>
                <a:cs typeface="Lora"/>
                <a:sym typeface="Lora"/>
              </a:rPr>
              <a:t>Easier Onboarding for New Team Members</a:t>
            </a:r>
            <a:endParaRPr sz="1200">
              <a:latin typeface="Lora"/>
              <a:ea typeface="Lora"/>
              <a:cs typeface="Lora"/>
              <a:sym typeface="Lora"/>
            </a:endParaRPr>
          </a:p>
          <a:p>
            <a:pPr indent="-304800" lvl="0" marL="457200" rtl="0" algn="l">
              <a:lnSpc>
                <a:spcPct val="200000"/>
              </a:lnSpc>
              <a:spcBef>
                <a:spcPts val="0"/>
              </a:spcBef>
              <a:spcAft>
                <a:spcPts val="0"/>
              </a:spcAft>
              <a:buSzPts val="1200"/>
              <a:buFont typeface="Lora"/>
              <a:buChar char="●"/>
            </a:pPr>
            <a:r>
              <a:rPr lang="en" sz="1200">
                <a:latin typeface="Lora"/>
                <a:ea typeface="Lora"/>
                <a:cs typeface="Lora"/>
                <a:sym typeface="Lora"/>
              </a:rPr>
              <a:t>Better Collaboration </a:t>
            </a:r>
            <a:endParaRPr sz="1200">
              <a:latin typeface="Lora"/>
              <a:ea typeface="Lora"/>
              <a:cs typeface="Lora"/>
              <a:sym typeface="Lora"/>
            </a:endParaRPr>
          </a:p>
          <a:p>
            <a:pPr indent="-304800" lvl="0" marL="457200" rtl="0" algn="l">
              <a:lnSpc>
                <a:spcPct val="200000"/>
              </a:lnSpc>
              <a:spcBef>
                <a:spcPts val="0"/>
              </a:spcBef>
              <a:spcAft>
                <a:spcPts val="0"/>
              </a:spcAft>
              <a:buSzPts val="1200"/>
              <a:buFont typeface="Lora"/>
              <a:buChar char="●"/>
            </a:pPr>
            <a:r>
              <a:rPr lang="en" sz="1200">
                <a:latin typeface="Lora"/>
                <a:ea typeface="Lora"/>
                <a:cs typeface="Lora"/>
                <a:sym typeface="Lora"/>
              </a:rPr>
              <a:t>Increased Reliability &amp; Stability</a:t>
            </a:r>
            <a:endParaRPr sz="1200">
              <a:latin typeface="Lora"/>
              <a:ea typeface="Lora"/>
              <a:cs typeface="Lora"/>
              <a:sym typeface="L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nvSpPr>
        <p:spPr>
          <a:xfrm>
            <a:off x="612896" y="243588"/>
            <a:ext cx="8128500" cy="9174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a:t>
            </a:r>
            <a:r>
              <a:rPr i="0" lang="en" sz="2400" u="none" cap="none" strike="noStrike">
                <a:solidFill>
                  <a:srgbClr val="000000"/>
                </a:solidFill>
                <a:latin typeface="Lora"/>
                <a:ea typeface="Lora"/>
                <a:cs typeface="Lora"/>
                <a:sym typeface="Lora"/>
              </a:rPr>
              <a:t>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1200"/>
              </a:spcAft>
              <a:buClr>
                <a:schemeClr val="dk1"/>
              </a:buClr>
              <a:buSzPts val="1100"/>
              <a:buFont typeface="Arial"/>
              <a:buNone/>
            </a:pPr>
            <a:r>
              <a:rPr lang="en" sz="1600">
                <a:latin typeface="Lora"/>
                <a:ea typeface="Lora"/>
                <a:cs typeface="Lora"/>
                <a:sym typeface="Lora"/>
              </a:rPr>
              <a:t>Tools: PEP8  </a:t>
            </a:r>
            <a:endParaRPr sz="2400">
              <a:latin typeface="Lora"/>
              <a:ea typeface="Lora"/>
              <a:cs typeface="Lora"/>
              <a:sym typeface="Lora"/>
            </a:endParaRPr>
          </a:p>
        </p:txBody>
      </p:sp>
      <p:sp>
        <p:nvSpPr>
          <p:cNvPr id="95" name="Google Shape;95;p19"/>
          <p:cNvSpPr txBox="1"/>
          <p:nvPr/>
        </p:nvSpPr>
        <p:spPr>
          <a:xfrm>
            <a:off x="535800" y="1356825"/>
            <a:ext cx="7616100" cy="30426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 sz="1200">
                <a:solidFill>
                  <a:schemeClr val="dk1"/>
                </a:solidFill>
                <a:uFill>
                  <a:noFill/>
                </a:uFill>
                <a:latin typeface="Lora"/>
                <a:ea typeface="Lora"/>
                <a:cs typeface="Lora"/>
                <a:sym typeface="Lora"/>
                <a:hlinkClick r:id="rId3">
                  <a:extLst>
                    <a:ext uri="{A12FA001-AC4F-418D-AE19-62706E023703}">
                      <ahyp:hlinkClr val="tx"/>
                    </a:ext>
                  </a:extLst>
                </a:hlinkClick>
              </a:rPr>
              <a:t>PEP8</a:t>
            </a:r>
            <a:r>
              <a:rPr lang="en" sz="1200">
                <a:solidFill>
                  <a:srgbClr val="242729"/>
                </a:solidFill>
                <a:latin typeface="Lora"/>
                <a:ea typeface="Lora"/>
                <a:cs typeface="Lora"/>
                <a:sym typeface="Lora"/>
              </a:rPr>
              <a:t> (Python Enhancement Proposal)</a:t>
            </a:r>
            <a:r>
              <a:rPr lang="en" sz="1200">
                <a:solidFill>
                  <a:srgbClr val="242729"/>
                </a:solidFill>
                <a:latin typeface="Lora"/>
                <a:ea typeface="Lora"/>
                <a:cs typeface="Lora"/>
                <a:sym typeface="Lora"/>
              </a:rPr>
              <a:t>, is a consensus set of style and formatting rules for writing standard style Python, so your code has the right look for anyone else reading or modifying it. </a:t>
            </a:r>
            <a:endParaRPr sz="1200">
              <a:solidFill>
                <a:srgbClr val="242729"/>
              </a:solidFill>
              <a:latin typeface="Lora"/>
              <a:ea typeface="Lora"/>
              <a:cs typeface="Lora"/>
              <a:sym typeface="Lora"/>
            </a:endParaRPr>
          </a:p>
          <a:p>
            <a:pPr indent="0" lvl="0" marL="0" rtl="0" algn="just">
              <a:lnSpc>
                <a:spcPct val="150000"/>
              </a:lnSpc>
              <a:spcBef>
                <a:spcPts val="0"/>
              </a:spcBef>
              <a:spcAft>
                <a:spcPts val="0"/>
              </a:spcAft>
              <a:buNone/>
            </a:pPr>
            <a:r>
              <a:rPr lang="en" sz="1200">
                <a:solidFill>
                  <a:srgbClr val="242729"/>
                </a:solidFill>
                <a:latin typeface="Lora"/>
                <a:ea typeface="Lora"/>
                <a:cs typeface="Lora"/>
                <a:sym typeface="Lora"/>
              </a:rPr>
              <a:t>S</a:t>
            </a:r>
            <a:r>
              <a:rPr lang="en" sz="1200">
                <a:solidFill>
                  <a:srgbClr val="242729"/>
                </a:solidFill>
                <a:latin typeface="Lora"/>
                <a:ea typeface="Lora"/>
                <a:cs typeface="Lora"/>
                <a:sym typeface="Lora"/>
              </a:rPr>
              <a:t>ome important PEP8 rules are:</a:t>
            </a:r>
            <a:endParaRPr sz="1200">
              <a:solidFill>
                <a:srgbClr val="242729"/>
              </a:solidFill>
              <a:latin typeface="Lora"/>
              <a:ea typeface="Lora"/>
              <a:cs typeface="Lora"/>
              <a:sym typeface="Lora"/>
            </a:endParaRPr>
          </a:p>
          <a:p>
            <a:pPr indent="-304800" lvl="0" marL="457200" rtl="0" algn="just">
              <a:lnSpc>
                <a:spcPct val="150000"/>
              </a:lnSpc>
              <a:spcBef>
                <a:spcPts val="1400"/>
              </a:spcBef>
              <a:spcAft>
                <a:spcPts val="0"/>
              </a:spcAft>
              <a:buClr>
                <a:srgbClr val="242729"/>
              </a:buClr>
              <a:buSzPts val="1200"/>
              <a:buFont typeface="Lora"/>
              <a:buChar char="●"/>
            </a:pPr>
            <a:r>
              <a:rPr b="1" lang="en" sz="1200">
                <a:solidFill>
                  <a:srgbClr val="242729"/>
                </a:solidFill>
                <a:latin typeface="Lora"/>
                <a:ea typeface="Lora"/>
                <a:cs typeface="Lora"/>
                <a:sym typeface="Lora"/>
              </a:rPr>
              <a:t>Indent 4 Spaces: </a:t>
            </a:r>
            <a:r>
              <a:rPr lang="en" sz="1200">
                <a:solidFill>
                  <a:srgbClr val="242729"/>
                </a:solidFill>
                <a:latin typeface="Lora"/>
                <a:ea typeface="Lora"/>
                <a:cs typeface="Lora"/>
                <a:sym typeface="Lora"/>
              </a:rPr>
              <a:t>Indent code with 4 spaces. A def/if/for/while line ends with a colon, and its contained lines begin on the next line, all indented by 4 spaces</a:t>
            </a:r>
            <a:endParaRPr b="1" sz="1200">
              <a:solidFill>
                <a:srgbClr val="242729"/>
              </a:solidFill>
              <a:latin typeface="Lora"/>
              <a:ea typeface="Lora"/>
              <a:cs typeface="Lora"/>
              <a:sym typeface="Lora"/>
            </a:endParaRPr>
          </a:p>
          <a:p>
            <a:pPr indent="-304800" lvl="0" marL="457200" rtl="0" algn="just">
              <a:lnSpc>
                <a:spcPct val="150000"/>
              </a:lnSpc>
              <a:spcBef>
                <a:spcPts val="0"/>
              </a:spcBef>
              <a:spcAft>
                <a:spcPts val="0"/>
              </a:spcAft>
              <a:buClr>
                <a:srgbClr val="242729"/>
              </a:buClr>
              <a:buSzPts val="1200"/>
              <a:buFont typeface="Lora"/>
              <a:buChar char="●"/>
            </a:pPr>
            <a:r>
              <a:rPr b="1" lang="en" sz="1200">
                <a:solidFill>
                  <a:srgbClr val="242729"/>
                </a:solidFill>
                <a:latin typeface="Lora"/>
                <a:ea typeface="Lora"/>
                <a:cs typeface="Lora"/>
                <a:sym typeface="Lora"/>
              </a:rPr>
              <a:t>Single Space Between Items: </a:t>
            </a:r>
            <a:r>
              <a:rPr lang="en" sz="1200">
                <a:solidFill>
                  <a:srgbClr val="242729"/>
                </a:solidFill>
                <a:latin typeface="Lora"/>
                <a:ea typeface="Lora"/>
                <a:cs typeface="Lora"/>
                <a:sym typeface="Lora"/>
              </a:rPr>
              <a:t>Most lines of code have a mix of variables and "operators" such as as </a:t>
            </a:r>
            <a:r>
              <a:rPr b="1" lang="en" sz="1200">
                <a:solidFill>
                  <a:srgbClr val="242729"/>
                </a:solidFill>
                <a:latin typeface="Lora"/>
                <a:ea typeface="Lora"/>
                <a:cs typeface="Lora"/>
                <a:sym typeface="Lora"/>
              </a:rPr>
              <a:t>+ * / = &gt;=</a:t>
            </a:r>
            <a:r>
              <a:rPr lang="en" sz="1200">
                <a:solidFill>
                  <a:srgbClr val="242729"/>
                </a:solidFill>
                <a:latin typeface="Lora"/>
                <a:ea typeface="Lora"/>
                <a:cs typeface="Lora"/>
                <a:sym typeface="Lora"/>
              </a:rPr>
              <a:t>. Use a single space to separate the operators and items and operators from each other</a:t>
            </a:r>
            <a:endParaRPr sz="1200">
              <a:solidFill>
                <a:srgbClr val="242729"/>
              </a:solidFill>
              <a:latin typeface="Lora"/>
              <a:ea typeface="Lora"/>
              <a:cs typeface="Lora"/>
              <a:sym typeface="Lora"/>
            </a:endParaRPr>
          </a:p>
          <a:p>
            <a:pPr indent="-304800" lvl="0" marL="457200" rtl="0" algn="just">
              <a:lnSpc>
                <a:spcPct val="150000"/>
              </a:lnSpc>
              <a:spcBef>
                <a:spcPts val="0"/>
              </a:spcBef>
              <a:spcAft>
                <a:spcPts val="0"/>
              </a:spcAft>
              <a:buClr>
                <a:srgbClr val="242729"/>
              </a:buClr>
              <a:buSzPts val="1200"/>
              <a:buFont typeface="Lora"/>
              <a:buChar char="●"/>
            </a:pPr>
            <a:r>
              <a:rPr b="1" lang="en" sz="1200">
                <a:solidFill>
                  <a:srgbClr val="242729"/>
                </a:solidFill>
                <a:latin typeface="Lora"/>
                <a:ea typeface="Lora"/>
                <a:cs typeface="Lora"/>
                <a:sym typeface="Lora"/>
              </a:rPr>
              <a:t>Parenthesis No Space: </a:t>
            </a:r>
            <a:r>
              <a:rPr lang="en" sz="1200">
                <a:solidFill>
                  <a:srgbClr val="242729"/>
                </a:solidFill>
                <a:latin typeface="Lora"/>
                <a:ea typeface="Lora"/>
                <a:cs typeface="Lora"/>
                <a:sym typeface="Lora"/>
              </a:rPr>
              <a:t>The left and right parenthesis and square brackets do not have spaces separating them from their contents.</a:t>
            </a:r>
            <a:endParaRPr sz="1200">
              <a:solidFill>
                <a:srgbClr val="242729"/>
              </a:solidFill>
              <a:latin typeface="Lora"/>
              <a:ea typeface="Lora"/>
              <a:cs typeface="Lora"/>
              <a:sym typeface="Lora"/>
            </a:endParaRPr>
          </a:p>
          <a:p>
            <a:pPr indent="-304800" lvl="0" marL="457200" rtl="0" algn="just">
              <a:lnSpc>
                <a:spcPct val="150000"/>
              </a:lnSpc>
              <a:spcBef>
                <a:spcPts val="0"/>
              </a:spcBef>
              <a:spcAft>
                <a:spcPts val="0"/>
              </a:spcAft>
              <a:buClr>
                <a:srgbClr val="242729"/>
              </a:buClr>
              <a:buSzPts val="1200"/>
              <a:buFont typeface="Lora"/>
              <a:buChar char="●"/>
            </a:pPr>
            <a:r>
              <a:rPr b="1" lang="en" sz="1200">
                <a:solidFill>
                  <a:srgbClr val="242729"/>
                </a:solidFill>
                <a:latin typeface="Lora"/>
                <a:ea typeface="Lora"/>
                <a:cs typeface="Lora"/>
                <a:sym typeface="Lora"/>
              </a:rPr>
              <a:t>Space After Comma/Colon: </a:t>
            </a:r>
            <a:r>
              <a:rPr lang="en" sz="1200">
                <a:solidFill>
                  <a:srgbClr val="242729"/>
                </a:solidFill>
                <a:latin typeface="Lora"/>
                <a:ea typeface="Lora"/>
                <a:cs typeface="Lora"/>
                <a:sym typeface="Lora"/>
              </a:rPr>
              <a:t>A comma or colon has 1 space after it, but no spaces before it.</a:t>
            </a:r>
            <a:endParaRPr sz="1350">
              <a:solidFill>
                <a:srgbClr val="242729"/>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nvSpPr>
        <p:spPr>
          <a:xfrm>
            <a:off x="612896" y="243588"/>
            <a:ext cx="8128500" cy="9174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a:t>
            </a:r>
            <a:r>
              <a:rPr i="0" lang="en" sz="2400" u="none" cap="none" strike="noStrike">
                <a:solidFill>
                  <a:srgbClr val="000000"/>
                </a:solidFill>
                <a:latin typeface="Lora"/>
                <a:ea typeface="Lora"/>
                <a:cs typeface="Lora"/>
                <a:sym typeface="Lora"/>
              </a:rPr>
              <a:t>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1200"/>
              </a:spcAft>
              <a:buClr>
                <a:schemeClr val="dk1"/>
              </a:buClr>
              <a:buSzPts val="1100"/>
              <a:buFont typeface="Arial"/>
              <a:buNone/>
            </a:pPr>
            <a:r>
              <a:rPr lang="en" sz="1600">
                <a:latin typeface="Lora"/>
                <a:ea typeface="Lora"/>
                <a:cs typeface="Lora"/>
                <a:sym typeface="Lora"/>
              </a:rPr>
              <a:t>Tools: </a:t>
            </a:r>
            <a:r>
              <a:rPr lang="en" sz="1600">
                <a:latin typeface="Lora"/>
                <a:ea typeface="Lora"/>
                <a:cs typeface="Lora"/>
                <a:sym typeface="Lora"/>
              </a:rPr>
              <a:t>Ruff</a:t>
            </a:r>
            <a:r>
              <a:rPr lang="en" sz="1600">
                <a:latin typeface="Lora"/>
                <a:ea typeface="Lora"/>
                <a:cs typeface="Lora"/>
                <a:sym typeface="Lora"/>
              </a:rPr>
              <a:t>  </a:t>
            </a:r>
            <a:endParaRPr sz="2400">
              <a:latin typeface="Lora"/>
              <a:ea typeface="Lora"/>
              <a:cs typeface="Lora"/>
              <a:sym typeface="Lora"/>
            </a:endParaRPr>
          </a:p>
        </p:txBody>
      </p:sp>
      <p:sp>
        <p:nvSpPr>
          <p:cNvPr id="101" name="Google Shape;101;p20"/>
          <p:cNvSpPr txBox="1"/>
          <p:nvPr/>
        </p:nvSpPr>
        <p:spPr>
          <a:xfrm>
            <a:off x="535800" y="1356825"/>
            <a:ext cx="76161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400"/>
              </a:spcBef>
              <a:spcAft>
                <a:spcPts val="0"/>
              </a:spcAft>
              <a:buNone/>
            </a:pPr>
            <a:r>
              <a:rPr b="1" lang="en" sz="1200">
                <a:solidFill>
                  <a:schemeClr val="dk1"/>
                </a:solidFill>
                <a:latin typeface="Lora"/>
                <a:ea typeface="Lora"/>
                <a:cs typeface="Lora"/>
                <a:sym typeface="Lora"/>
              </a:rPr>
              <a:t>Ruff</a:t>
            </a:r>
            <a:r>
              <a:rPr lang="en" sz="1200">
                <a:solidFill>
                  <a:schemeClr val="dk1"/>
                </a:solidFill>
                <a:latin typeface="Lora"/>
                <a:ea typeface="Lora"/>
                <a:cs typeface="Lora"/>
                <a:sym typeface="Lora"/>
              </a:rPr>
              <a:t> is a fast linter for Python that enforces PEP8 and other code quality rules. It helps Catch syntax errors and enforce PEP8 styling, Identify unused imports and variables.</a:t>
            </a:r>
            <a:endParaRPr sz="1300">
              <a:solidFill>
                <a:srgbClr val="242729"/>
              </a:solidFill>
              <a:latin typeface="Lora"/>
              <a:ea typeface="Lora"/>
              <a:cs typeface="Lora"/>
              <a:sym typeface="Lora"/>
            </a:endParaRPr>
          </a:p>
        </p:txBody>
      </p:sp>
      <p:sp>
        <p:nvSpPr>
          <p:cNvPr id="102" name="Google Shape;102;p20"/>
          <p:cNvSpPr txBox="1"/>
          <p:nvPr/>
        </p:nvSpPr>
        <p:spPr>
          <a:xfrm>
            <a:off x="612900" y="2084550"/>
            <a:ext cx="7867500" cy="1246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1"/>
                </a:solidFill>
                <a:latin typeface="Lora"/>
                <a:ea typeface="Lora"/>
                <a:cs typeface="Lora"/>
                <a:sym typeface="Lora"/>
              </a:rPr>
              <a:t>why ruff?</a:t>
            </a:r>
            <a:endParaRPr>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Speed</a:t>
            </a:r>
            <a:r>
              <a:rPr lang="en" sz="1200">
                <a:solidFill>
                  <a:schemeClr val="dk1"/>
                </a:solidFill>
                <a:latin typeface="Lora"/>
                <a:ea typeface="Lora"/>
                <a:cs typeface="Lora"/>
                <a:sym typeface="Lora"/>
              </a:rPr>
              <a:t> – Faster than flake8, pylint, black combined. Fast because written in Rust (the "modern C++") </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All-in-One</a:t>
            </a:r>
            <a:r>
              <a:rPr lang="en" sz="1200">
                <a:solidFill>
                  <a:schemeClr val="dk1"/>
                </a:solidFill>
                <a:latin typeface="Lora"/>
                <a:ea typeface="Lora"/>
                <a:cs typeface="Lora"/>
                <a:sym typeface="Lora"/>
              </a:rPr>
              <a:t> – Replaces multiple tools </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H</a:t>
            </a:r>
            <a:r>
              <a:rPr b="1" lang="en" sz="1200">
                <a:solidFill>
                  <a:schemeClr val="dk1"/>
                </a:solidFill>
                <a:latin typeface="Lora"/>
                <a:ea typeface="Lora"/>
                <a:cs typeface="Lora"/>
                <a:sym typeface="Lora"/>
              </a:rPr>
              <a:t>ighly configurable</a:t>
            </a:r>
            <a:r>
              <a:rPr lang="en" sz="1200">
                <a:solidFill>
                  <a:schemeClr val="dk1"/>
                </a:solidFill>
                <a:latin typeface="Lora"/>
                <a:ea typeface="Lora"/>
                <a:cs typeface="Lora"/>
                <a:sym typeface="Lora"/>
              </a:rPr>
              <a:t> – Enable/disable specific rules</a:t>
            </a:r>
            <a:endParaRPr sz="1200">
              <a:solidFill>
                <a:schemeClr val="dk1"/>
              </a:solidFill>
              <a:latin typeface="Lora"/>
              <a:ea typeface="Lora"/>
              <a:cs typeface="Lora"/>
              <a:sym typeface="Lo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nvSpPr>
        <p:spPr>
          <a:xfrm>
            <a:off x="612896" y="243588"/>
            <a:ext cx="8128500" cy="1477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a:t>
            </a:r>
            <a:r>
              <a:rPr i="0" lang="en" sz="2400" u="none" cap="none" strike="noStrike">
                <a:solidFill>
                  <a:srgbClr val="000000"/>
                </a:solidFill>
                <a:latin typeface="Lora"/>
                <a:ea typeface="Lora"/>
                <a:cs typeface="Lora"/>
                <a:sym typeface="Lora"/>
              </a:rPr>
              <a:t>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600">
                <a:latin typeface="Lora"/>
                <a:ea typeface="Lora"/>
                <a:cs typeface="Lora"/>
                <a:sym typeface="Lora"/>
              </a:rPr>
              <a:t>Readability &amp; Naming Conventions</a:t>
            </a:r>
            <a:endParaRPr sz="1600">
              <a:latin typeface="Lora"/>
              <a:ea typeface="Lora"/>
              <a:cs typeface="Lora"/>
              <a:sym typeface="Lora"/>
            </a:endParaRPr>
          </a:p>
          <a:p>
            <a:pPr indent="0" lvl="0" marL="0" marR="0" rtl="0" algn="l">
              <a:lnSpc>
                <a:spcPct val="139979"/>
              </a:lnSpc>
              <a:spcBef>
                <a:spcPts val="1200"/>
              </a:spcBef>
              <a:spcAft>
                <a:spcPts val="0"/>
              </a:spcAft>
              <a:buClr>
                <a:srgbClr val="000000"/>
              </a:buClr>
              <a:buSzPts val="2400"/>
              <a:buFont typeface="Arial"/>
              <a:buNone/>
            </a:pPr>
            <a:r>
              <a:t/>
            </a:r>
            <a:endParaRPr sz="2400">
              <a:latin typeface="Lora"/>
              <a:ea typeface="Lora"/>
              <a:cs typeface="Lora"/>
              <a:sym typeface="Lora"/>
            </a:endParaRPr>
          </a:p>
        </p:txBody>
      </p:sp>
      <p:sp>
        <p:nvSpPr>
          <p:cNvPr id="108" name="Google Shape;108;p21"/>
          <p:cNvSpPr txBox="1"/>
          <p:nvPr/>
        </p:nvSpPr>
        <p:spPr>
          <a:xfrm>
            <a:off x="612900" y="1404525"/>
            <a:ext cx="7758900" cy="646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SzPts val="1200"/>
              <a:buFont typeface="Lora"/>
              <a:buChar char="●"/>
            </a:pPr>
            <a:r>
              <a:rPr lang="en" sz="1200">
                <a:latin typeface="Lora"/>
                <a:ea typeface="Lora"/>
                <a:cs typeface="Lora"/>
                <a:sym typeface="Lora"/>
              </a:rPr>
              <a:t>Use Meaningful Names (Variables, Functions, Classes)</a:t>
            </a:r>
            <a:r>
              <a:rPr lang="en" sz="1200">
                <a:latin typeface="Lora"/>
                <a:ea typeface="Lora"/>
                <a:cs typeface="Lora"/>
                <a:sym typeface="Lora"/>
              </a:rPr>
              <a:t> : Names should convey intent. Descriptive names make your code self-documenting and easier to understand for others (and your future self)</a:t>
            </a:r>
            <a:endParaRPr sz="1200">
              <a:latin typeface="Lora"/>
              <a:ea typeface="Lora"/>
              <a:cs typeface="Lora"/>
              <a:sym typeface="Lora"/>
            </a:endParaRPr>
          </a:p>
        </p:txBody>
      </p:sp>
      <p:sp>
        <p:nvSpPr>
          <p:cNvPr id="109" name="Google Shape;109;p21"/>
          <p:cNvSpPr txBox="1"/>
          <p:nvPr/>
        </p:nvSpPr>
        <p:spPr>
          <a:xfrm>
            <a:off x="475900" y="2688100"/>
            <a:ext cx="3816900" cy="1654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A05000"/>
                </a:solidFill>
                <a:latin typeface="Roboto Mono"/>
                <a:ea typeface="Roboto Mono"/>
                <a:cs typeface="Roboto Mono"/>
                <a:sym typeface="Roboto Mono"/>
              </a:rPr>
              <a:t># ❌ Bad: Unclear function and variable names</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f</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a</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b</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b="1" lang="en" sz="1200">
                <a:solidFill>
                  <a:srgbClr val="700080"/>
                </a:solidFill>
                <a:latin typeface="Roboto Mono"/>
                <a:ea typeface="Roboto Mono"/>
                <a:cs typeface="Roboto Mono"/>
                <a:sym typeface="Roboto Mono"/>
              </a:rPr>
              <a:t>return</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a</a:t>
            </a:r>
            <a:r>
              <a:rPr b="1" lang="en" sz="1200">
                <a:solidFill>
                  <a:srgbClr val="EE11FF"/>
                </a:solidFill>
                <a:latin typeface="Roboto Mono"/>
                <a:ea typeface="Roboto Mono"/>
                <a:cs typeface="Roboto Mono"/>
                <a:sym typeface="Roboto Mono"/>
              </a:rPr>
              <a:t>**</a:t>
            </a:r>
            <a:r>
              <a:rPr lang="en" sz="1200">
                <a:solidFill>
                  <a:srgbClr val="106040"/>
                </a:solidFill>
                <a:latin typeface="Roboto Mono"/>
                <a:ea typeface="Roboto Mono"/>
                <a:cs typeface="Roboto Mono"/>
                <a:sym typeface="Roboto Mono"/>
              </a:rPr>
              <a:t>2</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b</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06040"/>
                </a:solidFill>
                <a:latin typeface="Roboto Mono"/>
                <a:ea typeface="Roboto Mono"/>
                <a:cs typeface="Roboto Mono"/>
                <a:sym typeface="Roboto Mono"/>
              </a:rPr>
              <a:t>3.14</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solidFill>
                  <a:srgbClr val="1AB1CD"/>
                </a:solidFill>
                <a:latin typeface="Roboto Mono"/>
                <a:ea typeface="Roboto Mono"/>
                <a:cs typeface="Roboto Mono"/>
                <a:sym typeface="Roboto Mono"/>
              </a:rPr>
              <a:t>r</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f</a:t>
            </a:r>
            <a:r>
              <a:rPr lang="en" sz="1200">
                <a:latin typeface="Roboto Mono"/>
                <a:ea typeface="Roboto Mono"/>
                <a:cs typeface="Roboto Mono"/>
                <a:sym typeface="Roboto Mono"/>
              </a:rPr>
              <a:t>(</a:t>
            </a:r>
            <a:r>
              <a:rPr lang="en" sz="1200">
                <a:solidFill>
                  <a:srgbClr val="106040"/>
                </a:solidFill>
                <a:latin typeface="Roboto Mono"/>
                <a:ea typeface="Roboto Mono"/>
                <a:cs typeface="Roboto Mono"/>
                <a:sym typeface="Roboto Mono"/>
              </a:rPr>
              <a:t>7</a:t>
            </a:r>
            <a:r>
              <a:rPr lang="en" sz="1200">
                <a:latin typeface="Roboto Mono"/>
                <a:ea typeface="Roboto Mono"/>
                <a:cs typeface="Roboto Mono"/>
                <a:sym typeface="Roboto Mono"/>
              </a:rPr>
              <a:t>, </a:t>
            </a:r>
            <a:r>
              <a:rPr lang="en" sz="1200">
                <a:solidFill>
                  <a:srgbClr val="106040"/>
                </a:solidFill>
                <a:latin typeface="Roboto Mono"/>
                <a:ea typeface="Roboto Mono"/>
                <a:cs typeface="Roboto Mono"/>
                <a:sym typeface="Roboto Mono"/>
              </a:rPr>
              <a:t>10</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
        <p:nvSpPr>
          <p:cNvPr id="110" name="Google Shape;110;p21"/>
          <p:cNvSpPr txBox="1"/>
          <p:nvPr/>
        </p:nvSpPr>
        <p:spPr>
          <a:xfrm>
            <a:off x="4343750" y="2688100"/>
            <a:ext cx="4397700" cy="1654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A05000"/>
                </a:solidFill>
                <a:latin typeface="Roboto Mono"/>
                <a:ea typeface="Roboto Mono"/>
                <a:cs typeface="Roboto Mono"/>
                <a:sym typeface="Roboto Mono"/>
              </a:rPr>
              <a:t># ✅ Good: Names express intent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calculate_cylinder_volume</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radius</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height</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PI</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06040"/>
                </a:solidFill>
                <a:latin typeface="Roboto Mono"/>
                <a:ea typeface="Roboto Mono"/>
                <a:cs typeface="Roboto Mono"/>
                <a:sym typeface="Roboto Mono"/>
              </a:rPr>
              <a:t>3.14</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b="1" lang="en" sz="1200">
                <a:solidFill>
                  <a:srgbClr val="700080"/>
                </a:solidFill>
                <a:latin typeface="Roboto Mono"/>
                <a:ea typeface="Roboto Mono"/>
                <a:cs typeface="Roboto Mono"/>
                <a:sym typeface="Roboto Mono"/>
              </a:rPr>
              <a:t>return</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radius</a:t>
            </a:r>
            <a:r>
              <a:rPr b="1" lang="en" sz="1200">
                <a:solidFill>
                  <a:srgbClr val="EE11FF"/>
                </a:solidFill>
                <a:latin typeface="Roboto Mono"/>
                <a:ea typeface="Roboto Mono"/>
                <a:cs typeface="Roboto Mono"/>
                <a:sym typeface="Roboto Mono"/>
              </a:rPr>
              <a:t>**</a:t>
            </a:r>
            <a:r>
              <a:rPr lang="en" sz="1200">
                <a:solidFill>
                  <a:srgbClr val="106040"/>
                </a:solidFill>
                <a:latin typeface="Roboto Mono"/>
                <a:ea typeface="Roboto Mono"/>
                <a:cs typeface="Roboto Mono"/>
                <a:sym typeface="Roboto Mono"/>
              </a:rPr>
              <a:t>2</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height</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PI</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solidFill>
                  <a:srgbClr val="1AB1CD"/>
                </a:solidFill>
                <a:latin typeface="Roboto Mono"/>
                <a:ea typeface="Roboto Mono"/>
                <a:cs typeface="Roboto Mono"/>
                <a:sym typeface="Roboto Mono"/>
              </a:rPr>
              <a:t>area</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calculate_cylinder_volume</a:t>
            </a:r>
            <a:r>
              <a:rPr lang="en" sz="1200">
                <a:latin typeface="Roboto Mono"/>
                <a:ea typeface="Roboto Mono"/>
                <a:cs typeface="Roboto Mono"/>
                <a:sym typeface="Roboto Mono"/>
              </a:rPr>
              <a:t>(</a:t>
            </a:r>
            <a:r>
              <a:rPr lang="en" sz="1200">
                <a:solidFill>
                  <a:srgbClr val="106040"/>
                </a:solidFill>
                <a:latin typeface="Roboto Mono"/>
                <a:ea typeface="Roboto Mono"/>
                <a:cs typeface="Roboto Mono"/>
                <a:sym typeface="Roboto Mono"/>
              </a:rPr>
              <a:t>7</a:t>
            </a:r>
            <a:r>
              <a:rPr lang="en" sz="1200">
                <a:latin typeface="Roboto Mono"/>
                <a:ea typeface="Roboto Mono"/>
                <a:cs typeface="Roboto Mono"/>
                <a:sym typeface="Roboto Mono"/>
              </a:rPr>
              <a:t>, </a:t>
            </a:r>
            <a:r>
              <a:rPr lang="en" sz="1200">
                <a:solidFill>
                  <a:srgbClr val="106040"/>
                </a:solidFill>
                <a:latin typeface="Roboto Mono"/>
                <a:ea typeface="Roboto Mono"/>
                <a:cs typeface="Roboto Mono"/>
                <a:sym typeface="Roboto Mono"/>
              </a:rPr>
              <a:t>10</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nvSpPr>
        <p:spPr>
          <a:xfrm>
            <a:off x="612896" y="243588"/>
            <a:ext cx="8128500" cy="1477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600">
                <a:latin typeface="Lora"/>
                <a:ea typeface="Lora"/>
                <a:cs typeface="Lora"/>
                <a:sym typeface="Lora"/>
              </a:rPr>
              <a:t>Readability &amp; Naming Conventions</a:t>
            </a:r>
            <a:endParaRPr sz="1600">
              <a:latin typeface="Lora"/>
              <a:ea typeface="Lora"/>
              <a:cs typeface="Lora"/>
              <a:sym typeface="Lora"/>
            </a:endParaRPr>
          </a:p>
          <a:p>
            <a:pPr indent="0" lvl="0" marL="0" marR="0" rtl="0" algn="l">
              <a:lnSpc>
                <a:spcPct val="139979"/>
              </a:lnSpc>
              <a:spcBef>
                <a:spcPts val="1200"/>
              </a:spcBef>
              <a:spcAft>
                <a:spcPts val="0"/>
              </a:spcAft>
              <a:buClr>
                <a:srgbClr val="000000"/>
              </a:buClr>
              <a:buSzPts val="2400"/>
              <a:buFont typeface="Arial"/>
              <a:buNone/>
            </a:pPr>
            <a:r>
              <a:t/>
            </a:r>
            <a:endParaRPr sz="2400">
              <a:latin typeface="Lora"/>
              <a:ea typeface="Lora"/>
              <a:cs typeface="Lora"/>
              <a:sym typeface="Lora"/>
            </a:endParaRPr>
          </a:p>
        </p:txBody>
      </p:sp>
      <p:sp>
        <p:nvSpPr>
          <p:cNvPr id="116" name="Google Shape;116;p22"/>
          <p:cNvSpPr txBox="1"/>
          <p:nvPr/>
        </p:nvSpPr>
        <p:spPr>
          <a:xfrm>
            <a:off x="711575" y="1278750"/>
            <a:ext cx="6983700" cy="646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SzPts val="1200"/>
              <a:buFont typeface="Lora"/>
              <a:buChar char="●"/>
            </a:pPr>
            <a:r>
              <a:rPr lang="en" sz="1200">
                <a:latin typeface="Lora"/>
                <a:ea typeface="Lora"/>
                <a:cs typeface="Lora"/>
                <a:sym typeface="Lora"/>
              </a:rPr>
              <a:t>I</a:t>
            </a:r>
            <a:r>
              <a:rPr lang="en" sz="1200">
                <a:latin typeface="Lora"/>
                <a:ea typeface="Lora"/>
                <a:cs typeface="Lora"/>
                <a:sym typeface="Lora"/>
              </a:rPr>
              <a:t>magine a document where each paragraph uses a different font, indentation, and capitalization. It would be difficult to read. </a:t>
            </a:r>
            <a:endParaRPr sz="1200">
              <a:latin typeface="Lora"/>
              <a:ea typeface="Lora"/>
              <a:cs typeface="Lora"/>
              <a:sym typeface="Lora"/>
            </a:endParaRPr>
          </a:p>
        </p:txBody>
      </p:sp>
      <p:sp>
        <p:nvSpPr>
          <p:cNvPr id="117" name="Google Shape;117;p22"/>
          <p:cNvSpPr txBox="1"/>
          <p:nvPr/>
        </p:nvSpPr>
        <p:spPr>
          <a:xfrm>
            <a:off x="552100" y="2459500"/>
            <a:ext cx="3816900" cy="2290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A05000"/>
                </a:solidFill>
                <a:latin typeface="Roboto Mono"/>
                <a:ea typeface="Roboto Mono"/>
                <a:cs typeface="Roboto Mono"/>
                <a:sym typeface="Roboto Mono"/>
              </a:rPr>
              <a:t># ❌ Bad (Not Following PEP 8)</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class</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person</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def </a:t>
            </a:r>
            <a:r>
              <a:rPr lang="en" sz="1200">
                <a:solidFill>
                  <a:srgbClr val="0000F0"/>
                </a:solidFill>
                <a:latin typeface="Roboto Mono"/>
                <a:ea typeface="Roboto Mono"/>
                <a:cs typeface="Roboto Mono"/>
                <a:sym typeface="Roboto Mono"/>
              </a:rPr>
              <a:t>__init__</a:t>
            </a:r>
            <a:r>
              <a:rPr lang="en" sz="1200">
                <a:latin typeface="Roboto Mono"/>
                <a:ea typeface="Roboto Mono"/>
                <a:cs typeface="Roboto Mono"/>
                <a:sym typeface="Roboto Mono"/>
              </a:rPr>
              <a:t>(</a:t>
            </a:r>
            <a:r>
              <a:rPr lang="en" sz="1200">
                <a:solidFill>
                  <a:srgbClr val="0050A0"/>
                </a:solidFill>
                <a:latin typeface="Roboto Mono"/>
                <a:ea typeface="Roboto Mono"/>
                <a:cs typeface="Roboto Mono"/>
                <a:sym typeface="Roboto Mono"/>
              </a:rPr>
              <a:t>self</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name</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age</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lang="en" sz="1200">
                <a:solidFill>
                  <a:srgbClr val="0050A0"/>
                </a:solidFill>
                <a:latin typeface="Roboto Mono"/>
                <a:ea typeface="Roboto Mono"/>
                <a:cs typeface="Roboto Mono"/>
                <a:sym typeface="Roboto Mono"/>
              </a:rPr>
              <a:t>self</a:t>
            </a:r>
            <a:r>
              <a:rPr lang="en" sz="1200">
                <a:latin typeface="Roboto Mono"/>
                <a:ea typeface="Roboto Mono"/>
                <a:cs typeface="Roboto Mono"/>
                <a:sym typeface="Roboto Mono"/>
              </a:rPr>
              <a:t>.</a:t>
            </a:r>
            <a:r>
              <a:rPr lang="en" sz="1200">
                <a:solidFill>
                  <a:srgbClr val="572000"/>
                </a:solidFill>
                <a:latin typeface="Roboto Mono"/>
                <a:ea typeface="Roboto Mono"/>
                <a:cs typeface="Roboto Mono"/>
                <a:sym typeface="Roboto Mono"/>
              </a:rPr>
              <a:t>name</a:t>
            </a:r>
            <a:r>
              <a:rPr b="1" lang="en" sz="1200">
                <a:solidFill>
                  <a:srgbClr val="EE11FF"/>
                </a:solidFill>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name</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lang="en" sz="1200">
                <a:solidFill>
                  <a:srgbClr val="0050A0"/>
                </a:solidFill>
                <a:latin typeface="Roboto Mono"/>
                <a:ea typeface="Roboto Mono"/>
                <a:cs typeface="Roboto Mono"/>
                <a:sym typeface="Roboto Mono"/>
              </a:rPr>
              <a:t>self</a:t>
            </a:r>
            <a:r>
              <a:rPr lang="en" sz="1200">
                <a:latin typeface="Roboto Mono"/>
                <a:ea typeface="Roboto Mono"/>
                <a:cs typeface="Roboto Mono"/>
                <a:sym typeface="Roboto Mono"/>
              </a:rPr>
              <a:t>.</a:t>
            </a:r>
            <a:r>
              <a:rPr lang="en" sz="1200">
                <a:solidFill>
                  <a:srgbClr val="572000"/>
                </a:solidFill>
                <a:latin typeface="Roboto Mono"/>
                <a:ea typeface="Roboto Mono"/>
                <a:cs typeface="Roboto Mono"/>
                <a:sym typeface="Roboto Mono"/>
              </a:rPr>
              <a:t>age</a:t>
            </a:r>
            <a:r>
              <a:rPr b="1" lang="en" sz="1200">
                <a:solidFill>
                  <a:srgbClr val="EE11FF"/>
                </a:solidFill>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age</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def </a:t>
            </a:r>
            <a:r>
              <a:rPr lang="en" sz="1200">
                <a:solidFill>
                  <a:srgbClr val="0000F0"/>
                </a:solidFill>
                <a:latin typeface="Roboto Mono"/>
                <a:ea typeface="Roboto Mono"/>
                <a:cs typeface="Roboto Mono"/>
                <a:sym typeface="Roboto Mono"/>
              </a:rPr>
              <a:t>Greet</a:t>
            </a:r>
            <a:r>
              <a:rPr lang="en" sz="1200">
                <a:latin typeface="Roboto Mono"/>
                <a:ea typeface="Roboto Mono"/>
                <a:cs typeface="Roboto Mono"/>
                <a:sym typeface="Roboto Mono"/>
              </a:rPr>
              <a:t>(</a:t>
            </a:r>
            <a:r>
              <a:rPr lang="en" sz="1200">
                <a:solidFill>
                  <a:srgbClr val="0050A0"/>
                </a:solidFill>
                <a:latin typeface="Roboto Mono"/>
                <a:ea typeface="Roboto Mono"/>
                <a:cs typeface="Roboto Mono"/>
                <a:sym typeface="Roboto Mono"/>
              </a:rPr>
              <a:t>self</a:t>
            </a:r>
            <a:r>
              <a:rPr lang="en" sz="1200">
                <a:latin typeface="Roboto Mono"/>
                <a:ea typeface="Roboto Mono"/>
                <a:cs typeface="Roboto Mono"/>
                <a:sym typeface="Roboto Mono"/>
              </a:rPr>
              <a:t>):</a:t>
            </a:r>
            <a:r>
              <a:rPr lang="en" sz="1200">
                <a:solidFill>
                  <a:srgbClr val="3000A0"/>
                </a:solidFill>
                <a:latin typeface="Roboto Mono"/>
                <a:ea typeface="Roboto Mono"/>
                <a:cs typeface="Roboto Mono"/>
                <a:sym typeface="Roboto Mono"/>
              </a:rPr>
              <a:t>print</a:t>
            </a:r>
            <a:r>
              <a:rPr lang="en" sz="1200">
                <a:latin typeface="Roboto Mono"/>
                <a:ea typeface="Roboto Mono"/>
                <a:cs typeface="Roboto Mono"/>
                <a:sym typeface="Roboto Mono"/>
              </a:rPr>
              <a:t>(</a:t>
            </a:r>
            <a:r>
              <a:rPr lang="en" sz="1200">
                <a:solidFill>
                  <a:srgbClr val="A01010"/>
                </a:solidFill>
                <a:latin typeface="Roboto Mono"/>
                <a:ea typeface="Roboto Mono"/>
                <a:cs typeface="Roboto Mono"/>
                <a:sym typeface="Roboto Mono"/>
              </a:rPr>
              <a:t>"hi "</a:t>
            </a:r>
            <a:r>
              <a:rPr b="1" lang="en" sz="1200">
                <a:solidFill>
                  <a:srgbClr val="EE11FF"/>
                </a:solidFill>
                <a:latin typeface="Roboto Mono"/>
                <a:ea typeface="Roboto Mono"/>
                <a:cs typeface="Roboto Mono"/>
                <a:sym typeface="Roboto Mono"/>
              </a:rPr>
              <a:t>+</a:t>
            </a:r>
            <a:r>
              <a:rPr lang="en" sz="1200">
                <a:solidFill>
                  <a:srgbClr val="0050A0"/>
                </a:solidFill>
                <a:latin typeface="Roboto Mono"/>
                <a:ea typeface="Roboto Mono"/>
                <a:cs typeface="Roboto Mono"/>
                <a:sym typeface="Roboto Mono"/>
              </a:rPr>
              <a:t>self</a:t>
            </a:r>
            <a:r>
              <a:rPr lang="en" sz="1200">
                <a:latin typeface="Roboto Mono"/>
                <a:ea typeface="Roboto Mono"/>
                <a:cs typeface="Roboto Mono"/>
                <a:sym typeface="Roboto Mono"/>
              </a:rPr>
              <a:t>.</a:t>
            </a:r>
            <a:r>
              <a:rPr lang="en" sz="1200">
                <a:solidFill>
                  <a:srgbClr val="572000"/>
                </a:solidFill>
                <a:latin typeface="Roboto Mono"/>
                <a:ea typeface="Roboto Mono"/>
                <a:cs typeface="Roboto Mono"/>
                <a:sym typeface="Roboto Mono"/>
              </a:rPr>
              <a:t>name</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solidFill>
                  <a:srgbClr val="1AB1CD"/>
                </a:solidFill>
                <a:latin typeface="Roboto Mono"/>
                <a:ea typeface="Roboto Mono"/>
                <a:cs typeface="Roboto Mono"/>
                <a:sym typeface="Roboto Mono"/>
              </a:rPr>
              <a:t>p</a:t>
            </a:r>
            <a:r>
              <a:rPr b="1" lang="en" sz="1200">
                <a:solidFill>
                  <a:srgbClr val="EE11FF"/>
                </a:solidFill>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person</a:t>
            </a:r>
            <a:r>
              <a:rPr lang="en" sz="1200">
                <a:latin typeface="Roboto Mono"/>
                <a:ea typeface="Roboto Mono"/>
                <a:cs typeface="Roboto Mono"/>
                <a:sym typeface="Roboto Mono"/>
              </a:rPr>
              <a:t>(</a:t>
            </a:r>
            <a:r>
              <a:rPr lang="en" sz="1200">
                <a:solidFill>
                  <a:srgbClr val="A01010"/>
                </a:solidFill>
                <a:latin typeface="Roboto Mono"/>
                <a:ea typeface="Roboto Mono"/>
                <a:cs typeface="Roboto Mono"/>
                <a:sym typeface="Roboto Mono"/>
              </a:rPr>
              <a:t>"Alice"</a:t>
            </a:r>
            <a:r>
              <a:rPr lang="en" sz="1200">
                <a:latin typeface="Roboto Mono"/>
                <a:ea typeface="Roboto Mono"/>
                <a:cs typeface="Roboto Mono"/>
                <a:sym typeface="Roboto Mono"/>
              </a:rPr>
              <a:t>,</a:t>
            </a:r>
            <a:r>
              <a:rPr lang="en" sz="1200">
                <a:solidFill>
                  <a:srgbClr val="106040"/>
                </a:solidFill>
                <a:latin typeface="Roboto Mono"/>
                <a:ea typeface="Roboto Mono"/>
                <a:cs typeface="Roboto Mono"/>
                <a:sym typeface="Roboto Mono"/>
              </a:rPr>
              <a:t>30</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p</a:t>
            </a:r>
            <a:r>
              <a:rPr lang="en" sz="1200">
                <a:latin typeface="Roboto Mono"/>
                <a:ea typeface="Roboto Mono"/>
                <a:cs typeface="Roboto Mono"/>
                <a:sym typeface="Roboto Mono"/>
              </a:rPr>
              <a:t>.</a:t>
            </a:r>
            <a:r>
              <a:rPr lang="en" sz="1200">
                <a:solidFill>
                  <a:srgbClr val="572000"/>
                </a:solidFill>
                <a:latin typeface="Roboto Mono"/>
                <a:ea typeface="Roboto Mono"/>
                <a:cs typeface="Roboto Mono"/>
                <a:sym typeface="Roboto Mono"/>
              </a:rPr>
              <a:t>Greet</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
        <p:nvSpPr>
          <p:cNvPr id="118" name="Google Shape;118;p22"/>
          <p:cNvSpPr txBox="1"/>
          <p:nvPr/>
        </p:nvSpPr>
        <p:spPr>
          <a:xfrm>
            <a:off x="4456250" y="2459500"/>
            <a:ext cx="4374900" cy="2290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A05000"/>
                </a:solidFill>
                <a:latin typeface="Roboto Mono"/>
                <a:ea typeface="Roboto Mono"/>
                <a:cs typeface="Roboto Mono"/>
                <a:sym typeface="Roboto Mono"/>
              </a:rPr>
              <a:t># ✅ Good (following PEP 8)</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class</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Person</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__init__</a:t>
            </a:r>
            <a:r>
              <a:rPr lang="en" sz="1200">
                <a:latin typeface="Roboto Mono"/>
                <a:ea typeface="Roboto Mono"/>
                <a:cs typeface="Roboto Mono"/>
                <a:sym typeface="Roboto Mono"/>
              </a:rPr>
              <a:t>(</a:t>
            </a:r>
            <a:r>
              <a:rPr lang="en" sz="1200">
                <a:solidFill>
                  <a:srgbClr val="0050A0"/>
                </a:solidFill>
                <a:latin typeface="Roboto Mono"/>
                <a:ea typeface="Roboto Mono"/>
                <a:cs typeface="Roboto Mono"/>
                <a:sym typeface="Roboto Mono"/>
              </a:rPr>
              <a:t>self</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name</a:t>
            </a:r>
            <a:r>
              <a:rPr lang="en" sz="1200">
                <a:latin typeface="Roboto Mono"/>
                <a:ea typeface="Roboto Mono"/>
                <a:cs typeface="Roboto Mono"/>
                <a:sym typeface="Roboto Mono"/>
              </a:rPr>
              <a:t>: </a:t>
            </a:r>
            <a:r>
              <a:rPr lang="en" sz="1200">
                <a:solidFill>
                  <a:srgbClr val="3000A0"/>
                </a:solidFill>
                <a:latin typeface="Roboto Mono"/>
                <a:ea typeface="Roboto Mono"/>
                <a:cs typeface="Roboto Mono"/>
                <a:sym typeface="Roboto Mono"/>
              </a:rPr>
              <a:t>str</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age</a:t>
            </a:r>
            <a:r>
              <a:rPr lang="en" sz="1200">
                <a:latin typeface="Roboto Mono"/>
                <a:ea typeface="Roboto Mono"/>
                <a:cs typeface="Roboto Mono"/>
                <a:sym typeface="Roboto Mono"/>
              </a:rPr>
              <a:t>: </a:t>
            </a:r>
            <a:r>
              <a:rPr lang="en" sz="1200">
                <a:solidFill>
                  <a:srgbClr val="3000A0"/>
                </a:solidFill>
                <a:latin typeface="Roboto Mono"/>
                <a:ea typeface="Roboto Mono"/>
                <a:cs typeface="Roboto Mono"/>
                <a:sym typeface="Roboto Mono"/>
              </a:rPr>
              <a:t>int</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lang="en" sz="1200">
                <a:solidFill>
                  <a:srgbClr val="0050A0"/>
                </a:solidFill>
                <a:latin typeface="Roboto Mono"/>
                <a:ea typeface="Roboto Mono"/>
                <a:cs typeface="Roboto Mono"/>
                <a:sym typeface="Roboto Mono"/>
              </a:rPr>
              <a:t>self</a:t>
            </a:r>
            <a:r>
              <a:rPr lang="en" sz="1200">
                <a:latin typeface="Roboto Mono"/>
                <a:ea typeface="Roboto Mono"/>
                <a:cs typeface="Roboto Mono"/>
                <a:sym typeface="Roboto Mono"/>
              </a:rPr>
              <a:t>.</a:t>
            </a:r>
            <a:r>
              <a:rPr lang="en" sz="1200">
                <a:solidFill>
                  <a:srgbClr val="572000"/>
                </a:solidFill>
                <a:latin typeface="Roboto Mono"/>
                <a:ea typeface="Roboto Mono"/>
                <a:cs typeface="Roboto Mono"/>
                <a:sym typeface="Roboto Mono"/>
              </a:rPr>
              <a:t>name</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name</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lang="en" sz="1200">
                <a:solidFill>
                  <a:srgbClr val="0050A0"/>
                </a:solidFill>
                <a:latin typeface="Roboto Mono"/>
                <a:ea typeface="Roboto Mono"/>
                <a:cs typeface="Roboto Mono"/>
                <a:sym typeface="Roboto Mono"/>
              </a:rPr>
              <a:t>self</a:t>
            </a:r>
            <a:r>
              <a:rPr lang="en" sz="1200">
                <a:latin typeface="Roboto Mono"/>
                <a:ea typeface="Roboto Mono"/>
                <a:cs typeface="Roboto Mono"/>
                <a:sym typeface="Roboto Mono"/>
              </a:rPr>
              <a:t>.</a:t>
            </a:r>
            <a:r>
              <a:rPr lang="en" sz="1200">
                <a:solidFill>
                  <a:srgbClr val="572000"/>
                </a:solidFill>
                <a:latin typeface="Roboto Mono"/>
                <a:ea typeface="Roboto Mono"/>
                <a:cs typeface="Roboto Mono"/>
                <a:sym typeface="Roboto Mono"/>
              </a:rPr>
              <a:t>age</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age</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greet</a:t>
            </a:r>
            <a:r>
              <a:rPr lang="en" sz="1200">
                <a:latin typeface="Roboto Mono"/>
                <a:ea typeface="Roboto Mono"/>
                <a:cs typeface="Roboto Mono"/>
                <a:sym typeface="Roboto Mono"/>
              </a:rPr>
              <a:t>(</a:t>
            </a:r>
            <a:r>
              <a:rPr lang="en" sz="1200">
                <a:solidFill>
                  <a:srgbClr val="0050A0"/>
                </a:solidFill>
                <a:latin typeface="Roboto Mono"/>
                <a:ea typeface="Roboto Mono"/>
                <a:cs typeface="Roboto Mono"/>
                <a:sym typeface="Roboto Mono"/>
              </a:rPr>
              <a:t>self</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-&gt;</a:t>
            </a:r>
            <a:r>
              <a:rPr lang="en" sz="1200">
                <a:latin typeface="Roboto Mono"/>
                <a:ea typeface="Roboto Mono"/>
                <a:cs typeface="Roboto Mono"/>
                <a:sym typeface="Roboto Mono"/>
              </a:rPr>
              <a:t> </a:t>
            </a:r>
            <a:r>
              <a:rPr b="1" lang="en" sz="1200">
                <a:solidFill>
                  <a:srgbClr val="700080"/>
                </a:solidFill>
                <a:latin typeface="Roboto Mono"/>
                <a:ea typeface="Roboto Mono"/>
                <a:cs typeface="Roboto Mono"/>
                <a:sym typeface="Roboto Mono"/>
              </a:rPr>
              <a:t>None</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lang="en" sz="1200">
                <a:solidFill>
                  <a:srgbClr val="3000A0"/>
                </a:solidFill>
                <a:latin typeface="Roboto Mono"/>
                <a:ea typeface="Roboto Mono"/>
                <a:cs typeface="Roboto Mono"/>
                <a:sym typeface="Roboto Mono"/>
              </a:rPr>
              <a:t>print</a:t>
            </a:r>
            <a:r>
              <a:rPr lang="en" sz="1200">
                <a:latin typeface="Roboto Mono"/>
                <a:ea typeface="Roboto Mono"/>
                <a:cs typeface="Roboto Mono"/>
                <a:sym typeface="Roboto Mono"/>
              </a:rPr>
              <a:t>(</a:t>
            </a:r>
            <a:r>
              <a:rPr lang="en" sz="1200">
                <a:solidFill>
                  <a:srgbClr val="A01010"/>
                </a:solidFill>
                <a:latin typeface="Roboto Mono"/>
                <a:ea typeface="Roboto Mono"/>
                <a:cs typeface="Roboto Mono"/>
                <a:sym typeface="Roboto Mono"/>
              </a:rPr>
              <a:t>f"Hi </a:t>
            </a:r>
            <a:r>
              <a:rPr lang="en" sz="1200">
                <a:latin typeface="Roboto Mono"/>
                <a:ea typeface="Roboto Mono"/>
                <a:cs typeface="Roboto Mono"/>
                <a:sym typeface="Roboto Mono"/>
              </a:rPr>
              <a:t>{</a:t>
            </a:r>
            <a:r>
              <a:rPr lang="en" sz="1200">
                <a:solidFill>
                  <a:srgbClr val="0050A0"/>
                </a:solidFill>
                <a:latin typeface="Roboto Mono"/>
                <a:ea typeface="Roboto Mono"/>
                <a:cs typeface="Roboto Mono"/>
                <a:sym typeface="Roboto Mono"/>
              </a:rPr>
              <a:t>self</a:t>
            </a:r>
            <a:r>
              <a:rPr lang="en" sz="1200">
                <a:latin typeface="Roboto Mono"/>
                <a:ea typeface="Roboto Mono"/>
                <a:cs typeface="Roboto Mono"/>
                <a:sym typeface="Roboto Mono"/>
              </a:rPr>
              <a:t>.</a:t>
            </a:r>
            <a:r>
              <a:rPr lang="en" sz="1200">
                <a:solidFill>
                  <a:srgbClr val="572000"/>
                </a:solidFill>
                <a:latin typeface="Roboto Mono"/>
                <a:ea typeface="Roboto Mono"/>
                <a:cs typeface="Roboto Mono"/>
                <a:sym typeface="Roboto Mono"/>
              </a:rPr>
              <a:t>name</a:t>
            </a:r>
            <a:r>
              <a:rPr lang="en" sz="1200">
                <a:latin typeface="Roboto Mono"/>
                <a:ea typeface="Roboto Mono"/>
                <a:cs typeface="Roboto Mono"/>
                <a:sym typeface="Roboto Mono"/>
              </a:rPr>
              <a:t>}</a:t>
            </a:r>
            <a:r>
              <a:rPr lang="en" sz="1200">
                <a:solidFill>
                  <a:srgbClr val="A01010"/>
                </a:solidFill>
                <a:latin typeface="Roboto Mono"/>
                <a:ea typeface="Roboto Mono"/>
                <a:cs typeface="Roboto Mono"/>
                <a:sym typeface="Roboto Mono"/>
              </a:rPr>
              <a:t>"</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solidFill>
                  <a:srgbClr val="1AB1CD"/>
                </a:solidFill>
                <a:latin typeface="Roboto Mono"/>
                <a:ea typeface="Roboto Mono"/>
                <a:cs typeface="Roboto Mono"/>
                <a:sym typeface="Roboto Mono"/>
              </a:rPr>
              <a:t>p</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Person</a:t>
            </a:r>
            <a:r>
              <a:rPr lang="en" sz="1200">
                <a:latin typeface="Roboto Mono"/>
                <a:ea typeface="Roboto Mono"/>
                <a:cs typeface="Roboto Mono"/>
                <a:sym typeface="Roboto Mono"/>
              </a:rPr>
              <a:t>(</a:t>
            </a:r>
            <a:r>
              <a:rPr lang="en" sz="1200">
                <a:solidFill>
                  <a:srgbClr val="A01010"/>
                </a:solidFill>
                <a:latin typeface="Roboto Mono"/>
                <a:ea typeface="Roboto Mono"/>
                <a:cs typeface="Roboto Mono"/>
                <a:sym typeface="Roboto Mono"/>
              </a:rPr>
              <a:t>"Alice"</a:t>
            </a:r>
            <a:r>
              <a:rPr lang="en" sz="1200">
                <a:latin typeface="Roboto Mono"/>
                <a:ea typeface="Roboto Mono"/>
                <a:cs typeface="Roboto Mono"/>
                <a:sym typeface="Roboto Mono"/>
              </a:rPr>
              <a:t>, </a:t>
            </a:r>
            <a:r>
              <a:rPr lang="en" sz="1200">
                <a:solidFill>
                  <a:srgbClr val="106040"/>
                </a:solidFill>
                <a:latin typeface="Roboto Mono"/>
                <a:ea typeface="Roboto Mono"/>
                <a:cs typeface="Roboto Mono"/>
                <a:sym typeface="Roboto Mono"/>
              </a:rPr>
              <a:t>30</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solidFill>
                  <a:srgbClr val="1AB1CD"/>
                </a:solidFill>
                <a:latin typeface="Roboto Mono"/>
                <a:ea typeface="Roboto Mono"/>
                <a:cs typeface="Roboto Mono"/>
                <a:sym typeface="Roboto Mono"/>
              </a:rPr>
              <a:t>p</a:t>
            </a:r>
            <a:r>
              <a:rPr lang="en" sz="1200">
                <a:latin typeface="Roboto Mono"/>
                <a:ea typeface="Roboto Mono"/>
                <a:cs typeface="Roboto Mono"/>
                <a:sym typeface="Roboto Mono"/>
              </a:rPr>
              <a:t>.</a:t>
            </a:r>
            <a:r>
              <a:rPr lang="en" sz="1200">
                <a:solidFill>
                  <a:srgbClr val="572000"/>
                </a:solidFill>
                <a:latin typeface="Roboto Mono"/>
                <a:ea typeface="Roboto Mono"/>
                <a:cs typeface="Roboto Mono"/>
                <a:sym typeface="Roboto Mono"/>
              </a:rPr>
              <a:t>greet</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nvSpPr>
        <p:spPr>
          <a:xfrm>
            <a:off x="612896" y="243588"/>
            <a:ext cx="8128500" cy="1477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600">
                <a:latin typeface="Lora"/>
                <a:ea typeface="Lora"/>
                <a:cs typeface="Lora"/>
                <a:sym typeface="Lora"/>
              </a:rPr>
              <a:t>Readability &amp; Naming Conventions</a:t>
            </a:r>
            <a:endParaRPr sz="1600">
              <a:latin typeface="Lora"/>
              <a:ea typeface="Lora"/>
              <a:cs typeface="Lora"/>
              <a:sym typeface="Lora"/>
            </a:endParaRPr>
          </a:p>
          <a:p>
            <a:pPr indent="0" lvl="0" marL="0" marR="0" rtl="0" algn="l">
              <a:lnSpc>
                <a:spcPct val="139979"/>
              </a:lnSpc>
              <a:spcBef>
                <a:spcPts val="1200"/>
              </a:spcBef>
              <a:spcAft>
                <a:spcPts val="0"/>
              </a:spcAft>
              <a:buClr>
                <a:srgbClr val="000000"/>
              </a:buClr>
              <a:buSzPts val="2400"/>
              <a:buFont typeface="Arial"/>
              <a:buNone/>
            </a:pPr>
            <a:r>
              <a:t/>
            </a:r>
            <a:endParaRPr sz="2400">
              <a:latin typeface="Lora"/>
              <a:ea typeface="Lora"/>
              <a:cs typeface="Lora"/>
              <a:sym typeface="Lora"/>
            </a:endParaRPr>
          </a:p>
        </p:txBody>
      </p:sp>
      <p:sp>
        <p:nvSpPr>
          <p:cNvPr id="124" name="Google Shape;124;p23"/>
          <p:cNvSpPr txBox="1"/>
          <p:nvPr/>
        </p:nvSpPr>
        <p:spPr>
          <a:xfrm>
            <a:off x="612900" y="1244650"/>
            <a:ext cx="7723800" cy="646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SzPts val="1200"/>
              <a:buFont typeface="Lora"/>
              <a:buChar char="●"/>
            </a:pPr>
            <a:r>
              <a:rPr lang="en" sz="1200">
                <a:latin typeface="Lora"/>
                <a:ea typeface="Lora"/>
                <a:cs typeface="Lora"/>
                <a:sym typeface="Lora"/>
              </a:rPr>
              <a:t>Keep Functions/Methods Short &amp; Focused)</a:t>
            </a:r>
            <a:r>
              <a:rPr lang="en" sz="1200">
                <a:latin typeface="Lora"/>
                <a:ea typeface="Lora"/>
                <a:cs typeface="Lora"/>
                <a:sym typeface="Lora"/>
              </a:rPr>
              <a:t>: </a:t>
            </a:r>
            <a:r>
              <a:rPr lang="en" sz="1200">
                <a:solidFill>
                  <a:schemeClr val="dk1"/>
                </a:solidFill>
                <a:latin typeface="Lora"/>
                <a:ea typeface="Lora"/>
                <a:cs typeface="Lora"/>
                <a:sym typeface="Lora"/>
              </a:rPr>
              <a:t>Functions should do </a:t>
            </a:r>
            <a:r>
              <a:rPr i="1" lang="en" sz="1200">
                <a:solidFill>
                  <a:schemeClr val="dk1"/>
                </a:solidFill>
                <a:latin typeface="Lora"/>
                <a:ea typeface="Lora"/>
                <a:cs typeface="Lora"/>
                <a:sym typeface="Lora"/>
              </a:rPr>
              <a:t>one thing and do it well</a:t>
            </a:r>
            <a:r>
              <a:rPr lang="en" sz="1200">
                <a:solidFill>
                  <a:schemeClr val="dk1"/>
                </a:solidFill>
                <a:latin typeface="Lora"/>
                <a:ea typeface="Lora"/>
                <a:cs typeface="Lora"/>
                <a:sym typeface="Lora"/>
              </a:rPr>
              <a:t>. Keeping them short and focused makes your code easier to read, test, and maintain.</a:t>
            </a:r>
            <a:endParaRPr sz="1200">
              <a:latin typeface="Lora"/>
              <a:ea typeface="Lora"/>
              <a:cs typeface="Lora"/>
              <a:sym typeface="Lora"/>
            </a:endParaRPr>
          </a:p>
        </p:txBody>
      </p:sp>
      <p:sp>
        <p:nvSpPr>
          <p:cNvPr id="125" name="Google Shape;125;p23"/>
          <p:cNvSpPr txBox="1"/>
          <p:nvPr/>
        </p:nvSpPr>
        <p:spPr>
          <a:xfrm>
            <a:off x="303925" y="1808075"/>
            <a:ext cx="4106400" cy="2970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000">
                <a:solidFill>
                  <a:srgbClr val="A05000"/>
                </a:solidFill>
                <a:latin typeface="Roboto Mono"/>
                <a:ea typeface="Roboto Mono"/>
                <a:cs typeface="Roboto Mono"/>
                <a:sym typeface="Roboto Mono"/>
              </a:rPr>
              <a:t># ❌ Bad (Does Too Much)</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000">
                <a:solidFill>
                  <a:srgbClr val="700080"/>
                </a:solidFill>
                <a:latin typeface="Roboto Mono"/>
                <a:ea typeface="Roboto Mono"/>
                <a:cs typeface="Roboto Mono"/>
                <a:sym typeface="Roboto Mono"/>
              </a:rPr>
              <a:t>def</a:t>
            </a:r>
            <a:r>
              <a:rPr lang="en" sz="1000">
                <a:latin typeface="Roboto Mono"/>
                <a:ea typeface="Roboto Mono"/>
                <a:cs typeface="Roboto Mono"/>
                <a:sym typeface="Roboto Mono"/>
              </a:rPr>
              <a:t> </a:t>
            </a:r>
            <a:r>
              <a:rPr lang="en" sz="1000">
                <a:solidFill>
                  <a:srgbClr val="0000F0"/>
                </a:solidFill>
                <a:latin typeface="Roboto Mono"/>
                <a:ea typeface="Roboto Mono"/>
                <a:cs typeface="Roboto Mono"/>
                <a:sym typeface="Roboto Mono"/>
              </a:rPr>
              <a:t>process_user</a:t>
            </a:r>
            <a:r>
              <a:rPr lang="en" sz="1000">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user_data</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    </a:t>
            </a:r>
            <a:r>
              <a:rPr i="1" lang="en" sz="1000">
                <a:solidFill>
                  <a:srgbClr val="A05000"/>
                </a:solidFill>
                <a:latin typeface="Roboto Mono"/>
                <a:ea typeface="Roboto Mono"/>
                <a:cs typeface="Roboto Mono"/>
                <a:sym typeface="Roboto Mono"/>
              </a:rPr>
              <a:t># Validate input</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if</a:t>
            </a:r>
            <a:r>
              <a:rPr lang="en" sz="1000">
                <a:latin typeface="Roboto Mono"/>
                <a:ea typeface="Roboto Mono"/>
                <a:cs typeface="Roboto Mono"/>
                <a:sym typeface="Roboto Mono"/>
              </a:rPr>
              <a:t> </a:t>
            </a:r>
            <a:r>
              <a:rPr lang="en" sz="1000">
                <a:solidFill>
                  <a:srgbClr val="A01010"/>
                </a:solidFill>
                <a:latin typeface="Roboto Mono"/>
                <a:ea typeface="Roboto Mono"/>
                <a:cs typeface="Roboto Mono"/>
                <a:sym typeface="Roboto Mono"/>
              </a:rPr>
              <a:t>"name"</a:t>
            </a:r>
            <a:r>
              <a:rPr lang="en" sz="1000">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not</a:t>
            </a:r>
            <a:r>
              <a:rPr lang="en" sz="1000">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in</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user_data</a:t>
            </a:r>
            <a:r>
              <a:rPr lang="en" sz="1000">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or</a:t>
            </a:r>
            <a:r>
              <a:rPr lang="en" sz="1000">
                <a:latin typeface="Roboto Mono"/>
                <a:ea typeface="Roboto Mono"/>
                <a:cs typeface="Roboto Mono"/>
                <a:sym typeface="Roboto Mono"/>
              </a:rPr>
              <a:t> </a:t>
            </a:r>
            <a:r>
              <a:rPr lang="en" sz="1000">
                <a:solidFill>
                  <a:srgbClr val="A01010"/>
                </a:solidFill>
                <a:latin typeface="Roboto Mono"/>
                <a:ea typeface="Roboto Mono"/>
                <a:cs typeface="Roboto Mono"/>
                <a:sym typeface="Roboto Mono"/>
              </a:rPr>
              <a:t>"email"</a:t>
            </a:r>
            <a:r>
              <a:rPr lang="en" sz="1000">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not</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in</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user_data</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        </a:t>
            </a:r>
            <a:r>
              <a:rPr lang="en" sz="1000">
                <a:solidFill>
                  <a:srgbClr val="3000A0"/>
                </a:solidFill>
                <a:latin typeface="Roboto Mono"/>
                <a:ea typeface="Roboto Mono"/>
                <a:cs typeface="Roboto Mono"/>
                <a:sym typeface="Roboto Mono"/>
              </a:rPr>
              <a:t>print</a:t>
            </a:r>
            <a:r>
              <a:rPr lang="en" sz="1000">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"Invalid input"</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return</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    </a:t>
            </a:r>
            <a:r>
              <a:rPr i="1" lang="en" sz="1000">
                <a:solidFill>
                  <a:srgbClr val="A05000"/>
                </a:solidFill>
                <a:latin typeface="Roboto Mono"/>
                <a:ea typeface="Roboto Mono"/>
                <a:cs typeface="Roboto Mono"/>
                <a:sym typeface="Roboto Mono"/>
              </a:rPr>
              <a:t># Format name</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full_name</a:t>
            </a:r>
            <a:r>
              <a:rPr lang="en" sz="1000">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user_data</a:t>
            </a:r>
            <a:r>
              <a:rPr lang="en" sz="1000">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"name"</a:t>
            </a:r>
            <a:r>
              <a:rPr lang="en" sz="1000">
                <a:latin typeface="Roboto Mono"/>
                <a:ea typeface="Roboto Mono"/>
                <a:cs typeface="Roboto Mono"/>
                <a:sym typeface="Roboto Mono"/>
              </a:rPr>
              <a:t>].</a:t>
            </a:r>
            <a:r>
              <a:rPr lang="en" sz="1000">
                <a:solidFill>
                  <a:srgbClr val="572000"/>
                </a:solidFill>
                <a:latin typeface="Roboto Mono"/>
                <a:ea typeface="Roboto Mono"/>
                <a:cs typeface="Roboto Mono"/>
                <a:sym typeface="Roboto Mono"/>
              </a:rPr>
              <a:t>strip</a:t>
            </a:r>
            <a:r>
              <a:rPr lang="en" sz="1000">
                <a:latin typeface="Roboto Mono"/>
                <a:ea typeface="Roboto Mono"/>
                <a:cs typeface="Roboto Mono"/>
                <a:sym typeface="Roboto Mono"/>
              </a:rPr>
              <a:t>().</a:t>
            </a:r>
            <a:r>
              <a:rPr lang="en" sz="1000">
                <a:solidFill>
                  <a:srgbClr val="572000"/>
                </a:solidFill>
                <a:latin typeface="Roboto Mono"/>
                <a:ea typeface="Roboto Mono"/>
                <a:cs typeface="Roboto Mono"/>
                <a:sym typeface="Roboto Mono"/>
              </a:rPr>
              <a:t>title</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    </a:t>
            </a:r>
            <a:r>
              <a:rPr i="1" lang="en" sz="1000">
                <a:solidFill>
                  <a:srgbClr val="A05000"/>
                </a:solidFill>
                <a:latin typeface="Roboto Mono"/>
                <a:ea typeface="Roboto Mono"/>
                <a:cs typeface="Roboto Mono"/>
                <a:sym typeface="Roboto Mono"/>
              </a:rPr>
              <a:t># Send welcome email</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    </a:t>
            </a:r>
            <a:r>
              <a:rPr lang="en" sz="1000">
                <a:solidFill>
                  <a:srgbClr val="3000A0"/>
                </a:solidFill>
                <a:latin typeface="Roboto Mono"/>
                <a:ea typeface="Roboto Mono"/>
                <a:cs typeface="Roboto Mono"/>
                <a:sym typeface="Roboto Mono"/>
              </a:rPr>
              <a:t>print</a:t>
            </a:r>
            <a:r>
              <a:rPr lang="en" sz="1000">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f"Sending email t</a:t>
            </a:r>
            <a:r>
              <a:rPr lang="en" sz="1000">
                <a:solidFill>
                  <a:srgbClr val="A01010"/>
                </a:solidFill>
                <a:latin typeface="Roboto Mono"/>
                <a:ea typeface="Roboto Mono"/>
                <a:cs typeface="Roboto Mono"/>
                <a:sym typeface="Roboto Mono"/>
              </a:rPr>
              <a:t>o </a:t>
            </a:r>
            <a:r>
              <a:rPr lang="en" sz="1000">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user_data</a:t>
            </a:r>
            <a:r>
              <a:rPr lang="en" sz="1000">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'email'</a:t>
            </a:r>
            <a:r>
              <a:rPr lang="en" sz="1000">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    </a:t>
            </a:r>
            <a:r>
              <a:rPr i="1" lang="en" sz="1000">
                <a:solidFill>
                  <a:srgbClr val="A05000"/>
                </a:solidFill>
                <a:latin typeface="Roboto Mono"/>
                <a:ea typeface="Roboto Mono"/>
                <a:cs typeface="Roboto Mono"/>
                <a:sym typeface="Roboto Mono"/>
              </a:rPr>
              <a:t># Save to database</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latin typeface="Roboto Mono"/>
                <a:ea typeface="Roboto Mono"/>
                <a:cs typeface="Roboto Mono"/>
                <a:sym typeface="Roboto Mono"/>
              </a:rPr>
              <a:t>    </a:t>
            </a:r>
            <a:r>
              <a:rPr lang="en" sz="1000">
                <a:solidFill>
                  <a:srgbClr val="3000A0"/>
                </a:solidFill>
                <a:latin typeface="Roboto Mono"/>
                <a:ea typeface="Roboto Mono"/>
                <a:cs typeface="Roboto Mono"/>
                <a:sym typeface="Roboto Mono"/>
              </a:rPr>
              <a:t>print</a:t>
            </a:r>
            <a:r>
              <a:rPr lang="en" sz="1000">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f"Saving </a:t>
            </a:r>
            <a:r>
              <a:rPr lang="en" sz="1000">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full_name</a:t>
            </a:r>
            <a:r>
              <a:rPr lang="en" sz="1000">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 to database"</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p:txBody>
      </p:sp>
      <p:sp>
        <p:nvSpPr>
          <p:cNvPr id="126" name="Google Shape;126;p23"/>
          <p:cNvSpPr txBox="1"/>
          <p:nvPr/>
        </p:nvSpPr>
        <p:spPr>
          <a:xfrm>
            <a:off x="4456250" y="1807933"/>
            <a:ext cx="4374900" cy="2970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900">
                <a:solidFill>
                  <a:srgbClr val="A05000"/>
                </a:solidFill>
                <a:latin typeface="Roboto Mono"/>
                <a:ea typeface="Roboto Mono"/>
                <a:cs typeface="Roboto Mono"/>
                <a:sym typeface="Roboto Mono"/>
              </a:rPr>
              <a:t># ✅ Good(Split Into Focused Functions)</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validate_user</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user_data</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return</a:t>
            </a:r>
            <a:r>
              <a:rPr lang="en" sz="900">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"name"</a:t>
            </a: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in</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user_data</a:t>
            </a: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and</a:t>
            </a:r>
            <a:r>
              <a:rPr lang="en" sz="900">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"email"</a:t>
            </a: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in</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user_data</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format_name</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name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return</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name</a:t>
            </a:r>
            <a:r>
              <a:rPr lang="en" sz="900">
                <a:latin typeface="Roboto Mono"/>
                <a:ea typeface="Roboto Mono"/>
                <a:cs typeface="Roboto Mono"/>
                <a:sym typeface="Roboto Mono"/>
              </a:rPr>
              <a:t>.</a:t>
            </a:r>
            <a:r>
              <a:rPr lang="en" sz="900">
                <a:solidFill>
                  <a:srgbClr val="572000"/>
                </a:solidFill>
                <a:latin typeface="Roboto Mono"/>
                <a:ea typeface="Roboto Mono"/>
                <a:cs typeface="Roboto Mono"/>
                <a:sym typeface="Roboto Mono"/>
              </a:rPr>
              <a:t>strip</a:t>
            </a:r>
            <a:r>
              <a:rPr lang="en" sz="900">
                <a:latin typeface="Roboto Mono"/>
                <a:ea typeface="Roboto Mono"/>
                <a:cs typeface="Roboto Mono"/>
                <a:sym typeface="Roboto Mono"/>
              </a:rPr>
              <a:t>().</a:t>
            </a:r>
            <a:r>
              <a:rPr lang="en" sz="900">
                <a:solidFill>
                  <a:srgbClr val="572000"/>
                </a:solidFill>
                <a:latin typeface="Roboto Mono"/>
                <a:ea typeface="Roboto Mono"/>
                <a:cs typeface="Roboto Mono"/>
                <a:sym typeface="Roboto Mono"/>
              </a:rPr>
              <a:t>title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send_welcome_email</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email</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3000A0"/>
                </a:solidFill>
                <a:latin typeface="Roboto Mono"/>
                <a:ea typeface="Roboto Mono"/>
                <a:cs typeface="Roboto Mono"/>
                <a:sym typeface="Roboto Mono"/>
              </a:rPr>
              <a:t>print</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f"Sending email to </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email</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save_user_to_db</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name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3000A0"/>
                </a:solidFill>
                <a:latin typeface="Roboto Mono"/>
                <a:ea typeface="Roboto Mono"/>
                <a:cs typeface="Roboto Mono"/>
                <a:sym typeface="Roboto Mono"/>
              </a:rPr>
              <a:t>print</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f"Saving </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name</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 to database..."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process_user</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user_data</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if</a:t>
            </a: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not</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validate_user</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user_data</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3000A0"/>
                </a:solidFill>
                <a:latin typeface="Roboto Mono"/>
                <a:ea typeface="Roboto Mono"/>
                <a:cs typeface="Roboto Mono"/>
                <a:sym typeface="Roboto Mono"/>
              </a:rPr>
              <a:t>print</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"Invalid input"</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return</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full_name</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format_name</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user_data</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"name"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send_welcome_email</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user_data</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"email"</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save_user_to_db</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full_name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nvSpPr>
        <p:spPr>
          <a:xfrm>
            <a:off x="612900" y="243595"/>
            <a:ext cx="8128500" cy="1477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600">
                <a:latin typeface="Lora"/>
                <a:ea typeface="Lora"/>
                <a:cs typeface="Lora"/>
                <a:sym typeface="Lora"/>
              </a:rPr>
              <a:t>Comments &amp; Documentation</a:t>
            </a:r>
            <a:endParaRPr sz="1600">
              <a:latin typeface="Lora"/>
              <a:ea typeface="Lora"/>
              <a:cs typeface="Lora"/>
              <a:sym typeface="Lora"/>
            </a:endParaRPr>
          </a:p>
          <a:p>
            <a:pPr indent="0" lvl="0" marL="0" marR="0" rtl="0" algn="l">
              <a:lnSpc>
                <a:spcPct val="139979"/>
              </a:lnSpc>
              <a:spcBef>
                <a:spcPts val="1200"/>
              </a:spcBef>
              <a:spcAft>
                <a:spcPts val="0"/>
              </a:spcAft>
              <a:buClr>
                <a:srgbClr val="000000"/>
              </a:buClr>
              <a:buSzPts val="2400"/>
              <a:buFont typeface="Arial"/>
              <a:buNone/>
            </a:pPr>
            <a:r>
              <a:t/>
            </a:r>
            <a:endParaRPr sz="2400">
              <a:latin typeface="Lora"/>
              <a:ea typeface="Lora"/>
              <a:cs typeface="Lora"/>
              <a:sym typeface="Lora"/>
            </a:endParaRPr>
          </a:p>
        </p:txBody>
      </p:sp>
      <p:sp>
        <p:nvSpPr>
          <p:cNvPr id="132" name="Google Shape;132;p24"/>
          <p:cNvSpPr txBox="1"/>
          <p:nvPr/>
        </p:nvSpPr>
        <p:spPr>
          <a:xfrm>
            <a:off x="612900" y="1278750"/>
            <a:ext cx="7699200" cy="646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SzPts val="1200"/>
              <a:buFont typeface="Lora"/>
              <a:buChar char="●"/>
            </a:pPr>
            <a:r>
              <a:rPr lang="en" sz="1200">
                <a:latin typeface="Lora"/>
                <a:ea typeface="Lora"/>
                <a:cs typeface="Lora"/>
                <a:sym typeface="Lora"/>
              </a:rPr>
              <a:t>Comment the "Why," Not the "What" (Code should be self-explanatory)</a:t>
            </a:r>
            <a:r>
              <a:rPr lang="en" sz="1200">
                <a:latin typeface="Lora"/>
                <a:ea typeface="Lora"/>
                <a:cs typeface="Lora"/>
                <a:sym typeface="Lora"/>
              </a:rPr>
              <a:t>: </a:t>
            </a:r>
            <a:r>
              <a:rPr lang="en" sz="1200">
                <a:solidFill>
                  <a:schemeClr val="dk1"/>
                </a:solidFill>
                <a:latin typeface="Lora"/>
                <a:ea typeface="Lora"/>
                <a:cs typeface="Lora"/>
                <a:sym typeface="Lora"/>
              </a:rPr>
              <a:t>Comments should add </a:t>
            </a:r>
            <a:r>
              <a:rPr i="1" lang="en" sz="1200">
                <a:solidFill>
                  <a:schemeClr val="dk1"/>
                </a:solidFill>
                <a:latin typeface="Lora"/>
                <a:ea typeface="Lora"/>
                <a:cs typeface="Lora"/>
                <a:sym typeface="Lora"/>
              </a:rPr>
              <a:t>additional</a:t>
            </a:r>
            <a:r>
              <a:rPr lang="en" sz="1200">
                <a:solidFill>
                  <a:schemeClr val="dk1"/>
                </a:solidFill>
                <a:latin typeface="Lora"/>
                <a:ea typeface="Lora"/>
                <a:cs typeface="Lora"/>
                <a:sym typeface="Lora"/>
              </a:rPr>
              <a:t> information by explaining </a:t>
            </a:r>
            <a:r>
              <a:rPr i="1" lang="en" sz="1200">
                <a:solidFill>
                  <a:schemeClr val="dk1"/>
                </a:solidFill>
                <a:latin typeface="Lora"/>
                <a:ea typeface="Lora"/>
                <a:cs typeface="Lora"/>
                <a:sym typeface="Lora"/>
              </a:rPr>
              <a:t>why</a:t>
            </a:r>
            <a:r>
              <a:rPr lang="en" sz="1200">
                <a:solidFill>
                  <a:schemeClr val="dk1"/>
                </a:solidFill>
                <a:latin typeface="Lora"/>
                <a:ea typeface="Lora"/>
                <a:cs typeface="Lora"/>
                <a:sym typeface="Lora"/>
              </a:rPr>
              <a:t> something is done not </a:t>
            </a:r>
            <a:r>
              <a:rPr i="1" lang="en" sz="1200">
                <a:solidFill>
                  <a:schemeClr val="dk1"/>
                </a:solidFill>
                <a:latin typeface="Lora"/>
                <a:ea typeface="Lora"/>
                <a:cs typeface="Lora"/>
                <a:sym typeface="Lora"/>
              </a:rPr>
              <a:t>what</a:t>
            </a:r>
            <a:r>
              <a:rPr lang="en" sz="1200">
                <a:solidFill>
                  <a:schemeClr val="dk1"/>
                </a:solidFill>
                <a:latin typeface="Lora"/>
                <a:ea typeface="Lora"/>
                <a:cs typeface="Lora"/>
                <a:sym typeface="Lora"/>
              </a:rPr>
              <a:t> the code is doing</a:t>
            </a:r>
            <a:endParaRPr sz="1200">
              <a:latin typeface="Lora"/>
              <a:ea typeface="Lora"/>
              <a:cs typeface="Lora"/>
              <a:sym typeface="Lora"/>
            </a:endParaRPr>
          </a:p>
        </p:txBody>
      </p:sp>
      <p:sp>
        <p:nvSpPr>
          <p:cNvPr id="133" name="Google Shape;133;p24"/>
          <p:cNvSpPr txBox="1"/>
          <p:nvPr/>
        </p:nvSpPr>
        <p:spPr>
          <a:xfrm>
            <a:off x="307075" y="2307100"/>
            <a:ext cx="3268800" cy="2042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A05000"/>
                </a:solidFill>
                <a:latin typeface="Roboto Mono"/>
                <a:ea typeface="Roboto Mono"/>
                <a:cs typeface="Roboto Mono"/>
                <a:sym typeface="Roboto Mono"/>
              </a:rPr>
              <a:t># ❌ Bad</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200">
                <a:solidFill>
                  <a:srgbClr val="A05000"/>
                </a:solidFill>
                <a:latin typeface="Roboto Mono"/>
                <a:ea typeface="Roboto Mono"/>
                <a:cs typeface="Roboto Mono"/>
                <a:sym typeface="Roboto Mono"/>
              </a:rPr>
              <a:t># Define a function</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send_email</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email</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i="1" lang="en" sz="1200">
                <a:solidFill>
                  <a:srgbClr val="A05000"/>
                </a:solidFill>
                <a:latin typeface="Roboto Mono"/>
                <a:ea typeface="Roboto Mono"/>
                <a:cs typeface="Roboto Mono"/>
                <a:sym typeface="Roboto Mono"/>
              </a:rPr>
              <a:t># Print the email</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lang="en" sz="1200">
                <a:solidFill>
                  <a:srgbClr val="3000A0"/>
                </a:solidFill>
                <a:latin typeface="Roboto Mono"/>
                <a:ea typeface="Roboto Mono"/>
                <a:cs typeface="Roboto Mono"/>
                <a:sym typeface="Roboto Mono"/>
              </a:rPr>
              <a:t>print</a:t>
            </a:r>
            <a:r>
              <a:rPr lang="en" sz="1200">
                <a:latin typeface="Roboto Mono"/>
                <a:ea typeface="Roboto Mono"/>
                <a:cs typeface="Roboto Mono"/>
                <a:sym typeface="Roboto Mono"/>
              </a:rPr>
              <a:t>(</a:t>
            </a:r>
            <a:r>
              <a:rPr lang="en" sz="1200">
                <a:solidFill>
                  <a:srgbClr val="F00000"/>
                </a:solidFill>
                <a:latin typeface="Roboto Mono"/>
                <a:ea typeface="Roboto Mono"/>
                <a:cs typeface="Roboto Mono"/>
                <a:sym typeface="Roboto Mono"/>
              </a:rPr>
              <a:t>f"Sending to [</a:t>
            </a:r>
            <a:r>
              <a:rPr lang="en" sz="1200">
                <a:solidFill>
                  <a:srgbClr val="F00000"/>
                </a:solidFill>
                <a:latin typeface="Roboto Mono"/>
                <a:ea typeface="Roboto Mono"/>
                <a:cs typeface="Roboto Mono"/>
                <a:sym typeface="Roboto Mono"/>
              </a:rPr>
              <a:t>email</a:t>
            </a:r>
            <a:r>
              <a:rPr lang="en" sz="1200">
                <a:solidFill>
                  <a:srgbClr val="F00000"/>
                </a:solidFill>
                <a:latin typeface="Roboto Mono"/>
                <a:ea typeface="Roboto Mono"/>
                <a:cs typeface="Roboto Mono"/>
                <a:sym typeface="Roboto Mono"/>
              </a:rPr>
              <a:t>}</a:t>
            </a:r>
            <a:r>
              <a:rPr lang="en" sz="1200">
                <a:solidFill>
                  <a:srgbClr val="A01010"/>
                </a:solidFill>
                <a:latin typeface="Roboto Mono"/>
                <a:ea typeface="Roboto Mono"/>
                <a:cs typeface="Roboto Mono"/>
                <a:sym typeface="Roboto Mono"/>
              </a:rPr>
              <a:t>"</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
        <p:nvSpPr>
          <p:cNvPr id="134" name="Google Shape;134;p24"/>
          <p:cNvSpPr txBox="1"/>
          <p:nvPr/>
        </p:nvSpPr>
        <p:spPr>
          <a:xfrm>
            <a:off x="3674325" y="2307100"/>
            <a:ext cx="5156700" cy="2042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A05000"/>
                </a:solidFill>
                <a:latin typeface="Roboto Mono"/>
                <a:ea typeface="Roboto Mono"/>
                <a:cs typeface="Roboto Mono"/>
                <a:sym typeface="Roboto Mono"/>
              </a:rPr>
              <a:t># ✅ Good</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send_email</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email</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i="1" lang="en" sz="1200">
                <a:solidFill>
                  <a:srgbClr val="A05000"/>
                </a:solidFill>
                <a:latin typeface="Roboto Mono"/>
                <a:ea typeface="Roboto Mono"/>
                <a:cs typeface="Roboto Mono"/>
                <a:sym typeface="Roboto Mono"/>
              </a:rPr>
              <a:t># Temporary solution: Simulate email sending until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i="1" lang="en" sz="1200">
                <a:solidFill>
                  <a:srgbClr val="A05000"/>
                </a:solidFill>
                <a:latin typeface="Roboto Mono"/>
                <a:ea typeface="Roboto Mono"/>
                <a:cs typeface="Roboto Mono"/>
                <a:sym typeface="Roboto Mono"/>
              </a:rPr>
              <a:t># SMTP setup</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lang="en" sz="1200">
                <a:solidFill>
                  <a:srgbClr val="3000A0"/>
                </a:solidFill>
                <a:latin typeface="Roboto Mono"/>
                <a:ea typeface="Roboto Mono"/>
                <a:cs typeface="Roboto Mono"/>
                <a:sym typeface="Roboto Mono"/>
              </a:rPr>
              <a:t>print</a:t>
            </a:r>
            <a:r>
              <a:rPr lang="en" sz="1200">
                <a:latin typeface="Roboto Mono"/>
                <a:ea typeface="Roboto Mono"/>
                <a:cs typeface="Roboto Mono"/>
                <a:sym typeface="Roboto Mono"/>
              </a:rPr>
              <a:t>(</a:t>
            </a:r>
            <a:r>
              <a:rPr lang="en" sz="1200">
                <a:solidFill>
                  <a:srgbClr val="F00000"/>
                </a:solidFill>
                <a:latin typeface="Roboto Mono"/>
                <a:ea typeface="Roboto Mono"/>
                <a:cs typeface="Roboto Mono"/>
                <a:sym typeface="Roboto Mono"/>
              </a:rPr>
              <a:t>f"Sending to [email}</a:t>
            </a:r>
            <a:r>
              <a:rPr lang="en" sz="1200">
                <a:solidFill>
                  <a:srgbClr val="A01010"/>
                </a:solidFill>
                <a:latin typeface="Roboto Mono"/>
                <a:ea typeface="Roboto Mono"/>
                <a:cs typeface="Roboto Mono"/>
                <a:sym typeface="Roboto Mono"/>
              </a:rPr>
              <a:t>"</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nvSpPr>
        <p:spPr>
          <a:xfrm>
            <a:off x="612900" y="243595"/>
            <a:ext cx="8128500" cy="1477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600">
                <a:latin typeface="Lora"/>
                <a:ea typeface="Lora"/>
                <a:cs typeface="Lora"/>
                <a:sym typeface="Lora"/>
              </a:rPr>
              <a:t>Comments &amp; Documentation</a:t>
            </a:r>
            <a:endParaRPr sz="1600">
              <a:latin typeface="Lora"/>
              <a:ea typeface="Lora"/>
              <a:cs typeface="Lora"/>
              <a:sym typeface="Lora"/>
            </a:endParaRPr>
          </a:p>
          <a:p>
            <a:pPr indent="0" lvl="0" marL="0" marR="0" rtl="0" algn="l">
              <a:lnSpc>
                <a:spcPct val="139979"/>
              </a:lnSpc>
              <a:spcBef>
                <a:spcPts val="1200"/>
              </a:spcBef>
              <a:spcAft>
                <a:spcPts val="0"/>
              </a:spcAft>
              <a:buClr>
                <a:srgbClr val="000000"/>
              </a:buClr>
              <a:buSzPts val="2400"/>
              <a:buFont typeface="Arial"/>
              <a:buNone/>
            </a:pPr>
            <a:r>
              <a:t/>
            </a:r>
            <a:endParaRPr sz="2400">
              <a:latin typeface="Lora"/>
              <a:ea typeface="Lora"/>
              <a:cs typeface="Lora"/>
              <a:sym typeface="Lora"/>
            </a:endParaRPr>
          </a:p>
        </p:txBody>
      </p:sp>
      <p:sp>
        <p:nvSpPr>
          <p:cNvPr id="140" name="Google Shape;140;p25"/>
          <p:cNvSpPr txBox="1"/>
          <p:nvPr/>
        </p:nvSpPr>
        <p:spPr>
          <a:xfrm>
            <a:off x="612900" y="1278750"/>
            <a:ext cx="7650000" cy="646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SzPts val="1200"/>
              <a:buFont typeface="Lora"/>
              <a:buChar char="●"/>
            </a:pPr>
            <a:r>
              <a:rPr lang="en" sz="1200">
                <a:latin typeface="Lora"/>
                <a:ea typeface="Lora"/>
                <a:cs typeface="Lora"/>
                <a:sym typeface="Lora"/>
              </a:rPr>
              <a:t>Keep Comments Minimal but Meaningful: </a:t>
            </a:r>
            <a:r>
              <a:rPr lang="en" sz="1200">
                <a:solidFill>
                  <a:schemeClr val="dk1"/>
                </a:solidFill>
                <a:latin typeface="Lora"/>
                <a:ea typeface="Lora"/>
                <a:cs typeface="Lora"/>
                <a:sym typeface="Lora"/>
              </a:rPr>
              <a:t>Good comments are short, relevant, and insightful. Avoid adding unnecessary or obvious remarks. Say just enough to add value.</a:t>
            </a:r>
            <a:endParaRPr sz="1200">
              <a:latin typeface="Lora"/>
              <a:ea typeface="Lora"/>
              <a:cs typeface="Lora"/>
              <a:sym typeface="Lora"/>
            </a:endParaRPr>
          </a:p>
        </p:txBody>
      </p:sp>
      <p:sp>
        <p:nvSpPr>
          <p:cNvPr id="141" name="Google Shape;141;p25"/>
          <p:cNvSpPr txBox="1"/>
          <p:nvPr/>
        </p:nvSpPr>
        <p:spPr>
          <a:xfrm>
            <a:off x="552100" y="2307100"/>
            <a:ext cx="3023700" cy="2042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A05000"/>
                </a:solidFill>
                <a:latin typeface="Roboto Mono"/>
                <a:ea typeface="Roboto Mono"/>
                <a:cs typeface="Roboto Mono"/>
                <a:sym typeface="Roboto Mono"/>
              </a:rPr>
              <a:t># ❌ Bad</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200">
                <a:solidFill>
                  <a:srgbClr val="A05000"/>
                </a:solidFill>
                <a:latin typeface="Roboto Mono"/>
                <a:ea typeface="Roboto Mono"/>
                <a:cs typeface="Roboto Mono"/>
                <a:sym typeface="Roboto Mono"/>
              </a:rPr>
              <a:t># Define a function to add two numbers</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add</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a</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b</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i="1" lang="en" sz="1200">
                <a:solidFill>
                  <a:srgbClr val="A05000"/>
                </a:solidFill>
                <a:latin typeface="Roboto Mono"/>
                <a:ea typeface="Roboto Mono"/>
                <a:cs typeface="Roboto Mono"/>
                <a:sym typeface="Roboto Mono"/>
              </a:rPr>
              <a:t># Return the sum</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b="1" lang="en" sz="1200">
                <a:solidFill>
                  <a:srgbClr val="700080"/>
                </a:solidFill>
                <a:latin typeface="Roboto Mono"/>
                <a:ea typeface="Roboto Mono"/>
                <a:cs typeface="Roboto Mono"/>
                <a:sym typeface="Roboto Mono"/>
              </a:rPr>
              <a:t>return</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a</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b</a:t>
            </a:r>
            <a:r>
              <a:rPr lang="en" sz="1200">
                <a:latin typeface="Roboto Mono"/>
                <a:ea typeface="Roboto Mono"/>
                <a:cs typeface="Roboto Mono"/>
                <a:sym typeface="Roboto Mono"/>
              </a:rPr>
              <a:t>  </a:t>
            </a:r>
            <a:r>
              <a:rPr i="1" lang="en" sz="1200">
                <a:solidFill>
                  <a:srgbClr val="A05000"/>
                </a:solidFill>
                <a:latin typeface="Roboto Mono"/>
                <a:ea typeface="Roboto Mono"/>
                <a:cs typeface="Roboto Mono"/>
                <a:sym typeface="Roboto Mono"/>
              </a:rPr>
              <a:t># Add a and b</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
        <p:nvSpPr>
          <p:cNvPr id="142" name="Google Shape;142;p25"/>
          <p:cNvSpPr txBox="1"/>
          <p:nvPr/>
        </p:nvSpPr>
        <p:spPr>
          <a:xfrm>
            <a:off x="3674325" y="2307100"/>
            <a:ext cx="5156700" cy="2042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A05000"/>
                </a:solidFill>
                <a:latin typeface="Roboto Mono"/>
                <a:ea typeface="Roboto Mono"/>
                <a:cs typeface="Roboto Mono"/>
                <a:sym typeface="Roboto Mono"/>
              </a:rPr>
              <a:t># ✅ Good</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add</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a</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b</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b="1" lang="en" sz="1200">
                <a:solidFill>
                  <a:srgbClr val="700080"/>
                </a:solidFill>
                <a:latin typeface="Roboto Mono"/>
                <a:ea typeface="Roboto Mono"/>
                <a:cs typeface="Roboto Mono"/>
                <a:sym typeface="Roboto Mono"/>
              </a:rPr>
              <a:t>return</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a</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b</a:t>
            </a:r>
            <a:r>
              <a:rPr lang="en" sz="1200">
                <a:latin typeface="Roboto Mono"/>
                <a:ea typeface="Roboto Mono"/>
                <a:cs typeface="Roboto Mono"/>
                <a:sym typeface="Roboto Mono"/>
              </a:rPr>
              <a:t>  </a:t>
            </a:r>
            <a:r>
              <a:rPr i="1" lang="en" sz="1200">
                <a:solidFill>
                  <a:srgbClr val="A05000"/>
                </a:solidFill>
                <a:latin typeface="Roboto Mono"/>
                <a:ea typeface="Roboto Mono"/>
                <a:cs typeface="Roboto Mono"/>
                <a:sym typeface="Roboto Mono"/>
              </a:rPr>
              <a:t># Used in multiple modules</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nvSpPr>
        <p:spPr>
          <a:xfrm>
            <a:off x="612900" y="243595"/>
            <a:ext cx="8128500" cy="1477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600">
                <a:latin typeface="Lora"/>
                <a:ea typeface="Lora"/>
                <a:cs typeface="Lora"/>
                <a:sym typeface="Lora"/>
              </a:rPr>
              <a:t>Comments &amp; Documentation</a:t>
            </a:r>
            <a:endParaRPr sz="1600">
              <a:latin typeface="Lora"/>
              <a:ea typeface="Lora"/>
              <a:cs typeface="Lora"/>
              <a:sym typeface="Lora"/>
            </a:endParaRPr>
          </a:p>
          <a:p>
            <a:pPr indent="0" lvl="0" marL="0" marR="0" rtl="0" algn="l">
              <a:lnSpc>
                <a:spcPct val="139979"/>
              </a:lnSpc>
              <a:spcBef>
                <a:spcPts val="1200"/>
              </a:spcBef>
              <a:spcAft>
                <a:spcPts val="0"/>
              </a:spcAft>
              <a:buClr>
                <a:srgbClr val="000000"/>
              </a:buClr>
              <a:buSzPts val="2400"/>
              <a:buFont typeface="Arial"/>
              <a:buNone/>
            </a:pPr>
            <a:r>
              <a:t/>
            </a:r>
            <a:endParaRPr sz="2400">
              <a:latin typeface="Lora"/>
              <a:ea typeface="Lora"/>
              <a:cs typeface="Lora"/>
              <a:sym typeface="Lora"/>
            </a:endParaRPr>
          </a:p>
        </p:txBody>
      </p:sp>
      <p:sp>
        <p:nvSpPr>
          <p:cNvPr id="148" name="Google Shape;148;p26"/>
          <p:cNvSpPr txBox="1"/>
          <p:nvPr/>
        </p:nvSpPr>
        <p:spPr>
          <a:xfrm>
            <a:off x="612900" y="1278750"/>
            <a:ext cx="7489500" cy="646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SzPts val="1200"/>
              <a:buFont typeface="Lora"/>
              <a:buChar char="●"/>
            </a:pPr>
            <a:r>
              <a:rPr lang="en" sz="1200">
                <a:latin typeface="Lora"/>
                <a:ea typeface="Lora"/>
                <a:cs typeface="Lora"/>
                <a:sym typeface="Lora"/>
              </a:rPr>
              <a:t>Importance of READMEs: </a:t>
            </a:r>
            <a:r>
              <a:rPr lang="en" sz="1200">
                <a:solidFill>
                  <a:schemeClr val="dk1"/>
                </a:solidFill>
                <a:latin typeface="Lora"/>
                <a:ea typeface="Lora"/>
                <a:cs typeface="Lora"/>
                <a:sym typeface="Lora"/>
              </a:rPr>
              <a:t>Your code is only as good as how well others (or future you) can understand and use it. A good </a:t>
            </a:r>
            <a:r>
              <a:rPr b="1" lang="en" sz="1200">
                <a:solidFill>
                  <a:schemeClr val="dk1"/>
                </a:solidFill>
                <a:latin typeface="Lora"/>
                <a:ea typeface="Lora"/>
                <a:cs typeface="Lora"/>
                <a:sym typeface="Lora"/>
              </a:rPr>
              <a:t>README</a:t>
            </a:r>
            <a:r>
              <a:rPr lang="en" sz="1200">
                <a:solidFill>
                  <a:schemeClr val="dk1"/>
                </a:solidFill>
                <a:latin typeface="Lora"/>
                <a:ea typeface="Lora"/>
                <a:cs typeface="Lora"/>
                <a:sym typeface="Lora"/>
              </a:rPr>
              <a:t> make your project easy to use.</a:t>
            </a:r>
            <a:endParaRPr sz="1200">
              <a:latin typeface="Lora"/>
              <a:ea typeface="Lora"/>
              <a:cs typeface="Lora"/>
              <a:sym typeface="Lora"/>
            </a:endParaRPr>
          </a:p>
        </p:txBody>
      </p:sp>
      <p:sp>
        <p:nvSpPr>
          <p:cNvPr id="149" name="Google Shape;149;p26"/>
          <p:cNvSpPr txBox="1"/>
          <p:nvPr/>
        </p:nvSpPr>
        <p:spPr>
          <a:xfrm>
            <a:off x="552100" y="2154700"/>
            <a:ext cx="3023700" cy="2042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Mono"/>
                <a:ea typeface="Roboto Mono"/>
                <a:cs typeface="Roboto Mono"/>
                <a:sym typeface="Roboto Mono"/>
              </a:rPr>
              <a:t>❌ Bad (Missing or Vague README)</a:t>
            </a:r>
            <a:endParaRPr sz="900">
              <a:latin typeface="Roboto Mono"/>
              <a:ea typeface="Roboto Mono"/>
              <a:cs typeface="Roboto Mono"/>
              <a:sym typeface="Roboto Mono"/>
            </a:endParaRPr>
          </a:p>
          <a:p>
            <a:pPr indent="0" lvl="0" marL="0" rtl="0" algn="l">
              <a:spcBef>
                <a:spcPts val="0"/>
              </a:spcBef>
              <a:spcAft>
                <a:spcPts val="0"/>
              </a:spcAft>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Project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This is my app.</a:t>
            </a:r>
            <a:endParaRPr sz="900">
              <a:latin typeface="Roboto Mono"/>
              <a:ea typeface="Roboto Mono"/>
              <a:cs typeface="Roboto Mono"/>
              <a:sym typeface="Roboto Mono"/>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
        <p:nvSpPr>
          <p:cNvPr id="150" name="Google Shape;150;p26"/>
          <p:cNvSpPr txBox="1"/>
          <p:nvPr/>
        </p:nvSpPr>
        <p:spPr>
          <a:xfrm>
            <a:off x="3674325" y="2154700"/>
            <a:ext cx="5156700" cy="25860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Mono"/>
                <a:ea typeface="Roboto Mono"/>
                <a:cs typeface="Roboto Mono"/>
                <a:sym typeface="Roboto Mono"/>
              </a:rPr>
              <a:t>✅ Good (Descriptive &amp; Helpful README)</a:t>
            </a:r>
            <a:endParaRPr sz="900">
              <a:latin typeface="Roboto Mono"/>
              <a:ea typeface="Roboto Mono"/>
              <a:cs typeface="Roboto Mono"/>
              <a:sym typeface="Roboto Mono"/>
            </a:endParaRPr>
          </a:p>
          <a:p>
            <a:pPr indent="0" lvl="0" marL="0" rtl="0" algn="l">
              <a:spcBef>
                <a:spcPts val="0"/>
              </a:spcBef>
              <a:spcAft>
                <a:spcPts val="0"/>
              </a:spcAft>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900">
                <a:solidFill>
                  <a:srgbClr val="A05000"/>
                </a:solidFill>
                <a:latin typeface="Roboto Mono"/>
                <a:ea typeface="Roboto Mono"/>
                <a:cs typeface="Roboto Mono"/>
                <a:sym typeface="Roboto Mono"/>
              </a:rPr>
              <a:t># TaskTamer</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TaskTamer is a minimal app that helps you overcome procrastination using deep work sessions and behavioral nudges.</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900">
                <a:solidFill>
                  <a:srgbClr val="A05000"/>
                </a:solidFill>
                <a:latin typeface="Roboto Mono"/>
                <a:ea typeface="Roboto Mono"/>
                <a:cs typeface="Roboto Mono"/>
                <a:sym typeface="Roboto Mono"/>
              </a:rPr>
              <a:t>## Features</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Focus Mode (Pomodoro-style)</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Daily task tracking</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AI motivation prompts</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900">
                <a:solidFill>
                  <a:srgbClr val="A05000"/>
                </a:solidFill>
                <a:latin typeface="Roboto Mono"/>
                <a:ea typeface="Roboto Mono"/>
                <a:cs typeface="Roboto Mono"/>
                <a:sym typeface="Roboto Mono"/>
              </a:rPr>
              <a:t>## Getting Started</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1. Clone the repo</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2. Run </a:t>
            </a:r>
            <a:r>
              <a:rPr lang="en" sz="900">
                <a:solidFill>
                  <a:srgbClr val="000C8C"/>
                </a:solidFill>
                <a:latin typeface="Roboto Mono"/>
                <a:ea typeface="Roboto Mono"/>
                <a:cs typeface="Roboto Mono"/>
                <a:sym typeface="Roboto Mono"/>
              </a:rPr>
              <a:t>npm install</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3. Start with </a:t>
            </a:r>
            <a:r>
              <a:rPr lang="en" sz="900">
                <a:solidFill>
                  <a:srgbClr val="000C8C"/>
                </a:solidFill>
                <a:latin typeface="Roboto Mono"/>
                <a:ea typeface="Roboto Mono"/>
                <a:cs typeface="Roboto Mono"/>
                <a:sym typeface="Roboto Mono"/>
              </a:rPr>
              <a:t>npm run dev</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900">
                <a:solidFill>
                  <a:srgbClr val="A05000"/>
                </a:solidFill>
                <a:latin typeface="Roboto Mono"/>
                <a:ea typeface="Roboto Mono"/>
                <a:cs typeface="Roboto Mono"/>
                <a:sym typeface="Roboto Mono"/>
              </a:rPr>
              <a:t>## License</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MIT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nvSpPr>
        <p:spPr>
          <a:xfrm>
            <a:off x="612900" y="243595"/>
            <a:ext cx="8128500" cy="1477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600">
                <a:latin typeface="Lora"/>
                <a:ea typeface="Lora"/>
                <a:cs typeface="Lora"/>
                <a:sym typeface="Lora"/>
              </a:rPr>
              <a:t>Comments &amp; Documentation</a:t>
            </a:r>
            <a:endParaRPr sz="1600">
              <a:latin typeface="Lora"/>
              <a:ea typeface="Lora"/>
              <a:cs typeface="Lora"/>
              <a:sym typeface="Lora"/>
            </a:endParaRPr>
          </a:p>
          <a:p>
            <a:pPr indent="0" lvl="0" marL="0" marR="0" rtl="0" algn="l">
              <a:lnSpc>
                <a:spcPct val="139979"/>
              </a:lnSpc>
              <a:spcBef>
                <a:spcPts val="1200"/>
              </a:spcBef>
              <a:spcAft>
                <a:spcPts val="0"/>
              </a:spcAft>
              <a:buClr>
                <a:srgbClr val="000000"/>
              </a:buClr>
              <a:buSzPts val="2400"/>
              <a:buFont typeface="Arial"/>
              <a:buNone/>
            </a:pPr>
            <a:r>
              <a:t/>
            </a:r>
            <a:endParaRPr sz="2400">
              <a:latin typeface="Lora"/>
              <a:ea typeface="Lora"/>
              <a:cs typeface="Lora"/>
              <a:sym typeface="Lora"/>
            </a:endParaRPr>
          </a:p>
        </p:txBody>
      </p:sp>
      <p:sp>
        <p:nvSpPr>
          <p:cNvPr id="156" name="Google Shape;156;p27"/>
          <p:cNvSpPr txBox="1"/>
          <p:nvPr/>
        </p:nvSpPr>
        <p:spPr>
          <a:xfrm>
            <a:off x="612900" y="1278750"/>
            <a:ext cx="7489500" cy="646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SzPts val="1200"/>
              <a:buFont typeface="Lora"/>
              <a:buChar char="●"/>
            </a:pPr>
            <a:r>
              <a:rPr lang="en" sz="1200">
                <a:latin typeface="Lora"/>
                <a:ea typeface="Lora"/>
                <a:cs typeface="Lora"/>
                <a:sym typeface="Lora"/>
              </a:rPr>
              <a:t>Importance of </a:t>
            </a:r>
            <a:r>
              <a:rPr lang="en" sz="1200">
                <a:solidFill>
                  <a:srgbClr val="444746"/>
                </a:solidFill>
                <a:latin typeface="Lora"/>
                <a:ea typeface="Lora"/>
                <a:cs typeface="Lora"/>
                <a:sym typeface="Lora"/>
              </a:rPr>
              <a:t>Docstring</a:t>
            </a:r>
            <a:r>
              <a:rPr lang="en" sz="1200">
                <a:latin typeface="Lora"/>
                <a:ea typeface="Lora"/>
                <a:cs typeface="Lora"/>
                <a:sym typeface="Lora"/>
              </a:rPr>
              <a:t>: </a:t>
            </a:r>
            <a:r>
              <a:rPr lang="en" sz="1200">
                <a:solidFill>
                  <a:schemeClr val="dk1"/>
                </a:solidFill>
                <a:latin typeface="Lora"/>
                <a:ea typeface="Lora"/>
                <a:cs typeface="Lora"/>
                <a:sym typeface="Lora"/>
              </a:rPr>
              <a:t>Your code is only as good as how well others (or future you) can understand and use it. A good and clear </a:t>
            </a:r>
            <a:r>
              <a:rPr b="1" lang="en" sz="1200">
                <a:solidFill>
                  <a:srgbClr val="444746"/>
                </a:solidFill>
                <a:latin typeface="Lora"/>
                <a:ea typeface="Lora"/>
                <a:cs typeface="Lora"/>
                <a:sym typeface="Lora"/>
              </a:rPr>
              <a:t>Docstring</a:t>
            </a:r>
            <a:r>
              <a:rPr lang="en" sz="1200">
                <a:solidFill>
                  <a:schemeClr val="dk1"/>
                </a:solidFill>
                <a:latin typeface="Lora"/>
                <a:ea typeface="Lora"/>
                <a:cs typeface="Lora"/>
                <a:sym typeface="Lora"/>
              </a:rPr>
              <a:t> make your functions easy to use.</a:t>
            </a:r>
            <a:endParaRPr sz="1200">
              <a:latin typeface="Lora"/>
              <a:ea typeface="Lora"/>
              <a:cs typeface="Lora"/>
              <a:sym typeface="Lora"/>
            </a:endParaRPr>
          </a:p>
        </p:txBody>
      </p:sp>
      <p:sp>
        <p:nvSpPr>
          <p:cNvPr id="157" name="Google Shape;157;p27"/>
          <p:cNvSpPr txBox="1"/>
          <p:nvPr/>
        </p:nvSpPr>
        <p:spPr>
          <a:xfrm>
            <a:off x="552100" y="2154700"/>
            <a:ext cx="3023700" cy="2042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rgbClr val="A05000"/>
                </a:solidFill>
                <a:latin typeface="Roboto Mono"/>
                <a:ea typeface="Roboto Mono"/>
                <a:cs typeface="Roboto Mono"/>
                <a:sym typeface="Roboto Mono"/>
              </a:rPr>
              <a:t># </a:t>
            </a:r>
            <a:r>
              <a:rPr i="1" lang="en" sz="900">
                <a:solidFill>
                  <a:srgbClr val="A05000"/>
                </a:solidFill>
                <a:latin typeface="Roboto Mono"/>
                <a:ea typeface="Roboto Mono"/>
                <a:cs typeface="Roboto Mono"/>
                <a:sym typeface="Roboto Mono"/>
              </a:rPr>
              <a:t>❌ Bad (No Docstring)</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calculate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pass</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p:txBody>
      </p:sp>
      <p:sp>
        <p:nvSpPr>
          <p:cNvPr id="158" name="Google Shape;158;p27"/>
          <p:cNvSpPr txBox="1"/>
          <p:nvPr/>
        </p:nvSpPr>
        <p:spPr>
          <a:xfrm>
            <a:off x="3674325" y="2154700"/>
            <a:ext cx="5156700" cy="22932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rgbClr val="A05000"/>
                </a:solidFill>
                <a:latin typeface="Roboto Mono"/>
                <a:ea typeface="Roboto Mono"/>
                <a:cs typeface="Roboto Mono"/>
                <a:sym typeface="Roboto Mono"/>
              </a:rPr>
              <a:t># ✅ Good (Brief &amp; Clear Docstring)</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calculate_interest</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amount</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rate</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years</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Calculate simple interest.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Args:</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amount (float): Principal amount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rate (float): Annual interest rate</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years (int): Duration in years</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Returns:</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float: Total interest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return</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amount</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rate</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years</a:t>
            </a:r>
            <a:endParaRPr sz="900">
              <a:latin typeface="Roboto Mono"/>
              <a:ea typeface="Roboto Mono"/>
              <a:cs typeface="Roboto Mono"/>
              <a:sym typeface="Roboto Mono"/>
            </a:endParaRPr>
          </a:p>
          <a:p>
            <a:pPr indent="0" lvl="0" marL="0" rtl="0" algn="l">
              <a:spcBef>
                <a:spcPts val="0"/>
              </a:spcBef>
              <a:spcAft>
                <a:spcPts val="0"/>
              </a:spcAft>
              <a:buNone/>
            </a:pPr>
            <a:r>
              <a:t/>
            </a:r>
            <a:endParaRPr sz="900">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nvSpPr>
        <p:spPr>
          <a:xfrm>
            <a:off x="612900" y="243595"/>
            <a:ext cx="8128500" cy="1477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600">
                <a:latin typeface="Lora"/>
                <a:ea typeface="Lora"/>
                <a:cs typeface="Lora"/>
                <a:sym typeface="Lora"/>
              </a:rPr>
              <a:t>Comments &amp; Documentation</a:t>
            </a:r>
            <a:endParaRPr sz="1600">
              <a:latin typeface="Lora"/>
              <a:ea typeface="Lora"/>
              <a:cs typeface="Lora"/>
              <a:sym typeface="Lora"/>
            </a:endParaRPr>
          </a:p>
          <a:p>
            <a:pPr indent="0" lvl="0" marL="0" marR="0" rtl="0" algn="l">
              <a:lnSpc>
                <a:spcPct val="139979"/>
              </a:lnSpc>
              <a:spcBef>
                <a:spcPts val="1200"/>
              </a:spcBef>
              <a:spcAft>
                <a:spcPts val="0"/>
              </a:spcAft>
              <a:buClr>
                <a:srgbClr val="000000"/>
              </a:buClr>
              <a:buSzPts val="2400"/>
              <a:buFont typeface="Arial"/>
              <a:buNone/>
            </a:pPr>
            <a:r>
              <a:t/>
            </a:r>
            <a:endParaRPr sz="2400">
              <a:latin typeface="Lora"/>
              <a:ea typeface="Lora"/>
              <a:cs typeface="Lora"/>
              <a:sym typeface="Lora"/>
            </a:endParaRPr>
          </a:p>
        </p:txBody>
      </p:sp>
      <p:sp>
        <p:nvSpPr>
          <p:cNvPr id="164" name="Google Shape;164;p28"/>
          <p:cNvSpPr txBox="1"/>
          <p:nvPr/>
        </p:nvSpPr>
        <p:spPr>
          <a:xfrm>
            <a:off x="612900" y="1278750"/>
            <a:ext cx="8128500" cy="9234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SzPts val="1200"/>
              <a:buFont typeface="Lora"/>
              <a:buChar char="●"/>
            </a:pPr>
            <a:r>
              <a:rPr lang="en" sz="1200">
                <a:latin typeface="Lora"/>
                <a:ea typeface="Lora"/>
                <a:cs typeface="Lora"/>
                <a:sym typeface="Lora"/>
              </a:rPr>
              <a:t>Documenting Architecture &amp; Design Decisions: </a:t>
            </a:r>
            <a:r>
              <a:rPr lang="en" sz="1200">
                <a:solidFill>
                  <a:schemeClr val="dk1"/>
                </a:solidFill>
                <a:latin typeface="Lora"/>
                <a:ea typeface="Lora"/>
                <a:cs typeface="Lora"/>
                <a:sym typeface="Lora"/>
              </a:rPr>
              <a:t>Code shows </a:t>
            </a:r>
            <a:r>
              <a:rPr i="1" lang="en" sz="1200">
                <a:solidFill>
                  <a:schemeClr val="dk1"/>
                </a:solidFill>
                <a:latin typeface="Lora"/>
                <a:ea typeface="Lora"/>
                <a:cs typeface="Lora"/>
                <a:sym typeface="Lora"/>
              </a:rPr>
              <a:t>how</a:t>
            </a:r>
            <a:r>
              <a:rPr lang="en" sz="1200">
                <a:solidFill>
                  <a:schemeClr val="dk1"/>
                </a:solidFill>
                <a:latin typeface="Lora"/>
                <a:ea typeface="Lora"/>
                <a:cs typeface="Lora"/>
                <a:sym typeface="Lora"/>
              </a:rPr>
              <a:t> something works but documentation explains </a:t>
            </a:r>
            <a:r>
              <a:rPr i="1" lang="en" sz="1200">
                <a:solidFill>
                  <a:schemeClr val="dk1"/>
                </a:solidFill>
                <a:latin typeface="Lora"/>
                <a:ea typeface="Lora"/>
                <a:cs typeface="Lora"/>
                <a:sym typeface="Lora"/>
              </a:rPr>
              <a:t>why</a:t>
            </a:r>
            <a:r>
              <a:rPr lang="en" sz="1200">
                <a:solidFill>
                  <a:schemeClr val="dk1"/>
                </a:solidFill>
                <a:latin typeface="Lora"/>
                <a:ea typeface="Lora"/>
                <a:cs typeface="Lora"/>
                <a:sym typeface="Lora"/>
              </a:rPr>
              <a:t> it was built that way. Clear records of architectural and design decisions help teams stay aligned, onboard new devs faster, and avoid repeating mistakes.</a:t>
            </a:r>
            <a:endParaRPr sz="1200">
              <a:latin typeface="Lora"/>
              <a:ea typeface="Lora"/>
              <a:cs typeface="Lora"/>
              <a:sym typeface="Lora"/>
            </a:endParaRPr>
          </a:p>
        </p:txBody>
      </p:sp>
      <p:sp>
        <p:nvSpPr>
          <p:cNvPr id="165" name="Google Shape;165;p28"/>
          <p:cNvSpPr txBox="1"/>
          <p:nvPr/>
        </p:nvSpPr>
        <p:spPr>
          <a:xfrm>
            <a:off x="552100" y="2154700"/>
            <a:ext cx="3023700" cy="2042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Courier New"/>
                <a:ea typeface="Courier New"/>
                <a:cs typeface="Courier New"/>
                <a:sym typeface="Courier New"/>
              </a:rPr>
              <a:t>❌ Bad (No Context or Traceability)</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900">
                <a:solidFill>
                  <a:schemeClr val="dk2"/>
                </a:solidFill>
                <a:latin typeface="Courier New"/>
                <a:ea typeface="Courier New"/>
                <a:cs typeface="Courier New"/>
                <a:sym typeface="Courier New"/>
              </a:rPr>
              <a:t># Added Redis</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900">
                <a:solidFill>
                  <a:schemeClr val="dk2"/>
                </a:solidFill>
                <a:latin typeface="Courier New"/>
                <a:ea typeface="Courier New"/>
                <a:cs typeface="Courier New"/>
                <a:sym typeface="Courier New"/>
              </a:rPr>
              <a:t>Using Redis for caching.</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
        <p:nvSpPr>
          <p:cNvPr id="166" name="Google Shape;166;p28"/>
          <p:cNvSpPr txBox="1"/>
          <p:nvPr/>
        </p:nvSpPr>
        <p:spPr>
          <a:xfrm>
            <a:off x="3674325" y="2154700"/>
            <a:ext cx="5156700" cy="26427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Courier New"/>
                <a:ea typeface="Courier New"/>
                <a:cs typeface="Courier New"/>
                <a:sym typeface="Courier New"/>
              </a:rPr>
              <a:t>✅ Good (Structured, Thoughtful)</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900">
                <a:solidFill>
                  <a:schemeClr val="dk2"/>
                </a:solidFill>
                <a:latin typeface="Courier New"/>
                <a:ea typeface="Courier New"/>
                <a:cs typeface="Courier New"/>
                <a:sym typeface="Courier New"/>
              </a:rPr>
              <a:t># ADR 002 – Use Redis for Caching</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900">
                <a:solidFill>
                  <a:schemeClr val="dk2"/>
                </a:solidFill>
                <a:latin typeface="Courier New"/>
                <a:ea typeface="Courier New"/>
                <a:cs typeface="Courier New"/>
                <a:sym typeface="Courier New"/>
              </a:rPr>
              <a:t>## Status</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900">
                <a:solidFill>
                  <a:schemeClr val="dk2"/>
                </a:solidFill>
                <a:latin typeface="Courier New"/>
                <a:ea typeface="Courier New"/>
                <a:cs typeface="Courier New"/>
                <a:sym typeface="Courier New"/>
              </a:rPr>
              <a:t>Accepted</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900">
                <a:solidFill>
                  <a:schemeClr val="dk2"/>
                </a:solidFill>
                <a:latin typeface="Courier New"/>
                <a:ea typeface="Courier New"/>
                <a:cs typeface="Courier New"/>
                <a:sym typeface="Courier New"/>
              </a:rPr>
              <a:t>## Context</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900">
                <a:solidFill>
                  <a:schemeClr val="dk2"/>
                </a:solidFill>
                <a:latin typeface="Courier New"/>
                <a:ea typeface="Courier New"/>
                <a:cs typeface="Courier New"/>
                <a:sym typeface="Courier New"/>
              </a:rPr>
              <a:t>The app experiences slow response times due to repeated DB queries for frequently accessed data.</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900">
                <a:solidFill>
                  <a:schemeClr val="dk2"/>
                </a:solidFill>
                <a:latin typeface="Courier New"/>
                <a:ea typeface="Courier New"/>
                <a:cs typeface="Courier New"/>
                <a:sym typeface="Courier New"/>
              </a:rPr>
              <a:t>## Decision</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900">
                <a:solidFill>
                  <a:schemeClr val="dk2"/>
                </a:solidFill>
                <a:latin typeface="Courier New"/>
                <a:ea typeface="Courier New"/>
                <a:cs typeface="Courier New"/>
                <a:sym typeface="Courier New"/>
              </a:rPr>
              <a:t>We will use Redis to cache frequently accessed user profiles and dashboard stats.</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900">
                <a:solidFill>
                  <a:schemeClr val="dk2"/>
                </a:solidFill>
                <a:latin typeface="Courier New"/>
                <a:ea typeface="Courier New"/>
                <a:cs typeface="Courier New"/>
                <a:sym typeface="Courier New"/>
              </a:rPr>
              <a:t>## Alternatives Considered</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900">
                <a:solidFill>
                  <a:schemeClr val="dk2"/>
                </a:solidFill>
                <a:latin typeface="Courier New"/>
                <a:ea typeface="Courier New"/>
                <a:cs typeface="Courier New"/>
                <a:sym typeface="Courier New"/>
              </a:rPr>
              <a:t>- Memcached (simpler, but less flexible)</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900">
                <a:solidFill>
                  <a:schemeClr val="dk2"/>
                </a:solidFill>
                <a:latin typeface="Courier New"/>
                <a:ea typeface="Courier New"/>
                <a:cs typeface="Courier New"/>
                <a:sym typeface="Courier New"/>
              </a:rPr>
              <a:t>- No cache (poor performance under load)</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nvSpPr>
        <p:spPr>
          <a:xfrm>
            <a:off x="612900" y="243595"/>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Code</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highlight>
                  <a:schemeClr val="lt1"/>
                </a:highlight>
                <a:latin typeface="Lora"/>
                <a:ea typeface="Lora"/>
                <a:cs typeface="Lora"/>
                <a:sym typeface="Lora"/>
              </a:rPr>
              <a:t>Should a Line Break Before or After a Binary Operator?</a:t>
            </a:r>
            <a:endParaRPr sz="2400">
              <a:latin typeface="Lora"/>
              <a:ea typeface="Lora"/>
              <a:cs typeface="Lora"/>
              <a:sym typeface="Lora"/>
            </a:endParaRPr>
          </a:p>
        </p:txBody>
      </p:sp>
      <p:sp>
        <p:nvSpPr>
          <p:cNvPr id="172" name="Google Shape;172;p29"/>
          <p:cNvSpPr txBox="1"/>
          <p:nvPr/>
        </p:nvSpPr>
        <p:spPr>
          <a:xfrm>
            <a:off x="612900" y="1278750"/>
            <a:ext cx="8128500" cy="646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Clr>
                <a:schemeClr val="dk1"/>
              </a:buClr>
              <a:buSzPts val="1200"/>
              <a:buFont typeface="Lora"/>
              <a:buChar char="●"/>
            </a:pPr>
            <a:r>
              <a:rPr lang="en" sz="1200">
                <a:solidFill>
                  <a:schemeClr val="dk1"/>
                </a:solidFill>
                <a:highlight>
                  <a:schemeClr val="lt1"/>
                </a:highlight>
                <a:latin typeface="Lora"/>
                <a:ea typeface="Lora"/>
                <a:cs typeface="Lora"/>
                <a:sym typeface="Lora"/>
              </a:rPr>
              <a:t>In Python code, it is permissible to break before or after a binary operator, as long as the convention is consistent locally</a:t>
            </a:r>
            <a:endParaRPr sz="1200">
              <a:solidFill>
                <a:schemeClr val="dk1"/>
              </a:solidFill>
              <a:highlight>
                <a:schemeClr val="lt1"/>
              </a:highlight>
              <a:latin typeface="Lora"/>
              <a:ea typeface="Lora"/>
              <a:cs typeface="Lora"/>
              <a:sym typeface="Lora"/>
            </a:endParaRPr>
          </a:p>
        </p:txBody>
      </p:sp>
      <p:sp>
        <p:nvSpPr>
          <p:cNvPr id="173" name="Google Shape;173;p29"/>
          <p:cNvSpPr txBox="1"/>
          <p:nvPr/>
        </p:nvSpPr>
        <p:spPr>
          <a:xfrm>
            <a:off x="552100" y="2154700"/>
            <a:ext cx="3455400" cy="2042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Courier New"/>
                <a:ea typeface="Courier New"/>
                <a:cs typeface="Courier New"/>
                <a:sym typeface="Courier New"/>
              </a:rPr>
              <a:t>❌ Bad (</a:t>
            </a:r>
            <a:r>
              <a:rPr i="1" lang="en" sz="1100">
                <a:solidFill>
                  <a:schemeClr val="dk2"/>
                </a:solidFill>
                <a:latin typeface="Courier New"/>
                <a:ea typeface="Courier New"/>
                <a:cs typeface="Courier New"/>
                <a:sym typeface="Courier New"/>
              </a:rPr>
              <a:t>operators sit far away from their operands</a:t>
            </a:r>
            <a:r>
              <a:rPr lang="en" sz="900">
                <a:solidFill>
                  <a:schemeClr val="dk2"/>
                </a:solidFill>
                <a:latin typeface="Courier New"/>
                <a:ea typeface="Courier New"/>
                <a:cs typeface="Courier New"/>
                <a:sym typeface="Courier New"/>
              </a:rPr>
              <a:t>)</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1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income</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gross_wages</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taxable_interest</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dividends</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qualified_dividends</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ira_deduction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lnSpc>
                <a:spcPct val="119318"/>
              </a:lnSpc>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student_loan_interest</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
        <p:nvSpPr>
          <p:cNvPr id="174" name="Google Shape;174;p29"/>
          <p:cNvSpPr txBox="1"/>
          <p:nvPr/>
        </p:nvSpPr>
        <p:spPr>
          <a:xfrm>
            <a:off x="4093700" y="2157411"/>
            <a:ext cx="4403400" cy="14790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Courier New"/>
                <a:ea typeface="Courier New"/>
                <a:cs typeface="Courier New"/>
                <a:sym typeface="Courier New"/>
              </a:rPr>
              <a:t>✅ Good (</a:t>
            </a:r>
            <a:r>
              <a:rPr i="1" lang="en" sz="1100">
                <a:solidFill>
                  <a:schemeClr val="dk2"/>
                </a:solidFill>
                <a:latin typeface="Courier New"/>
                <a:ea typeface="Courier New"/>
                <a:cs typeface="Courier New"/>
                <a:sym typeface="Courier New"/>
              </a:rPr>
              <a:t>easy to match operators with operands</a:t>
            </a:r>
            <a:r>
              <a:rPr lang="en" sz="900">
                <a:solidFill>
                  <a:schemeClr val="dk2"/>
                </a:solidFill>
                <a:latin typeface="Courier New"/>
                <a:ea typeface="Courier New"/>
                <a:cs typeface="Courier New"/>
                <a:sym typeface="Courier New"/>
              </a:rPr>
              <a:t>)</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income</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gross_wages</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taxable_interest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dividends</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qualified_dividends</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ira_deduction</a:t>
            </a:r>
            <a:endParaRPr sz="1100">
              <a:latin typeface="Roboto Mono"/>
              <a:ea typeface="Roboto Mono"/>
              <a:cs typeface="Roboto Mono"/>
              <a:sym typeface="Roboto Mono"/>
            </a:endParaRPr>
          </a:p>
          <a:p>
            <a:pPr indent="0" lvl="0" marL="0" rtl="0" algn="l">
              <a:lnSpc>
                <a:spcPct val="119318"/>
              </a:lnSpc>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student_loan_interest</a:t>
            </a:r>
            <a:r>
              <a:rPr lang="en" sz="11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nvSpPr>
        <p:spPr>
          <a:xfrm>
            <a:off x="612900" y="243595"/>
            <a:ext cx="8128500" cy="1477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600">
                <a:latin typeface="Lora"/>
                <a:ea typeface="Lora"/>
                <a:cs typeface="Lora"/>
                <a:sym typeface="Lora"/>
              </a:rPr>
              <a:t>Simplicity &amp; Avoiding Duplication</a:t>
            </a:r>
            <a:endParaRPr sz="1600">
              <a:latin typeface="Lora"/>
              <a:ea typeface="Lora"/>
              <a:cs typeface="Lora"/>
              <a:sym typeface="Lora"/>
            </a:endParaRPr>
          </a:p>
          <a:p>
            <a:pPr indent="0" lvl="0" marL="0" marR="0" rtl="0" algn="l">
              <a:lnSpc>
                <a:spcPct val="139979"/>
              </a:lnSpc>
              <a:spcBef>
                <a:spcPts val="1200"/>
              </a:spcBef>
              <a:spcAft>
                <a:spcPts val="0"/>
              </a:spcAft>
              <a:buClr>
                <a:srgbClr val="000000"/>
              </a:buClr>
              <a:buSzPts val="2400"/>
              <a:buFont typeface="Arial"/>
              <a:buNone/>
            </a:pPr>
            <a:r>
              <a:t/>
            </a:r>
            <a:endParaRPr sz="2400">
              <a:latin typeface="Lora"/>
              <a:ea typeface="Lora"/>
              <a:cs typeface="Lora"/>
              <a:sym typeface="Lora"/>
            </a:endParaRPr>
          </a:p>
        </p:txBody>
      </p:sp>
      <p:sp>
        <p:nvSpPr>
          <p:cNvPr id="180" name="Google Shape;180;p30"/>
          <p:cNvSpPr txBox="1"/>
          <p:nvPr/>
        </p:nvSpPr>
        <p:spPr>
          <a:xfrm>
            <a:off x="514200" y="1254100"/>
            <a:ext cx="7896600" cy="2524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1200"/>
              </a:spcBef>
              <a:spcAft>
                <a:spcPts val="0"/>
              </a:spcAft>
              <a:buNone/>
            </a:pPr>
            <a:r>
              <a:rPr lang="en" sz="1200">
                <a:solidFill>
                  <a:schemeClr val="dk1"/>
                </a:solidFill>
                <a:latin typeface="Lora"/>
                <a:ea typeface="Lora"/>
                <a:cs typeface="Lora"/>
                <a:sym typeface="Lora"/>
              </a:rPr>
              <a:t>Complexity and repetition increase bugs and reduce agility. Always choose </a:t>
            </a:r>
            <a:r>
              <a:rPr b="1" lang="en" sz="1200">
                <a:solidFill>
                  <a:schemeClr val="dk1"/>
                </a:solidFill>
                <a:latin typeface="Lora"/>
                <a:ea typeface="Lora"/>
                <a:cs typeface="Lora"/>
                <a:sym typeface="Lora"/>
              </a:rPr>
              <a:t>simple solutions</a:t>
            </a:r>
            <a:r>
              <a:rPr lang="en" sz="1200">
                <a:solidFill>
                  <a:schemeClr val="dk1"/>
                </a:solidFill>
                <a:latin typeface="Lora"/>
                <a:ea typeface="Lora"/>
                <a:cs typeface="Lora"/>
                <a:sym typeface="Lora"/>
              </a:rPr>
              <a:t> that solve the problem clearly and </a:t>
            </a:r>
            <a:r>
              <a:rPr b="1" lang="en" sz="1200">
                <a:solidFill>
                  <a:schemeClr val="dk1"/>
                </a:solidFill>
                <a:latin typeface="Lora"/>
                <a:ea typeface="Lora"/>
                <a:cs typeface="Lora"/>
                <a:sym typeface="Lora"/>
              </a:rPr>
              <a:t>don’t repeat yourself (DRY)</a:t>
            </a:r>
            <a:r>
              <a:rPr lang="en" sz="1200">
                <a:solidFill>
                  <a:schemeClr val="dk1"/>
                </a:solidFill>
                <a:latin typeface="Lora"/>
                <a:ea typeface="Lora"/>
                <a:cs typeface="Lora"/>
                <a:sym typeface="Lora"/>
              </a:rPr>
              <a:t>. Here are the key points:</a:t>
            </a:r>
            <a:endParaRPr sz="1200">
              <a:solidFill>
                <a:schemeClr val="dk1"/>
              </a:solidFill>
              <a:latin typeface="Lora"/>
              <a:ea typeface="Lora"/>
              <a:cs typeface="Lora"/>
              <a:sym typeface="Lora"/>
            </a:endParaRPr>
          </a:p>
          <a:p>
            <a:pPr indent="-304800" lvl="0" marL="457200" rtl="0" algn="l">
              <a:lnSpc>
                <a:spcPct val="200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DRY Principle:</a:t>
            </a:r>
            <a:r>
              <a:rPr lang="en" sz="1200">
                <a:solidFill>
                  <a:schemeClr val="dk1"/>
                </a:solidFill>
                <a:latin typeface="Lora"/>
                <a:ea typeface="Lora"/>
                <a:cs typeface="Lora"/>
                <a:sym typeface="Lora"/>
              </a:rPr>
              <a:t> Don’t Repeat Yourself </a:t>
            </a:r>
            <a:endParaRPr sz="1200">
              <a:solidFill>
                <a:schemeClr val="dk1"/>
              </a:solidFill>
              <a:latin typeface="Lora"/>
              <a:ea typeface="Lora"/>
              <a:cs typeface="Lora"/>
              <a:sym typeface="Lora"/>
            </a:endParaRPr>
          </a:p>
          <a:p>
            <a:pPr indent="-304800" lvl="0" marL="457200" rtl="0" algn="l">
              <a:lnSpc>
                <a:spcPct val="20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KISS Principle:</a:t>
            </a:r>
            <a:r>
              <a:rPr lang="en" sz="1200">
                <a:solidFill>
                  <a:schemeClr val="dk1"/>
                </a:solidFill>
                <a:latin typeface="Lora"/>
                <a:ea typeface="Lora"/>
                <a:cs typeface="Lora"/>
                <a:sym typeface="Lora"/>
              </a:rPr>
              <a:t> Keep It Simple, Stupid </a:t>
            </a:r>
            <a:endParaRPr sz="1200">
              <a:solidFill>
                <a:schemeClr val="dk1"/>
              </a:solidFill>
              <a:latin typeface="Lora"/>
              <a:ea typeface="Lora"/>
              <a:cs typeface="Lora"/>
              <a:sym typeface="Lora"/>
            </a:endParaRPr>
          </a:p>
          <a:p>
            <a:pPr indent="-304800" lvl="0" marL="457200" rtl="0" algn="l">
              <a:lnSpc>
                <a:spcPct val="200000"/>
              </a:lnSpc>
              <a:spcBef>
                <a:spcPts val="0"/>
              </a:spcBef>
              <a:spcAft>
                <a:spcPts val="0"/>
              </a:spcAft>
              <a:buClr>
                <a:schemeClr val="dk1"/>
              </a:buClr>
              <a:buSzPts val="1200"/>
              <a:buChar char="●"/>
            </a:pPr>
            <a:r>
              <a:rPr lang="en" sz="1200">
                <a:solidFill>
                  <a:schemeClr val="dk1"/>
                </a:solidFill>
                <a:latin typeface="Lora"/>
                <a:ea typeface="Lora"/>
                <a:cs typeface="Lora"/>
                <a:sym typeface="Lora"/>
              </a:rPr>
              <a:t>Avoid </a:t>
            </a:r>
            <a:r>
              <a:rPr b="1" lang="en" sz="1200">
                <a:solidFill>
                  <a:schemeClr val="dk1"/>
                </a:solidFill>
                <a:latin typeface="Lora"/>
                <a:ea typeface="Lora"/>
                <a:cs typeface="Lora"/>
                <a:sym typeface="Lora"/>
              </a:rPr>
              <a:t>copy-pasting</a:t>
            </a:r>
            <a:r>
              <a:rPr lang="en" sz="1200">
                <a:solidFill>
                  <a:schemeClr val="dk1"/>
                </a:solidFill>
                <a:latin typeface="Lora"/>
                <a:ea typeface="Lora"/>
                <a:cs typeface="Lora"/>
                <a:sym typeface="Lora"/>
              </a:rPr>
              <a:t> (creates duplicate code)</a:t>
            </a:r>
            <a:endParaRPr sz="1200">
              <a:solidFill>
                <a:schemeClr val="dk1"/>
              </a:solidFill>
              <a:latin typeface="Lora"/>
              <a:ea typeface="Lora"/>
              <a:cs typeface="Lora"/>
              <a:sym typeface="Lora"/>
            </a:endParaRPr>
          </a:p>
          <a:p>
            <a:pPr indent="0" lvl="0" marL="0" rtl="0" algn="l">
              <a:lnSpc>
                <a:spcPct val="200000"/>
              </a:lnSpc>
              <a:spcBef>
                <a:spcPts val="1200"/>
              </a:spcBef>
              <a:spcAft>
                <a:spcPts val="1200"/>
              </a:spcAft>
              <a:buNone/>
            </a:pPr>
            <a:r>
              <a:t/>
            </a:r>
            <a:endParaRPr sz="1200">
              <a:solidFill>
                <a:schemeClr val="dk1"/>
              </a:solidFill>
              <a:latin typeface="Lora"/>
              <a:ea typeface="Lora"/>
              <a:cs typeface="Lora"/>
              <a:sym typeface="Lor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nvSpPr>
        <p:spPr>
          <a:xfrm>
            <a:off x="612900" y="243595"/>
            <a:ext cx="8128500" cy="9174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1200"/>
              </a:spcAft>
              <a:buClr>
                <a:schemeClr val="dk1"/>
              </a:buClr>
              <a:buSzPts val="1100"/>
              <a:buFont typeface="Arial"/>
              <a:buNone/>
            </a:pPr>
            <a:r>
              <a:rPr lang="en" sz="1600">
                <a:latin typeface="Lora"/>
                <a:ea typeface="Lora"/>
                <a:cs typeface="Lora"/>
                <a:sym typeface="Lora"/>
              </a:rPr>
              <a:t>Simplicity &amp; Avoiding Duplication</a:t>
            </a:r>
            <a:endParaRPr sz="2400">
              <a:latin typeface="Lora"/>
              <a:ea typeface="Lora"/>
              <a:cs typeface="Lora"/>
              <a:sym typeface="Lora"/>
            </a:endParaRPr>
          </a:p>
        </p:txBody>
      </p:sp>
      <p:sp>
        <p:nvSpPr>
          <p:cNvPr id="186" name="Google Shape;186;p31"/>
          <p:cNvSpPr txBox="1"/>
          <p:nvPr/>
        </p:nvSpPr>
        <p:spPr>
          <a:xfrm>
            <a:off x="457200" y="1245650"/>
            <a:ext cx="8187900" cy="369300"/>
          </a:xfrm>
          <a:prstGeom prst="rect">
            <a:avLst/>
          </a:prstGeom>
          <a:noFill/>
          <a:ln>
            <a:noFill/>
          </a:ln>
        </p:spPr>
        <p:txBody>
          <a:bodyPr anchorCtr="0" anchor="t" bIns="91425" lIns="91425" spcFirstLastPara="1" rIns="91425" wrap="square" tIns="91425">
            <a:spAutoFit/>
          </a:bodyPr>
          <a:lstStyle/>
          <a:p>
            <a:pPr indent="-304800" lvl="0" marL="457200" rtl="0" algn="l">
              <a:lnSpc>
                <a:spcPct val="200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DRY Principle</a:t>
            </a:r>
            <a:endParaRPr/>
          </a:p>
        </p:txBody>
      </p:sp>
      <p:sp>
        <p:nvSpPr>
          <p:cNvPr id="187" name="Google Shape;187;p31"/>
          <p:cNvSpPr txBox="1"/>
          <p:nvPr/>
        </p:nvSpPr>
        <p:spPr>
          <a:xfrm>
            <a:off x="245325" y="1621300"/>
            <a:ext cx="4326600" cy="2715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Courier New"/>
                <a:ea typeface="Courier New"/>
                <a:cs typeface="Courier New"/>
                <a:sym typeface="Courier New"/>
              </a:rPr>
              <a:t># ❌ Bad: timestamp &amp; log_entry are repeated!</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log_user_login_event</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username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timestamp</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datetime</a:t>
            </a:r>
            <a:r>
              <a:rPr lang="en" sz="900">
                <a:latin typeface="Roboto Mono"/>
                <a:ea typeface="Roboto Mono"/>
                <a:cs typeface="Roboto Mono"/>
                <a:sym typeface="Roboto Mono"/>
              </a:rPr>
              <a:t>.</a:t>
            </a:r>
            <a:r>
              <a:rPr lang="en" sz="900">
                <a:solidFill>
                  <a:srgbClr val="572000"/>
                </a:solidFill>
                <a:latin typeface="Roboto Mono"/>
                <a:ea typeface="Roboto Mono"/>
                <a:cs typeface="Roboto Mono"/>
                <a:sym typeface="Roboto Mono"/>
              </a:rPr>
              <a:t>datetime</a:t>
            </a:r>
            <a:r>
              <a:rPr lang="en" sz="900">
                <a:latin typeface="Roboto Mono"/>
                <a:ea typeface="Roboto Mono"/>
                <a:cs typeface="Roboto Mono"/>
                <a:sym typeface="Roboto Mono"/>
              </a:rPr>
              <a:t>.</a:t>
            </a:r>
            <a:r>
              <a:rPr lang="en" sz="900">
                <a:solidFill>
                  <a:srgbClr val="572000"/>
                </a:solidFill>
                <a:latin typeface="Roboto Mono"/>
                <a:ea typeface="Roboto Mono"/>
                <a:cs typeface="Roboto Mono"/>
                <a:sym typeface="Roboto Mono"/>
              </a:rPr>
              <a:t>now</a:t>
            </a:r>
            <a:r>
              <a:rPr lang="en" sz="900">
                <a:latin typeface="Roboto Mono"/>
                <a:ea typeface="Roboto Mono"/>
                <a:cs typeface="Roboto Mono"/>
                <a:sym typeface="Roboto Mono"/>
              </a:rPr>
              <a:t>().</a:t>
            </a:r>
            <a:r>
              <a:rPr lang="en" sz="900">
                <a:solidFill>
                  <a:srgbClr val="572000"/>
                </a:solidFill>
                <a:latin typeface="Roboto Mono"/>
                <a:ea typeface="Roboto Mono"/>
                <a:cs typeface="Roboto Mono"/>
                <a:sym typeface="Roboto Mono"/>
              </a:rPr>
              <a:t>strftime</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"%Y-%m-%d %H:%M:%S"</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log_entry</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a:t>
            </a:r>
            <a:r>
              <a:rPr lang="en" sz="900">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f"[</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timestamp</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 INFO: User '</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username</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 logged in successfully."</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3000A0"/>
                </a:solidFill>
                <a:latin typeface="Roboto Mono"/>
                <a:ea typeface="Roboto Mono"/>
                <a:cs typeface="Roboto Mono"/>
                <a:sym typeface="Roboto Mono"/>
              </a:rPr>
              <a:t>print</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log_entry</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log_error_event</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error_code</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error_message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timestamp</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datetime</a:t>
            </a:r>
            <a:r>
              <a:rPr lang="en" sz="900">
                <a:latin typeface="Roboto Mono"/>
                <a:ea typeface="Roboto Mono"/>
                <a:cs typeface="Roboto Mono"/>
                <a:sym typeface="Roboto Mono"/>
              </a:rPr>
              <a:t>.</a:t>
            </a:r>
            <a:r>
              <a:rPr lang="en" sz="900">
                <a:solidFill>
                  <a:srgbClr val="572000"/>
                </a:solidFill>
                <a:latin typeface="Roboto Mono"/>
                <a:ea typeface="Roboto Mono"/>
                <a:cs typeface="Roboto Mono"/>
                <a:sym typeface="Roboto Mono"/>
              </a:rPr>
              <a:t>datetime</a:t>
            </a:r>
            <a:r>
              <a:rPr lang="en" sz="900">
                <a:latin typeface="Roboto Mono"/>
                <a:ea typeface="Roboto Mono"/>
                <a:cs typeface="Roboto Mono"/>
                <a:sym typeface="Roboto Mono"/>
              </a:rPr>
              <a:t>.</a:t>
            </a:r>
            <a:r>
              <a:rPr lang="en" sz="900">
                <a:solidFill>
                  <a:srgbClr val="572000"/>
                </a:solidFill>
                <a:latin typeface="Roboto Mono"/>
                <a:ea typeface="Roboto Mono"/>
                <a:cs typeface="Roboto Mono"/>
                <a:sym typeface="Roboto Mono"/>
              </a:rPr>
              <a:t>now</a:t>
            </a:r>
            <a:r>
              <a:rPr lang="en" sz="900">
                <a:latin typeface="Roboto Mono"/>
                <a:ea typeface="Roboto Mono"/>
                <a:cs typeface="Roboto Mono"/>
                <a:sym typeface="Roboto Mono"/>
              </a:rPr>
              <a:t>().</a:t>
            </a:r>
            <a:r>
              <a:rPr lang="en" sz="900">
                <a:solidFill>
                  <a:srgbClr val="572000"/>
                </a:solidFill>
                <a:latin typeface="Roboto Mono"/>
                <a:ea typeface="Roboto Mono"/>
                <a:cs typeface="Roboto Mono"/>
                <a:sym typeface="Roboto Mono"/>
              </a:rPr>
              <a:t>strftime</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"%Y-%m-%d %H:%M:%S"</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log_entry</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a:t>
            </a:r>
            <a:r>
              <a:rPr lang="en" sz="900">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f"[</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timestamp</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 ERROR: Code </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error_code</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 - </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error_message</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3000A0"/>
                </a:solidFill>
                <a:latin typeface="Roboto Mono"/>
                <a:ea typeface="Roboto Mono"/>
                <a:cs typeface="Roboto Mono"/>
                <a:sym typeface="Roboto Mono"/>
              </a:rPr>
              <a:t>print</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log_entry</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1AB1CD"/>
                </a:solidFill>
                <a:latin typeface="Roboto Mono"/>
                <a:ea typeface="Roboto Mono"/>
                <a:cs typeface="Roboto Mono"/>
                <a:sym typeface="Roboto Mono"/>
              </a:rPr>
              <a:t>log_user_login_event</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"Alice_123"</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1AB1CD"/>
                </a:solidFill>
                <a:latin typeface="Roboto Mono"/>
                <a:ea typeface="Roboto Mono"/>
                <a:cs typeface="Roboto Mono"/>
                <a:sym typeface="Roboto Mono"/>
              </a:rPr>
              <a:t>log_error_event</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"0x503"</a:t>
            </a:r>
            <a:r>
              <a:rPr lang="en" sz="900">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"Service temporarily unavailable"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
        <p:nvSpPr>
          <p:cNvPr id="188" name="Google Shape;188;p31"/>
          <p:cNvSpPr txBox="1"/>
          <p:nvPr/>
        </p:nvSpPr>
        <p:spPr>
          <a:xfrm>
            <a:off x="4661175" y="1421625"/>
            <a:ext cx="4326600" cy="33594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Courier New"/>
                <a:ea typeface="Courier New"/>
                <a:cs typeface="Courier New"/>
                <a:sym typeface="Courier New"/>
              </a:rPr>
              <a:t># ✅ Good</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_get_current_timestamp</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return</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datetime</a:t>
            </a:r>
            <a:r>
              <a:rPr lang="en" sz="900">
                <a:latin typeface="Roboto Mono"/>
                <a:ea typeface="Roboto Mono"/>
                <a:cs typeface="Roboto Mono"/>
                <a:sym typeface="Roboto Mono"/>
              </a:rPr>
              <a:t>.</a:t>
            </a:r>
            <a:r>
              <a:rPr lang="en" sz="900">
                <a:solidFill>
                  <a:srgbClr val="572000"/>
                </a:solidFill>
                <a:latin typeface="Roboto Mono"/>
                <a:ea typeface="Roboto Mono"/>
                <a:cs typeface="Roboto Mono"/>
                <a:sym typeface="Roboto Mono"/>
              </a:rPr>
              <a:t>datetime</a:t>
            </a:r>
            <a:r>
              <a:rPr lang="en" sz="900">
                <a:latin typeface="Roboto Mono"/>
                <a:ea typeface="Roboto Mono"/>
                <a:cs typeface="Roboto Mono"/>
                <a:sym typeface="Roboto Mono"/>
              </a:rPr>
              <a:t>.</a:t>
            </a:r>
            <a:r>
              <a:rPr lang="en" sz="900">
                <a:solidFill>
                  <a:srgbClr val="572000"/>
                </a:solidFill>
                <a:latin typeface="Roboto Mono"/>
                <a:ea typeface="Roboto Mono"/>
                <a:cs typeface="Roboto Mono"/>
                <a:sym typeface="Roboto Mono"/>
              </a:rPr>
              <a:t>now</a:t>
            </a:r>
            <a:r>
              <a:rPr lang="en" sz="900">
                <a:latin typeface="Roboto Mono"/>
                <a:ea typeface="Roboto Mono"/>
                <a:cs typeface="Roboto Mono"/>
                <a:sym typeface="Roboto Mono"/>
              </a:rPr>
              <a:t>().</a:t>
            </a:r>
            <a:r>
              <a:rPr lang="en" sz="900">
                <a:solidFill>
                  <a:srgbClr val="572000"/>
                </a:solidFill>
                <a:latin typeface="Roboto Mono"/>
                <a:ea typeface="Roboto Mono"/>
                <a:cs typeface="Roboto Mono"/>
                <a:sym typeface="Roboto Mono"/>
              </a:rPr>
              <a:t>strftime</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"%Y-%m-%d %H:%M:%S"</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_create_log_entry</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level</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message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timestamp</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_get_current_timestamp</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return</a:t>
            </a:r>
            <a:r>
              <a:rPr lang="en" sz="900">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f"[</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timestamp</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 </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level</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 </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message</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log_user_login_event</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username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message</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a:t>
            </a:r>
            <a:r>
              <a:rPr lang="en" sz="900">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f"User '</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username</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 logged in successfully."</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log_entry</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_create_log_entry</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"INFO"</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message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3000A0"/>
                </a:solidFill>
                <a:latin typeface="Roboto Mono"/>
                <a:ea typeface="Roboto Mono"/>
                <a:cs typeface="Roboto Mono"/>
                <a:sym typeface="Roboto Mono"/>
              </a:rPr>
              <a:t>print</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log_entry</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log_error_event</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error_code</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error_message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message</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a:t>
            </a:r>
            <a:r>
              <a:rPr lang="en" sz="900">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f"Code </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error_code</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 - </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error_message</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log_entry</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_create_log_entry</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"ERROR"</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message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lang="en" sz="900">
                <a:solidFill>
                  <a:srgbClr val="3000A0"/>
                </a:solidFill>
                <a:latin typeface="Roboto Mono"/>
                <a:ea typeface="Roboto Mono"/>
                <a:cs typeface="Roboto Mono"/>
                <a:sym typeface="Roboto Mono"/>
              </a:rPr>
              <a:t>print</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log_entry</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1AB1CD"/>
                </a:solidFill>
                <a:latin typeface="Roboto Mono"/>
                <a:ea typeface="Roboto Mono"/>
                <a:cs typeface="Roboto Mono"/>
                <a:sym typeface="Roboto Mono"/>
              </a:rPr>
              <a:t>log_user_login_event</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"Alice_123"</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1AB1CD"/>
                </a:solidFill>
                <a:latin typeface="Roboto Mono"/>
                <a:ea typeface="Roboto Mono"/>
                <a:cs typeface="Roboto Mono"/>
                <a:sym typeface="Roboto Mono"/>
              </a:rPr>
              <a:t>log_error_event</a:t>
            </a:r>
            <a:r>
              <a:rPr lang="en" sz="900">
                <a:latin typeface="Roboto Mono"/>
                <a:ea typeface="Roboto Mono"/>
                <a:cs typeface="Roboto Mono"/>
                <a:sym typeface="Roboto Mono"/>
              </a:rPr>
              <a:t>(</a:t>
            </a:r>
            <a:r>
              <a:rPr lang="en" sz="900">
                <a:solidFill>
                  <a:srgbClr val="A01010"/>
                </a:solidFill>
                <a:latin typeface="Roboto Mono"/>
                <a:ea typeface="Roboto Mono"/>
                <a:cs typeface="Roboto Mono"/>
                <a:sym typeface="Roboto Mono"/>
              </a:rPr>
              <a:t>"0x503"</a:t>
            </a:r>
            <a:r>
              <a:rPr lang="en" sz="900">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"Service temporarily unavailable"</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2"/>
          <p:cNvSpPr txBox="1"/>
          <p:nvPr/>
        </p:nvSpPr>
        <p:spPr>
          <a:xfrm>
            <a:off x="612900" y="243595"/>
            <a:ext cx="8128500" cy="9174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i="0" lang="en" sz="2400" u="none" cap="none" strike="noStrike">
                <a:solidFill>
                  <a:srgbClr val="000000"/>
                </a:solidFill>
                <a:latin typeface="Lora"/>
                <a:ea typeface="Lora"/>
                <a:cs typeface="Lora"/>
                <a:sym typeface="Lora"/>
              </a:rPr>
              <a:t>Writing Clean &amp; Maintainable Code</a:t>
            </a:r>
            <a:endParaRPr i="0" sz="2400" u="none" cap="none" strike="noStrike">
              <a:solidFill>
                <a:srgbClr val="000000"/>
              </a:solidFill>
              <a:latin typeface="Lora"/>
              <a:ea typeface="Lora"/>
              <a:cs typeface="Lora"/>
              <a:sym typeface="Lora"/>
            </a:endParaRPr>
          </a:p>
          <a:p>
            <a:pPr indent="0" lvl="0" marL="0" rtl="0" algn="l">
              <a:lnSpc>
                <a:spcPct val="115000"/>
              </a:lnSpc>
              <a:spcBef>
                <a:spcPts val="1200"/>
              </a:spcBef>
              <a:spcAft>
                <a:spcPts val="1200"/>
              </a:spcAft>
              <a:buClr>
                <a:schemeClr val="dk1"/>
              </a:buClr>
              <a:buSzPts val="1100"/>
              <a:buFont typeface="Arial"/>
              <a:buNone/>
            </a:pPr>
            <a:r>
              <a:rPr lang="en" sz="1600">
                <a:latin typeface="Lora"/>
                <a:ea typeface="Lora"/>
                <a:cs typeface="Lora"/>
                <a:sym typeface="Lora"/>
              </a:rPr>
              <a:t>Simplicity &amp; Avoiding Duplication</a:t>
            </a:r>
            <a:endParaRPr sz="2400">
              <a:latin typeface="Lora"/>
              <a:ea typeface="Lora"/>
              <a:cs typeface="Lora"/>
              <a:sym typeface="Lora"/>
            </a:endParaRPr>
          </a:p>
        </p:txBody>
      </p:sp>
      <p:sp>
        <p:nvSpPr>
          <p:cNvPr id="194" name="Google Shape;194;p32"/>
          <p:cNvSpPr txBox="1"/>
          <p:nvPr/>
        </p:nvSpPr>
        <p:spPr>
          <a:xfrm>
            <a:off x="457200" y="1245650"/>
            <a:ext cx="8187900" cy="369300"/>
          </a:xfrm>
          <a:prstGeom prst="rect">
            <a:avLst/>
          </a:prstGeom>
          <a:noFill/>
          <a:ln>
            <a:noFill/>
          </a:ln>
        </p:spPr>
        <p:txBody>
          <a:bodyPr anchorCtr="0" anchor="t" bIns="91425" lIns="91425" spcFirstLastPara="1" rIns="91425" wrap="square" tIns="91425">
            <a:spAutoFit/>
          </a:bodyPr>
          <a:lstStyle/>
          <a:p>
            <a:pPr indent="-304800" lvl="0" marL="457200" rtl="0" algn="l">
              <a:lnSpc>
                <a:spcPct val="200000"/>
              </a:lnSpc>
              <a:spcBef>
                <a:spcPts val="1200"/>
              </a:spcBef>
              <a:spcAft>
                <a:spcPts val="0"/>
              </a:spcAft>
              <a:buClr>
                <a:schemeClr val="dk1"/>
              </a:buClr>
              <a:buSzPts val="1200"/>
              <a:buChar char="●"/>
            </a:pPr>
            <a:r>
              <a:rPr lang="en" sz="1200">
                <a:solidFill>
                  <a:schemeClr val="dk1"/>
                </a:solidFill>
                <a:latin typeface="Lora"/>
                <a:ea typeface="Lora"/>
                <a:cs typeface="Lora"/>
                <a:sym typeface="Lora"/>
              </a:rPr>
              <a:t>Avoid </a:t>
            </a:r>
            <a:r>
              <a:rPr b="1" lang="en" sz="1200">
                <a:solidFill>
                  <a:schemeClr val="dk1"/>
                </a:solidFill>
                <a:latin typeface="Lora"/>
                <a:ea typeface="Lora"/>
                <a:cs typeface="Lora"/>
                <a:sym typeface="Lora"/>
              </a:rPr>
              <a:t>copy-pasting</a:t>
            </a:r>
            <a:endParaRPr/>
          </a:p>
        </p:txBody>
      </p:sp>
      <p:sp>
        <p:nvSpPr>
          <p:cNvPr id="195" name="Google Shape;195;p32"/>
          <p:cNvSpPr txBox="1"/>
          <p:nvPr/>
        </p:nvSpPr>
        <p:spPr>
          <a:xfrm>
            <a:off x="552100" y="1621300"/>
            <a:ext cx="3023700" cy="2042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Courier New"/>
                <a:ea typeface="Courier New"/>
                <a:cs typeface="Courier New"/>
                <a:sym typeface="Courier New"/>
              </a:rPr>
              <a:t># ❌ Bad</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process_data_1</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data1</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if</a:t>
            </a:r>
            <a:r>
              <a:rPr lang="en" sz="900">
                <a:latin typeface="Roboto Mono"/>
                <a:ea typeface="Roboto Mono"/>
                <a:cs typeface="Roboto Mono"/>
                <a:sym typeface="Roboto Mono"/>
              </a:rPr>
              <a:t> </a:t>
            </a:r>
            <a:r>
              <a:rPr lang="en" sz="900">
                <a:solidFill>
                  <a:srgbClr val="3000A0"/>
                </a:solidFill>
                <a:latin typeface="Roboto Mono"/>
                <a:ea typeface="Roboto Mono"/>
                <a:cs typeface="Roboto Mono"/>
                <a:sym typeface="Roboto Mono"/>
              </a:rPr>
              <a:t>len</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data1</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&gt;</a:t>
            </a:r>
            <a:r>
              <a:rPr lang="en" sz="900">
                <a:latin typeface="Roboto Mono"/>
                <a:ea typeface="Roboto Mono"/>
                <a:cs typeface="Roboto Mono"/>
                <a:sym typeface="Roboto Mono"/>
              </a:rPr>
              <a:t> </a:t>
            </a:r>
            <a:r>
              <a:rPr lang="en" sz="900">
                <a:solidFill>
                  <a:srgbClr val="106040"/>
                </a:solidFill>
                <a:latin typeface="Roboto Mono"/>
                <a:ea typeface="Roboto Mono"/>
                <a:cs typeface="Roboto Mono"/>
                <a:sym typeface="Roboto Mono"/>
              </a:rPr>
              <a:t>10</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i="1" lang="en" sz="900">
                <a:solidFill>
                  <a:srgbClr val="A05000"/>
                </a:solidFill>
                <a:latin typeface="Roboto Mono"/>
                <a:ea typeface="Roboto Mono"/>
                <a:cs typeface="Roboto Mono"/>
                <a:sym typeface="Roboto Mono"/>
              </a:rPr>
              <a:t># do some processing</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return</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data1</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process_data_2</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data2</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if</a:t>
            </a:r>
            <a:r>
              <a:rPr lang="en" sz="900">
                <a:latin typeface="Roboto Mono"/>
                <a:ea typeface="Roboto Mono"/>
                <a:cs typeface="Roboto Mono"/>
                <a:sym typeface="Roboto Mono"/>
              </a:rPr>
              <a:t> </a:t>
            </a:r>
            <a:r>
              <a:rPr lang="en" sz="900">
                <a:solidFill>
                  <a:srgbClr val="3000A0"/>
                </a:solidFill>
                <a:latin typeface="Roboto Mono"/>
                <a:ea typeface="Roboto Mono"/>
                <a:cs typeface="Roboto Mono"/>
                <a:sym typeface="Roboto Mono"/>
              </a:rPr>
              <a:t>len</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data2</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&gt;</a:t>
            </a:r>
            <a:r>
              <a:rPr lang="en" sz="900">
                <a:latin typeface="Roboto Mono"/>
                <a:ea typeface="Roboto Mono"/>
                <a:cs typeface="Roboto Mono"/>
                <a:sym typeface="Roboto Mono"/>
              </a:rPr>
              <a:t> </a:t>
            </a:r>
            <a:r>
              <a:rPr lang="en" sz="900">
                <a:solidFill>
                  <a:srgbClr val="106040"/>
                </a:solidFill>
                <a:latin typeface="Roboto Mono"/>
                <a:ea typeface="Roboto Mono"/>
                <a:cs typeface="Roboto Mono"/>
                <a:sym typeface="Roboto Mono"/>
              </a:rPr>
              <a:t>10</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i="1" lang="en" sz="900">
                <a:solidFill>
                  <a:srgbClr val="A05000"/>
                </a:solidFill>
                <a:latin typeface="Roboto Mono"/>
                <a:ea typeface="Roboto Mono"/>
                <a:cs typeface="Roboto Mono"/>
                <a:sym typeface="Roboto Mono"/>
              </a:rPr>
              <a:t># do some processing</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return</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data2</a:t>
            </a:r>
            <a:endParaRPr sz="900">
              <a:solidFill>
                <a:srgbClr val="1AB1CD"/>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
        <p:nvSpPr>
          <p:cNvPr id="196" name="Google Shape;196;p32"/>
          <p:cNvSpPr txBox="1"/>
          <p:nvPr/>
        </p:nvSpPr>
        <p:spPr>
          <a:xfrm>
            <a:off x="3674325" y="1621300"/>
            <a:ext cx="5156700" cy="2042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Courier New"/>
                <a:ea typeface="Courier New"/>
                <a:cs typeface="Courier New"/>
                <a:sym typeface="Courier New"/>
              </a:rPr>
              <a:t># ✅ Good</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00">
                <a:solidFill>
                  <a:srgbClr val="700080"/>
                </a:solidFill>
                <a:latin typeface="Roboto Mono"/>
                <a:ea typeface="Roboto Mono"/>
                <a:cs typeface="Roboto Mono"/>
                <a:sym typeface="Roboto Mono"/>
              </a:rPr>
              <a:t>def</a:t>
            </a:r>
            <a:r>
              <a:rPr lang="en" sz="900">
                <a:latin typeface="Roboto Mono"/>
                <a:ea typeface="Roboto Mono"/>
                <a:cs typeface="Roboto Mono"/>
                <a:sym typeface="Roboto Mono"/>
              </a:rPr>
              <a:t> </a:t>
            </a:r>
            <a:r>
              <a:rPr lang="en" sz="900">
                <a:solidFill>
                  <a:srgbClr val="0000F0"/>
                </a:solidFill>
                <a:latin typeface="Roboto Mono"/>
                <a:ea typeface="Roboto Mono"/>
                <a:cs typeface="Roboto Mono"/>
                <a:sym typeface="Roboto Mono"/>
              </a:rPr>
              <a:t>process_data</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data</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if</a:t>
            </a:r>
            <a:r>
              <a:rPr lang="en" sz="900">
                <a:latin typeface="Roboto Mono"/>
                <a:ea typeface="Roboto Mono"/>
                <a:cs typeface="Roboto Mono"/>
                <a:sym typeface="Roboto Mono"/>
              </a:rPr>
              <a:t> </a:t>
            </a:r>
            <a:r>
              <a:rPr lang="en" sz="900">
                <a:solidFill>
                  <a:srgbClr val="3000A0"/>
                </a:solidFill>
                <a:latin typeface="Roboto Mono"/>
                <a:ea typeface="Roboto Mono"/>
                <a:cs typeface="Roboto Mono"/>
                <a:sym typeface="Roboto Mono"/>
              </a:rPr>
              <a:t>len</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data</a:t>
            </a:r>
            <a:r>
              <a:rPr lang="en" sz="900">
                <a:latin typeface="Roboto Mono"/>
                <a:ea typeface="Roboto Mono"/>
                <a:cs typeface="Roboto Mono"/>
                <a:sym typeface="Roboto Mono"/>
              </a:rPr>
              <a:t>) </a:t>
            </a:r>
            <a:r>
              <a:rPr b="1" lang="en" sz="900">
                <a:solidFill>
                  <a:srgbClr val="EE11FF"/>
                </a:solidFill>
                <a:latin typeface="Roboto Mono"/>
                <a:ea typeface="Roboto Mono"/>
                <a:cs typeface="Roboto Mono"/>
                <a:sym typeface="Roboto Mono"/>
              </a:rPr>
              <a:t>&gt;</a:t>
            </a:r>
            <a:r>
              <a:rPr lang="en" sz="900">
                <a:latin typeface="Roboto Mono"/>
                <a:ea typeface="Roboto Mono"/>
                <a:cs typeface="Roboto Mono"/>
                <a:sym typeface="Roboto Mono"/>
              </a:rPr>
              <a:t> </a:t>
            </a:r>
            <a:r>
              <a:rPr lang="en" sz="900">
                <a:solidFill>
                  <a:srgbClr val="106040"/>
                </a:solidFill>
                <a:latin typeface="Roboto Mono"/>
                <a:ea typeface="Roboto Mono"/>
                <a:cs typeface="Roboto Mono"/>
                <a:sym typeface="Roboto Mono"/>
              </a:rPr>
              <a:t>10</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i="1" lang="en" sz="900">
                <a:solidFill>
                  <a:srgbClr val="A05000"/>
                </a:solidFill>
                <a:latin typeface="Roboto Mono"/>
                <a:ea typeface="Roboto Mono"/>
                <a:cs typeface="Roboto Mono"/>
                <a:sym typeface="Roboto Mono"/>
              </a:rPr>
              <a:t># do some processing</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return</a:t>
            </a:r>
            <a:r>
              <a:rPr lang="en" sz="900">
                <a:latin typeface="Roboto Mono"/>
                <a:ea typeface="Roboto Mono"/>
                <a:cs typeface="Roboto Mono"/>
                <a:sym typeface="Roboto Mono"/>
              </a:rPr>
              <a:t> </a:t>
            </a:r>
            <a:r>
              <a:rPr lang="en" sz="900">
                <a:solidFill>
                  <a:srgbClr val="1AB1CD"/>
                </a:solidFill>
                <a:latin typeface="Roboto Mono"/>
                <a:ea typeface="Roboto Mono"/>
                <a:cs typeface="Roboto Mono"/>
                <a:sym typeface="Roboto Mono"/>
              </a:rPr>
              <a:t>data</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1AB1CD"/>
                </a:solidFill>
                <a:latin typeface="Roboto Mono"/>
                <a:ea typeface="Roboto Mono"/>
                <a:cs typeface="Roboto Mono"/>
                <a:sym typeface="Roboto Mono"/>
              </a:rPr>
              <a:t>process_data</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data1</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1AB1CD"/>
                </a:solidFill>
                <a:latin typeface="Roboto Mono"/>
                <a:ea typeface="Roboto Mono"/>
                <a:cs typeface="Roboto Mono"/>
                <a:sym typeface="Roboto Mono"/>
              </a:rPr>
              <a:t>process_data</a:t>
            </a:r>
            <a:r>
              <a:rPr lang="en" sz="900">
                <a:latin typeface="Roboto Mono"/>
                <a:ea typeface="Roboto Mono"/>
                <a:cs typeface="Roboto Mono"/>
                <a:sym typeface="Roboto Mono"/>
              </a:rPr>
              <a:t>(</a:t>
            </a:r>
            <a:r>
              <a:rPr lang="en" sz="900">
                <a:solidFill>
                  <a:srgbClr val="1AB1CD"/>
                </a:solidFill>
                <a:latin typeface="Roboto Mono"/>
                <a:ea typeface="Roboto Mono"/>
                <a:cs typeface="Roboto Mono"/>
                <a:sym typeface="Roboto Mono"/>
              </a:rPr>
              <a:t>data2</a:t>
            </a:r>
            <a:r>
              <a:rPr lang="en"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2"/>
              </a:solidFill>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nvSpPr>
        <p:spPr>
          <a:xfrm>
            <a:off x="612900" y="243595"/>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a:t>
            </a:r>
            <a:r>
              <a:rPr i="0" lang="en" sz="2400" u="none" cap="none" strike="noStrike">
                <a:solidFill>
                  <a:srgbClr val="000000"/>
                </a:solidFill>
                <a:latin typeface="Lora"/>
                <a:ea typeface="Lora"/>
                <a:cs typeface="Lora"/>
                <a:sym typeface="Lora"/>
              </a:rPr>
              <a:t>Effective Testing Strategies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What Is Testing?</a:t>
            </a:r>
            <a:endParaRPr sz="2400">
              <a:latin typeface="Lora"/>
              <a:ea typeface="Lora"/>
              <a:cs typeface="Lora"/>
              <a:sym typeface="Lora"/>
            </a:endParaRPr>
          </a:p>
        </p:txBody>
      </p:sp>
      <p:sp>
        <p:nvSpPr>
          <p:cNvPr id="202" name="Google Shape;202;p33"/>
          <p:cNvSpPr txBox="1"/>
          <p:nvPr/>
        </p:nvSpPr>
        <p:spPr>
          <a:xfrm>
            <a:off x="612900" y="1221125"/>
            <a:ext cx="81285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Testing is like </a:t>
            </a:r>
            <a:r>
              <a:rPr b="1" lang="en" sz="1200">
                <a:solidFill>
                  <a:schemeClr val="dk1"/>
                </a:solidFill>
                <a:latin typeface="Lora"/>
                <a:ea typeface="Lora"/>
                <a:cs typeface="Lora"/>
                <a:sym typeface="Lora"/>
              </a:rPr>
              <a:t>double-checking your code</a:t>
            </a:r>
            <a:r>
              <a:rPr lang="en" sz="1200">
                <a:solidFill>
                  <a:schemeClr val="dk1"/>
                </a:solidFill>
                <a:latin typeface="Lora"/>
                <a:ea typeface="Lora"/>
                <a:cs typeface="Lora"/>
                <a:sym typeface="Lora"/>
              </a:rPr>
              <a:t> to make sure it works as expected before real users try it. </a:t>
            </a:r>
            <a:r>
              <a:rPr lang="en" sz="1200">
                <a:solidFill>
                  <a:schemeClr val="dk1"/>
                </a:solidFill>
                <a:latin typeface="Lora"/>
                <a:ea typeface="Lora"/>
                <a:cs typeface="Lora"/>
                <a:sym typeface="Lora"/>
              </a:rPr>
              <a:t>Imagine</a:t>
            </a:r>
            <a:r>
              <a:rPr b="1"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building a LEGO set.</a:t>
            </a:r>
            <a:r>
              <a:rPr b="1"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You don’t want to find out it’s broken only </a:t>
            </a:r>
            <a:r>
              <a:rPr i="1" lang="en" sz="1200">
                <a:solidFill>
                  <a:schemeClr val="dk1"/>
                </a:solidFill>
                <a:latin typeface="Lora"/>
                <a:ea typeface="Lora"/>
                <a:cs typeface="Lora"/>
                <a:sym typeface="Lora"/>
              </a:rPr>
              <a:t>after</a:t>
            </a:r>
            <a:r>
              <a:rPr lang="en" sz="1200">
                <a:solidFill>
                  <a:schemeClr val="dk1"/>
                </a:solidFill>
                <a:latin typeface="Lora"/>
                <a:ea typeface="Lora"/>
                <a:cs typeface="Lora"/>
                <a:sym typeface="Lora"/>
              </a:rPr>
              <a:t> you’re done. You test as you go.</a:t>
            </a:r>
            <a:endParaRPr sz="1200">
              <a:solidFill>
                <a:schemeClr val="dk1"/>
              </a:solidFill>
              <a:latin typeface="Lora"/>
              <a:ea typeface="Lora"/>
              <a:cs typeface="Lora"/>
              <a:sym typeface="Lora"/>
            </a:endParaRPr>
          </a:p>
        </p:txBody>
      </p:sp>
      <p:pic>
        <p:nvPicPr>
          <p:cNvPr id="203" name="Google Shape;203;p33"/>
          <p:cNvPicPr preferRelativeResize="0"/>
          <p:nvPr/>
        </p:nvPicPr>
        <p:blipFill>
          <a:blip r:embed="rId3">
            <a:alphaModFix/>
          </a:blip>
          <a:stretch>
            <a:fillRect/>
          </a:stretch>
        </p:blipFill>
        <p:spPr>
          <a:xfrm>
            <a:off x="2882725" y="1867625"/>
            <a:ext cx="2971075" cy="29710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nvSpPr>
        <p:spPr>
          <a:xfrm>
            <a:off x="507750" y="334320"/>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a:t>
            </a:r>
            <a:r>
              <a:rPr i="0" lang="en" sz="2400" u="none" cap="none" strike="noStrike">
                <a:solidFill>
                  <a:srgbClr val="000000"/>
                </a:solidFill>
                <a:latin typeface="Lora"/>
                <a:ea typeface="Lora"/>
                <a:cs typeface="Lora"/>
                <a:sym typeface="Lora"/>
              </a:rPr>
              <a:t>Effective Testing Strategies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The Testing Pyramid</a:t>
            </a:r>
            <a:endParaRPr sz="2400">
              <a:latin typeface="Lora"/>
              <a:ea typeface="Lora"/>
              <a:cs typeface="Lora"/>
              <a:sym typeface="Lora"/>
            </a:endParaRPr>
          </a:p>
        </p:txBody>
      </p:sp>
      <p:sp>
        <p:nvSpPr>
          <p:cNvPr id="209" name="Google Shape;209;p34"/>
          <p:cNvSpPr txBox="1"/>
          <p:nvPr/>
        </p:nvSpPr>
        <p:spPr>
          <a:xfrm>
            <a:off x="495415" y="1323045"/>
            <a:ext cx="4171500" cy="1754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n" sz="1200">
                <a:solidFill>
                  <a:schemeClr val="dk1"/>
                </a:solidFill>
                <a:latin typeface="Lora"/>
                <a:ea typeface="Lora"/>
                <a:cs typeface="Lora"/>
                <a:sym typeface="Lora"/>
              </a:rPr>
              <a:t>The </a:t>
            </a:r>
            <a:r>
              <a:rPr b="1" lang="en" sz="1200">
                <a:solidFill>
                  <a:schemeClr val="dk1"/>
                </a:solidFill>
                <a:latin typeface="Lora"/>
                <a:ea typeface="Lora"/>
                <a:cs typeface="Lora"/>
                <a:sym typeface="Lora"/>
              </a:rPr>
              <a:t>Testing Pyramid</a:t>
            </a:r>
            <a:r>
              <a:rPr lang="en" sz="1200">
                <a:solidFill>
                  <a:schemeClr val="dk1"/>
                </a:solidFill>
                <a:latin typeface="Lora"/>
                <a:ea typeface="Lora"/>
                <a:cs typeface="Lora"/>
                <a:sym typeface="Lora"/>
              </a:rPr>
              <a:t> is a model for structuring software testing that advocates for a specific distribution of test types. The main idea is to have a large base of fast, low-level </a:t>
            </a:r>
            <a:r>
              <a:rPr b="1" lang="en" sz="1200">
                <a:solidFill>
                  <a:schemeClr val="dk1"/>
                </a:solidFill>
                <a:latin typeface="Lora"/>
                <a:ea typeface="Lora"/>
                <a:cs typeface="Lora"/>
                <a:sym typeface="Lora"/>
              </a:rPr>
              <a:t>Unit Tests</a:t>
            </a:r>
            <a:r>
              <a:rPr lang="en" sz="1200">
                <a:solidFill>
                  <a:schemeClr val="dk1"/>
                </a:solidFill>
                <a:latin typeface="Lora"/>
                <a:ea typeface="Lora"/>
                <a:cs typeface="Lora"/>
                <a:sym typeface="Lora"/>
              </a:rPr>
              <a:t>, a smaller middle layer of </a:t>
            </a:r>
            <a:r>
              <a:rPr b="1" lang="en" sz="1200">
                <a:solidFill>
                  <a:schemeClr val="dk1"/>
                </a:solidFill>
                <a:latin typeface="Lora"/>
                <a:ea typeface="Lora"/>
                <a:cs typeface="Lora"/>
                <a:sym typeface="Lora"/>
              </a:rPr>
              <a:t>Integration Tests</a:t>
            </a:r>
            <a:r>
              <a:rPr lang="en" sz="1200">
                <a:solidFill>
                  <a:schemeClr val="dk1"/>
                </a:solidFill>
                <a:latin typeface="Lora"/>
                <a:ea typeface="Lora"/>
                <a:cs typeface="Lora"/>
                <a:sym typeface="Lora"/>
              </a:rPr>
              <a:t>, and a very small top layer of </a:t>
            </a:r>
            <a:r>
              <a:rPr b="1" lang="en" sz="1200">
                <a:solidFill>
                  <a:schemeClr val="dk1"/>
                </a:solidFill>
                <a:latin typeface="Lora"/>
                <a:ea typeface="Lora"/>
                <a:cs typeface="Lora"/>
                <a:sym typeface="Lora"/>
              </a:rPr>
              <a:t>End-to-End (E2E) Tests</a:t>
            </a:r>
            <a:endParaRPr sz="1300">
              <a:solidFill>
                <a:schemeClr val="dk1"/>
              </a:solidFill>
              <a:latin typeface="Lora"/>
              <a:ea typeface="Lora"/>
              <a:cs typeface="Lora"/>
              <a:sym typeface="Lora"/>
            </a:endParaRPr>
          </a:p>
        </p:txBody>
      </p:sp>
      <p:pic>
        <p:nvPicPr>
          <p:cNvPr id="210" name="Google Shape;210;p34"/>
          <p:cNvPicPr preferRelativeResize="0"/>
          <p:nvPr/>
        </p:nvPicPr>
        <p:blipFill>
          <a:blip r:embed="rId3">
            <a:alphaModFix/>
          </a:blip>
          <a:stretch>
            <a:fillRect/>
          </a:stretch>
        </p:blipFill>
        <p:spPr>
          <a:xfrm>
            <a:off x="4905300" y="731075"/>
            <a:ext cx="4023525" cy="3473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nvSpPr>
        <p:spPr>
          <a:xfrm>
            <a:off x="507750" y="334320"/>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a:t>
            </a:r>
            <a:r>
              <a:rPr i="0" lang="en" sz="2400" u="none" cap="none" strike="noStrike">
                <a:solidFill>
                  <a:srgbClr val="000000"/>
                </a:solidFill>
                <a:latin typeface="Lora"/>
                <a:ea typeface="Lora"/>
                <a:cs typeface="Lora"/>
                <a:sym typeface="Lora"/>
              </a:rPr>
              <a:t>Effective Testing Strategies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Unit Test</a:t>
            </a:r>
            <a:endParaRPr sz="2400">
              <a:latin typeface="Lora"/>
              <a:ea typeface="Lora"/>
              <a:cs typeface="Lora"/>
              <a:sym typeface="Lora"/>
            </a:endParaRPr>
          </a:p>
        </p:txBody>
      </p:sp>
      <p:sp>
        <p:nvSpPr>
          <p:cNvPr id="216" name="Google Shape;216;p35"/>
          <p:cNvSpPr txBox="1"/>
          <p:nvPr/>
        </p:nvSpPr>
        <p:spPr>
          <a:xfrm>
            <a:off x="446075" y="1171775"/>
            <a:ext cx="8063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A unit test checks if a small part of your code (like a single function or method) works correctly. You give it an input, and it checks if the output is what you expect.</a:t>
            </a:r>
            <a:endParaRPr sz="1200">
              <a:latin typeface="Lora"/>
              <a:ea typeface="Lora"/>
              <a:cs typeface="Lora"/>
              <a:sym typeface="Lora"/>
            </a:endParaRPr>
          </a:p>
        </p:txBody>
      </p:sp>
      <p:sp>
        <p:nvSpPr>
          <p:cNvPr id="217" name="Google Shape;217;p35"/>
          <p:cNvSpPr txBox="1"/>
          <p:nvPr/>
        </p:nvSpPr>
        <p:spPr>
          <a:xfrm>
            <a:off x="3885275" y="1935699"/>
            <a:ext cx="4624200" cy="1477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If the actual is not equal to the expected, the test fails and you know exactly where the problem is.</a:t>
            </a:r>
            <a:r>
              <a:rPr lang="en" sz="1200">
                <a:solidFill>
                  <a:schemeClr val="dk1"/>
                </a:solidFill>
                <a:latin typeface="Lora"/>
                <a:ea typeface="Lora"/>
                <a:cs typeface="Lora"/>
                <a:sym typeface="Lora"/>
              </a:rPr>
              <a:t>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If someone </a:t>
            </a:r>
            <a:r>
              <a:rPr lang="en" sz="1200">
                <a:solidFill>
                  <a:schemeClr val="dk1"/>
                </a:solidFill>
                <a:latin typeface="Lora"/>
                <a:ea typeface="Lora"/>
                <a:cs typeface="Lora"/>
                <a:sym typeface="Lora"/>
              </a:rPr>
              <a:t>mistakenly</a:t>
            </a:r>
            <a:r>
              <a:rPr lang="en" sz="1200">
                <a:solidFill>
                  <a:schemeClr val="dk1"/>
                </a:solidFill>
                <a:latin typeface="Lora"/>
                <a:ea typeface="Lora"/>
                <a:cs typeface="Lora"/>
                <a:sym typeface="Lora"/>
              </a:rPr>
              <a:t> changes the logic in the function, then the test will fail — and for good reason! Because it does not do what is </a:t>
            </a:r>
            <a:r>
              <a:rPr i="1" lang="en" sz="1200">
                <a:solidFill>
                  <a:schemeClr val="dk1"/>
                </a:solidFill>
                <a:latin typeface="Lora"/>
                <a:ea typeface="Lora"/>
                <a:cs typeface="Lora"/>
                <a:sym typeface="Lora"/>
              </a:rPr>
              <a:t>expected</a:t>
            </a:r>
            <a:r>
              <a:rPr lang="en" sz="1200">
                <a:solidFill>
                  <a:schemeClr val="dk1"/>
                </a:solidFill>
                <a:latin typeface="Lora"/>
                <a:ea typeface="Lora"/>
                <a:cs typeface="Lora"/>
                <a:sym typeface="Lora"/>
              </a:rPr>
              <a:t>.</a:t>
            </a:r>
            <a:endParaRPr sz="1200">
              <a:latin typeface="Lora"/>
              <a:ea typeface="Lora"/>
              <a:cs typeface="Lora"/>
              <a:sym typeface="Lora"/>
            </a:endParaRPr>
          </a:p>
        </p:txBody>
      </p:sp>
      <p:sp>
        <p:nvSpPr>
          <p:cNvPr id="218" name="Google Shape;218;p35"/>
          <p:cNvSpPr txBox="1"/>
          <p:nvPr/>
        </p:nvSpPr>
        <p:spPr>
          <a:xfrm>
            <a:off x="787675" y="1952125"/>
            <a:ext cx="3023700" cy="15747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multiply</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a</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b</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b="1" lang="en" sz="1200">
                <a:solidFill>
                  <a:srgbClr val="700080"/>
                </a:solidFill>
                <a:latin typeface="Roboto Mono"/>
                <a:ea typeface="Roboto Mono"/>
                <a:cs typeface="Roboto Mono"/>
                <a:sym typeface="Roboto Mono"/>
              </a:rPr>
              <a:t>return</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a</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b</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200">
                <a:solidFill>
                  <a:srgbClr val="A05000"/>
                </a:solidFill>
                <a:latin typeface="Roboto Mono"/>
                <a:ea typeface="Roboto Mono"/>
                <a:cs typeface="Roboto Mono"/>
                <a:sym typeface="Roboto Mono"/>
              </a:rPr>
              <a:t># Unit Test</a:t>
            </a:r>
            <a:endParaRPr i="1" sz="1200">
              <a:solidFill>
                <a:srgbClr val="A05000"/>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def</a:t>
            </a:r>
            <a:r>
              <a:rPr lang="en" sz="1200">
                <a:solidFill>
                  <a:schemeClr val="dk1"/>
                </a:solidFill>
                <a:latin typeface="Roboto Mono"/>
                <a:ea typeface="Roboto Mono"/>
                <a:cs typeface="Roboto Mono"/>
                <a:sym typeface="Roboto Mono"/>
              </a:rPr>
              <a:t> test_</a:t>
            </a:r>
            <a:r>
              <a:rPr lang="en" sz="1200">
                <a:solidFill>
                  <a:srgbClr val="0000F0"/>
                </a:solidFill>
                <a:latin typeface="Roboto Mono"/>
                <a:ea typeface="Roboto Mono"/>
                <a:cs typeface="Roboto Mono"/>
                <a:sym typeface="Roboto Mono"/>
              </a:rPr>
              <a:t>multiply():</a:t>
            </a:r>
            <a:endParaRPr i="1" sz="1200">
              <a:solidFill>
                <a:srgbClr val="A05000"/>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solidFill>
                  <a:srgbClr val="1AB1CD"/>
                </a:solidFill>
                <a:latin typeface="Roboto Mono"/>
                <a:ea typeface="Roboto Mono"/>
                <a:cs typeface="Roboto Mono"/>
                <a:sym typeface="Roboto Mono"/>
              </a:rPr>
              <a:t>    actual</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multiply</a:t>
            </a:r>
            <a:r>
              <a:rPr lang="en" sz="1200">
                <a:latin typeface="Roboto Mono"/>
                <a:ea typeface="Roboto Mono"/>
                <a:cs typeface="Roboto Mono"/>
                <a:sym typeface="Roboto Mono"/>
              </a:rPr>
              <a:t>(</a:t>
            </a:r>
            <a:r>
              <a:rPr lang="en" sz="1200">
                <a:solidFill>
                  <a:srgbClr val="106040"/>
                </a:solidFill>
                <a:latin typeface="Roboto Mono"/>
                <a:ea typeface="Roboto Mono"/>
                <a:cs typeface="Roboto Mono"/>
                <a:sym typeface="Roboto Mono"/>
              </a:rPr>
              <a:t>2</a:t>
            </a:r>
            <a:r>
              <a:rPr lang="en" sz="1200">
                <a:latin typeface="Roboto Mono"/>
                <a:ea typeface="Roboto Mono"/>
                <a:cs typeface="Roboto Mono"/>
                <a:sym typeface="Roboto Mono"/>
              </a:rPr>
              <a:t>, </a:t>
            </a:r>
            <a:r>
              <a:rPr lang="en" sz="1200">
                <a:solidFill>
                  <a:srgbClr val="106040"/>
                </a:solidFill>
                <a:latin typeface="Roboto Mono"/>
                <a:ea typeface="Roboto Mono"/>
                <a:cs typeface="Roboto Mono"/>
                <a:sym typeface="Roboto Mono"/>
              </a:rPr>
              <a:t>3</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solidFill>
                  <a:srgbClr val="1AB1CD"/>
                </a:solidFill>
                <a:latin typeface="Roboto Mono"/>
                <a:ea typeface="Roboto Mono"/>
                <a:cs typeface="Roboto Mono"/>
                <a:sym typeface="Roboto Mono"/>
              </a:rPr>
              <a:t>    expected</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06040"/>
                </a:solidFill>
                <a:latin typeface="Roboto Mono"/>
                <a:ea typeface="Roboto Mono"/>
                <a:cs typeface="Roboto Mono"/>
                <a:sym typeface="Roboto Mono"/>
              </a:rPr>
              <a:t>6</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    assert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actual</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expected</a:t>
            </a:r>
            <a:endParaRPr sz="1200">
              <a:solidFill>
                <a:srgbClr val="1AB1CD"/>
              </a:solidFill>
              <a:highlight>
                <a:srgbClr val="EFEFEF"/>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nvSpPr>
        <p:spPr>
          <a:xfrm>
            <a:off x="507750" y="334320"/>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a:t>
            </a:r>
            <a:r>
              <a:rPr i="0" lang="en" sz="2400" u="none" cap="none" strike="noStrike">
                <a:solidFill>
                  <a:srgbClr val="000000"/>
                </a:solidFill>
                <a:latin typeface="Lora"/>
                <a:ea typeface="Lora"/>
                <a:cs typeface="Lora"/>
                <a:sym typeface="Lora"/>
              </a:rPr>
              <a:t>Effective Testing Strategies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Integration Test:</a:t>
            </a:r>
            <a:endParaRPr sz="2400">
              <a:latin typeface="Lora"/>
              <a:ea typeface="Lora"/>
              <a:cs typeface="Lora"/>
              <a:sym typeface="Lora"/>
            </a:endParaRPr>
          </a:p>
        </p:txBody>
      </p:sp>
      <p:sp>
        <p:nvSpPr>
          <p:cNvPr id="224" name="Google Shape;224;p36"/>
          <p:cNvSpPr txBox="1"/>
          <p:nvPr/>
        </p:nvSpPr>
        <p:spPr>
          <a:xfrm>
            <a:off x="446075" y="1171775"/>
            <a:ext cx="8063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An integration test checks if different parts of your code work together correctly. You’re not testing a single function, you’re testing how two or more components interact.</a:t>
            </a:r>
            <a:endParaRPr sz="1200">
              <a:solidFill>
                <a:schemeClr val="dk1"/>
              </a:solidFill>
              <a:latin typeface="Lora"/>
              <a:ea typeface="Lora"/>
              <a:cs typeface="Lora"/>
              <a:sym typeface="Lora"/>
            </a:endParaRPr>
          </a:p>
        </p:txBody>
      </p:sp>
      <p:sp>
        <p:nvSpPr>
          <p:cNvPr id="225" name="Google Shape;225;p36"/>
          <p:cNvSpPr txBox="1"/>
          <p:nvPr/>
        </p:nvSpPr>
        <p:spPr>
          <a:xfrm>
            <a:off x="446075" y="1818275"/>
            <a:ext cx="785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ora"/>
                <a:ea typeface="Lora"/>
                <a:cs typeface="Lora"/>
                <a:sym typeface="Lora"/>
              </a:rPr>
              <a:t>Suppose you have a login form and a backend function</a:t>
            </a:r>
            <a:endParaRPr>
              <a:latin typeface="Lora"/>
              <a:ea typeface="Lora"/>
              <a:cs typeface="Lora"/>
              <a:sym typeface="Lora"/>
            </a:endParaRPr>
          </a:p>
        </p:txBody>
      </p:sp>
      <p:sp>
        <p:nvSpPr>
          <p:cNvPr id="226" name="Google Shape;226;p36"/>
          <p:cNvSpPr txBox="1"/>
          <p:nvPr/>
        </p:nvSpPr>
        <p:spPr>
          <a:xfrm>
            <a:off x="4584900" y="2812250"/>
            <a:ext cx="4229400" cy="923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This test checks if the login() function (from the frontend) and authenticate_user() (from the backend) work correctly together.</a:t>
            </a:r>
            <a:endParaRPr sz="1200">
              <a:solidFill>
                <a:schemeClr val="dk1"/>
              </a:solidFill>
              <a:latin typeface="Lora"/>
              <a:ea typeface="Lora"/>
              <a:cs typeface="Lora"/>
              <a:sym typeface="Lora"/>
            </a:endParaRPr>
          </a:p>
        </p:txBody>
      </p:sp>
      <p:sp>
        <p:nvSpPr>
          <p:cNvPr id="227" name="Google Shape;227;p36"/>
          <p:cNvSpPr txBox="1"/>
          <p:nvPr/>
        </p:nvSpPr>
        <p:spPr>
          <a:xfrm>
            <a:off x="507750" y="2256925"/>
            <a:ext cx="4064400" cy="24375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100">
                <a:solidFill>
                  <a:srgbClr val="A05000"/>
                </a:solidFill>
                <a:latin typeface="Courier New"/>
                <a:ea typeface="Courier New"/>
                <a:cs typeface="Courier New"/>
                <a:sym typeface="Courier New"/>
              </a:rPr>
              <a:t># Frontend</a:t>
            </a:r>
            <a:endParaRPr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00080"/>
                </a:solidFill>
                <a:latin typeface="Courier New"/>
                <a:ea typeface="Courier New"/>
                <a:cs typeface="Courier New"/>
                <a:sym typeface="Courier New"/>
              </a:rPr>
              <a:t>def</a:t>
            </a:r>
            <a:r>
              <a:rPr lang="en" sz="1100">
                <a:latin typeface="Courier New"/>
                <a:ea typeface="Courier New"/>
                <a:cs typeface="Courier New"/>
                <a:sym typeface="Courier New"/>
              </a:rPr>
              <a:t> </a:t>
            </a:r>
            <a:r>
              <a:rPr lang="en" sz="1100">
                <a:solidFill>
                  <a:srgbClr val="0000F0"/>
                </a:solidFill>
                <a:latin typeface="Courier New"/>
                <a:ea typeface="Courier New"/>
                <a:cs typeface="Courier New"/>
                <a:sym typeface="Courier New"/>
              </a:rPr>
              <a:t>login</a:t>
            </a:r>
            <a:r>
              <a:rPr lang="en" sz="1100">
                <a:latin typeface="Courier New"/>
                <a:ea typeface="Courier New"/>
                <a:cs typeface="Courier New"/>
                <a:sym typeface="Courier New"/>
              </a:rPr>
              <a:t>(</a:t>
            </a:r>
            <a:r>
              <a:rPr lang="en" sz="1100">
                <a:solidFill>
                  <a:srgbClr val="1AB1CD"/>
                </a:solidFill>
                <a:latin typeface="Courier New"/>
                <a:ea typeface="Courier New"/>
                <a:cs typeface="Courier New"/>
                <a:sym typeface="Courier New"/>
              </a:rPr>
              <a:t>username</a:t>
            </a:r>
            <a:r>
              <a:rPr lang="en" sz="1100">
                <a:latin typeface="Courier New"/>
                <a:ea typeface="Courier New"/>
                <a:cs typeface="Courier New"/>
                <a:sym typeface="Courier New"/>
              </a:rPr>
              <a:t>, </a:t>
            </a:r>
            <a:r>
              <a:rPr lang="en" sz="1100">
                <a:solidFill>
                  <a:srgbClr val="1AB1CD"/>
                </a:solidFill>
                <a:latin typeface="Courier New"/>
                <a:ea typeface="Courier New"/>
                <a:cs typeface="Courier New"/>
                <a:sym typeface="Courier New"/>
              </a:rPr>
              <a:t>password</a:t>
            </a:r>
            <a:r>
              <a:rPr lang="en" sz="1100">
                <a:latin typeface="Courier New"/>
                <a:ea typeface="Courier New"/>
                <a:cs typeface="Courier New"/>
                <a:sym typeface="Courier New"/>
              </a:rPr>
              <a:t>):</a:t>
            </a:r>
            <a:endParaRPr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latin typeface="Courier New"/>
                <a:ea typeface="Courier New"/>
                <a:cs typeface="Courier New"/>
                <a:sym typeface="Courier New"/>
              </a:rPr>
              <a:t>    </a:t>
            </a:r>
            <a:r>
              <a:rPr b="1" lang="en" sz="1100">
                <a:solidFill>
                  <a:srgbClr val="700080"/>
                </a:solidFill>
                <a:latin typeface="Courier New"/>
                <a:ea typeface="Courier New"/>
                <a:cs typeface="Courier New"/>
                <a:sym typeface="Courier New"/>
              </a:rPr>
              <a:t>return</a:t>
            </a:r>
            <a:r>
              <a:rPr lang="en" sz="1100">
                <a:latin typeface="Courier New"/>
                <a:ea typeface="Courier New"/>
                <a:cs typeface="Courier New"/>
                <a:sym typeface="Courier New"/>
              </a:rPr>
              <a:t> </a:t>
            </a:r>
            <a:r>
              <a:rPr lang="en" sz="1100">
                <a:solidFill>
                  <a:srgbClr val="1AB1CD"/>
                </a:solidFill>
                <a:latin typeface="Courier New"/>
                <a:ea typeface="Courier New"/>
                <a:cs typeface="Courier New"/>
                <a:sym typeface="Courier New"/>
              </a:rPr>
              <a:t>authenticate_user</a:t>
            </a:r>
            <a:r>
              <a:rPr lang="en" sz="1100">
                <a:latin typeface="Courier New"/>
                <a:ea typeface="Courier New"/>
                <a:cs typeface="Courier New"/>
                <a:sym typeface="Courier New"/>
              </a:rPr>
              <a:t>(</a:t>
            </a:r>
            <a:r>
              <a:rPr lang="en" sz="1100">
                <a:solidFill>
                  <a:srgbClr val="1AB1CD"/>
                </a:solidFill>
                <a:latin typeface="Courier New"/>
                <a:ea typeface="Courier New"/>
                <a:cs typeface="Courier New"/>
                <a:sym typeface="Courier New"/>
              </a:rPr>
              <a:t>username</a:t>
            </a:r>
            <a:r>
              <a:rPr lang="en" sz="1100">
                <a:latin typeface="Courier New"/>
                <a:ea typeface="Courier New"/>
                <a:cs typeface="Courier New"/>
                <a:sym typeface="Courier New"/>
              </a:rPr>
              <a:t>, </a:t>
            </a:r>
            <a:r>
              <a:rPr lang="en" sz="1100">
                <a:solidFill>
                  <a:srgbClr val="1AB1CD"/>
                </a:solidFill>
                <a:latin typeface="Courier New"/>
                <a:ea typeface="Courier New"/>
                <a:cs typeface="Courier New"/>
                <a:sym typeface="Courier New"/>
              </a:rPr>
              <a:t>password</a:t>
            </a:r>
            <a:r>
              <a:rPr lang="en" sz="1100">
                <a:latin typeface="Courier New"/>
                <a:ea typeface="Courier New"/>
                <a:cs typeface="Courier New"/>
                <a:sym typeface="Courier New"/>
              </a:rPr>
              <a:t>)</a:t>
            </a:r>
            <a:endParaRPr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i="1" lang="en" sz="1100">
                <a:solidFill>
                  <a:srgbClr val="A05000"/>
                </a:solidFill>
                <a:latin typeface="Courier New"/>
                <a:ea typeface="Courier New"/>
                <a:cs typeface="Courier New"/>
                <a:sym typeface="Courier New"/>
              </a:rPr>
              <a:t># Backend</a:t>
            </a:r>
            <a:endParaRPr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00080"/>
                </a:solidFill>
                <a:latin typeface="Courier New"/>
                <a:ea typeface="Courier New"/>
                <a:cs typeface="Courier New"/>
                <a:sym typeface="Courier New"/>
              </a:rPr>
              <a:t>def</a:t>
            </a:r>
            <a:r>
              <a:rPr lang="en" sz="1100">
                <a:latin typeface="Courier New"/>
                <a:ea typeface="Courier New"/>
                <a:cs typeface="Courier New"/>
                <a:sym typeface="Courier New"/>
              </a:rPr>
              <a:t> </a:t>
            </a:r>
            <a:r>
              <a:rPr lang="en" sz="1100">
                <a:solidFill>
                  <a:srgbClr val="0000F0"/>
                </a:solidFill>
                <a:latin typeface="Courier New"/>
                <a:ea typeface="Courier New"/>
                <a:cs typeface="Courier New"/>
                <a:sym typeface="Courier New"/>
              </a:rPr>
              <a:t>authenticate_user</a:t>
            </a:r>
            <a:r>
              <a:rPr lang="en" sz="1100">
                <a:latin typeface="Courier New"/>
                <a:ea typeface="Courier New"/>
                <a:cs typeface="Courier New"/>
                <a:sym typeface="Courier New"/>
              </a:rPr>
              <a:t>(</a:t>
            </a:r>
            <a:r>
              <a:rPr lang="en" sz="1100">
                <a:solidFill>
                  <a:srgbClr val="1AB1CD"/>
                </a:solidFill>
                <a:latin typeface="Courier New"/>
                <a:ea typeface="Courier New"/>
                <a:cs typeface="Courier New"/>
                <a:sym typeface="Courier New"/>
              </a:rPr>
              <a:t>username</a:t>
            </a:r>
            <a:r>
              <a:rPr lang="en" sz="1100">
                <a:latin typeface="Courier New"/>
                <a:ea typeface="Courier New"/>
                <a:cs typeface="Courier New"/>
                <a:sym typeface="Courier New"/>
              </a:rPr>
              <a:t>, </a:t>
            </a:r>
            <a:r>
              <a:rPr lang="en" sz="1100">
                <a:solidFill>
                  <a:srgbClr val="1AB1CD"/>
                </a:solidFill>
                <a:latin typeface="Courier New"/>
                <a:ea typeface="Courier New"/>
                <a:cs typeface="Courier New"/>
                <a:sym typeface="Courier New"/>
              </a:rPr>
              <a:t>password</a:t>
            </a:r>
            <a:r>
              <a:rPr lang="en" sz="1100">
                <a:latin typeface="Courier New"/>
                <a:ea typeface="Courier New"/>
                <a:cs typeface="Courier New"/>
                <a:sym typeface="Courier New"/>
              </a:rPr>
              <a:t>):</a:t>
            </a:r>
            <a:endParaRPr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latin typeface="Courier New"/>
                <a:ea typeface="Courier New"/>
                <a:cs typeface="Courier New"/>
                <a:sym typeface="Courier New"/>
              </a:rPr>
              <a:t>    </a:t>
            </a:r>
            <a:r>
              <a:rPr b="1" lang="en" sz="1100">
                <a:solidFill>
                  <a:srgbClr val="700080"/>
                </a:solidFill>
                <a:latin typeface="Courier New"/>
                <a:ea typeface="Courier New"/>
                <a:cs typeface="Courier New"/>
                <a:sym typeface="Courier New"/>
              </a:rPr>
              <a:t>if</a:t>
            </a:r>
            <a:r>
              <a:rPr lang="en" sz="1100">
                <a:latin typeface="Courier New"/>
                <a:ea typeface="Courier New"/>
                <a:cs typeface="Courier New"/>
                <a:sym typeface="Courier New"/>
              </a:rPr>
              <a:t> </a:t>
            </a:r>
            <a:r>
              <a:rPr lang="en" sz="1100">
                <a:solidFill>
                  <a:srgbClr val="1AB1CD"/>
                </a:solidFill>
                <a:latin typeface="Courier New"/>
                <a:ea typeface="Courier New"/>
                <a:cs typeface="Courier New"/>
                <a:sym typeface="Courier New"/>
              </a:rPr>
              <a:t>username</a:t>
            </a:r>
            <a:r>
              <a:rPr lang="en" sz="1100">
                <a:latin typeface="Courier New"/>
                <a:ea typeface="Courier New"/>
                <a:cs typeface="Courier New"/>
                <a:sym typeface="Courier New"/>
              </a:rPr>
              <a:t> </a:t>
            </a:r>
            <a:r>
              <a:rPr b="1" lang="en" sz="1100">
                <a:solidFill>
                  <a:srgbClr val="EE11FF"/>
                </a:solidFill>
                <a:latin typeface="Courier New"/>
                <a:ea typeface="Courier New"/>
                <a:cs typeface="Courier New"/>
                <a:sym typeface="Courier New"/>
              </a:rPr>
              <a:t>==</a:t>
            </a:r>
            <a:r>
              <a:rPr lang="en" sz="1100">
                <a:latin typeface="Courier New"/>
                <a:ea typeface="Courier New"/>
                <a:cs typeface="Courier New"/>
                <a:sym typeface="Courier New"/>
              </a:rPr>
              <a:t> </a:t>
            </a:r>
            <a:r>
              <a:rPr lang="en" sz="1100">
                <a:solidFill>
                  <a:srgbClr val="A01010"/>
                </a:solidFill>
                <a:latin typeface="Courier New"/>
                <a:ea typeface="Courier New"/>
                <a:cs typeface="Courier New"/>
                <a:sym typeface="Courier New"/>
              </a:rPr>
              <a:t>"admin"</a:t>
            </a:r>
            <a:r>
              <a:rPr lang="en" sz="1100">
                <a:latin typeface="Courier New"/>
                <a:ea typeface="Courier New"/>
                <a:cs typeface="Courier New"/>
                <a:sym typeface="Courier New"/>
              </a:rPr>
              <a:t> </a:t>
            </a:r>
            <a:r>
              <a:rPr b="1" lang="en" sz="1100">
                <a:solidFill>
                  <a:srgbClr val="700080"/>
                </a:solidFill>
                <a:latin typeface="Courier New"/>
                <a:ea typeface="Courier New"/>
                <a:cs typeface="Courier New"/>
                <a:sym typeface="Courier New"/>
              </a:rPr>
              <a:t>and</a:t>
            </a:r>
            <a:r>
              <a:rPr lang="en" sz="1100">
                <a:latin typeface="Courier New"/>
                <a:ea typeface="Courier New"/>
                <a:cs typeface="Courier New"/>
                <a:sym typeface="Courier New"/>
              </a:rPr>
              <a:t> </a:t>
            </a:r>
            <a:r>
              <a:rPr lang="en" sz="1100">
                <a:solidFill>
                  <a:srgbClr val="1AB1CD"/>
                </a:solidFill>
                <a:latin typeface="Courier New"/>
                <a:ea typeface="Courier New"/>
                <a:cs typeface="Courier New"/>
                <a:sym typeface="Courier New"/>
              </a:rPr>
              <a:t>password</a:t>
            </a:r>
            <a:r>
              <a:rPr lang="en" sz="1100">
                <a:latin typeface="Courier New"/>
                <a:ea typeface="Courier New"/>
                <a:cs typeface="Courier New"/>
                <a:sym typeface="Courier New"/>
              </a:rPr>
              <a:t> </a:t>
            </a:r>
            <a:r>
              <a:rPr b="1" lang="en" sz="1100">
                <a:solidFill>
                  <a:srgbClr val="EE11FF"/>
                </a:solidFill>
                <a:latin typeface="Courier New"/>
                <a:ea typeface="Courier New"/>
                <a:cs typeface="Courier New"/>
                <a:sym typeface="Courier New"/>
              </a:rPr>
              <a:t>==</a:t>
            </a:r>
            <a:r>
              <a:rPr lang="en" sz="1100">
                <a:latin typeface="Courier New"/>
                <a:ea typeface="Courier New"/>
                <a:cs typeface="Courier New"/>
                <a:sym typeface="Courier New"/>
              </a:rPr>
              <a:t> </a:t>
            </a:r>
            <a:r>
              <a:rPr lang="en" sz="1100">
                <a:solidFill>
                  <a:srgbClr val="A01010"/>
                </a:solidFill>
                <a:latin typeface="Courier New"/>
                <a:ea typeface="Courier New"/>
                <a:cs typeface="Courier New"/>
                <a:sym typeface="Courier New"/>
              </a:rPr>
              <a:t>"1234"</a:t>
            </a:r>
            <a:r>
              <a:rPr lang="en" sz="1100">
                <a:latin typeface="Courier New"/>
                <a:ea typeface="Courier New"/>
                <a:cs typeface="Courier New"/>
                <a:sym typeface="Courier New"/>
              </a:rPr>
              <a:t>:</a:t>
            </a:r>
            <a:endParaRPr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latin typeface="Courier New"/>
                <a:ea typeface="Courier New"/>
                <a:cs typeface="Courier New"/>
                <a:sym typeface="Courier New"/>
              </a:rPr>
              <a:t>        </a:t>
            </a:r>
            <a:r>
              <a:rPr b="1" lang="en" sz="1100">
                <a:solidFill>
                  <a:srgbClr val="700080"/>
                </a:solidFill>
                <a:latin typeface="Courier New"/>
                <a:ea typeface="Courier New"/>
                <a:cs typeface="Courier New"/>
                <a:sym typeface="Courier New"/>
              </a:rPr>
              <a:t>return</a:t>
            </a:r>
            <a:r>
              <a:rPr lang="en" sz="1100">
                <a:latin typeface="Courier New"/>
                <a:ea typeface="Courier New"/>
                <a:cs typeface="Courier New"/>
                <a:sym typeface="Courier New"/>
              </a:rPr>
              <a:t> </a:t>
            </a:r>
            <a:r>
              <a:rPr lang="en" sz="1100">
                <a:solidFill>
                  <a:srgbClr val="A01010"/>
                </a:solidFill>
                <a:latin typeface="Courier New"/>
                <a:ea typeface="Courier New"/>
                <a:cs typeface="Courier New"/>
                <a:sym typeface="Courier New"/>
              </a:rPr>
              <a:t>"Success"</a:t>
            </a:r>
            <a:endParaRPr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latin typeface="Courier New"/>
                <a:ea typeface="Courier New"/>
                <a:cs typeface="Courier New"/>
                <a:sym typeface="Courier New"/>
              </a:rPr>
              <a:t>    </a:t>
            </a:r>
            <a:r>
              <a:rPr b="1" lang="en" sz="1100">
                <a:solidFill>
                  <a:srgbClr val="700080"/>
                </a:solidFill>
                <a:latin typeface="Courier New"/>
                <a:ea typeface="Courier New"/>
                <a:cs typeface="Courier New"/>
                <a:sym typeface="Courier New"/>
              </a:rPr>
              <a:t>return</a:t>
            </a:r>
            <a:r>
              <a:rPr lang="en" sz="1100">
                <a:latin typeface="Courier New"/>
                <a:ea typeface="Courier New"/>
                <a:cs typeface="Courier New"/>
                <a:sym typeface="Courier New"/>
              </a:rPr>
              <a:t> </a:t>
            </a:r>
            <a:r>
              <a:rPr lang="en" sz="1100">
                <a:solidFill>
                  <a:srgbClr val="A01010"/>
                </a:solidFill>
                <a:latin typeface="Courier New"/>
                <a:ea typeface="Courier New"/>
                <a:cs typeface="Courier New"/>
                <a:sym typeface="Courier New"/>
              </a:rPr>
              <a:t>"Fail"</a:t>
            </a:r>
            <a:endParaRPr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i="1" lang="en" sz="1100">
                <a:solidFill>
                  <a:srgbClr val="A05000"/>
                </a:solidFill>
                <a:latin typeface="Courier New"/>
                <a:ea typeface="Courier New"/>
                <a:cs typeface="Courier New"/>
                <a:sym typeface="Courier New"/>
              </a:rPr>
              <a:t># Integration Test</a:t>
            </a:r>
            <a:endParaRPr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00080"/>
                </a:solidFill>
                <a:latin typeface="Courier New"/>
                <a:ea typeface="Courier New"/>
                <a:cs typeface="Courier New"/>
                <a:sym typeface="Courier New"/>
              </a:rPr>
              <a:t>assert</a:t>
            </a:r>
            <a:r>
              <a:rPr lang="en" sz="1100">
                <a:latin typeface="Courier New"/>
                <a:ea typeface="Courier New"/>
                <a:cs typeface="Courier New"/>
                <a:sym typeface="Courier New"/>
              </a:rPr>
              <a:t> </a:t>
            </a:r>
            <a:r>
              <a:rPr lang="en" sz="1100">
                <a:solidFill>
                  <a:srgbClr val="1AB1CD"/>
                </a:solidFill>
                <a:latin typeface="Courier New"/>
                <a:ea typeface="Courier New"/>
                <a:cs typeface="Courier New"/>
                <a:sym typeface="Courier New"/>
              </a:rPr>
              <a:t>login</a:t>
            </a:r>
            <a:r>
              <a:rPr lang="en" sz="1100">
                <a:latin typeface="Courier New"/>
                <a:ea typeface="Courier New"/>
                <a:cs typeface="Courier New"/>
                <a:sym typeface="Courier New"/>
              </a:rPr>
              <a:t>(</a:t>
            </a:r>
            <a:r>
              <a:rPr lang="en" sz="1100">
                <a:solidFill>
                  <a:srgbClr val="A01010"/>
                </a:solidFill>
                <a:latin typeface="Courier New"/>
                <a:ea typeface="Courier New"/>
                <a:cs typeface="Courier New"/>
                <a:sym typeface="Courier New"/>
              </a:rPr>
              <a:t>"admin"</a:t>
            </a:r>
            <a:r>
              <a:rPr lang="en" sz="1100">
                <a:latin typeface="Courier New"/>
                <a:ea typeface="Courier New"/>
                <a:cs typeface="Courier New"/>
                <a:sym typeface="Courier New"/>
              </a:rPr>
              <a:t>, </a:t>
            </a:r>
            <a:r>
              <a:rPr lang="en" sz="1100">
                <a:solidFill>
                  <a:srgbClr val="A01010"/>
                </a:solidFill>
                <a:latin typeface="Courier New"/>
                <a:ea typeface="Courier New"/>
                <a:cs typeface="Courier New"/>
                <a:sym typeface="Courier New"/>
              </a:rPr>
              <a:t>"1234"</a:t>
            </a:r>
            <a:r>
              <a:rPr lang="en" sz="1100">
                <a:latin typeface="Courier New"/>
                <a:ea typeface="Courier New"/>
                <a:cs typeface="Courier New"/>
                <a:sym typeface="Courier New"/>
              </a:rPr>
              <a:t>) </a:t>
            </a:r>
            <a:r>
              <a:rPr b="1" lang="en" sz="1100">
                <a:solidFill>
                  <a:srgbClr val="EE11FF"/>
                </a:solidFill>
                <a:latin typeface="Courier New"/>
                <a:ea typeface="Courier New"/>
                <a:cs typeface="Courier New"/>
                <a:sym typeface="Courier New"/>
              </a:rPr>
              <a:t>==</a:t>
            </a:r>
            <a:r>
              <a:rPr lang="en" sz="1100">
                <a:latin typeface="Courier New"/>
                <a:ea typeface="Courier New"/>
                <a:cs typeface="Courier New"/>
                <a:sym typeface="Courier New"/>
              </a:rPr>
              <a:t> </a:t>
            </a:r>
            <a:r>
              <a:rPr lang="en" sz="1100">
                <a:solidFill>
                  <a:srgbClr val="A01010"/>
                </a:solidFill>
                <a:latin typeface="Courier New"/>
                <a:ea typeface="Courier New"/>
                <a:cs typeface="Courier New"/>
                <a:sym typeface="Courier New"/>
              </a:rPr>
              <a:t>"Success"</a:t>
            </a:r>
            <a:endParaRPr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nvSpPr>
        <p:spPr>
          <a:xfrm>
            <a:off x="507750" y="334320"/>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a:t>
            </a:r>
            <a:r>
              <a:rPr i="0" lang="en" sz="2400" u="none" cap="none" strike="noStrike">
                <a:solidFill>
                  <a:srgbClr val="000000"/>
                </a:solidFill>
                <a:latin typeface="Lora"/>
                <a:ea typeface="Lora"/>
                <a:cs typeface="Lora"/>
                <a:sym typeface="Lora"/>
              </a:rPr>
              <a:t>Effective Testing Strategies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End-to-End (E2E)</a:t>
            </a:r>
            <a:endParaRPr sz="2400">
              <a:latin typeface="Lora"/>
              <a:ea typeface="Lora"/>
              <a:cs typeface="Lora"/>
              <a:sym typeface="Lora"/>
            </a:endParaRPr>
          </a:p>
        </p:txBody>
      </p:sp>
      <p:sp>
        <p:nvSpPr>
          <p:cNvPr id="233" name="Google Shape;233;p37"/>
          <p:cNvSpPr txBox="1"/>
          <p:nvPr/>
        </p:nvSpPr>
        <p:spPr>
          <a:xfrm>
            <a:off x="507750" y="1274125"/>
            <a:ext cx="8128500" cy="1908600"/>
          </a:xfrm>
          <a:prstGeom prst="rect">
            <a:avLst/>
          </a:prstGeom>
          <a:noFill/>
          <a:ln>
            <a:noFill/>
          </a:ln>
        </p:spPr>
        <p:txBody>
          <a:bodyPr anchorCtr="0" anchor="t" bIns="91425" lIns="91425" spcFirstLastPara="1" rIns="91425" wrap="square" tIns="91425">
            <a:spAutoFit/>
          </a:bodyPr>
          <a:lstStyle/>
          <a:p>
            <a:pPr indent="0" lvl="0" marL="0" marR="381000" rtl="0" algn="l">
              <a:lnSpc>
                <a:spcPct val="150000"/>
              </a:lnSpc>
              <a:spcBef>
                <a:spcPts val="1200"/>
              </a:spcBef>
              <a:spcAft>
                <a:spcPts val="0"/>
              </a:spcAft>
              <a:buNone/>
            </a:pPr>
            <a:r>
              <a:rPr lang="en" sz="1200">
                <a:solidFill>
                  <a:schemeClr val="dk1"/>
                </a:solidFill>
                <a:latin typeface="Lora"/>
                <a:ea typeface="Lora"/>
                <a:cs typeface="Lora"/>
                <a:sym typeface="Lora"/>
              </a:rPr>
              <a:t>An End-to-End (E2E) test checks if the entire app works from the user's point of view,  like clicking buttons, filling forms, and getting expected results. It simulates what a real user does to make sure all parts (frontend, backend, database) are working together. This requires specialized tools such as Selenium, Cypress and Playwright which are outside the scope of this course.</a:t>
            </a:r>
            <a:endParaRPr sz="1200">
              <a:solidFill>
                <a:schemeClr val="dk1"/>
              </a:solidFill>
              <a:latin typeface="Lora"/>
              <a:ea typeface="Lora"/>
              <a:cs typeface="Lora"/>
              <a:sym typeface="Lora"/>
            </a:endParaRPr>
          </a:p>
          <a:p>
            <a:pPr indent="0" lvl="0" marL="0" marR="381000" rtl="0" algn="l">
              <a:lnSpc>
                <a:spcPct val="150000"/>
              </a:lnSpc>
              <a:spcBef>
                <a:spcPts val="1200"/>
              </a:spcBef>
              <a:spcAft>
                <a:spcPts val="1200"/>
              </a:spcAft>
              <a:buNone/>
            </a:pPr>
            <a:r>
              <a:rPr lang="en" sz="1200">
                <a:solidFill>
                  <a:schemeClr val="dk1"/>
                </a:solidFill>
                <a:latin typeface="Lora"/>
                <a:ea typeface="Lora"/>
                <a:cs typeface="Lora"/>
                <a:sym typeface="Lora"/>
              </a:rPr>
              <a:t>Think of it like walking through the finished LEGO house, checking doors open, windows close, and the roof doesn’t fall off.</a:t>
            </a:r>
            <a:endParaRPr sz="1300">
              <a:solidFill>
                <a:schemeClr val="dk1"/>
              </a:solidFill>
              <a:latin typeface="Lora"/>
              <a:ea typeface="Lora"/>
              <a:cs typeface="Lora"/>
              <a:sym typeface="Lor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nvSpPr>
        <p:spPr>
          <a:xfrm>
            <a:off x="507750" y="334320"/>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a:t>
            </a:r>
            <a:r>
              <a:rPr i="0" lang="en" sz="2400" u="none" cap="none" strike="noStrike">
                <a:solidFill>
                  <a:srgbClr val="000000"/>
                </a:solidFill>
                <a:latin typeface="Lora"/>
                <a:ea typeface="Lora"/>
                <a:cs typeface="Lora"/>
                <a:sym typeface="Lora"/>
              </a:rPr>
              <a:t>Effective Testing Strategies</a:t>
            </a:r>
            <a:endParaRPr sz="2400">
              <a:latin typeface="Lora"/>
              <a:ea typeface="Lora"/>
              <a:cs typeface="Lora"/>
              <a:sym typeface="Lora"/>
            </a:endParaRPr>
          </a:p>
        </p:txBody>
      </p:sp>
      <p:sp>
        <p:nvSpPr>
          <p:cNvPr id="239" name="Google Shape;239;p38"/>
          <p:cNvSpPr txBox="1"/>
          <p:nvPr/>
        </p:nvSpPr>
        <p:spPr>
          <a:xfrm>
            <a:off x="483081" y="854751"/>
            <a:ext cx="8128500" cy="415500"/>
          </a:xfrm>
          <a:prstGeom prst="rect">
            <a:avLst/>
          </a:prstGeom>
          <a:noFill/>
          <a:ln>
            <a:noFill/>
          </a:ln>
        </p:spPr>
        <p:txBody>
          <a:bodyPr anchorCtr="0" anchor="t" bIns="91425" lIns="91425" spcFirstLastPara="1" rIns="91425" wrap="square" tIns="91425">
            <a:spAutoFit/>
          </a:bodyPr>
          <a:lstStyle/>
          <a:p>
            <a:pPr indent="0" lvl="0" marL="0" marR="381000" rtl="0" algn="l">
              <a:lnSpc>
                <a:spcPct val="150000"/>
              </a:lnSpc>
              <a:spcBef>
                <a:spcPts val="1200"/>
              </a:spcBef>
              <a:spcAft>
                <a:spcPts val="1200"/>
              </a:spcAft>
              <a:buNone/>
            </a:pPr>
            <a:r>
              <a:rPr lang="en" sz="1500">
                <a:solidFill>
                  <a:schemeClr val="dk1"/>
                </a:solidFill>
                <a:latin typeface="Lora"/>
                <a:ea typeface="Lora"/>
                <a:cs typeface="Lora"/>
                <a:sym typeface="Lora"/>
              </a:rPr>
              <a:t>Introducing pytest</a:t>
            </a:r>
            <a:endParaRPr sz="1700">
              <a:solidFill>
                <a:schemeClr val="dk1"/>
              </a:solidFill>
              <a:latin typeface="Lora"/>
              <a:ea typeface="Lora"/>
              <a:cs typeface="Lora"/>
              <a:sym typeface="Lora"/>
            </a:endParaRPr>
          </a:p>
        </p:txBody>
      </p:sp>
      <p:sp>
        <p:nvSpPr>
          <p:cNvPr id="240" name="Google Shape;240;p38"/>
          <p:cNvSpPr txBox="1"/>
          <p:nvPr/>
        </p:nvSpPr>
        <p:spPr>
          <a:xfrm>
            <a:off x="507750" y="1261792"/>
            <a:ext cx="7978500" cy="3016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Now that we've explained the Testing Pyramid concept, let's introduce a specific tool that can be used to build every layer of it: </a:t>
            </a:r>
            <a:r>
              <a:rPr b="1" lang="en" sz="1200">
                <a:solidFill>
                  <a:schemeClr val="dk1"/>
                </a:solidFill>
                <a:latin typeface="Lora"/>
                <a:ea typeface="Lora"/>
                <a:cs typeface="Lora"/>
                <a:sym typeface="Lora"/>
              </a:rPr>
              <a:t>pytest</a:t>
            </a:r>
            <a:r>
              <a:rPr lang="en" sz="1200">
                <a:solidFill>
                  <a:schemeClr val="dk1"/>
                </a:solidFill>
                <a:latin typeface="Lora"/>
                <a:ea typeface="Lora"/>
                <a:cs typeface="Lora"/>
                <a:sym typeface="Lora"/>
              </a:rPr>
              <a:t>.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pytest is a modern, powerful, and easy-to-use testing framework for Python</a:t>
            </a:r>
            <a:endParaRPr b="1" sz="1200">
              <a:solidFill>
                <a:schemeClr val="dk1"/>
              </a:solidFill>
              <a:latin typeface="Lora"/>
              <a:ea typeface="Lora"/>
              <a:cs typeface="Lora"/>
              <a:sym typeface="Lora"/>
            </a:endParaRPr>
          </a:p>
          <a:p>
            <a:pPr indent="-304800" lvl="0" marL="457200" rtl="0" algn="just">
              <a:lnSpc>
                <a:spcPct val="150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Simple Syntax:</a:t>
            </a:r>
            <a:r>
              <a:rPr lang="en" sz="1200">
                <a:solidFill>
                  <a:schemeClr val="dk1"/>
                </a:solidFill>
                <a:latin typeface="Lora"/>
                <a:ea typeface="Lora"/>
                <a:cs typeface="Lora"/>
                <a:sym typeface="Lora"/>
              </a:rPr>
              <a:t> Uses the standard assert keyword, making tests clean and readable.</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Automatic Discovery:</a:t>
            </a:r>
            <a:r>
              <a:rPr lang="en" sz="1200">
                <a:solidFill>
                  <a:schemeClr val="dk1"/>
                </a:solidFill>
                <a:latin typeface="Lora"/>
                <a:ea typeface="Lora"/>
                <a:cs typeface="Lora"/>
                <a:sym typeface="Lora"/>
              </a:rPr>
              <a:t> Automatically finds and runs test files (test_*.py) and functions (test_*) with no extra configuration</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Powerful Fixtures:</a:t>
            </a:r>
            <a:r>
              <a:rPr lang="en" sz="1200">
                <a:solidFill>
                  <a:schemeClr val="dk1"/>
                </a:solidFill>
                <a:latin typeface="Lora"/>
                <a:ea typeface="Lora"/>
                <a:cs typeface="Lora"/>
                <a:sym typeface="Lora"/>
              </a:rPr>
              <a:t> A feature for setting up reusable test conditions (like a database connection or a test web client), crucial for complex tests.</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Scalable:</a:t>
            </a:r>
            <a:r>
              <a:rPr lang="en" sz="1200">
                <a:solidFill>
                  <a:schemeClr val="dk1"/>
                </a:solidFill>
                <a:latin typeface="Lora"/>
                <a:ea typeface="Lora"/>
                <a:cs typeface="Lora"/>
                <a:sym typeface="Lora"/>
              </a:rPr>
              <a:t> Perfect for all layers of the pyramid, from tiny unit tests to full end-to-end application tests</a:t>
            </a:r>
            <a:endParaRPr sz="1200">
              <a:solidFill>
                <a:schemeClr val="dk1"/>
              </a:solidFill>
              <a:latin typeface="Lora"/>
              <a:ea typeface="Lora"/>
              <a:cs typeface="Lora"/>
              <a:sym typeface="Lor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nvSpPr>
        <p:spPr>
          <a:xfrm>
            <a:off x="507750" y="334320"/>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a:t>
            </a:r>
            <a:r>
              <a:rPr i="0" lang="en" sz="2400" u="none" cap="none" strike="noStrike">
                <a:solidFill>
                  <a:srgbClr val="000000"/>
                </a:solidFill>
                <a:latin typeface="Lora"/>
                <a:ea typeface="Lora"/>
                <a:cs typeface="Lora"/>
                <a:sym typeface="Lora"/>
              </a:rPr>
              <a:t>Effective Testing Strategies</a:t>
            </a:r>
            <a:endParaRPr sz="2400">
              <a:latin typeface="Lora"/>
              <a:ea typeface="Lora"/>
              <a:cs typeface="Lora"/>
              <a:sym typeface="Lora"/>
            </a:endParaRPr>
          </a:p>
        </p:txBody>
      </p:sp>
      <p:sp>
        <p:nvSpPr>
          <p:cNvPr id="246" name="Google Shape;246;p39"/>
          <p:cNvSpPr txBox="1"/>
          <p:nvPr/>
        </p:nvSpPr>
        <p:spPr>
          <a:xfrm>
            <a:off x="483081" y="854751"/>
            <a:ext cx="8128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Clr>
                <a:schemeClr val="dk1"/>
              </a:buClr>
              <a:buSzPts val="1100"/>
              <a:buFont typeface="Arial"/>
              <a:buNone/>
            </a:pPr>
            <a:r>
              <a:rPr lang="en" sz="1600">
                <a:solidFill>
                  <a:schemeClr val="dk1"/>
                </a:solidFill>
                <a:latin typeface="Lora"/>
                <a:ea typeface="Lora"/>
                <a:cs typeface="Lora"/>
                <a:sym typeface="Lora"/>
              </a:rPr>
              <a:t>How to Write Tests</a:t>
            </a:r>
            <a:endParaRPr sz="1600">
              <a:solidFill>
                <a:schemeClr val="dk1"/>
              </a:solidFill>
              <a:latin typeface="Lora"/>
              <a:ea typeface="Lora"/>
              <a:cs typeface="Lora"/>
              <a:sym typeface="Lora"/>
            </a:endParaRPr>
          </a:p>
        </p:txBody>
      </p:sp>
      <p:sp>
        <p:nvSpPr>
          <p:cNvPr id="247" name="Google Shape;247;p39"/>
          <p:cNvSpPr txBox="1"/>
          <p:nvPr/>
        </p:nvSpPr>
        <p:spPr>
          <a:xfrm>
            <a:off x="507750" y="1261792"/>
            <a:ext cx="7978500" cy="3478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The core of writing tests with pytest involves two simple rules:</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AutoNum type="arabicPeriod"/>
            </a:pPr>
            <a:r>
              <a:rPr b="1" lang="en" sz="1200">
                <a:solidFill>
                  <a:schemeClr val="dk1"/>
                </a:solidFill>
                <a:latin typeface="Lora"/>
                <a:ea typeface="Lora"/>
                <a:cs typeface="Lora"/>
                <a:sym typeface="Lora"/>
              </a:rPr>
              <a:t>Test File Naming:</a:t>
            </a:r>
            <a:r>
              <a:rPr lang="en" sz="1200">
                <a:solidFill>
                  <a:schemeClr val="dk1"/>
                </a:solidFill>
                <a:latin typeface="Lora"/>
                <a:ea typeface="Lora"/>
                <a:cs typeface="Lora"/>
                <a:sym typeface="Lora"/>
              </a:rPr>
              <a:t> Create Python files whose names start with test_ or end with _test.py. For example, test_calculator.py</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AutoNum type="arabicPeriod"/>
            </a:pPr>
            <a:r>
              <a:rPr b="1" lang="en" sz="1200">
                <a:solidFill>
                  <a:schemeClr val="dk1"/>
                </a:solidFill>
                <a:latin typeface="Lora"/>
                <a:ea typeface="Lora"/>
                <a:cs typeface="Lora"/>
                <a:sym typeface="Lora"/>
              </a:rPr>
              <a:t>Test Function Naming:</a:t>
            </a:r>
            <a:r>
              <a:rPr lang="en" sz="1200">
                <a:solidFill>
                  <a:schemeClr val="dk1"/>
                </a:solidFill>
                <a:latin typeface="Lora"/>
                <a:ea typeface="Lora"/>
                <a:cs typeface="Lora"/>
                <a:sym typeface="Lora"/>
              </a:rPr>
              <a:t> Inside those files, write functions whose names start with test_</a:t>
            </a:r>
            <a:endParaRPr sz="1200">
              <a:solidFill>
                <a:schemeClr val="dk1"/>
              </a:solidFill>
              <a:latin typeface="Lora"/>
              <a:ea typeface="Lora"/>
              <a:cs typeface="Lora"/>
              <a:sym typeface="Lora"/>
            </a:endParaRPr>
          </a:p>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Within a test function, you use Python's standard assert keyword to check if a condition is true. If the assertion is true, the test passes. If it's false, the test fails, and pytest will report the error.</a:t>
            </a:r>
            <a:endParaRPr sz="1200">
              <a:solidFill>
                <a:schemeClr val="dk1"/>
              </a:solidFill>
              <a:latin typeface="Lora"/>
              <a:ea typeface="Lora"/>
              <a:cs typeface="Lora"/>
              <a:sym typeface="Lora"/>
            </a:endParaRPr>
          </a:p>
          <a:p>
            <a:pPr indent="0" lvl="0" marL="0" rtl="0" algn="l">
              <a:lnSpc>
                <a:spcPct val="150000"/>
              </a:lnSpc>
              <a:spcBef>
                <a:spcPts val="1200"/>
              </a:spcBef>
              <a:spcAft>
                <a:spcPts val="0"/>
              </a:spcAft>
              <a:buClr>
                <a:schemeClr val="dk1"/>
              </a:buClr>
              <a:buSzPts val="1100"/>
              <a:buFont typeface="Arial"/>
              <a:buNone/>
            </a:pPr>
            <a:r>
              <a:rPr lang="en" sz="1200">
                <a:solidFill>
                  <a:schemeClr val="dk1"/>
                </a:solidFill>
                <a:latin typeface="Lora"/>
                <a:ea typeface="Lora"/>
                <a:cs typeface="Lora"/>
                <a:sym typeface="Lora"/>
              </a:rPr>
              <a:t>Once your test files are set up, running them is straightforward</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Open your terminal</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Navigate to the root directory of your project</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AutoNum type="arabicPeriod"/>
            </a:pPr>
            <a:r>
              <a:rPr lang="en" sz="1200">
                <a:solidFill>
                  <a:schemeClr val="dk1"/>
                </a:solidFill>
                <a:latin typeface="Lora"/>
                <a:ea typeface="Lora"/>
                <a:cs typeface="Lora"/>
                <a:sym typeface="Lora"/>
              </a:rPr>
              <a:t>Run the pytest command</a:t>
            </a:r>
            <a:endParaRPr sz="1300">
              <a:solidFill>
                <a:schemeClr val="dk1"/>
              </a:solidFill>
              <a:latin typeface="Lora"/>
              <a:ea typeface="Lora"/>
              <a:cs typeface="Lora"/>
              <a:sym typeface="Lor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nvSpPr>
        <p:spPr>
          <a:xfrm>
            <a:off x="507750" y="334320"/>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a:t>
            </a:r>
            <a:r>
              <a:rPr i="0" lang="en" sz="2400" u="none" cap="none" strike="noStrike">
                <a:solidFill>
                  <a:srgbClr val="000000"/>
                </a:solidFill>
                <a:latin typeface="Lora"/>
                <a:ea typeface="Lora"/>
                <a:cs typeface="Lora"/>
                <a:sym typeface="Lora"/>
              </a:rPr>
              <a:t>Effective Testing Strategies</a:t>
            </a:r>
            <a:endParaRPr sz="2400">
              <a:latin typeface="Lora"/>
              <a:ea typeface="Lora"/>
              <a:cs typeface="Lora"/>
              <a:sym typeface="Lora"/>
            </a:endParaRPr>
          </a:p>
        </p:txBody>
      </p:sp>
      <p:sp>
        <p:nvSpPr>
          <p:cNvPr id="253" name="Google Shape;253;p40"/>
          <p:cNvSpPr txBox="1"/>
          <p:nvPr/>
        </p:nvSpPr>
        <p:spPr>
          <a:xfrm>
            <a:off x="483081" y="854751"/>
            <a:ext cx="8128500" cy="415500"/>
          </a:xfrm>
          <a:prstGeom prst="rect">
            <a:avLst/>
          </a:prstGeom>
          <a:noFill/>
          <a:ln>
            <a:noFill/>
          </a:ln>
        </p:spPr>
        <p:txBody>
          <a:bodyPr anchorCtr="0" anchor="t" bIns="91425" lIns="91425" spcFirstLastPara="1" rIns="91425" wrap="square" tIns="91425">
            <a:spAutoFit/>
          </a:bodyPr>
          <a:lstStyle/>
          <a:p>
            <a:pPr indent="0" lvl="0" marL="0" marR="381000" rtl="0" algn="l">
              <a:lnSpc>
                <a:spcPct val="150000"/>
              </a:lnSpc>
              <a:spcBef>
                <a:spcPts val="1200"/>
              </a:spcBef>
              <a:spcAft>
                <a:spcPts val="1200"/>
              </a:spcAft>
              <a:buNone/>
            </a:pPr>
            <a:r>
              <a:rPr lang="en" sz="1500">
                <a:solidFill>
                  <a:schemeClr val="dk1"/>
                </a:solidFill>
                <a:latin typeface="Lora"/>
                <a:ea typeface="Lora"/>
                <a:cs typeface="Lora"/>
                <a:sym typeface="Lora"/>
              </a:rPr>
              <a:t>pytest example</a:t>
            </a:r>
            <a:endParaRPr sz="1700">
              <a:solidFill>
                <a:schemeClr val="dk1"/>
              </a:solidFill>
              <a:latin typeface="Lora"/>
              <a:ea typeface="Lora"/>
              <a:cs typeface="Lora"/>
              <a:sym typeface="Lora"/>
            </a:endParaRPr>
          </a:p>
        </p:txBody>
      </p:sp>
      <p:sp>
        <p:nvSpPr>
          <p:cNvPr id="254" name="Google Shape;254;p40"/>
          <p:cNvSpPr txBox="1"/>
          <p:nvPr/>
        </p:nvSpPr>
        <p:spPr>
          <a:xfrm>
            <a:off x="3881814" y="2497743"/>
            <a:ext cx="2345700" cy="5802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100">
                <a:solidFill>
                  <a:schemeClr val="dk1"/>
                </a:solidFill>
                <a:latin typeface="Courier New"/>
                <a:ea typeface="Courier New"/>
                <a:cs typeface="Courier New"/>
                <a:sym typeface="Courier New"/>
              </a:rPr>
              <a:t>def multiply_by_two(x):</a:t>
            </a:r>
            <a:endParaRPr i="1"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i="1" lang="en" sz="1100">
                <a:solidFill>
                  <a:schemeClr val="dk1"/>
                </a:solidFill>
                <a:latin typeface="Courier New"/>
                <a:ea typeface="Courier New"/>
                <a:cs typeface="Courier New"/>
                <a:sym typeface="Courier New"/>
              </a:rPr>
              <a:t>    return x * 2</a:t>
            </a:r>
            <a:endParaRPr i="1" sz="1100">
              <a:solidFill>
                <a:schemeClr val="dk1"/>
              </a:solidFill>
              <a:latin typeface="Courier New"/>
              <a:ea typeface="Courier New"/>
              <a:cs typeface="Courier New"/>
              <a:sym typeface="Courier New"/>
            </a:endParaRPr>
          </a:p>
        </p:txBody>
      </p:sp>
      <p:pic>
        <p:nvPicPr>
          <p:cNvPr id="255" name="Google Shape;255;p40"/>
          <p:cNvPicPr preferRelativeResize="0"/>
          <p:nvPr/>
        </p:nvPicPr>
        <p:blipFill>
          <a:blip r:embed="rId3">
            <a:alphaModFix/>
          </a:blip>
          <a:stretch>
            <a:fillRect/>
          </a:stretch>
        </p:blipFill>
        <p:spPr>
          <a:xfrm>
            <a:off x="571774" y="1299306"/>
            <a:ext cx="2743200" cy="1657350"/>
          </a:xfrm>
          <a:prstGeom prst="rect">
            <a:avLst/>
          </a:prstGeom>
          <a:noFill/>
          <a:ln>
            <a:noFill/>
          </a:ln>
        </p:spPr>
      </p:pic>
      <p:sp>
        <p:nvSpPr>
          <p:cNvPr id="256" name="Google Shape;256;p40"/>
          <p:cNvSpPr txBox="1"/>
          <p:nvPr/>
        </p:nvSpPr>
        <p:spPr>
          <a:xfrm>
            <a:off x="3906474" y="1270250"/>
            <a:ext cx="4881000" cy="11547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100">
                <a:solidFill>
                  <a:schemeClr val="dk1"/>
                </a:solidFill>
                <a:latin typeface="Courier New"/>
                <a:ea typeface="Courier New"/>
                <a:cs typeface="Courier New"/>
                <a:sym typeface="Courier New"/>
              </a:rPr>
              <a:t>from utils.utility_functions import multiply_by_two</a:t>
            </a:r>
            <a:endParaRPr i="1"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i="1"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i="1" lang="en" sz="1100">
                <a:solidFill>
                  <a:schemeClr val="dk1"/>
                </a:solidFill>
                <a:latin typeface="Courier New"/>
                <a:ea typeface="Courier New"/>
                <a:cs typeface="Courier New"/>
                <a:sym typeface="Courier New"/>
              </a:rPr>
              <a:t>def test_multiply_by_two():</a:t>
            </a:r>
            <a:endParaRPr i="1"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i="1" lang="en" sz="1100">
                <a:solidFill>
                  <a:schemeClr val="dk1"/>
                </a:solidFill>
                <a:latin typeface="Courier New"/>
                <a:ea typeface="Courier New"/>
                <a:cs typeface="Courier New"/>
                <a:sym typeface="Courier New"/>
              </a:rPr>
              <a:t>    actual_output = multiply_by_two(4)</a:t>
            </a:r>
            <a:endParaRPr i="1"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i="1" lang="en" sz="1100">
                <a:solidFill>
                  <a:schemeClr val="dk1"/>
                </a:solidFill>
                <a:latin typeface="Courier New"/>
                <a:ea typeface="Courier New"/>
                <a:cs typeface="Courier New"/>
                <a:sym typeface="Courier New"/>
              </a:rPr>
              <a:t>    expected_output = 8</a:t>
            </a:r>
            <a:endParaRPr i="1"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i="1" lang="en" sz="1100">
                <a:solidFill>
                  <a:schemeClr val="dk1"/>
                </a:solidFill>
                <a:latin typeface="Courier New"/>
                <a:ea typeface="Courier New"/>
                <a:cs typeface="Courier New"/>
                <a:sym typeface="Courier New"/>
              </a:rPr>
              <a:t>    assert actual_output == expected_output</a:t>
            </a:r>
            <a:endParaRPr i="1" sz="11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i="1" sz="1100">
              <a:solidFill>
                <a:srgbClr val="A05000"/>
              </a:solidFill>
              <a:latin typeface="Courier New"/>
              <a:ea typeface="Courier New"/>
              <a:cs typeface="Courier New"/>
              <a:sym typeface="Courier New"/>
            </a:endParaRPr>
          </a:p>
        </p:txBody>
      </p:sp>
      <p:cxnSp>
        <p:nvCxnSpPr>
          <p:cNvPr id="257" name="Google Shape;257;p40"/>
          <p:cNvCxnSpPr>
            <a:endCxn id="254" idx="1"/>
          </p:cNvCxnSpPr>
          <p:nvPr/>
        </p:nvCxnSpPr>
        <p:spPr>
          <a:xfrm>
            <a:off x="2650614" y="2646843"/>
            <a:ext cx="1231200" cy="141000"/>
          </a:xfrm>
          <a:prstGeom prst="straightConnector1">
            <a:avLst/>
          </a:prstGeom>
          <a:noFill/>
          <a:ln cap="flat" cmpd="sng" w="9525">
            <a:solidFill>
              <a:srgbClr val="F00000"/>
            </a:solidFill>
            <a:prstDash val="solid"/>
            <a:round/>
            <a:headEnd len="med" w="med" type="oval"/>
            <a:tailEnd len="med" w="med" type="triangle"/>
          </a:ln>
        </p:spPr>
      </p:cxnSp>
      <p:cxnSp>
        <p:nvCxnSpPr>
          <p:cNvPr id="258" name="Google Shape;258;p40"/>
          <p:cNvCxnSpPr>
            <a:endCxn id="256" idx="1"/>
          </p:cNvCxnSpPr>
          <p:nvPr/>
        </p:nvCxnSpPr>
        <p:spPr>
          <a:xfrm flipH="1" rot="10800000">
            <a:off x="2724474" y="1847600"/>
            <a:ext cx="1182000" cy="256800"/>
          </a:xfrm>
          <a:prstGeom prst="straightConnector1">
            <a:avLst/>
          </a:prstGeom>
          <a:noFill/>
          <a:ln cap="flat" cmpd="sng" w="9525">
            <a:solidFill>
              <a:srgbClr val="F00000"/>
            </a:solidFill>
            <a:prstDash val="solid"/>
            <a:round/>
            <a:headEnd len="med" w="med" type="oval"/>
            <a:tailEnd len="med" w="med" type="triangle"/>
          </a:ln>
        </p:spPr>
      </p:cxnSp>
      <p:pic>
        <p:nvPicPr>
          <p:cNvPr id="259" name="Google Shape;259;p40"/>
          <p:cNvPicPr preferRelativeResize="0"/>
          <p:nvPr/>
        </p:nvPicPr>
        <p:blipFill>
          <a:blip r:embed="rId4">
            <a:alphaModFix/>
          </a:blip>
          <a:stretch>
            <a:fillRect/>
          </a:stretch>
        </p:blipFill>
        <p:spPr>
          <a:xfrm>
            <a:off x="571775" y="3175425"/>
            <a:ext cx="8215701" cy="97166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nvSpPr>
        <p:spPr>
          <a:xfrm>
            <a:off x="507750" y="334320"/>
            <a:ext cx="8128500" cy="7326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a:t>
            </a:r>
            <a:r>
              <a:rPr i="0" lang="en" sz="2400" u="none" cap="none" strike="noStrike">
                <a:solidFill>
                  <a:srgbClr val="000000"/>
                </a:solidFill>
                <a:latin typeface="Lora"/>
                <a:ea typeface="Lora"/>
                <a:cs typeface="Lora"/>
                <a:sym typeface="Lora"/>
              </a:rPr>
              <a:t>Effective Testing Strategies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a:solidFill>
                  <a:schemeClr val="dk1"/>
                </a:solidFill>
                <a:latin typeface="Lora"/>
                <a:ea typeface="Lora"/>
                <a:cs typeface="Lora"/>
                <a:sym typeface="Lora"/>
              </a:rPr>
              <a:t>Why Testing Matters</a:t>
            </a:r>
            <a:endParaRPr sz="2500">
              <a:latin typeface="Lora"/>
              <a:ea typeface="Lora"/>
              <a:cs typeface="Lora"/>
              <a:sym typeface="Lora"/>
            </a:endParaRPr>
          </a:p>
        </p:txBody>
      </p:sp>
      <p:sp>
        <p:nvSpPr>
          <p:cNvPr id="265" name="Google Shape;265;p41"/>
          <p:cNvSpPr txBox="1"/>
          <p:nvPr/>
        </p:nvSpPr>
        <p:spPr>
          <a:xfrm>
            <a:off x="507750" y="1293075"/>
            <a:ext cx="3930300" cy="1477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Helps catch bugs earl</a:t>
            </a:r>
            <a:r>
              <a:rPr lang="en" sz="1200">
                <a:solidFill>
                  <a:schemeClr val="dk1"/>
                </a:solidFill>
                <a:latin typeface="Lora"/>
                <a:ea typeface="Lora"/>
                <a:cs typeface="Lora"/>
                <a:sym typeface="Lora"/>
              </a:rPr>
              <a:t>y</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Saves time fixing things later</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Gives you confidence to change your code without breaking anything</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Makes teamwork smoother</a:t>
            </a:r>
            <a:endParaRPr sz="1200">
              <a:solidFill>
                <a:schemeClr val="dk1"/>
              </a:solidFill>
              <a:latin typeface="Lora"/>
              <a:ea typeface="Lora"/>
              <a:cs typeface="Lora"/>
              <a:sym typeface="Lora"/>
            </a:endParaRPr>
          </a:p>
        </p:txBody>
      </p:sp>
      <p:pic>
        <p:nvPicPr>
          <p:cNvPr id="266" name="Google Shape;266;p41"/>
          <p:cNvPicPr preferRelativeResize="0"/>
          <p:nvPr/>
        </p:nvPicPr>
        <p:blipFill>
          <a:blip r:embed="rId3">
            <a:alphaModFix/>
          </a:blip>
          <a:stretch>
            <a:fillRect/>
          </a:stretch>
        </p:blipFill>
        <p:spPr>
          <a:xfrm>
            <a:off x="4572000" y="1016250"/>
            <a:ext cx="3456401" cy="34564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2"/>
          <p:cNvSpPr txBox="1"/>
          <p:nvPr/>
        </p:nvSpPr>
        <p:spPr>
          <a:xfrm>
            <a:off x="612900" y="243595"/>
            <a:ext cx="8128500" cy="12312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a:t>
            </a:r>
            <a:r>
              <a:rPr i="0" lang="en" sz="2400" u="none" cap="none" strike="noStrike">
                <a:solidFill>
                  <a:srgbClr val="000000"/>
                </a:solidFill>
                <a:latin typeface="Lora"/>
                <a:ea typeface="Lora"/>
                <a:cs typeface="Lora"/>
                <a:sym typeface="Lora"/>
              </a:rPr>
              <a:t>Effective Testing Strategies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Testing Best Practices</a:t>
            </a:r>
            <a:endParaRPr sz="16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272" name="Google Shape;272;p42"/>
          <p:cNvSpPr txBox="1"/>
          <p:nvPr/>
        </p:nvSpPr>
        <p:spPr>
          <a:xfrm>
            <a:off x="748575" y="1252775"/>
            <a:ext cx="3505500" cy="1108200"/>
          </a:xfrm>
          <a:prstGeom prst="rect">
            <a:avLst/>
          </a:prstGeom>
          <a:noFill/>
          <a:ln>
            <a:noFill/>
          </a:ln>
        </p:spPr>
        <p:txBody>
          <a:bodyPr anchorCtr="0" anchor="t" bIns="91425" lIns="91425" spcFirstLastPara="1" rIns="91425" wrap="square" tIns="91425">
            <a:spAutoFit/>
          </a:bodyPr>
          <a:lstStyle/>
          <a:p>
            <a:pPr indent="-304800" lvl="0" marL="457200" rtl="0" algn="l">
              <a:lnSpc>
                <a:spcPct val="200000"/>
              </a:lnSpc>
              <a:spcBef>
                <a:spcPts val="1200"/>
              </a:spcBef>
              <a:spcAft>
                <a:spcPts val="0"/>
              </a:spcAft>
              <a:buSzPts val="1200"/>
              <a:buFont typeface="Lora"/>
              <a:buChar char="●"/>
            </a:pPr>
            <a:r>
              <a:rPr lang="en" sz="1200">
                <a:latin typeface="Lora"/>
                <a:ea typeface="Lora"/>
                <a:cs typeface="Lora"/>
                <a:sym typeface="Lora"/>
              </a:rPr>
              <a:t>Write Testable Code </a:t>
            </a:r>
            <a:endParaRPr sz="1200">
              <a:latin typeface="Lora"/>
              <a:ea typeface="Lora"/>
              <a:cs typeface="Lora"/>
              <a:sym typeface="Lora"/>
            </a:endParaRPr>
          </a:p>
          <a:p>
            <a:pPr indent="-304800" lvl="0" marL="457200" rtl="0" algn="l">
              <a:lnSpc>
                <a:spcPct val="200000"/>
              </a:lnSpc>
              <a:spcBef>
                <a:spcPts val="0"/>
              </a:spcBef>
              <a:spcAft>
                <a:spcPts val="0"/>
              </a:spcAft>
              <a:buSzPts val="1200"/>
              <a:buFont typeface="Lora"/>
              <a:buChar char="●"/>
            </a:pPr>
            <a:r>
              <a:rPr lang="en" sz="1200">
                <a:latin typeface="Lora"/>
                <a:ea typeface="Lora"/>
                <a:cs typeface="Lora"/>
                <a:sym typeface="Lora"/>
              </a:rPr>
              <a:t>Test Early and Often </a:t>
            </a:r>
            <a:endParaRPr sz="1200">
              <a:latin typeface="Lora"/>
              <a:ea typeface="Lora"/>
              <a:cs typeface="Lora"/>
              <a:sym typeface="Lora"/>
            </a:endParaRPr>
          </a:p>
          <a:p>
            <a:pPr indent="-304800" lvl="0" marL="457200" rtl="0" algn="l">
              <a:lnSpc>
                <a:spcPct val="200000"/>
              </a:lnSpc>
              <a:spcBef>
                <a:spcPts val="0"/>
              </a:spcBef>
              <a:spcAft>
                <a:spcPts val="0"/>
              </a:spcAft>
              <a:buSzPts val="1200"/>
              <a:buFont typeface="Lora"/>
              <a:buChar char="●"/>
            </a:pPr>
            <a:r>
              <a:rPr lang="en" sz="1200">
                <a:latin typeface="Lora"/>
                <a:ea typeface="Lora"/>
                <a:cs typeface="Lora"/>
                <a:sym typeface="Lora"/>
              </a:rPr>
              <a:t>Use Clear Assertions </a:t>
            </a:r>
            <a:endParaRPr sz="1200">
              <a:latin typeface="Lora"/>
              <a:ea typeface="Lora"/>
              <a:cs typeface="Lora"/>
              <a:sym typeface="Lora"/>
            </a:endParaRPr>
          </a:p>
        </p:txBody>
      </p:sp>
      <p:pic>
        <p:nvPicPr>
          <p:cNvPr id="273" name="Google Shape;273;p42"/>
          <p:cNvPicPr preferRelativeResize="0"/>
          <p:nvPr/>
        </p:nvPicPr>
        <p:blipFill rotWithShape="1">
          <a:blip r:embed="rId3">
            <a:alphaModFix/>
          </a:blip>
          <a:srcRect b="0" l="0" r="0" t="15340"/>
          <a:stretch/>
        </p:blipFill>
        <p:spPr>
          <a:xfrm>
            <a:off x="4497700" y="743100"/>
            <a:ext cx="4502125" cy="38113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3"/>
          <p:cNvSpPr txBox="1"/>
          <p:nvPr/>
        </p:nvSpPr>
        <p:spPr>
          <a:xfrm>
            <a:off x="612900" y="243595"/>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 </a:t>
            </a:r>
            <a:r>
              <a:rPr i="0" lang="en" sz="2400" u="none" cap="none" strike="noStrike">
                <a:solidFill>
                  <a:srgbClr val="000000"/>
                </a:solidFill>
                <a:latin typeface="Lora"/>
                <a:ea typeface="Lora"/>
                <a:cs typeface="Lora"/>
                <a:sym typeface="Lora"/>
              </a:rPr>
              <a:t>Version Control &amp; Collaboration</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What is Version Control?</a:t>
            </a:r>
            <a:endParaRPr sz="2400">
              <a:latin typeface="Lora"/>
              <a:ea typeface="Lora"/>
              <a:cs typeface="Lora"/>
              <a:sym typeface="Lora"/>
            </a:endParaRPr>
          </a:p>
        </p:txBody>
      </p:sp>
      <p:sp>
        <p:nvSpPr>
          <p:cNvPr id="279" name="Google Shape;279;p43"/>
          <p:cNvSpPr txBox="1"/>
          <p:nvPr/>
        </p:nvSpPr>
        <p:spPr>
          <a:xfrm>
            <a:off x="612900" y="1270450"/>
            <a:ext cx="4874700" cy="1477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Version Control</a:t>
            </a:r>
            <a:r>
              <a:rPr lang="en" sz="1200">
                <a:solidFill>
                  <a:schemeClr val="dk1"/>
                </a:solidFill>
                <a:latin typeface="Lora"/>
                <a:ea typeface="Lora"/>
                <a:cs typeface="Lora"/>
                <a:sym typeface="Lora"/>
              </a:rPr>
              <a:t> is a system that tracks changes to files over time.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It allows multiple people to work on the same codebase without overwriting each other's work.</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Most common system: </a:t>
            </a:r>
            <a:r>
              <a:rPr b="1" lang="en" sz="1200">
                <a:solidFill>
                  <a:schemeClr val="dk1"/>
                </a:solidFill>
                <a:latin typeface="Lora"/>
                <a:ea typeface="Lora"/>
                <a:cs typeface="Lora"/>
                <a:sym typeface="Lora"/>
              </a:rPr>
              <a:t>Git</a:t>
            </a:r>
            <a:endParaRPr b="1" sz="1200">
              <a:solidFill>
                <a:schemeClr val="dk1"/>
              </a:solidFill>
              <a:latin typeface="Lora"/>
              <a:ea typeface="Lora"/>
              <a:cs typeface="Lora"/>
              <a:sym typeface="Lora"/>
            </a:endParaRPr>
          </a:p>
        </p:txBody>
      </p:sp>
      <p:pic>
        <p:nvPicPr>
          <p:cNvPr id="280" name="Google Shape;280;p43"/>
          <p:cNvPicPr preferRelativeResize="0"/>
          <p:nvPr/>
        </p:nvPicPr>
        <p:blipFill>
          <a:blip r:embed="rId3">
            <a:alphaModFix/>
          </a:blip>
          <a:stretch>
            <a:fillRect/>
          </a:stretch>
        </p:blipFill>
        <p:spPr>
          <a:xfrm>
            <a:off x="5335200" y="930895"/>
            <a:ext cx="3351601" cy="33516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44"/>
          <p:cNvSpPr txBox="1"/>
          <p:nvPr/>
        </p:nvSpPr>
        <p:spPr>
          <a:xfrm>
            <a:off x="612900" y="243595"/>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 </a:t>
            </a:r>
            <a:r>
              <a:rPr i="0" lang="en" sz="2400" u="none" cap="none" strike="noStrike">
                <a:solidFill>
                  <a:srgbClr val="000000"/>
                </a:solidFill>
                <a:latin typeface="Lora"/>
                <a:ea typeface="Lora"/>
                <a:cs typeface="Lora"/>
                <a:sym typeface="Lora"/>
              </a:rPr>
              <a:t>Version Control &amp; Collaboration</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Why Use Version Control?</a:t>
            </a:r>
            <a:endParaRPr sz="2400">
              <a:latin typeface="Lora"/>
              <a:ea typeface="Lora"/>
              <a:cs typeface="Lora"/>
              <a:sym typeface="Lora"/>
            </a:endParaRPr>
          </a:p>
        </p:txBody>
      </p:sp>
      <p:sp>
        <p:nvSpPr>
          <p:cNvPr id="286" name="Google Shape;286;p44"/>
          <p:cNvSpPr txBox="1"/>
          <p:nvPr/>
        </p:nvSpPr>
        <p:spPr>
          <a:xfrm>
            <a:off x="327000" y="1517125"/>
            <a:ext cx="4874700" cy="1285200"/>
          </a:xfrm>
          <a:prstGeom prst="rect">
            <a:avLst/>
          </a:prstGeom>
          <a:noFill/>
          <a:ln>
            <a:noFill/>
          </a:ln>
        </p:spPr>
        <p:txBody>
          <a:bodyPr anchorCtr="0" anchor="t" bIns="91425" lIns="91425" spcFirstLastPara="1" rIns="91425" wrap="square" tIns="91425">
            <a:spAutoFit/>
          </a:bodyPr>
          <a:lstStyle/>
          <a:p>
            <a:pPr indent="-311150" lvl="0" marL="457200" rtl="0" algn="l">
              <a:lnSpc>
                <a:spcPct val="150000"/>
              </a:lnSpc>
              <a:spcBef>
                <a:spcPts val="0"/>
              </a:spcBef>
              <a:spcAft>
                <a:spcPts val="0"/>
              </a:spcAft>
              <a:buClr>
                <a:schemeClr val="dk1"/>
              </a:buClr>
              <a:buSzPts val="1300"/>
              <a:buFont typeface="Lora"/>
              <a:buChar char="●"/>
            </a:pPr>
            <a:r>
              <a:rPr b="1" lang="en" sz="1200">
                <a:solidFill>
                  <a:schemeClr val="dk1"/>
                </a:solidFill>
                <a:latin typeface="Lora"/>
                <a:ea typeface="Lora"/>
                <a:cs typeface="Lora"/>
                <a:sym typeface="Lora"/>
              </a:rPr>
              <a:t>Track changes</a:t>
            </a:r>
            <a:r>
              <a:rPr lang="en" sz="1200">
                <a:solidFill>
                  <a:schemeClr val="dk1"/>
                </a:solidFill>
                <a:latin typeface="Lora"/>
                <a:ea typeface="Lora"/>
                <a:cs typeface="Lora"/>
                <a:sym typeface="Lora"/>
              </a:rPr>
              <a:t> to see who made what change and why.</a:t>
            </a:r>
            <a:endParaRPr sz="1200">
              <a:solidFill>
                <a:schemeClr val="dk1"/>
              </a:solidFill>
              <a:latin typeface="Lora"/>
              <a:ea typeface="Lora"/>
              <a:cs typeface="Lora"/>
              <a:sym typeface="Lora"/>
            </a:endParaRPr>
          </a:p>
          <a:p>
            <a:pPr indent="-311150" lvl="0" marL="457200" rtl="0" algn="l">
              <a:lnSpc>
                <a:spcPct val="150000"/>
              </a:lnSpc>
              <a:spcBef>
                <a:spcPts val="0"/>
              </a:spcBef>
              <a:spcAft>
                <a:spcPts val="0"/>
              </a:spcAft>
              <a:buClr>
                <a:schemeClr val="dk1"/>
              </a:buClr>
              <a:buSzPts val="1300"/>
              <a:buFont typeface="Lora"/>
              <a:buChar char="●"/>
            </a:pPr>
            <a:r>
              <a:rPr b="1" lang="en" sz="1200">
                <a:solidFill>
                  <a:schemeClr val="dk1"/>
                </a:solidFill>
                <a:latin typeface="Lora"/>
                <a:ea typeface="Lora"/>
                <a:cs typeface="Lora"/>
                <a:sym typeface="Lora"/>
              </a:rPr>
              <a:t>Easily revert</a:t>
            </a:r>
            <a:r>
              <a:rPr lang="en" sz="1200">
                <a:solidFill>
                  <a:schemeClr val="dk1"/>
                </a:solidFill>
                <a:latin typeface="Lora"/>
                <a:ea typeface="Lora"/>
                <a:cs typeface="Lora"/>
                <a:sym typeface="Lora"/>
              </a:rPr>
              <a:t> back to previous versions if something breaks.</a:t>
            </a:r>
            <a:endParaRPr sz="1200">
              <a:solidFill>
                <a:schemeClr val="dk1"/>
              </a:solidFill>
              <a:latin typeface="Lora"/>
              <a:ea typeface="Lora"/>
              <a:cs typeface="Lora"/>
              <a:sym typeface="Lora"/>
            </a:endParaRPr>
          </a:p>
          <a:p>
            <a:pPr indent="-311150" lvl="0" marL="457200" rtl="0" algn="l">
              <a:lnSpc>
                <a:spcPct val="150000"/>
              </a:lnSpc>
              <a:spcBef>
                <a:spcPts val="0"/>
              </a:spcBef>
              <a:spcAft>
                <a:spcPts val="0"/>
              </a:spcAft>
              <a:buClr>
                <a:schemeClr val="dk1"/>
              </a:buClr>
              <a:buSzPts val="1300"/>
              <a:buFont typeface="Lora"/>
              <a:buChar char="●"/>
            </a:pPr>
            <a:r>
              <a:rPr b="1" lang="en" sz="1200">
                <a:solidFill>
                  <a:schemeClr val="dk1"/>
                </a:solidFill>
                <a:latin typeface="Lora"/>
                <a:ea typeface="Lora"/>
                <a:cs typeface="Lora"/>
                <a:sym typeface="Lora"/>
              </a:rPr>
              <a:t>Collaborate</a:t>
            </a:r>
            <a:r>
              <a:rPr lang="en" sz="1200">
                <a:solidFill>
                  <a:schemeClr val="dk1"/>
                </a:solidFill>
                <a:latin typeface="Lora"/>
                <a:ea typeface="Lora"/>
                <a:cs typeface="Lora"/>
                <a:sym typeface="Lora"/>
              </a:rPr>
              <a:t> with team members without conflicts.</a:t>
            </a:r>
            <a:endParaRPr sz="1200">
              <a:solidFill>
                <a:schemeClr val="dk1"/>
              </a:solidFill>
              <a:latin typeface="Lora"/>
              <a:ea typeface="Lora"/>
              <a:cs typeface="Lora"/>
              <a:sym typeface="Lora"/>
            </a:endParaRPr>
          </a:p>
          <a:p>
            <a:pPr indent="-311150" lvl="0" marL="457200" rtl="0" algn="l">
              <a:lnSpc>
                <a:spcPct val="150000"/>
              </a:lnSpc>
              <a:spcBef>
                <a:spcPts val="0"/>
              </a:spcBef>
              <a:spcAft>
                <a:spcPts val="0"/>
              </a:spcAft>
              <a:buClr>
                <a:schemeClr val="dk1"/>
              </a:buClr>
              <a:buSzPts val="1300"/>
              <a:buFont typeface="Lora"/>
              <a:buChar char="●"/>
            </a:pPr>
            <a:r>
              <a:rPr b="1" lang="en" sz="1200">
                <a:solidFill>
                  <a:schemeClr val="dk1"/>
                </a:solidFill>
                <a:latin typeface="Lora"/>
                <a:ea typeface="Lora"/>
                <a:cs typeface="Lora"/>
                <a:sym typeface="Lora"/>
              </a:rPr>
              <a:t>Backup</a:t>
            </a:r>
            <a:r>
              <a:rPr lang="en" sz="1200">
                <a:solidFill>
                  <a:schemeClr val="dk1"/>
                </a:solidFill>
                <a:latin typeface="Lora"/>
                <a:ea typeface="Lora"/>
                <a:cs typeface="Lora"/>
                <a:sym typeface="Lora"/>
              </a:rPr>
              <a:t> your work safely in the cloud</a:t>
            </a:r>
            <a:endParaRPr b="1" sz="1300">
              <a:solidFill>
                <a:schemeClr val="dk1"/>
              </a:solidFill>
              <a:latin typeface="Lora"/>
              <a:ea typeface="Lora"/>
              <a:cs typeface="Lora"/>
              <a:sym typeface="Lora"/>
            </a:endParaRPr>
          </a:p>
        </p:txBody>
      </p:sp>
      <p:grpSp>
        <p:nvGrpSpPr>
          <p:cNvPr id="287" name="Google Shape;287;p44"/>
          <p:cNvGrpSpPr/>
          <p:nvPr/>
        </p:nvGrpSpPr>
        <p:grpSpPr>
          <a:xfrm>
            <a:off x="5115114" y="673473"/>
            <a:ext cx="3912161" cy="3897716"/>
            <a:chOff x="5411400" y="759300"/>
            <a:chExt cx="3523200" cy="3523200"/>
          </a:xfrm>
        </p:grpSpPr>
        <p:pic>
          <p:nvPicPr>
            <p:cNvPr id="288" name="Google Shape;288;p44"/>
            <p:cNvPicPr preferRelativeResize="0"/>
            <p:nvPr/>
          </p:nvPicPr>
          <p:blipFill>
            <a:blip r:embed="rId3">
              <a:alphaModFix/>
            </a:blip>
            <a:stretch>
              <a:fillRect/>
            </a:stretch>
          </p:blipFill>
          <p:spPr>
            <a:xfrm>
              <a:off x="5411400" y="759300"/>
              <a:ext cx="3523200" cy="3523200"/>
            </a:xfrm>
            <a:prstGeom prst="rect">
              <a:avLst/>
            </a:prstGeom>
            <a:noFill/>
            <a:ln>
              <a:noFill/>
            </a:ln>
          </p:spPr>
        </p:pic>
        <p:sp>
          <p:nvSpPr>
            <p:cNvPr id="289" name="Google Shape;289;p44"/>
            <p:cNvSpPr/>
            <p:nvPr/>
          </p:nvSpPr>
          <p:spPr>
            <a:xfrm>
              <a:off x="6476100" y="927475"/>
              <a:ext cx="1393800" cy="18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45"/>
          <p:cNvSpPr txBox="1"/>
          <p:nvPr/>
        </p:nvSpPr>
        <p:spPr>
          <a:xfrm>
            <a:off x="612900" y="243595"/>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 </a:t>
            </a:r>
            <a:r>
              <a:rPr i="0" lang="en" sz="2400" u="none" cap="none" strike="noStrike">
                <a:solidFill>
                  <a:srgbClr val="000000"/>
                </a:solidFill>
                <a:latin typeface="Lora"/>
                <a:ea typeface="Lora"/>
                <a:cs typeface="Lora"/>
                <a:sym typeface="Lora"/>
              </a:rPr>
              <a:t>Version Control &amp; Collaboration</a:t>
            </a:r>
            <a:endParaRPr sz="2400">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lang="en" sz="1600">
                <a:solidFill>
                  <a:schemeClr val="dk1"/>
                </a:solidFill>
                <a:highlight>
                  <a:schemeClr val="lt1"/>
                </a:highlight>
                <a:latin typeface="Lora"/>
                <a:ea typeface="Lora"/>
                <a:cs typeface="Lora"/>
                <a:sym typeface="Lora"/>
              </a:rPr>
              <a:t>GitHub flow</a:t>
            </a:r>
            <a:endParaRPr sz="2800">
              <a:latin typeface="Lora"/>
              <a:ea typeface="Lora"/>
              <a:cs typeface="Lora"/>
              <a:sym typeface="Lora"/>
            </a:endParaRPr>
          </a:p>
        </p:txBody>
      </p:sp>
      <p:sp>
        <p:nvSpPr>
          <p:cNvPr id="295" name="Google Shape;295;p45"/>
          <p:cNvSpPr txBox="1"/>
          <p:nvPr/>
        </p:nvSpPr>
        <p:spPr>
          <a:xfrm>
            <a:off x="612900" y="1134750"/>
            <a:ext cx="7896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highlight>
                  <a:schemeClr val="lt1"/>
                </a:highlight>
                <a:latin typeface="Lora"/>
                <a:ea typeface="Lora"/>
                <a:cs typeface="Lora"/>
                <a:sym typeface="Lora"/>
              </a:rPr>
              <a:t>It is </a:t>
            </a:r>
            <a:r>
              <a:rPr lang="en" sz="1200">
                <a:solidFill>
                  <a:schemeClr val="dk1"/>
                </a:solidFill>
                <a:highlight>
                  <a:schemeClr val="lt1"/>
                </a:highlight>
                <a:latin typeface="Lora"/>
                <a:ea typeface="Lora"/>
                <a:cs typeface="Lora"/>
                <a:sym typeface="Lora"/>
              </a:rPr>
              <a:t>recommended</a:t>
            </a:r>
            <a:r>
              <a:rPr lang="en" sz="1200">
                <a:solidFill>
                  <a:schemeClr val="dk1"/>
                </a:solidFill>
                <a:highlight>
                  <a:schemeClr val="lt1"/>
                </a:highlight>
                <a:latin typeface="Lora"/>
                <a:ea typeface="Lora"/>
                <a:cs typeface="Lora"/>
                <a:sym typeface="Lora"/>
              </a:rPr>
              <a:t> to f</a:t>
            </a:r>
            <a:r>
              <a:rPr lang="en" sz="1200">
                <a:solidFill>
                  <a:schemeClr val="dk1"/>
                </a:solidFill>
                <a:highlight>
                  <a:schemeClr val="lt1"/>
                </a:highlight>
                <a:latin typeface="Lora"/>
                <a:ea typeface="Lora"/>
                <a:cs typeface="Lora"/>
                <a:sym typeface="Lora"/>
              </a:rPr>
              <a:t>ollow the </a:t>
            </a:r>
            <a:r>
              <a:rPr lang="en" sz="1200" u="sng">
                <a:solidFill>
                  <a:schemeClr val="hlink"/>
                </a:solidFill>
                <a:highlight>
                  <a:schemeClr val="lt1"/>
                </a:highlight>
                <a:latin typeface="Lora"/>
                <a:ea typeface="Lora"/>
                <a:cs typeface="Lora"/>
                <a:sym typeface="Lora"/>
                <a:hlinkClick r:id="rId3"/>
              </a:rPr>
              <a:t>GitHub flow</a:t>
            </a:r>
            <a:r>
              <a:rPr lang="en" sz="1200">
                <a:solidFill>
                  <a:schemeClr val="dk1"/>
                </a:solidFill>
                <a:highlight>
                  <a:schemeClr val="lt1"/>
                </a:highlight>
                <a:latin typeface="Lora"/>
                <a:ea typeface="Lora"/>
                <a:cs typeface="Lora"/>
                <a:sym typeface="Lora"/>
              </a:rPr>
              <a:t> convention to collaborate on projects</a:t>
            </a:r>
            <a:endParaRPr sz="1200">
              <a:solidFill>
                <a:schemeClr val="dk1"/>
              </a:solidFill>
              <a:highlight>
                <a:schemeClr val="lt1"/>
              </a:highlight>
              <a:latin typeface="Lora"/>
              <a:ea typeface="Lora"/>
              <a:cs typeface="Lora"/>
              <a:sym typeface="Lora"/>
            </a:endParaRPr>
          </a:p>
        </p:txBody>
      </p:sp>
      <p:sp>
        <p:nvSpPr>
          <p:cNvPr id="296" name="Google Shape;296;p45"/>
          <p:cNvSpPr txBox="1"/>
          <p:nvPr/>
        </p:nvSpPr>
        <p:spPr>
          <a:xfrm>
            <a:off x="612900" y="1578825"/>
            <a:ext cx="7896600" cy="2586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dk1"/>
                </a:solidFill>
                <a:highlight>
                  <a:schemeClr val="lt1"/>
                </a:highlight>
                <a:latin typeface="Lora"/>
                <a:ea typeface="Lora"/>
                <a:cs typeface="Lora"/>
                <a:sym typeface="Lora"/>
              </a:rPr>
              <a:t>GitHub flow is a lightweight, branch-based workflow. The GitHub flow is useful for everyone, not just developers. </a:t>
            </a:r>
            <a:r>
              <a:rPr lang="en" sz="1200">
                <a:solidFill>
                  <a:schemeClr val="dk1"/>
                </a:solidFill>
                <a:highlight>
                  <a:schemeClr val="lt1"/>
                </a:highlight>
                <a:latin typeface="Lora"/>
                <a:ea typeface="Lora"/>
                <a:cs typeface="Lora"/>
                <a:sym typeface="Lora"/>
              </a:rPr>
              <a:t>To follow GitHub flow, you will need a GitHub account and a repository. </a:t>
            </a:r>
            <a:endParaRPr sz="1200">
              <a:solidFill>
                <a:schemeClr val="dk1"/>
              </a:solidFill>
              <a:highlight>
                <a:schemeClr val="lt1"/>
              </a:highlight>
              <a:latin typeface="Lora"/>
              <a:ea typeface="Lora"/>
              <a:cs typeface="Lora"/>
              <a:sym typeface="Lora"/>
            </a:endParaRPr>
          </a:p>
          <a:p>
            <a:pPr indent="0" lvl="0" marL="0" rtl="0" algn="l">
              <a:lnSpc>
                <a:spcPct val="150000"/>
              </a:lnSpc>
              <a:spcBef>
                <a:spcPts val="0"/>
              </a:spcBef>
              <a:spcAft>
                <a:spcPts val="0"/>
              </a:spcAft>
              <a:buNone/>
            </a:pPr>
            <a:r>
              <a:rPr lang="en" sz="1200">
                <a:solidFill>
                  <a:schemeClr val="dk1"/>
                </a:solidFill>
                <a:highlight>
                  <a:schemeClr val="lt1"/>
                </a:highlight>
                <a:latin typeface="Lora"/>
                <a:ea typeface="Lora"/>
                <a:cs typeface="Lora"/>
                <a:sym typeface="Lora"/>
              </a:rPr>
              <a:t>Here are the steps to follow:</a:t>
            </a:r>
            <a:endParaRPr sz="1200">
              <a:solidFill>
                <a:schemeClr val="dk1"/>
              </a:solidFill>
              <a:highlight>
                <a:schemeClr val="lt1"/>
              </a:highlight>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highlight>
                  <a:schemeClr val="lt1"/>
                </a:highlight>
                <a:latin typeface="Lora"/>
                <a:ea typeface="Lora"/>
                <a:cs typeface="Lora"/>
                <a:sym typeface="Lora"/>
              </a:rPr>
              <a:t>Create a feature branch (e.g. feature-branch-cyrille)</a:t>
            </a:r>
            <a:endParaRPr sz="1200">
              <a:solidFill>
                <a:schemeClr val="dk1"/>
              </a:solidFill>
              <a:highlight>
                <a:schemeClr val="lt1"/>
              </a:highlight>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highlight>
                  <a:schemeClr val="lt1"/>
                </a:highlight>
                <a:latin typeface="Lora"/>
                <a:ea typeface="Lora"/>
                <a:cs typeface="Lora"/>
                <a:sym typeface="Lora"/>
              </a:rPr>
              <a:t>Make changes in your branch</a:t>
            </a:r>
            <a:endParaRPr sz="1200">
              <a:solidFill>
                <a:schemeClr val="dk1"/>
              </a:solidFill>
              <a:highlight>
                <a:schemeClr val="lt1"/>
              </a:highlight>
              <a:latin typeface="Lora"/>
              <a:ea typeface="Lora"/>
              <a:cs typeface="Lora"/>
              <a:sym typeface="Lora"/>
            </a:endParaRPr>
          </a:p>
          <a:p>
            <a:pPr indent="-304800" lvl="0" marL="457200" rtl="0" algn="l">
              <a:lnSpc>
                <a:spcPct val="150000"/>
              </a:lnSpc>
              <a:spcBef>
                <a:spcPts val="0"/>
              </a:spcBef>
              <a:spcAft>
                <a:spcPts val="0"/>
              </a:spcAft>
              <a:buSzPts val="1200"/>
              <a:buFont typeface="Lora"/>
              <a:buChar char="●"/>
            </a:pPr>
            <a:r>
              <a:rPr lang="en" sz="1200">
                <a:solidFill>
                  <a:schemeClr val="dk1"/>
                </a:solidFill>
                <a:highlight>
                  <a:schemeClr val="lt1"/>
                </a:highlight>
                <a:uFill>
                  <a:noFill/>
                </a:uFill>
                <a:latin typeface="Lora"/>
                <a:ea typeface="Lora"/>
                <a:cs typeface="Lora"/>
                <a:sym typeface="Lora"/>
                <a:hlinkClick r:id="rId4">
                  <a:extLst>
                    <a:ext uri="{A12FA001-AC4F-418D-AE19-62706E023703}">
                      <ahyp:hlinkClr val="tx"/>
                    </a:ext>
                  </a:extLst>
                </a:hlinkClick>
              </a:rPr>
              <a:t>Create a pull request</a:t>
            </a:r>
            <a:endParaRPr sz="1200">
              <a:solidFill>
                <a:schemeClr val="dk1"/>
              </a:solidFill>
              <a:highlight>
                <a:schemeClr val="lt1"/>
              </a:highlight>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highlight>
                  <a:schemeClr val="lt1"/>
                </a:highlight>
                <a:latin typeface="Lora"/>
                <a:ea typeface="Lora"/>
                <a:cs typeface="Lora"/>
                <a:sym typeface="Lora"/>
              </a:rPr>
              <a:t>Address review comments</a:t>
            </a:r>
            <a:endParaRPr sz="1200">
              <a:solidFill>
                <a:schemeClr val="dk1"/>
              </a:solidFill>
              <a:highlight>
                <a:schemeClr val="lt1"/>
              </a:highlight>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highlight>
                  <a:schemeClr val="lt1"/>
                </a:highlight>
                <a:latin typeface="Lora"/>
                <a:ea typeface="Lora"/>
                <a:cs typeface="Lora"/>
                <a:sym typeface="Lora"/>
              </a:rPr>
              <a:t>Merge your pull request</a:t>
            </a:r>
            <a:endParaRPr sz="1200">
              <a:solidFill>
                <a:schemeClr val="dk1"/>
              </a:solidFill>
              <a:highlight>
                <a:schemeClr val="lt1"/>
              </a:highlight>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highlight>
                  <a:schemeClr val="lt1"/>
                </a:highlight>
                <a:latin typeface="Lora"/>
                <a:ea typeface="Lora"/>
                <a:cs typeface="Lora"/>
                <a:sym typeface="Lora"/>
              </a:rPr>
              <a:t>Delete your feature branch</a:t>
            </a:r>
            <a:endParaRPr sz="1200">
              <a:solidFill>
                <a:srgbClr val="E6EDF3"/>
              </a:solidFill>
              <a:highlight>
                <a:srgbClr val="0D1117"/>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46"/>
          <p:cNvSpPr txBox="1"/>
          <p:nvPr/>
        </p:nvSpPr>
        <p:spPr>
          <a:xfrm>
            <a:off x="612900" y="243595"/>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 </a:t>
            </a:r>
            <a:r>
              <a:rPr i="0" lang="en" sz="2400" u="none" cap="none" strike="noStrike">
                <a:solidFill>
                  <a:srgbClr val="000000"/>
                </a:solidFill>
                <a:latin typeface="Lora"/>
                <a:ea typeface="Lora"/>
                <a:cs typeface="Lora"/>
                <a:sym typeface="Lora"/>
              </a:rPr>
              <a:t>Version Control &amp; </a:t>
            </a:r>
            <a:r>
              <a:rPr i="0" lang="en" sz="2400" u="none" cap="none" strike="noStrike">
                <a:solidFill>
                  <a:srgbClr val="000000"/>
                </a:solidFill>
                <a:latin typeface="Lora"/>
                <a:ea typeface="Lora"/>
                <a:cs typeface="Lora"/>
                <a:sym typeface="Lora"/>
              </a:rPr>
              <a:t>Collaboration</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Git Workflow Example</a:t>
            </a:r>
            <a:endParaRPr sz="2400">
              <a:latin typeface="Lora"/>
              <a:ea typeface="Lora"/>
              <a:cs typeface="Lora"/>
              <a:sym typeface="Lora"/>
            </a:endParaRPr>
          </a:p>
        </p:txBody>
      </p:sp>
      <p:pic>
        <p:nvPicPr>
          <p:cNvPr id="302" name="Google Shape;302;p46"/>
          <p:cNvPicPr preferRelativeResize="0"/>
          <p:nvPr/>
        </p:nvPicPr>
        <p:blipFill>
          <a:blip r:embed="rId3">
            <a:alphaModFix/>
          </a:blip>
          <a:stretch>
            <a:fillRect/>
          </a:stretch>
        </p:blipFill>
        <p:spPr>
          <a:xfrm>
            <a:off x="685800" y="1007095"/>
            <a:ext cx="7725615" cy="383160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sp>
        <p:nvSpPr>
          <p:cNvPr id="307" name="Google Shape;307;p47"/>
          <p:cNvSpPr txBox="1"/>
          <p:nvPr/>
        </p:nvSpPr>
        <p:spPr>
          <a:xfrm>
            <a:off x="612900" y="243595"/>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 </a:t>
            </a:r>
            <a:r>
              <a:rPr i="0" lang="en" sz="2400" u="none" cap="none" strike="noStrike">
                <a:solidFill>
                  <a:srgbClr val="000000"/>
                </a:solidFill>
                <a:latin typeface="Lora"/>
                <a:ea typeface="Lora"/>
                <a:cs typeface="Lora"/>
                <a:sym typeface="Lora"/>
              </a:rPr>
              <a:t>Version Control &amp; Collaboration</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Common Git Commands</a:t>
            </a:r>
            <a:endParaRPr sz="2400">
              <a:latin typeface="Lora"/>
              <a:ea typeface="Lora"/>
              <a:cs typeface="Lora"/>
              <a:sym typeface="Lora"/>
            </a:endParaRPr>
          </a:p>
        </p:txBody>
      </p:sp>
      <p:sp>
        <p:nvSpPr>
          <p:cNvPr id="308" name="Google Shape;308;p47"/>
          <p:cNvSpPr txBox="1"/>
          <p:nvPr/>
        </p:nvSpPr>
        <p:spPr>
          <a:xfrm>
            <a:off x="612900" y="1184125"/>
            <a:ext cx="6880200" cy="23088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git status </a:t>
            </a:r>
            <a:r>
              <a:rPr lang="en" sz="1200">
                <a:solidFill>
                  <a:schemeClr val="dk1"/>
                </a:solidFill>
                <a:latin typeface="Lora"/>
                <a:ea typeface="Lora"/>
                <a:cs typeface="Lora"/>
                <a:sym typeface="Lora"/>
              </a:rPr>
              <a:t>– Show the working tree status</a:t>
            </a:r>
            <a:endParaRPr b="1"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git clone</a:t>
            </a:r>
            <a:r>
              <a:rPr lang="en" sz="1200">
                <a:solidFill>
                  <a:schemeClr val="dk1"/>
                </a:solidFill>
                <a:latin typeface="Lora"/>
                <a:ea typeface="Lora"/>
                <a:cs typeface="Lora"/>
                <a:sym typeface="Lora"/>
              </a:rPr>
              <a:t> – Copy a remote repository locally</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git checkout -b</a:t>
            </a:r>
            <a:r>
              <a:rPr lang="en" sz="1200">
                <a:solidFill>
                  <a:schemeClr val="dk1"/>
                </a:solidFill>
                <a:latin typeface="Lora"/>
                <a:ea typeface="Lora"/>
                <a:cs typeface="Lora"/>
                <a:sym typeface="Lora"/>
              </a:rPr>
              <a:t> – Create and switch to a new branch</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git add .</a:t>
            </a:r>
            <a:r>
              <a:rPr lang="en" sz="1200">
                <a:solidFill>
                  <a:schemeClr val="dk1"/>
                </a:solidFill>
                <a:latin typeface="Lora"/>
                <a:ea typeface="Lora"/>
                <a:cs typeface="Lora"/>
                <a:sym typeface="Lora"/>
              </a:rPr>
              <a:t> – Add all changes to the staging area</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git commit -m</a:t>
            </a:r>
            <a:r>
              <a:rPr lang="en" sz="1200">
                <a:solidFill>
                  <a:schemeClr val="dk1"/>
                </a:solidFill>
                <a:latin typeface="Lora"/>
                <a:ea typeface="Lora"/>
                <a:cs typeface="Lora"/>
                <a:sym typeface="Lora"/>
              </a:rPr>
              <a:t> </a:t>
            </a:r>
            <a:r>
              <a:rPr b="1" lang="en" sz="1200">
                <a:solidFill>
                  <a:schemeClr val="dk1"/>
                </a:solidFill>
                <a:latin typeface="Lora"/>
                <a:ea typeface="Lora"/>
                <a:cs typeface="Lora"/>
                <a:sym typeface="Lora"/>
              </a:rPr>
              <a:t>"my message"</a:t>
            </a:r>
            <a:r>
              <a:rPr lang="en" sz="1200">
                <a:solidFill>
                  <a:schemeClr val="dk1"/>
                </a:solidFill>
                <a:latin typeface="Lora"/>
                <a:ea typeface="Lora"/>
                <a:cs typeface="Lora"/>
                <a:sym typeface="Lora"/>
              </a:rPr>
              <a:t> – Save your changes with a message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git push</a:t>
            </a:r>
            <a:r>
              <a:rPr lang="en" sz="1200">
                <a:solidFill>
                  <a:schemeClr val="dk1"/>
                </a:solidFill>
                <a:latin typeface="Lora"/>
                <a:ea typeface="Lora"/>
                <a:cs typeface="Lora"/>
                <a:sym typeface="Lora"/>
              </a:rPr>
              <a:t> – Send your changes to the remote repository</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git pull</a:t>
            </a:r>
            <a:r>
              <a:rPr lang="en" sz="1200">
                <a:solidFill>
                  <a:schemeClr val="dk1"/>
                </a:solidFill>
                <a:latin typeface="Lora"/>
                <a:ea typeface="Lora"/>
                <a:cs typeface="Lora"/>
                <a:sym typeface="Lora"/>
              </a:rPr>
              <a:t> – Fetch and merge updates from the remote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git merge</a:t>
            </a:r>
            <a:r>
              <a:rPr lang="en" sz="1200">
                <a:solidFill>
                  <a:schemeClr val="dk1"/>
                </a:solidFill>
                <a:latin typeface="Lora"/>
                <a:ea typeface="Lora"/>
                <a:cs typeface="Lora"/>
                <a:sym typeface="Lora"/>
              </a:rPr>
              <a:t> – Combine branches</a:t>
            </a:r>
            <a:endParaRPr sz="1200">
              <a:solidFill>
                <a:schemeClr val="dk1"/>
              </a:solidFill>
              <a:latin typeface="Lora"/>
              <a:ea typeface="Lora"/>
              <a:cs typeface="Lora"/>
              <a:sym typeface="Lor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 name="Shape 312"/>
        <p:cNvGrpSpPr/>
        <p:nvPr/>
      </p:nvGrpSpPr>
      <p:grpSpPr>
        <a:xfrm>
          <a:off x="0" y="0"/>
          <a:ext cx="0" cy="0"/>
          <a:chOff x="0" y="0"/>
          <a:chExt cx="0" cy="0"/>
        </a:xfrm>
      </p:grpSpPr>
      <p:sp>
        <p:nvSpPr>
          <p:cNvPr id="313" name="Google Shape;313;p48"/>
          <p:cNvSpPr txBox="1"/>
          <p:nvPr/>
        </p:nvSpPr>
        <p:spPr>
          <a:xfrm>
            <a:off x="612900" y="243595"/>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 </a:t>
            </a:r>
            <a:r>
              <a:rPr i="0" lang="en" sz="2400" u="none" cap="none" strike="noStrike">
                <a:solidFill>
                  <a:srgbClr val="000000"/>
                </a:solidFill>
                <a:latin typeface="Lora"/>
                <a:ea typeface="Lora"/>
                <a:cs typeface="Lora"/>
                <a:sym typeface="Lora"/>
              </a:rPr>
              <a:t>Version Control &amp; Collaboration</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Best Practices for Collaboration</a:t>
            </a:r>
            <a:endParaRPr sz="2400">
              <a:latin typeface="Lora"/>
              <a:ea typeface="Lora"/>
              <a:cs typeface="Lora"/>
              <a:sym typeface="Lora"/>
            </a:endParaRPr>
          </a:p>
        </p:txBody>
      </p:sp>
      <p:sp>
        <p:nvSpPr>
          <p:cNvPr id="314" name="Google Shape;314;p48"/>
          <p:cNvSpPr txBox="1"/>
          <p:nvPr/>
        </p:nvSpPr>
        <p:spPr>
          <a:xfrm>
            <a:off x="612900" y="1184125"/>
            <a:ext cx="6613800" cy="20319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Commit often</a:t>
            </a:r>
            <a:r>
              <a:rPr lang="en" sz="1200">
                <a:solidFill>
                  <a:schemeClr val="dk1"/>
                </a:solidFill>
                <a:latin typeface="Lora"/>
                <a:ea typeface="Lora"/>
                <a:cs typeface="Lora"/>
                <a:sym typeface="Lora"/>
              </a:rPr>
              <a:t>: Small, meaningful commits help track progress.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Use meaningful commit messages</a:t>
            </a:r>
            <a:r>
              <a:rPr lang="en" sz="1200">
                <a:solidFill>
                  <a:schemeClr val="dk1"/>
                </a:solidFill>
                <a:latin typeface="Lora"/>
                <a:ea typeface="Lora"/>
                <a:cs typeface="Lora"/>
                <a:sym typeface="Lora"/>
              </a:rPr>
              <a:t>: Explain </a:t>
            </a:r>
            <a:r>
              <a:rPr b="1" lang="en" sz="1200">
                <a:solidFill>
                  <a:schemeClr val="dk1"/>
                </a:solidFill>
                <a:latin typeface="Lora"/>
                <a:ea typeface="Lora"/>
                <a:cs typeface="Lora"/>
                <a:sym typeface="Lora"/>
              </a:rPr>
              <a:t>what</a:t>
            </a:r>
            <a:r>
              <a:rPr lang="en" sz="1200">
                <a:solidFill>
                  <a:schemeClr val="dk1"/>
                </a:solidFill>
                <a:latin typeface="Lora"/>
                <a:ea typeface="Lora"/>
                <a:cs typeface="Lora"/>
                <a:sym typeface="Lora"/>
              </a:rPr>
              <a:t> and </a:t>
            </a:r>
            <a:r>
              <a:rPr b="1" lang="en" sz="1200">
                <a:solidFill>
                  <a:schemeClr val="dk1"/>
                </a:solidFill>
                <a:latin typeface="Lora"/>
                <a:ea typeface="Lora"/>
                <a:cs typeface="Lora"/>
                <a:sym typeface="Lora"/>
              </a:rPr>
              <a:t>why</a:t>
            </a:r>
            <a:r>
              <a:rPr lang="en" sz="1200">
                <a:solidFill>
                  <a:schemeClr val="dk1"/>
                </a:solidFill>
                <a:latin typeface="Lora"/>
                <a:ea typeface="Lora"/>
                <a:cs typeface="Lora"/>
                <a:sym typeface="Lora"/>
              </a:rPr>
              <a:t> you changed.</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Pull regularly</a:t>
            </a:r>
            <a:r>
              <a:rPr lang="en" sz="1200">
                <a:solidFill>
                  <a:schemeClr val="dk1"/>
                </a:solidFill>
                <a:latin typeface="Lora"/>
                <a:ea typeface="Lora"/>
                <a:cs typeface="Lora"/>
                <a:sym typeface="Lora"/>
              </a:rPr>
              <a:t>: Stay up to date with the latest changes.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Test before pushing</a:t>
            </a:r>
            <a:r>
              <a:rPr lang="en" sz="1200">
                <a:solidFill>
                  <a:schemeClr val="dk1"/>
                </a:solidFill>
                <a:latin typeface="Lora"/>
                <a:ea typeface="Lora"/>
                <a:cs typeface="Lora"/>
                <a:sym typeface="Lora"/>
              </a:rPr>
              <a:t>: Avoid pushing broken code.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Pull Requests (PRs)</a:t>
            </a:r>
            <a:r>
              <a:rPr lang="en" sz="1200">
                <a:solidFill>
                  <a:schemeClr val="dk1"/>
                </a:solidFill>
                <a:latin typeface="Lora"/>
                <a:ea typeface="Lora"/>
                <a:cs typeface="Lora"/>
                <a:sym typeface="Lora"/>
              </a:rPr>
              <a:t>: Always get feedback before merging</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Keep PRs focused: </a:t>
            </a:r>
            <a:r>
              <a:rPr lang="en" sz="1200">
                <a:solidFill>
                  <a:schemeClr val="dk1"/>
                </a:solidFill>
                <a:latin typeface="Lora"/>
                <a:ea typeface="Lora"/>
                <a:cs typeface="Lora"/>
                <a:sym typeface="Lora"/>
              </a:rPr>
              <a:t>Generally,</a:t>
            </a:r>
            <a:r>
              <a:rPr b="1"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try not to change hundreds of lines in one PR. Rather keep them small &amp; focused</a:t>
            </a:r>
            <a:endParaRPr sz="1200">
              <a:solidFill>
                <a:schemeClr val="dk1"/>
              </a:solidFill>
              <a:latin typeface="Lora"/>
              <a:ea typeface="Lora"/>
              <a:cs typeface="Lora"/>
              <a:sym typeface="Lor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9"/>
          <p:cNvSpPr txBox="1"/>
          <p:nvPr/>
        </p:nvSpPr>
        <p:spPr>
          <a:xfrm>
            <a:off x="612900" y="243595"/>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a:t>
            </a:r>
            <a:r>
              <a:rPr lang="en" sz="2400">
                <a:solidFill>
                  <a:schemeClr val="dk1"/>
                </a:solidFill>
                <a:latin typeface="Lora"/>
                <a:ea typeface="Lora"/>
                <a:cs typeface="Lora"/>
                <a:sym typeface="Lora"/>
              </a:rPr>
              <a:t>Code Quality Checks</a:t>
            </a:r>
            <a:endParaRPr sz="32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Tools: UV</a:t>
            </a:r>
            <a:endParaRPr sz="1600">
              <a:latin typeface="Lora"/>
              <a:ea typeface="Lora"/>
              <a:cs typeface="Lora"/>
              <a:sym typeface="Lora"/>
            </a:endParaRPr>
          </a:p>
        </p:txBody>
      </p:sp>
      <p:sp>
        <p:nvSpPr>
          <p:cNvPr id="320" name="Google Shape;320;p49"/>
          <p:cNvSpPr txBox="1"/>
          <p:nvPr/>
        </p:nvSpPr>
        <p:spPr>
          <a:xfrm>
            <a:off x="612900" y="1171763"/>
            <a:ext cx="80571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sz="1200">
                <a:solidFill>
                  <a:schemeClr val="dk1"/>
                </a:solidFill>
                <a:latin typeface="Lora"/>
                <a:ea typeface="Lora"/>
                <a:cs typeface="Lora"/>
                <a:sym typeface="Lora"/>
              </a:rPr>
              <a:t>The tools used to build, manage, and refine Python projects are constantly improving, with a strong trend towards speed, better integration, and enhanced developer experience. Let's look at some key shifts:</a:t>
            </a:r>
            <a:endParaRPr sz="1200">
              <a:solidFill>
                <a:schemeClr val="dk1"/>
              </a:solidFill>
              <a:latin typeface="Lora"/>
              <a:ea typeface="Lora"/>
              <a:cs typeface="Lora"/>
              <a:sym typeface="Lora"/>
            </a:endParaRPr>
          </a:p>
        </p:txBody>
      </p:sp>
      <p:sp>
        <p:nvSpPr>
          <p:cNvPr id="321" name="Google Shape;321;p49"/>
          <p:cNvSpPr txBox="1"/>
          <p:nvPr/>
        </p:nvSpPr>
        <p:spPr>
          <a:xfrm>
            <a:off x="304800" y="1847880"/>
            <a:ext cx="8128500" cy="2862900"/>
          </a:xfrm>
          <a:prstGeom prst="rect">
            <a:avLst/>
          </a:prstGeom>
          <a:noFill/>
          <a:ln>
            <a:noFill/>
          </a:ln>
        </p:spPr>
        <p:txBody>
          <a:bodyPr anchorCtr="0" anchor="t" bIns="91425" lIns="91425" spcFirstLastPara="1" rIns="91425" wrap="square" tIns="91425">
            <a:spAutoFit/>
          </a:bodyPr>
          <a:lstStyle/>
          <a:p>
            <a:pPr indent="-304800" lvl="1" marL="914400" rtl="0" algn="l">
              <a:lnSpc>
                <a:spcPct val="150000"/>
              </a:lnSpc>
              <a:spcBef>
                <a:spcPts val="0"/>
              </a:spcBef>
              <a:spcAft>
                <a:spcPts val="0"/>
              </a:spcAft>
              <a:buSzPts val="1200"/>
              <a:buFont typeface="Lora"/>
              <a:buChar char="○"/>
            </a:pPr>
            <a:r>
              <a:rPr b="1" lang="en" sz="1200">
                <a:latin typeface="Lora"/>
                <a:ea typeface="Lora"/>
                <a:cs typeface="Lora"/>
                <a:sym typeface="Lora"/>
              </a:rPr>
              <a:t>Package Management &amp; Environment Setup</a:t>
            </a:r>
            <a:endParaRPr b="1" sz="1200">
              <a:latin typeface="Lora"/>
              <a:ea typeface="Lora"/>
              <a:cs typeface="Lora"/>
              <a:sym typeface="Lora"/>
            </a:endParaRPr>
          </a:p>
          <a:p>
            <a:pPr indent="-304800" lvl="2" marL="13716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Classic Approach:</a:t>
            </a:r>
            <a:endParaRPr b="1" sz="1200">
              <a:solidFill>
                <a:schemeClr val="dk1"/>
              </a:solidFill>
              <a:latin typeface="Lora"/>
              <a:ea typeface="Lora"/>
              <a:cs typeface="Lora"/>
              <a:sym typeface="Lora"/>
            </a:endParaRPr>
          </a:p>
          <a:p>
            <a:pPr indent="-304800" lvl="3" marL="18288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pip</a:t>
            </a:r>
            <a:r>
              <a:rPr lang="en" sz="1200">
                <a:solidFill>
                  <a:schemeClr val="dk1"/>
                </a:solidFill>
                <a:latin typeface="Lora"/>
                <a:ea typeface="Lora"/>
                <a:cs typeface="Lora"/>
                <a:sym typeface="Lora"/>
              </a:rPr>
              <a:t>: The foundational package installer for Python.</a:t>
            </a:r>
            <a:endParaRPr sz="1200">
              <a:solidFill>
                <a:schemeClr val="dk1"/>
              </a:solidFill>
              <a:latin typeface="Lora"/>
              <a:ea typeface="Lora"/>
              <a:cs typeface="Lora"/>
              <a:sym typeface="Lora"/>
            </a:endParaRPr>
          </a:p>
          <a:p>
            <a:pPr indent="-304800" lvl="3" marL="18288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venv / virtualenv</a:t>
            </a:r>
            <a:r>
              <a:rPr lang="en" sz="1200">
                <a:solidFill>
                  <a:schemeClr val="dk1"/>
                </a:solidFill>
                <a:latin typeface="Lora"/>
                <a:ea typeface="Lora"/>
                <a:cs typeface="Lora"/>
                <a:sym typeface="Lora"/>
              </a:rPr>
              <a:t>: Standard tools for creating isolated environments.</a:t>
            </a:r>
            <a:endParaRPr sz="1200">
              <a:solidFill>
                <a:schemeClr val="dk1"/>
              </a:solidFill>
              <a:latin typeface="Lora"/>
              <a:ea typeface="Lora"/>
              <a:cs typeface="Lora"/>
              <a:sym typeface="Lora"/>
            </a:endParaRPr>
          </a:p>
          <a:p>
            <a:pPr indent="-304800" lvl="2" marL="1371600" rtl="0" algn="l">
              <a:lnSpc>
                <a:spcPct val="150000"/>
              </a:lnSpc>
              <a:spcBef>
                <a:spcPts val="0"/>
              </a:spcBef>
              <a:spcAft>
                <a:spcPts val="0"/>
              </a:spcAft>
              <a:buSzPts val="1200"/>
              <a:buFont typeface="Lora"/>
              <a:buChar char="■"/>
            </a:pPr>
            <a:r>
              <a:rPr b="1" lang="en" sz="1200">
                <a:solidFill>
                  <a:schemeClr val="dk1"/>
                </a:solidFill>
                <a:latin typeface="Lora"/>
                <a:ea typeface="Lora"/>
                <a:cs typeface="Lora"/>
                <a:sym typeface="Lora"/>
              </a:rPr>
              <a:t>Modern Successor: uv</a:t>
            </a:r>
            <a:endParaRPr sz="1200">
              <a:solidFill>
                <a:schemeClr val="dk1"/>
              </a:solidFill>
              <a:latin typeface="Lora"/>
              <a:ea typeface="Lora"/>
              <a:cs typeface="Lora"/>
              <a:sym typeface="Lora"/>
            </a:endParaRPr>
          </a:p>
          <a:p>
            <a:pPr indent="-304800" lvl="2" marL="13716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Why the Shift?</a:t>
            </a:r>
            <a:r>
              <a:rPr lang="en" sz="1200">
                <a:solidFill>
                  <a:schemeClr val="dk1"/>
                </a:solidFill>
                <a:latin typeface="Lora"/>
                <a:ea typeface="Lora"/>
                <a:cs typeface="Lora"/>
                <a:sym typeface="Lora"/>
              </a:rPr>
              <a:t> An extremely fast, all-in-one package resolver and installer, written in Rust.</a:t>
            </a:r>
            <a:endParaRPr sz="1200">
              <a:solidFill>
                <a:schemeClr val="dk1"/>
              </a:solidFill>
              <a:latin typeface="Lora"/>
              <a:ea typeface="Lora"/>
              <a:cs typeface="Lora"/>
              <a:sym typeface="Lora"/>
            </a:endParaRPr>
          </a:p>
          <a:p>
            <a:pPr indent="-304800" lvl="2" marL="13716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Key Benefits:</a:t>
            </a:r>
            <a:endParaRPr b="1" sz="1200">
              <a:solidFill>
                <a:schemeClr val="dk1"/>
              </a:solidFill>
              <a:latin typeface="Lora"/>
              <a:ea typeface="Lora"/>
              <a:cs typeface="Lora"/>
              <a:sym typeface="Lora"/>
            </a:endParaRPr>
          </a:p>
          <a:p>
            <a:pPr indent="-304800" lvl="3" marL="1828800" rtl="0" algn="l">
              <a:lnSpc>
                <a:spcPct val="150000"/>
              </a:lnSpc>
              <a:spcBef>
                <a:spcPts val="0"/>
              </a:spcBef>
              <a:spcAft>
                <a:spcPts val="0"/>
              </a:spcAft>
              <a:buSzPts val="1200"/>
              <a:buFont typeface="Lora"/>
              <a:buChar char="●"/>
            </a:pPr>
            <a:r>
              <a:rPr b="1" lang="en" sz="1200">
                <a:solidFill>
                  <a:schemeClr val="dk1"/>
                </a:solidFill>
                <a:latin typeface="Lora"/>
                <a:ea typeface="Lora"/>
                <a:cs typeface="Lora"/>
                <a:sym typeface="Lora"/>
              </a:rPr>
              <a:t>Speed:</a:t>
            </a:r>
            <a:r>
              <a:rPr lang="en" sz="1200">
                <a:solidFill>
                  <a:schemeClr val="dk1"/>
                </a:solidFill>
                <a:latin typeface="Lora"/>
                <a:ea typeface="Lora"/>
                <a:cs typeface="Lora"/>
                <a:sym typeface="Lora"/>
              </a:rPr>
              <a:t> Orders of magnitude faster than </a:t>
            </a:r>
            <a:r>
              <a:rPr lang="en" sz="1200">
                <a:solidFill>
                  <a:srgbClr val="188038"/>
                </a:solidFill>
                <a:latin typeface="Lora"/>
                <a:ea typeface="Lora"/>
                <a:cs typeface="Lora"/>
                <a:sym typeface="Lora"/>
              </a:rPr>
              <a:t>pip</a:t>
            </a:r>
            <a:r>
              <a:rPr lang="en" sz="1200">
                <a:solidFill>
                  <a:schemeClr val="dk1"/>
                </a:solidFill>
                <a:latin typeface="Lora"/>
                <a:ea typeface="Lora"/>
                <a:cs typeface="Lora"/>
                <a:sym typeface="Lora"/>
              </a:rPr>
              <a:t>  (10-100x).</a:t>
            </a:r>
            <a:endParaRPr sz="1200">
              <a:solidFill>
                <a:schemeClr val="dk1"/>
              </a:solidFill>
              <a:latin typeface="Lora"/>
              <a:ea typeface="Lora"/>
              <a:cs typeface="Lora"/>
              <a:sym typeface="Lora"/>
            </a:endParaRPr>
          </a:p>
          <a:p>
            <a:pPr indent="-304800" lvl="3" marL="1828800" rtl="0" algn="l">
              <a:lnSpc>
                <a:spcPct val="150000"/>
              </a:lnSpc>
              <a:spcBef>
                <a:spcPts val="0"/>
              </a:spcBef>
              <a:spcAft>
                <a:spcPts val="0"/>
              </a:spcAft>
              <a:buSzPts val="1200"/>
              <a:buFont typeface="Lora"/>
              <a:buChar char="●"/>
            </a:pPr>
            <a:r>
              <a:rPr b="1" lang="en" sz="1200">
                <a:solidFill>
                  <a:schemeClr val="dk1"/>
                </a:solidFill>
                <a:latin typeface="Lora"/>
                <a:ea typeface="Lora"/>
                <a:cs typeface="Lora"/>
                <a:sym typeface="Lora"/>
              </a:rPr>
              <a:t>Integrated:</a:t>
            </a:r>
            <a:r>
              <a:rPr lang="en" sz="1200">
                <a:solidFill>
                  <a:schemeClr val="dk1"/>
                </a:solidFill>
                <a:latin typeface="Lora"/>
                <a:ea typeface="Lora"/>
                <a:cs typeface="Lora"/>
                <a:sym typeface="Lora"/>
              </a:rPr>
              <a:t> Combines functionalities of </a:t>
            </a:r>
            <a:r>
              <a:rPr lang="en" sz="1200">
                <a:solidFill>
                  <a:srgbClr val="188038"/>
                </a:solidFill>
                <a:latin typeface="Lora"/>
                <a:ea typeface="Lora"/>
                <a:cs typeface="Lora"/>
                <a:sym typeface="Lora"/>
              </a:rPr>
              <a:t>pip</a:t>
            </a:r>
            <a:r>
              <a:rPr lang="en" sz="1200">
                <a:solidFill>
                  <a:schemeClr val="dk1"/>
                </a:solidFill>
                <a:latin typeface="Lora"/>
                <a:ea typeface="Lora"/>
                <a:cs typeface="Lora"/>
                <a:sym typeface="Lora"/>
              </a:rPr>
              <a:t>, </a:t>
            </a:r>
            <a:r>
              <a:rPr lang="en" sz="1200">
                <a:solidFill>
                  <a:srgbClr val="188038"/>
                </a:solidFill>
                <a:latin typeface="Lora"/>
                <a:ea typeface="Lora"/>
                <a:cs typeface="Lora"/>
                <a:sym typeface="Lora"/>
              </a:rPr>
              <a:t>venv</a:t>
            </a:r>
            <a:r>
              <a:rPr lang="en" sz="1200">
                <a:solidFill>
                  <a:schemeClr val="dk1"/>
                </a:solidFill>
                <a:latin typeface="Lora"/>
                <a:ea typeface="Lora"/>
                <a:cs typeface="Lora"/>
                <a:sym typeface="Lora"/>
              </a:rPr>
              <a:t>,  and more into a single tool.</a:t>
            </a:r>
            <a:endParaRPr sz="1200">
              <a:solidFill>
                <a:schemeClr val="dk1"/>
              </a:solidFill>
              <a:latin typeface="Lora"/>
              <a:ea typeface="Lora"/>
              <a:cs typeface="Lora"/>
              <a:sym typeface="Lora"/>
            </a:endParaRPr>
          </a:p>
          <a:p>
            <a:pPr indent="-304800" lvl="3" marL="1828800" rtl="0" algn="l">
              <a:lnSpc>
                <a:spcPct val="150000"/>
              </a:lnSpc>
              <a:spcBef>
                <a:spcPts val="0"/>
              </a:spcBef>
              <a:spcAft>
                <a:spcPts val="0"/>
              </a:spcAft>
              <a:buSzPts val="1200"/>
              <a:buFont typeface="Lora"/>
              <a:buChar char="●"/>
            </a:pPr>
            <a:r>
              <a:rPr b="1" lang="en" sz="1200">
                <a:solidFill>
                  <a:schemeClr val="dk1"/>
                </a:solidFill>
                <a:latin typeface="Lora"/>
                <a:ea typeface="Lora"/>
                <a:cs typeface="Lora"/>
                <a:sym typeface="Lora"/>
              </a:rPr>
              <a:t>Drop-in Potential:</a:t>
            </a:r>
            <a:r>
              <a:rPr lang="en" sz="1200">
                <a:solidFill>
                  <a:schemeClr val="dk1"/>
                </a:solidFill>
                <a:latin typeface="Lora"/>
                <a:ea typeface="Lora"/>
                <a:cs typeface="Lora"/>
                <a:sym typeface="Lora"/>
              </a:rPr>
              <a:t> Designed to be a largely drop-in replacement for pip</a:t>
            </a:r>
            <a:endParaRPr sz="1200">
              <a:solidFill>
                <a:schemeClr val="dk1"/>
              </a:solidFill>
              <a:latin typeface="Lora"/>
              <a:ea typeface="Lora"/>
              <a:cs typeface="Lora"/>
              <a:sym typeface="Lor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0"/>
          <p:cNvSpPr txBox="1"/>
          <p:nvPr/>
        </p:nvSpPr>
        <p:spPr>
          <a:xfrm>
            <a:off x="612900" y="243595"/>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a:t>
            </a:r>
            <a:r>
              <a:rPr lang="en" sz="2400">
                <a:solidFill>
                  <a:schemeClr val="dk1"/>
                </a:solidFill>
                <a:latin typeface="Lora"/>
                <a:ea typeface="Lora"/>
                <a:cs typeface="Lora"/>
                <a:sym typeface="Lora"/>
              </a:rPr>
              <a:t>Code Quality Checks</a:t>
            </a:r>
            <a:endParaRPr sz="16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Tools: Ruff</a:t>
            </a:r>
            <a:endParaRPr sz="1600">
              <a:latin typeface="Lora"/>
              <a:ea typeface="Lora"/>
              <a:cs typeface="Lora"/>
              <a:sym typeface="Lora"/>
            </a:endParaRPr>
          </a:p>
        </p:txBody>
      </p:sp>
      <p:sp>
        <p:nvSpPr>
          <p:cNvPr id="327" name="Google Shape;327;p50"/>
          <p:cNvSpPr txBox="1"/>
          <p:nvPr/>
        </p:nvSpPr>
        <p:spPr>
          <a:xfrm>
            <a:off x="612900" y="1221125"/>
            <a:ext cx="8328300" cy="3570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en" sz="1200">
                <a:solidFill>
                  <a:schemeClr val="dk1"/>
                </a:solidFill>
                <a:latin typeface="Lora"/>
                <a:ea typeface="Lora"/>
                <a:cs typeface="Lora"/>
                <a:sym typeface="Lora"/>
              </a:rPr>
              <a:t>Linting &amp; Formatting</a:t>
            </a:r>
            <a:endParaRPr b="1"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Font typeface="Lora"/>
              <a:buChar char="●"/>
            </a:pPr>
            <a:r>
              <a:rPr b="1" lang="en" sz="1200">
                <a:solidFill>
                  <a:schemeClr val="dk1"/>
                </a:solidFill>
                <a:latin typeface="Lora"/>
                <a:ea typeface="Lora"/>
                <a:cs typeface="Lora"/>
                <a:sym typeface="Lora"/>
              </a:rPr>
              <a:t>Classic Approach:</a:t>
            </a:r>
            <a:endParaRPr b="1"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Flake8</a:t>
            </a:r>
            <a:r>
              <a:rPr lang="en" sz="1200">
                <a:solidFill>
                  <a:schemeClr val="dk1"/>
                </a:solidFill>
                <a:latin typeface="Lora"/>
                <a:ea typeface="Lora"/>
                <a:cs typeface="Lora"/>
                <a:sym typeface="Lora"/>
              </a:rPr>
              <a:t>: A popular wrapper combining PyFlakes (error checking), pycodestyle (style checking - PEP 8)</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Black</a:t>
            </a:r>
            <a:r>
              <a:rPr lang="en" sz="1200">
                <a:solidFill>
                  <a:schemeClr val="dk1"/>
                </a:solidFill>
                <a:latin typeface="Lora"/>
                <a:ea typeface="Lora"/>
                <a:cs typeface="Lora"/>
                <a:sym typeface="Lora"/>
              </a:rPr>
              <a:t>: Code formatter</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isort</a:t>
            </a:r>
            <a:r>
              <a:rPr lang="en" sz="1200">
                <a:solidFill>
                  <a:schemeClr val="dk1"/>
                </a:solidFill>
                <a:latin typeface="Lora"/>
                <a:ea typeface="Lora"/>
                <a:cs typeface="Lora"/>
                <a:sym typeface="Lora"/>
              </a:rPr>
              <a:t>: For sorting imports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Modern Successor: Ruff</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Why the Shift?</a:t>
            </a:r>
            <a:r>
              <a:rPr lang="en" sz="1200">
                <a:solidFill>
                  <a:schemeClr val="dk1"/>
                </a:solidFill>
                <a:latin typeface="Lora"/>
                <a:ea typeface="Lora"/>
                <a:cs typeface="Lora"/>
                <a:sym typeface="Lora"/>
              </a:rPr>
              <a:t> An extremely fast linter AND formatter, written in Rust.</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Key Benefits:</a:t>
            </a:r>
            <a:endParaRPr b="1" sz="1200">
              <a:solidFill>
                <a:schemeClr val="dk1"/>
              </a:solidFill>
              <a:latin typeface="Lora"/>
              <a:ea typeface="Lora"/>
              <a:cs typeface="Lora"/>
              <a:sym typeface="Lora"/>
            </a:endParaRPr>
          </a:p>
          <a:p>
            <a:pPr indent="-304800" lvl="2" marL="1371600" rtl="0" algn="l">
              <a:lnSpc>
                <a:spcPct val="150000"/>
              </a:lnSpc>
              <a:spcBef>
                <a:spcPts val="0"/>
              </a:spcBef>
              <a:spcAft>
                <a:spcPts val="0"/>
              </a:spcAft>
              <a:buSzPts val="1200"/>
              <a:buFont typeface="Lora"/>
              <a:buChar char="■"/>
            </a:pPr>
            <a:r>
              <a:rPr b="1" lang="en" sz="1200">
                <a:solidFill>
                  <a:schemeClr val="dk1"/>
                </a:solidFill>
                <a:latin typeface="Lora"/>
                <a:ea typeface="Lora"/>
                <a:cs typeface="Lora"/>
                <a:sym typeface="Lora"/>
              </a:rPr>
              <a:t>Speed:</a:t>
            </a:r>
            <a:r>
              <a:rPr lang="en" sz="1200">
                <a:solidFill>
                  <a:schemeClr val="dk1"/>
                </a:solidFill>
                <a:latin typeface="Lora"/>
                <a:ea typeface="Lora"/>
                <a:cs typeface="Lora"/>
                <a:sym typeface="Lora"/>
              </a:rPr>
              <a:t> 10-100x+ faster than Flake8 and other individual tools.</a:t>
            </a:r>
            <a:endParaRPr sz="1200">
              <a:solidFill>
                <a:schemeClr val="dk1"/>
              </a:solidFill>
              <a:latin typeface="Lora"/>
              <a:ea typeface="Lora"/>
              <a:cs typeface="Lora"/>
              <a:sym typeface="Lora"/>
            </a:endParaRPr>
          </a:p>
          <a:p>
            <a:pPr indent="-304800" lvl="2" marL="1371600" rtl="0" algn="l">
              <a:lnSpc>
                <a:spcPct val="150000"/>
              </a:lnSpc>
              <a:spcBef>
                <a:spcPts val="0"/>
              </a:spcBef>
              <a:spcAft>
                <a:spcPts val="0"/>
              </a:spcAft>
              <a:buSzPts val="1200"/>
              <a:buFont typeface="Lora"/>
              <a:buChar char="■"/>
            </a:pPr>
            <a:r>
              <a:rPr b="1" lang="en" sz="1200">
                <a:solidFill>
                  <a:schemeClr val="dk1"/>
                </a:solidFill>
                <a:latin typeface="Lora"/>
                <a:ea typeface="Lora"/>
                <a:cs typeface="Lora"/>
                <a:sym typeface="Lora"/>
              </a:rPr>
              <a:t>All-in-One:</a:t>
            </a:r>
            <a:r>
              <a:rPr lang="en" sz="1200">
                <a:solidFill>
                  <a:schemeClr val="dk1"/>
                </a:solidFill>
                <a:latin typeface="Lora"/>
                <a:ea typeface="Lora"/>
                <a:cs typeface="Lora"/>
                <a:sym typeface="Lora"/>
              </a:rPr>
              <a:t> Can replace Flake8 (and many of its plugins), Black, isort and more.</a:t>
            </a:r>
            <a:endParaRPr sz="1200">
              <a:solidFill>
                <a:schemeClr val="dk1"/>
              </a:solidFill>
              <a:latin typeface="Lora"/>
              <a:ea typeface="Lora"/>
              <a:cs typeface="Lora"/>
              <a:sym typeface="Lora"/>
            </a:endParaRPr>
          </a:p>
          <a:p>
            <a:pPr indent="-304800" lvl="2" marL="13716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Auto-fixes:</a:t>
            </a:r>
            <a:r>
              <a:rPr lang="en" sz="1200">
                <a:solidFill>
                  <a:schemeClr val="dk1"/>
                </a:solidFill>
                <a:latin typeface="Lora"/>
                <a:ea typeface="Lora"/>
                <a:cs typeface="Lora"/>
                <a:sym typeface="Lora"/>
              </a:rPr>
              <a:t> Powerful and fast automatic fixing of many issues.</a:t>
            </a:r>
            <a:endParaRPr sz="1200">
              <a:solidFill>
                <a:schemeClr val="dk1"/>
              </a:solidFill>
              <a:latin typeface="Lora"/>
              <a:ea typeface="Lora"/>
              <a:cs typeface="Lora"/>
              <a:sym typeface="Lora"/>
            </a:endParaRPr>
          </a:p>
          <a:p>
            <a:pPr indent="-304800" lvl="2" marL="13716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Growing Ecosystem:</a:t>
            </a:r>
            <a:r>
              <a:rPr lang="en" sz="1200">
                <a:solidFill>
                  <a:schemeClr val="dk1"/>
                </a:solidFill>
                <a:latin typeface="Lora"/>
                <a:ea typeface="Lora"/>
                <a:cs typeface="Lora"/>
                <a:sym typeface="Lora"/>
              </a:rPr>
              <a:t> Rapidly gaining adoption and expanding its rule set.</a:t>
            </a:r>
            <a:endParaRPr sz="1200">
              <a:solidFill>
                <a:schemeClr val="dk1"/>
              </a:solidFill>
              <a:latin typeface="Lora"/>
              <a:ea typeface="Lora"/>
              <a:cs typeface="Lora"/>
              <a:sym typeface="Lor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1"/>
          <p:cNvSpPr txBox="1"/>
          <p:nvPr/>
        </p:nvSpPr>
        <p:spPr>
          <a:xfrm>
            <a:off x="612900" y="243595"/>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a:t>
            </a:r>
            <a:r>
              <a:rPr lang="en" sz="2400">
                <a:solidFill>
                  <a:schemeClr val="dk1"/>
                </a:solidFill>
                <a:latin typeface="Lora"/>
                <a:ea typeface="Lora"/>
                <a:cs typeface="Lora"/>
                <a:sym typeface="Lora"/>
              </a:rPr>
              <a:t>Code Quality Checks</a:t>
            </a:r>
            <a:endParaRPr sz="16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Tools: Pyright</a:t>
            </a:r>
            <a:endParaRPr sz="1600">
              <a:latin typeface="Lora"/>
              <a:ea typeface="Lora"/>
              <a:cs typeface="Lora"/>
              <a:sym typeface="Lora"/>
            </a:endParaRPr>
          </a:p>
        </p:txBody>
      </p:sp>
      <p:sp>
        <p:nvSpPr>
          <p:cNvPr id="333" name="Google Shape;333;p51"/>
          <p:cNvSpPr txBox="1"/>
          <p:nvPr/>
        </p:nvSpPr>
        <p:spPr>
          <a:xfrm>
            <a:off x="612900" y="1221125"/>
            <a:ext cx="8057100" cy="20319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Static Type Checking for type violations</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Established Player:</a:t>
            </a:r>
            <a:endParaRPr b="1" sz="1200">
              <a:solidFill>
                <a:schemeClr val="dk1"/>
              </a:solidFill>
              <a:latin typeface="Lora"/>
              <a:ea typeface="Lora"/>
              <a:cs typeface="Lora"/>
              <a:sym typeface="Lora"/>
            </a:endParaRPr>
          </a:p>
          <a:p>
            <a:pPr indent="-304800" lvl="2" marL="1371600" rtl="0" algn="l">
              <a:lnSpc>
                <a:spcPct val="150000"/>
              </a:lnSpc>
              <a:spcBef>
                <a:spcPts val="0"/>
              </a:spcBef>
              <a:spcAft>
                <a:spcPts val="0"/>
              </a:spcAft>
              <a:buSzPts val="1200"/>
              <a:buChar char="■"/>
            </a:pPr>
            <a:r>
              <a:rPr b="1" lang="en" sz="1200">
                <a:solidFill>
                  <a:schemeClr val="dk1"/>
                </a:solidFill>
                <a:latin typeface="Lora"/>
                <a:ea typeface="Lora"/>
                <a:cs typeface="Lora"/>
                <a:sym typeface="Lora"/>
              </a:rPr>
              <a:t>Mypy</a:t>
            </a:r>
            <a:r>
              <a:rPr lang="en" sz="1200">
                <a:solidFill>
                  <a:schemeClr val="dk1"/>
                </a:solidFill>
                <a:latin typeface="Lora"/>
                <a:ea typeface="Lora"/>
                <a:cs typeface="Lora"/>
                <a:sym typeface="Lora"/>
              </a:rPr>
              <a:t>: The original and widely adopted static type checker for Python.</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SzPts val="1200"/>
              <a:buChar char="○"/>
            </a:pPr>
            <a:r>
              <a:rPr b="1" lang="en" sz="1200">
                <a:solidFill>
                  <a:schemeClr val="dk1"/>
                </a:solidFill>
                <a:latin typeface="Lora"/>
                <a:ea typeface="Lora"/>
                <a:cs typeface="Lora"/>
                <a:sym typeface="Lora"/>
              </a:rPr>
              <a:t>Modern Successors: Pyright</a:t>
            </a:r>
            <a:r>
              <a:rPr lang="en" sz="1200">
                <a:solidFill>
                  <a:schemeClr val="dk1"/>
                </a:solidFill>
                <a:latin typeface="Lora"/>
                <a:ea typeface="Lora"/>
                <a:cs typeface="Lora"/>
                <a:sym typeface="Lora"/>
              </a:rPr>
              <a:t>:</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Why the Shift?</a:t>
            </a:r>
            <a:r>
              <a:rPr lang="en" sz="1200">
                <a:solidFill>
                  <a:schemeClr val="dk1"/>
                </a:solidFill>
                <a:latin typeface="Lora"/>
                <a:ea typeface="Lora"/>
                <a:cs typeface="Lora"/>
                <a:sym typeface="Lora"/>
              </a:rPr>
              <a:t> Developed by Microsoft (powers Pylance in VS Code), known for excellent performance, especially in editor integrations.</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Key Benefits:</a:t>
            </a:r>
            <a:r>
              <a:rPr lang="en" sz="1200">
                <a:solidFill>
                  <a:schemeClr val="dk1"/>
                </a:solidFill>
                <a:latin typeface="Lora"/>
                <a:ea typeface="Lora"/>
                <a:cs typeface="Lora"/>
                <a:sym typeface="Lora"/>
              </a:rPr>
              <a:t> Fast, strong type inference, excellent IDE support.</a:t>
            </a:r>
            <a:endParaRPr sz="1200">
              <a:solidFill>
                <a:schemeClr val="dk1"/>
              </a:solidFill>
              <a:latin typeface="Lora"/>
              <a:ea typeface="Lora"/>
              <a:cs typeface="Lora"/>
              <a:sym typeface="Lor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2"/>
          <p:cNvSpPr txBox="1"/>
          <p:nvPr/>
        </p:nvSpPr>
        <p:spPr>
          <a:xfrm>
            <a:off x="612900" y="2435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a:t>
            </a:r>
            <a:r>
              <a:rPr lang="en" sz="2400">
                <a:solidFill>
                  <a:schemeClr val="dk1"/>
                </a:solidFill>
                <a:latin typeface="Lora"/>
                <a:ea typeface="Lora"/>
                <a:cs typeface="Lora"/>
                <a:sym typeface="Lora"/>
              </a:rPr>
              <a:t>Code Quality Checks</a:t>
            </a:r>
            <a:endParaRPr sz="1600">
              <a:latin typeface="Lora"/>
              <a:ea typeface="Lora"/>
              <a:cs typeface="Lora"/>
              <a:sym typeface="Lora"/>
            </a:endParaRPr>
          </a:p>
        </p:txBody>
      </p:sp>
      <p:sp>
        <p:nvSpPr>
          <p:cNvPr id="339" name="Google Shape;339;p52"/>
          <p:cNvSpPr txBox="1"/>
          <p:nvPr/>
        </p:nvSpPr>
        <p:spPr>
          <a:xfrm>
            <a:off x="612900" y="822065"/>
            <a:ext cx="7600500" cy="3478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Instead of manually checking code every time you or your teammates make changes, you can use a pipeline to </a:t>
            </a:r>
            <a:r>
              <a:rPr b="1" lang="en" sz="1200">
                <a:solidFill>
                  <a:schemeClr val="dk1"/>
                </a:solidFill>
                <a:latin typeface="Lora"/>
                <a:ea typeface="Lora"/>
                <a:cs typeface="Lora"/>
                <a:sym typeface="Lora"/>
              </a:rPr>
              <a:t>automatically review and enforce quality</a:t>
            </a:r>
            <a:r>
              <a:rPr lang="en" sz="1200">
                <a:solidFill>
                  <a:schemeClr val="dk1"/>
                </a:solidFill>
                <a:latin typeface="Lora"/>
                <a:ea typeface="Lora"/>
                <a:cs typeface="Lora"/>
                <a:sym typeface="Lora"/>
              </a:rPr>
              <a:t> whenever someone:</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Pushes new code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Opens a pull request</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Tries to deploy</a:t>
            </a:r>
            <a:endParaRPr sz="1200">
              <a:solidFill>
                <a:schemeClr val="dk1"/>
              </a:solidFill>
              <a:latin typeface="Lora"/>
              <a:ea typeface="Lora"/>
              <a:cs typeface="Lora"/>
              <a:sym typeface="Lora"/>
            </a:endParaRPr>
          </a:p>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This saves time, prevents mistakes, and keeps the project </a:t>
            </a:r>
            <a:r>
              <a:rPr b="1" lang="en" sz="1200">
                <a:solidFill>
                  <a:schemeClr val="dk1"/>
                </a:solidFill>
                <a:latin typeface="Lora"/>
                <a:ea typeface="Lora"/>
                <a:cs typeface="Lora"/>
                <a:sym typeface="Lora"/>
              </a:rPr>
              <a:t>clean and consistent</a:t>
            </a:r>
            <a:r>
              <a:rPr lang="en" sz="1200">
                <a:solidFill>
                  <a:schemeClr val="dk1"/>
                </a:solidFill>
                <a:latin typeface="Lora"/>
                <a:ea typeface="Lora"/>
                <a:cs typeface="Lora"/>
                <a:sym typeface="Lora"/>
              </a:rPr>
              <a:t>.</a:t>
            </a:r>
            <a:endParaRPr sz="1200">
              <a:solidFill>
                <a:schemeClr val="dk1"/>
              </a:solidFill>
              <a:latin typeface="Lora"/>
              <a:ea typeface="Lora"/>
              <a:cs typeface="Lora"/>
              <a:sym typeface="Lora"/>
            </a:endParaRPr>
          </a:p>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For example, you can setup your pipeline to:</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Lint the code (e.g., Ruff)</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Check types (e.g., Pyright)</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Run tests (e.g. Pytest)</a:t>
            </a:r>
            <a:endParaRPr sz="1200">
              <a:solidFill>
                <a:schemeClr val="dk1"/>
              </a:solidFill>
              <a:latin typeface="Lora"/>
              <a:ea typeface="Lora"/>
              <a:cs typeface="Lora"/>
              <a:sym typeface="Lor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3"/>
          <p:cNvSpPr txBox="1"/>
          <p:nvPr/>
        </p:nvSpPr>
        <p:spPr>
          <a:xfrm>
            <a:off x="612900" y="243595"/>
            <a:ext cx="8128500" cy="763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a:t>
            </a:r>
            <a:r>
              <a:rPr lang="en" sz="2400">
                <a:solidFill>
                  <a:schemeClr val="dk1"/>
                </a:solidFill>
                <a:latin typeface="Lora"/>
                <a:ea typeface="Lora"/>
                <a:cs typeface="Lora"/>
                <a:sym typeface="Lora"/>
              </a:rPr>
              <a:t>Code Quality Checks</a:t>
            </a:r>
            <a:endParaRPr sz="16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600">
                <a:latin typeface="Lora"/>
                <a:ea typeface="Lora"/>
                <a:cs typeface="Lora"/>
                <a:sym typeface="Lora"/>
              </a:rPr>
              <a:t>Linting &amp; Type Checking</a:t>
            </a:r>
            <a:endParaRPr sz="1600">
              <a:latin typeface="Lora"/>
              <a:ea typeface="Lora"/>
              <a:cs typeface="Lora"/>
              <a:sym typeface="Lora"/>
            </a:endParaRPr>
          </a:p>
        </p:txBody>
      </p:sp>
      <p:sp>
        <p:nvSpPr>
          <p:cNvPr id="345" name="Google Shape;345;p53"/>
          <p:cNvSpPr txBox="1"/>
          <p:nvPr/>
        </p:nvSpPr>
        <p:spPr>
          <a:xfrm>
            <a:off x="612900" y="1221125"/>
            <a:ext cx="7822500" cy="946500"/>
          </a:xfrm>
          <a:prstGeom prst="rect">
            <a:avLst/>
          </a:prstGeom>
          <a:noFill/>
          <a:ln>
            <a:noFill/>
          </a:ln>
        </p:spPr>
        <p:txBody>
          <a:bodyPr anchorCtr="0" anchor="t" bIns="91425" lIns="91425" spcFirstLastPara="1" rIns="91425" wrap="square" tIns="91425">
            <a:spAutoFit/>
          </a:bodyPr>
          <a:lstStyle/>
          <a:p>
            <a:pPr indent="-311150" lvl="0" marL="457200" rtl="0" algn="l">
              <a:lnSpc>
                <a:spcPct val="150000"/>
              </a:lnSpc>
              <a:spcBef>
                <a:spcPts val="0"/>
              </a:spcBef>
              <a:spcAft>
                <a:spcPts val="0"/>
              </a:spcAft>
              <a:buClr>
                <a:schemeClr val="dk1"/>
              </a:buClr>
              <a:buSzPts val="1300"/>
              <a:buFont typeface="Lora"/>
              <a:buChar char="●"/>
            </a:pPr>
            <a:r>
              <a:rPr b="1" lang="en" sz="1200">
                <a:solidFill>
                  <a:schemeClr val="dk1"/>
                </a:solidFill>
                <a:latin typeface="Lora"/>
                <a:ea typeface="Lora"/>
                <a:cs typeface="Lora"/>
                <a:sym typeface="Lora"/>
              </a:rPr>
              <a:t>Linting</a:t>
            </a:r>
            <a:r>
              <a:rPr lang="en" sz="1200">
                <a:solidFill>
                  <a:schemeClr val="dk1"/>
                </a:solidFill>
                <a:latin typeface="Lora"/>
                <a:ea typeface="Lora"/>
                <a:cs typeface="Lora"/>
                <a:sym typeface="Lora"/>
              </a:rPr>
              <a:t> checks your code for formatting, style, and simple logic errors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Type checking</a:t>
            </a:r>
            <a:r>
              <a:rPr lang="en" sz="1200">
                <a:solidFill>
                  <a:schemeClr val="dk1"/>
                </a:solidFill>
                <a:latin typeface="Lora"/>
                <a:ea typeface="Lora"/>
                <a:cs typeface="Lora"/>
                <a:sym typeface="Lora"/>
              </a:rPr>
              <a:t> verifies that you're using the correct data types (e.g., str, int, list) , before you even run the code.</a:t>
            </a:r>
            <a:endParaRPr sz="1200">
              <a:solidFill>
                <a:schemeClr val="dk1"/>
              </a:solidFill>
              <a:latin typeface="Lora"/>
              <a:ea typeface="Lora"/>
              <a:cs typeface="Lora"/>
              <a:sym typeface="Lora"/>
            </a:endParaRPr>
          </a:p>
        </p:txBody>
      </p:sp>
      <p:sp>
        <p:nvSpPr>
          <p:cNvPr id="346" name="Google Shape;346;p53"/>
          <p:cNvSpPr txBox="1"/>
          <p:nvPr/>
        </p:nvSpPr>
        <p:spPr>
          <a:xfrm>
            <a:off x="1030775" y="2346791"/>
            <a:ext cx="3023700" cy="1677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A05000"/>
                </a:solidFill>
                <a:latin typeface="Roboto Mono"/>
                <a:ea typeface="Roboto Mono"/>
                <a:cs typeface="Roboto Mono"/>
                <a:sym typeface="Roboto Mono"/>
              </a:rPr>
              <a:t># ❌ Bad (before Ruff)</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hello</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name</a:t>
            </a:r>
            <a:r>
              <a:rPr lang="en" sz="1200">
                <a:latin typeface="Roboto Mono"/>
                <a:ea typeface="Roboto Mono"/>
                <a:cs typeface="Roboto Mono"/>
                <a:sym typeface="Roboto Mono"/>
              </a:rPr>
              <a:t>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print(</a:t>
            </a:r>
            <a:r>
              <a:rPr lang="en" sz="1200">
                <a:solidFill>
                  <a:srgbClr val="A01010"/>
                </a:solidFill>
                <a:latin typeface="Roboto Mono"/>
                <a:ea typeface="Roboto Mono"/>
                <a:cs typeface="Roboto Mono"/>
                <a:sym typeface="Roboto Mono"/>
              </a:rPr>
              <a:t>f"Hello </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name</a:t>
            </a:r>
            <a:r>
              <a:rPr lang="en" sz="1200">
                <a:latin typeface="Roboto Mono"/>
                <a:ea typeface="Roboto Mono"/>
                <a:cs typeface="Roboto Mono"/>
                <a:sym typeface="Roboto Mono"/>
              </a:rPr>
              <a:t>}</a:t>
            </a:r>
            <a:r>
              <a:rPr lang="en" sz="1200">
                <a:solidFill>
                  <a:srgbClr val="A01010"/>
                </a:solidFill>
                <a:latin typeface="Roboto Mono"/>
                <a:ea typeface="Roboto Mono"/>
                <a:cs typeface="Roboto Mono"/>
                <a:sym typeface="Roboto Mono"/>
              </a:rPr>
              <a:t>"</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200">
                <a:solidFill>
                  <a:srgbClr val="A05000"/>
                </a:solidFill>
                <a:latin typeface="Roboto Mono"/>
                <a:ea typeface="Roboto Mono"/>
                <a:cs typeface="Roboto Mono"/>
                <a:sym typeface="Roboto Mono"/>
              </a:rPr>
              <a:t># ✅ Good (after Ruff)</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hello</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name</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lang="en" sz="1200">
                <a:solidFill>
                  <a:srgbClr val="3000A0"/>
                </a:solidFill>
                <a:latin typeface="Roboto Mono"/>
                <a:ea typeface="Roboto Mono"/>
                <a:cs typeface="Roboto Mono"/>
                <a:sym typeface="Roboto Mono"/>
              </a:rPr>
              <a:t>print</a:t>
            </a:r>
            <a:r>
              <a:rPr lang="en" sz="1200">
                <a:latin typeface="Roboto Mono"/>
                <a:ea typeface="Roboto Mono"/>
                <a:cs typeface="Roboto Mono"/>
                <a:sym typeface="Roboto Mono"/>
              </a:rPr>
              <a:t>(</a:t>
            </a:r>
            <a:r>
              <a:rPr lang="en" sz="1200">
                <a:solidFill>
                  <a:srgbClr val="A01010"/>
                </a:solidFill>
                <a:latin typeface="Roboto Mono"/>
                <a:ea typeface="Roboto Mono"/>
                <a:cs typeface="Roboto Mono"/>
                <a:sym typeface="Roboto Mono"/>
              </a:rPr>
              <a:t>f"Hello </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name</a:t>
            </a:r>
            <a:r>
              <a:rPr lang="en" sz="1200">
                <a:latin typeface="Roboto Mono"/>
                <a:ea typeface="Roboto Mono"/>
                <a:cs typeface="Roboto Mono"/>
                <a:sym typeface="Roboto Mono"/>
              </a:rPr>
              <a:t>}</a:t>
            </a:r>
            <a:r>
              <a:rPr lang="en" sz="1200">
                <a:solidFill>
                  <a:srgbClr val="A01010"/>
                </a:solidFill>
                <a:latin typeface="Roboto Mono"/>
                <a:ea typeface="Roboto Mono"/>
                <a:cs typeface="Roboto Mono"/>
                <a:sym typeface="Roboto Mono"/>
              </a:rPr>
              <a:t>"</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
        <p:nvSpPr>
          <p:cNvPr id="347" name="Google Shape;347;p53"/>
          <p:cNvSpPr txBox="1"/>
          <p:nvPr/>
        </p:nvSpPr>
        <p:spPr>
          <a:xfrm>
            <a:off x="4217450" y="2346800"/>
            <a:ext cx="3930900" cy="1677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200">
                <a:solidFill>
                  <a:srgbClr val="A05000"/>
                </a:solidFill>
                <a:latin typeface="Roboto Mono"/>
                <a:ea typeface="Roboto Mono"/>
                <a:cs typeface="Roboto Mono"/>
                <a:sym typeface="Roboto Mono"/>
              </a:rPr>
              <a:t># ❌ Bad (before Pyright)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greet</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name</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b="1" lang="en" sz="1200">
                <a:solidFill>
                  <a:srgbClr val="700080"/>
                </a:solidFill>
                <a:latin typeface="Roboto Mono"/>
                <a:ea typeface="Roboto Mono"/>
                <a:cs typeface="Roboto Mono"/>
                <a:sym typeface="Roboto Mono"/>
              </a:rPr>
              <a:t>return</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name</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106040"/>
                </a:solidFill>
                <a:latin typeface="Roboto Mono"/>
                <a:ea typeface="Roboto Mono"/>
                <a:cs typeface="Roboto Mono"/>
                <a:sym typeface="Roboto Mono"/>
              </a:rPr>
              <a:t>2</a:t>
            </a:r>
            <a:r>
              <a:rPr lang="en" sz="1200">
                <a:latin typeface="Roboto Mono"/>
                <a:ea typeface="Roboto Mono"/>
                <a:cs typeface="Roboto Mono"/>
                <a:sym typeface="Roboto Mono"/>
              </a:rPr>
              <a:t>  </a:t>
            </a:r>
            <a:r>
              <a:rPr i="1" lang="en" sz="1200">
                <a:solidFill>
                  <a:srgbClr val="A05000"/>
                </a:solidFill>
                <a:latin typeface="Roboto Mono"/>
                <a:ea typeface="Roboto Mono"/>
                <a:cs typeface="Roboto Mono"/>
                <a:sym typeface="Roboto Mono"/>
              </a:rPr>
              <a:t># Adding int to str: Type Error!</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200">
                <a:solidFill>
                  <a:srgbClr val="A05000"/>
                </a:solidFill>
                <a:latin typeface="Roboto Mono"/>
                <a:ea typeface="Roboto Mono"/>
                <a:cs typeface="Roboto Mono"/>
                <a:sym typeface="Roboto Mono"/>
              </a:rPr>
              <a:t># ✅ Good (after Pyright)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rgbClr val="700080"/>
                </a:solidFill>
                <a:latin typeface="Roboto Mono"/>
                <a:ea typeface="Roboto Mono"/>
                <a:cs typeface="Roboto Mono"/>
                <a:sym typeface="Roboto Mono"/>
              </a:rPr>
              <a:t>def</a:t>
            </a:r>
            <a:r>
              <a:rPr lang="en" sz="1200">
                <a:latin typeface="Roboto Mono"/>
                <a:ea typeface="Roboto Mono"/>
                <a:cs typeface="Roboto Mono"/>
                <a:sym typeface="Roboto Mono"/>
              </a:rPr>
              <a:t> </a:t>
            </a:r>
            <a:r>
              <a:rPr lang="en" sz="1200">
                <a:solidFill>
                  <a:srgbClr val="0000F0"/>
                </a:solidFill>
                <a:latin typeface="Roboto Mono"/>
                <a:ea typeface="Roboto Mono"/>
                <a:cs typeface="Roboto Mono"/>
                <a:sym typeface="Roboto Mono"/>
              </a:rPr>
              <a:t>greet</a:t>
            </a:r>
            <a:r>
              <a:rPr lang="en" sz="1200">
                <a:latin typeface="Roboto Mono"/>
                <a:ea typeface="Roboto Mono"/>
                <a:cs typeface="Roboto Mono"/>
                <a:sym typeface="Roboto Mono"/>
              </a:rPr>
              <a:t>(</a:t>
            </a:r>
            <a:r>
              <a:rPr lang="en" sz="1200">
                <a:solidFill>
                  <a:srgbClr val="1AB1CD"/>
                </a:solidFill>
                <a:latin typeface="Roboto Mono"/>
                <a:ea typeface="Roboto Mono"/>
                <a:cs typeface="Roboto Mono"/>
                <a:sym typeface="Roboto Mono"/>
              </a:rPr>
              <a:t>name</a:t>
            </a:r>
            <a:r>
              <a:rPr lang="en" sz="1200">
                <a:latin typeface="Roboto Mono"/>
                <a:ea typeface="Roboto Mono"/>
                <a:cs typeface="Roboto Mono"/>
                <a:sym typeface="Roboto Mono"/>
              </a:rPr>
              <a:t>: </a:t>
            </a:r>
            <a:r>
              <a:rPr lang="en" sz="1200">
                <a:solidFill>
                  <a:srgbClr val="3000A0"/>
                </a:solidFill>
                <a:latin typeface="Roboto Mono"/>
                <a:ea typeface="Roboto Mono"/>
                <a:cs typeface="Roboto Mono"/>
                <a:sym typeface="Roboto Mono"/>
              </a:rPr>
              <a:t>str</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-&gt;</a:t>
            </a:r>
            <a:r>
              <a:rPr lang="en" sz="1200">
                <a:latin typeface="Roboto Mono"/>
                <a:ea typeface="Roboto Mono"/>
                <a:cs typeface="Roboto Mono"/>
                <a:sym typeface="Roboto Mono"/>
              </a:rPr>
              <a:t> </a:t>
            </a:r>
            <a:r>
              <a:rPr lang="en" sz="1200">
                <a:solidFill>
                  <a:srgbClr val="3000A0"/>
                </a:solidFill>
                <a:latin typeface="Roboto Mono"/>
                <a:ea typeface="Roboto Mono"/>
                <a:cs typeface="Roboto Mono"/>
                <a:sym typeface="Roboto Mono"/>
              </a:rPr>
              <a:t>str</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    </a:t>
            </a:r>
            <a:r>
              <a:rPr b="1" lang="en" sz="1200">
                <a:solidFill>
                  <a:srgbClr val="700080"/>
                </a:solidFill>
                <a:latin typeface="Roboto Mono"/>
                <a:ea typeface="Roboto Mono"/>
                <a:cs typeface="Roboto Mono"/>
                <a:sym typeface="Roboto Mono"/>
              </a:rPr>
              <a:t>return</a:t>
            </a:r>
            <a:r>
              <a:rPr lang="en" sz="1200">
                <a:latin typeface="Roboto Mono"/>
                <a:ea typeface="Roboto Mono"/>
                <a:cs typeface="Roboto Mono"/>
                <a:sym typeface="Roboto Mono"/>
              </a:rPr>
              <a:t> </a:t>
            </a:r>
            <a:r>
              <a:rPr lang="en" sz="1200">
                <a:solidFill>
                  <a:srgbClr val="1AB1CD"/>
                </a:solidFill>
                <a:latin typeface="Roboto Mono"/>
                <a:ea typeface="Roboto Mono"/>
                <a:cs typeface="Roboto Mono"/>
                <a:sym typeface="Roboto Mono"/>
              </a:rPr>
              <a:t>name</a:t>
            </a:r>
            <a:r>
              <a:rPr lang="en" sz="1200">
                <a:latin typeface="Roboto Mono"/>
                <a:ea typeface="Roboto Mono"/>
                <a:cs typeface="Roboto Mono"/>
                <a:sym typeface="Roboto Mono"/>
              </a:rPr>
              <a:t> </a:t>
            </a:r>
            <a:r>
              <a:rPr b="1" lang="en" sz="1200">
                <a:solidFill>
                  <a:srgbClr val="EE11FF"/>
                </a:solidFill>
                <a:latin typeface="Roboto Mono"/>
                <a:ea typeface="Roboto Mono"/>
                <a:cs typeface="Roboto Mono"/>
                <a:sym typeface="Roboto Mono"/>
              </a:rPr>
              <a:t>+</a:t>
            </a:r>
            <a:r>
              <a:rPr lang="en" sz="1200">
                <a:latin typeface="Roboto Mono"/>
                <a:ea typeface="Roboto Mono"/>
                <a:cs typeface="Roboto Mono"/>
                <a:sym typeface="Roboto Mono"/>
              </a:rPr>
              <a:t> </a:t>
            </a:r>
            <a:r>
              <a:rPr lang="en" sz="1200">
                <a:solidFill>
                  <a:srgbClr val="A01010"/>
                </a:solidFill>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4"/>
          <p:cNvSpPr txBox="1"/>
          <p:nvPr/>
        </p:nvSpPr>
        <p:spPr>
          <a:xfrm>
            <a:off x="612900" y="243595"/>
            <a:ext cx="8128500" cy="7326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Practical case</a:t>
            </a:r>
            <a:endParaRPr sz="16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a:solidFill>
                  <a:schemeClr val="dk1"/>
                </a:solidFill>
                <a:highlight>
                  <a:schemeClr val="lt1"/>
                </a:highlight>
                <a:latin typeface="Lora"/>
                <a:ea typeface="Lora"/>
                <a:cs typeface="Lora"/>
                <a:sym typeface="Lora"/>
              </a:rPr>
              <a:t> Identifying and Fixing </a:t>
            </a:r>
            <a:r>
              <a:rPr lang="en">
                <a:solidFill>
                  <a:schemeClr val="dk1"/>
                </a:solidFill>
                <a:highlight>
                  <a:schemeClr val="lt1"/>
                </a:highlight>
                <a:latin typeface="Lora"/>
                <a:ea typeface="Lora"/>
                <a:cs typeface="Lora"/>
                <a:sym typeface="Lora"/>
              </a:rPr>
              <a:t>PEP 8</a:t>
            </a:r>
            <a:r>
              <a:rPr lang="en">
                <a:solidFill>
                  <a:schemeClr val="dk1"/>
                </a:solidFill>
                <a:highlight>
                  <a:schemeClr val="lt1"/>
                </a:highlight>
                <a:latin typeface="Lora"/>
                <a:ea typeface="Lora"/>
                <a:cs typeface="Lora"/>
                <a:sym typeface="Lora"/>
              </a:rPr>
              <a:t> Violations in Python Code</a:t>
            </a:r>
            <a:endParaRPr>
              <a:solidFill>
                <a:schemeClr val="dk1"/>
              </a:solidFill>
              <a:highlight>
                <a:schemeClr val="lt1"/>
              </a:highlight>
              <a:latin typeface="Lora"/>
              <a:ea typeface="Lora"/>
              <a:cs typeface="Lora"/>
              <a:sym typeface="Lora"/>
            </a:endParaRPr>
          </a:p>
        </p:txBody>
      </p:sp>
      <p:sp>
        <p:nvSpPr>
          <p:cNvPr id="353" name="Google Shape;353;p54"/>
          <p:cNvSpPr txBox="1"/>
          <p:nvPr/>
        </p:nvSpPr>
        <p:spPr>
          <a:xfrm>
            <a:off x="604583" y="1180950"/>
            <a:ext cx="680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https://gist.github.com/cyrille-feu/e4c8ee733b32dbfcb83bd6af98e8089a</a:t>
            </a:r>
            <a:endParaRPr/>
          </a:p>
        </p:txBody>
      </p:sp>
      <p:sp>
        <p:nvSpPr>
          <p:cNvPr id="354" name="Google Shape;354;p54"/>
          <p:cNvSpPr txBox="1"/>
          <p:nvPr/>
        </p:nvSpPr>
        <p:spPr>
          <a:xfrm>
            <a:off x="604575" y="1952750"/>
            <a:ext cx="7631100" cy="1533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sz="1200">
                <a:solidFill>
                  <a:schemeClr val="dk1"/>
                </a:solidFill>
                <a:latin typeface="Lora"/>
                <a:ea typeface="Lora"/>
                <a:cs typeface="Lora"/>
                <a:sym typeface="Lora"/>
              </a:rPr>
              <a:t>You can use the command below to verify that the changes you have made are correct and </a:t>
            </a:r>
            <a:r>
              <a:rPr lang="en" sz="1200">
                <a:solidFill>
                  <a:schemeClr val="dk1"/>
                </a:solidFill>
                <a:latin typeface="Lora"/>
                <a:ea typeface="Lora"/>
                <a:cs typeface="Lora"/>
                <a:sym typeface="Lora"/>
              </a:rPr>
              <a:t>compliant</a:t>
            </a:r>
            <a:r>
              <a:rPr lang="en" sz="1200">
                <a:solidFill>
                  <a:schemeClr val="dk1"/>
                </a:solidFill>
                <a:latin typeface="Lora"/>
                <a:ea typeface="Lora"/>
                <a:cs typeface="Lora"/>
                <a:sym typeface="Lora"/>
              </a:rPr>
              <a:t> with pep8. This command is </a:t>
            </a:r>
            <a:r>
              <a:rPr lang="en" sz="1200">
                <a:solidFill>
                  <a:schemeClr val="dk1"/>
                </a:solidFill>
                <a:latin typeface="Lora"/>
                <a:ea typeface="Lora"/>
                <a:cs typeface="Lora"/>
                <a:sym typeface="Lora"/>
              </a:rPr>
              <a:t>written</a:t>
            </a:r>
            <a:r>
              <a:rPr lang="en" sz="1200">
                <a:solidFill>
                  <a:schemeClr val="dk1"/>
                </a:solidFill>
                <a:latin typeface="Lora"/>
                <a:ea typeface="Lora"/>
                <a:cs typeface="Lora"/>
                <a:sym typeface="Lora"/>
              </a:rPr>
              <a:t> with the assumption that you created the file pep8_violations_example.py </a:t>
            </a:r>
            <a:r>
              <a:rPr lang="en" sz="1200">
                <a:solidFill>
                  <a:schemeClr val="dk1"/>
                </a:solidFill>
                <a:latin typeface="Lora"/>
                <a:ea typeface="Lora"/>
                <a:cs typeface="Lora"/>
                <a:sym typeface="Lora"/>
              </a:rPr>
              <a:t>in your student folder </a:t>
            </a:r>
            <a:r>
              <a:rPr lang="en" sz="1200">
                <a:solidFill>
                  <a:schemeClr val="dk1"/>
                </a:solidFill>
                <a:latin typeface="Lora"/>
                <a:ea typeface="Lora"/>
                <a:cs typeface="Lora"/>
                <a:sym typeface="Lora"/>
              </a:rPr>
              <a:t>src/students/$GITHUB_USER/</a:t>
            </a:r>
            <a:br>
              <a:rPr lang="en" sz="1200">
                <a:solidFill>
                  <a:schemeClr val="dk1"/>
                </a:solidFill>
                <a:latin typeface="Lora"/>
                <a:ea typeface="Lora"/>
                <a:cs typeface="Lora"/>
                <a:sym typeface="Lora"/>
              </a:rPr>
            </a:br>
            <a:endParaRPr sz="1200">
              <a:solidFill>
                <a:schemeClr val="dk1"/>
              </a:solidFill>
              <a:latin typeface="Lora"/>
              <a:ea typeface="Lora"/>
              <a:cs typeface="Lora"/>
              <a:sym typeface="Lora"/>
            </a:endParaRPr>
          </a:p>
          <a:p>
            <a:pPr indent="0" lvl="0" marL="0" rtl="0" algn="just">
              <a:lnSpc>
                <a:spcPct val="150000"/>
              </a:lnSpc>
              <a:spcBef>
                <a:spcPts val="0"/>
              </a:spcBef>
              <a:spcAft>
                <a:spcPts val="0"/>
              </a:spcAft>
              <a:buNone/>
            </a:pPr>
            <a:r>
              <a:rPr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uv run ruff check </a:t>
            </a:r>
            <a:r>
              <a:rPr lang="en" sz="1200">
                <a:solidFill>
                  <a:schemeClr val="dk1"/>
                </a:solidFill>
                <a:latin typeface="Lora"/>
                <a:ea typeface="Lora"/>
                <a:cs typeface="Lora"/>
                <a:sym typeface="Lora"/>
              </a:rPr>
              <a:t>src/students/$GITHUB_USER/pep8_violations_example.py</a:t>
            </a:r>
            <a:endParaRPr sz="1200">
              <a:solidFill>
                <a:schemeClr val="dk1"/>
              </a:solidFill>
              <a:latin typeface="Lora"/>
              <a:ea typeface="Lora"/>
              <a:cs typeface="Lora"/>
              <a:sym typeface="Lor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5"/>
          <p:cNvSpPr txBox="1"/>
          <p:nvPr/>
        </p:nvSpPr>
        <p:spPr>
          <a:xfrm>
            <a:off x="612900" y="2435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6. </a:t>
            </a:r>
            <a:r>
              <a:rPr lang="en" sz="2400">
                <a:solidFill>
                  <a:schemeClr val="dk1"/>
                </a:solidFill>
                <a:latin typeface="Lora"/>
                <a:ea typeface="Lora"/>
                <a:cs typeface="Lora"/>
                <a:sym typeface="Lora"/>
              </a:rPr>
              <a:t>Conclusion &amp; Key Takeaways</a:t>
            </a:r>
            <a:endParaRPr sz="2400">
              <a:latin typeface="Lora"/>
              <a:ea typeface="Lora"/>
              <a:cs typeface="Lora"/>
              <a:sym typeface="Lora"/>
            </a:endParaRPr>
          </a:p>
        </p:txBody>
      </p:sp>
      <p:sp>
        <p:nvSpPr>
          <p:cNvPr id="360" name="Google Shape;360;p55"/>
          <p:cNvSpPr txBox="1"/>
          <p:nvPr/>
        </p:nvSpPr>
        <p:spPr>
          <a:xfrm>
            <a:off x="612900" y="995056"/>
            <a:ext cx="7995300" cy="3099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 sz="1200">
                <a:latin typeface="Lora"/>
                <a:ea typeface="Lora"/>
                <a:cs typeface="Lora"/>
                <a:sym typeface="Lora"/>
              </a:rPr>
              <a:t>Investing in best practices isn't just about following rules. It's the foundation of professional, scalable, and successful software development. It's what separates a short-term project from a long-term, maintainable product.</a:t>
            </a:r>
            <a:endParaRPr sz="1200">
              <a:latin typeface="Lora"/>
              <a:ea typeface="Lora"/>
              <a:cs typeface="Lora"/>
              <a:sym typeface="Lora"/>
            </a:endParaRPr>
          </a:p>
          <a:p>
            <a:pPr indent="-304800" lvl="0" marL="457200" rtl="0" algn="just">
              <a:lnSpc>
                <a:spcPct val="150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Your primary audience isn't the computer; it's the next developer (which might be you). Prioritize clarity, simplicity, and meaningful names. Clean code is easier to debug, maintain, and extend.</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Don't just hope your code works, prove it. A solid testing strategy (using tools like Pytest) gives you the confidence to make changes without breaking existing functionality</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Version control is non-negotiable. Use a structured workflow with clear branches, small pull requests, and descriptive commit messages to work effectively</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Automate everything you can. for example Llints (Ruff), type-checks (Pyright), and tests your code on every push is your best defense against human error and ensures consistent quality</a:t>
            </a:r>
            <a:endParaRPr sz="1200">
              <a:latin typeface="Lora"/>
              <a:ea typeface="Lora"/>
              <a:cs typeface="Lora"/>
              <a:sym typeface="Lor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6"/>
          <p:cNvSpPr txBox="1"/>
          <p:nvPr/>
        </p:nvSpPr>
        <p:spPr>
          <a:xfrm>
            <a:off x="612900" y="243595"/>
            <a:ext cx="8128500" cy="886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Q&amp;A</a:t>
            </a:r>
            <a:endParaRPr sz="28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366" name="Google Shape;366;p56"/>
          <p:cNvSpPr txBox="1"/>
          <p:nvPr/>
        </p:nvSpPr>
        <p:spPr>
          <a:xfrm>
            <a:off x="612900" y="896375"/>
            <a:ext cx="5760000" cy="354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100">
                <a:solidFill>
                  <a:schemeClr val="dk1"/>
                </a:solidFill>
              </a:rPr>
              <a:t>Questions?</a:t>
            </a:r>
            <a:endParaRPr sz="1200">
              <a:latin typeface="Lora"/>
              <a:ea typeface="Lora"/>
              <a:cs typeface="Lora"/>
              <a:sym typeface="Lor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